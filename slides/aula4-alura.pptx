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24387048" cy="13716000"/>
  <p:notesSz cx="13716000" cy="2438704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Ciclo completo ao vivo: detectar, diagnosticar, corrigir.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4.1.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4.2.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4.3.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4.4.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4.5.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3.png"/><Relationship Id="rId6" Type="http://schemas.openxmlformats.org/officeDocument/2006/relationships/image" Target="../media/image-10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3.png"/><Relationship Id="rId5" Type="http://schemas.openxmlformats.org/officeDocument/2006/relationships/image" Target="../media/image-11-3.png"/><Relationship Id="rId6" Type="http://schemas.openxmlformats.org/officeDocument/2006/relationships/image" Target="../media/image-1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3.png"/><Relationship Id="rId5" Type="http://schemas.openxmlformats.org/officeDocument/2006/relationships/image" Target="../media/image-1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3.png"/><Relationship Id="rId5" Type="http://schemas.openxmlformats.org/officeDocument/2006/relationships/image" Target="../media/image-14-3.png"/><Relationship Id="rId6" Type="http://schemas.openxmlformats.org/officeDocument/2006/relationships/image" Target="../media/image-14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3.png"/><Relationship Id="rId5" Type="http://schemas.openxmlformats.org/officeDocument/2006/relationships/image" Target="../media/image-15-3.png"/><Relationship Id="rId6" Type="http://schemas.openxmlformats.org/officeDocument/2006/relationships/image" Target="../media/image-15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3.png"/><Relationship Id="rId5" Type="http://schemas.openxmlformats.org/officeDocument/2006/relationships/image" Target="../media/image-17-3.png"/><Relationship Id="rId6" Type="http://schemas.openxmlformats.org/officeDocument/2006/relationships/image" Target="../media/image-17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3.png"/><Relationship Id="rId5" Type="http://schemas.openxmlformats.org/officeDocument/2006/relationships/image" Target="../media/image-19-3.png"/><Relationship Id="rId6" Type="http://schemas.openxmlformats.org/officeDocument/2006/relationships/image" Target="../media/image-19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ca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0"/>
            <a:ext cx="16294608" cy="13716000"/>
          </a:xfrm>
          <a:prstGeom prst="rect">
            <a:avLst/>
          </a:prstGeom>
        </p:spPr>
      </p:pic>
      <p:pic>
        <p:nvPicPr>
          <p:cNvPr id="4" name="Image 2" descr="art\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2423160" y="1874520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EVALS, OBSERVABILIDADE E CONFORMIDADE</a:t>
            </a: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2423160" y="2697480"/>
            <a:ext cx="1316736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Detectar,</a:t>
            </a:r>
            <a:endParaRPr lang="en-US" sz="10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diagnosticar</a:t>
            </a:r>
            <a:endParaRPr lang="en-US" sz="10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 corrigir</a:t>
            </a:r>
            <a:endParaRPr lang="en-US" sz="10400" dirty="0"/>
          </a:p>
        </p:txBody>
      </p:sp>
      <p:sp>
        <p:nvSpPr>
          <p:cNvPr id="7" name="Text 2"/>
          <p:cNvSpPr txBox="1"/>
          <p:nvPr/>
        </p:nvSpPr>
        <p:spPr>
          <a:xfrm>
            <a:off x="2423160" y="8732520"/>
            <a:ext cx="1362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A7A9B4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Aula 4 — prompt, dados ou modelo? diagnóstico em produção real</a:t>
            </a:r>
            <a:endParaRPr lang="en-US" sz="3800" dirty="0"/>
          </a:p>
        </p:txBody>
      </p:sp>
      <p:sp>
        <p:nvSpPr>
          <p:cNvPr id="8" name="Text 3"/>
          <p:cNvSpPr txBox="1"/>
          <p:nvPr/>
        </p:nvSpPr>
        <p:spPr>
          <a:xfrm>
            <a:off x="2423160" y="10744200"/>
            <a:ext cx="1389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Quatro falhas reais, achadas em produção — evidência real, sem simulação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4.1 Detectando degradação</a:t>
            </a:r>
            <a:endParaRPr lang="en-US" sz="9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4.1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estado em produção hoje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Meu produto está no ar, com dados reais e chamadas de modelo pagas.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Nenhum alarme disparou. Nenhum usuário reclamou. E há duas falhas ativas neste momento.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Falha que não grita é a regra, não a exceção — detectar é trabalho ativo, não espera.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0429BC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4.1 — DADO REAL (14/09)</a:t>
            </a:r>
            <a:endParaRPr lang="en-US" sz="2100" dirty="0"/>
          </a:p>
        </p:txBody>
      </p:sp>
      <p:sp>
        <p:nvSpPr>
          <p:cNvPr id="4" name="Text 1"/>
          <p:cNvSpPr txBox="1"/>
          <p:nvPr/>
        </p:nvSpPr>
        <p:spPr>
          <a:xfrm>
            <a:off x="2423160" y="2880360"/>
            <a:ext cx="1874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C0C0E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Eixo de custo, por operação</a:t>
            </a:r>
            <a:endParaRPr lang="en-US" sz="6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23160" y="5029200"/>
          <a:ext cx="19540728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1325880"/>
                <a:gridCol w="3749040"/>
                <a:gridCol w="4206240"/>
                <a:gridCol w="4315968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4F5F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Operação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4F5F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4F5F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Custo médio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4F5F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Latência média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4F5F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% do custo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mediar-cardapio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US$ 0,1381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55,9 s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90 %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receita-premium-semanal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US$ 0,0115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7,3 s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5 %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ingerir-relato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17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US$ 0,0032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1,6 s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4 %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ingerir-nota-imagem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US$ 0,0071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3,3 s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1 %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ingerir-nota-fiscal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US$ 0,0054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2,7 s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B2F3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1 %</a:t>
                      </a:r>
                      <a:endParaRPr lang="en-US" sz="2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2423160" y="10607040"/>
            <a:ext cx="19540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7B7F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75 % do custo em 19 % das chamadas — o Mediador é o eixo caro.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B7F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4.1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26% das chamadas, 90% da conta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Mediador de cardápio concentra o custo — não a frequência.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 o argumento mais concreto pra separar o eixo de geração do eixo de ingestão.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a leitura de nota por foto, são três eixos trocáveis ao vivo: geração, ingestão e visão.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4.1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 falha que não deixou rastro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Mandei a foto de um cupom pro bot. Nada aconteceu: sem resposta, sem item, sem reação.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Fui atrás do rastro: log vazio, trace vazio, banco sem mudança — e o Telegram confirma que entregou.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o canal confirma a entrega e o sistema não registra nada, onde essa mensagem foi parar?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4.2 Diagnosticando a causa</a:t>
            </a:r>
            <a:endParaRPr lang="en-US" sz="9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4.2 — EPISÓDIO A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Dois erros. Ou um só?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09447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59664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sintoma: mandei uma nota pelo Telegram e não aconteceu nada.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764895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75209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eu junto: o registro tem duas linhas de erro, mesma mensagem, com 8 milionésimos de segundo entre elas.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20343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0754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sei o que a mensagem de erro significa — e não preciso saber para investigar.</a:t>
            </a:r>
            <a:endParaRPr lang="en-US" sz="2800" dirty="0"/>
          </a:p>
        </p:txBody>
      </p:sp>
      <p:pic>
        <p:nvPicPr>
          <p:cNvPr id="13" name="Image 5" descr="art\se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10757916"/>
            <a:ext cx="475488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37560" y="106299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eu levo ao Claude: “aconteceram dois erros aqui, ou um só? Repara no horário das duas linhas.”</a:t>
            </a:r>
            <a:endParaRPr lang="en-US" sz="2800" dirty="0"/>
          </a:p>
        </p:txBody>
      </p:sp>
      <p:sp>
        <p:nvSpPr>
          <p:cNvPr id="15" name="Text 7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4.2 — EPISÓDIO B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 falha perfeitamente silenciosa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09447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59664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sintoma: mandei a foto do cupom. Sem resposta, sem item no estoque, sem nada.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764895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75209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eu junto: o Telegram confirma que entregou. Nenhuma linha nova no feed. Nenhum trace no Langfuse.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20343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0754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“recebido” que o app manda de volta não conta — ele responde isso antes de processar qualquer coisa.</a:t>
            </a:r>
            <a:endParaRPr lang="en-US" sz="2800" dirty="0"/>
          </a:p>
        </p:txBody>
      </p:sp>
      <p:pic>
        <p:nvPicPr>
          <p:cNvPr id="13" name="Image 5" descr="art\se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10757916"/>
            <a:ext cx="475488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37560" y="106299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eu levo ao Claude: “a mensagem chegou e sumiu sem deixar rastro nenhum. Onde ela se perdeu?”</a:t>
            </a:r>
            <a:endParaRPr lang="en-US" sz="2800" dirty="0"/>
          </a:p>
        </p:txBody>
      </p:sp>
      <p:sp>
        <p:nvSpPr>
          <p:cNvPr id="15" name="Text 7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4.2 — EPISÓDIO C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 conta bateu. O estoque não.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09447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59664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sintoma: avisei que comemos 3 porções de lasagna. O bot reagiu com joinha. O estoque continuou com 5.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764895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75209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eu junto: o registro mostra que ele entendeu tudo — o prato, as 3 porções, até a conta de 1 e meia para cada.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20343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0754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 seja: a inteligência acertou. Alguma outra coisa errou — e eu não sei qual.</a:t>
            </a:r>
            <a:endParaRPr lang="en-US" sz="2800" dirty="0"/>
          </a:p>
        </p:txBody>
      </p:sp>
      <p:pic>
        <p:nvPicPr>
          <p:cNvPr id="13" name="Image 5" descr="art\se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10757916"/>
            <a:ext cx="475488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37560" y="106299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eu levo ao Claude: “ele entendeu certo e mesmo assim o estoque não baixou. Por quê?”</a:t>
            </a:r>
            <a:endParaRPr lang="en-US" sz="2800" dirty="0"/>
          </a:p>
        </p:txBody>
      </p:sp>
      <p:sp>
        <p:nvSpPr>
          <p:cNvPr id="15" name="Text 7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4.2 — EPISÓDIO D, 14/09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hambúrguer que sumiu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09447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59664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sintoma: preparei um hambúrguer, contei pro bot, respondi a pergunta dele — três vezes, de jeitos diferentes.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764895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75209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eu junto: as quatro classificações estão perfeitas. Zero erro, zero exceção.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20343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0754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mesmo assim, o prato nunca entrou no estoque. Resultado líquido zero, sem uma falha visível.</a:t>
            </a:r>
            <a:endParaRPr lang="en-US" sz="2800" dirty="0"/>
          </a:p>
        </p:txBody>
      </p:sp>
      <p:pic>
        <p:nvPicPr>
          <p:cNvPr id="13" name="Image 5" descr="art\se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10757916"/>
            <a:ext cx="475488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37560" y="106299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eu levo ao Claude: “prompt, dados ou modelo — qual dos três explica isso?” Resposta: nenhum. É o sistema que não guarda memória entre mensagens.</a:t>
            </a:r>
            <a:endParaRPr lang="en-US" sz="2800" dirty="0"/>
          </a:p>
        </p:txBody>
      </p:sp>
      <p:sp>
        <p:nvSpPr>
          <p:cNvPr id="15" name="Text 7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4.2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que os quatro casos têm em comum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87171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67437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nenhum deles eu li código para descobrir o problema. Eu observei, juntei evidência e perguntei.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842619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829818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Nos dois primeiros, o produto falhou em avisar. No terceiro, ele avisou que tinha dado certo — e não tinha.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98067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8526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no quarto, cada peça isolada estava certa — a soma delas ainda assim falhou. Quem errou foi o produto em volta do modelo, ou a peça que nunca existiu.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4.3 Corrigindo antes do usuário</a:t>
            </a:r>
            <a:endParaRPr lang="en-US" sz="9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4.3 — A CORREÇÃO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Ensinar o produto a dizer “não sei”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09447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59664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Claude achou o ponto: existe um caminho em que o produto recebe a mensagem e simplesmente sai calado.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764895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75209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correção não ensina ele a ler foto. Ensina ele a avisar que não sabe ler.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20343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0754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resolve o outro caso junto: o aviso de erro nunca mais apaga a informação do erro.</a:t>
            </a:r>
            <a:endParaRPr lang="en-US" sz="2800" dirty="0"/>
          </a:p>
        </p:txBody>
      </p:sp>
      <p:pic>
        <p:nvPicPr>
          <p:cNvPr id="13" name="Image 5" descr="art\se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10757916"/>
            <a:ext cx="475488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37560" y="106299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Admitir a limitação já é uma correção — o problema não era não saber ler, era não dizer.</a:t>
            </a:r>
            <a:endParaRPr lang="en-US" sz="2800" dirty="0"/>
          </a:p>
        </p:txBody>
      </p:sp>
      <p:sp>
        <p:nvSpPr>
          <p:cNvPr id="15" name="Text 7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4.3 — A CAPACIDADE NOVA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Agora sim: ensinar a ler a nota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09447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59664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Só depois de o produto saber dizer “não sei” é que faz sentido ensinar ele a saber.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764895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75209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foto entra e os itens caem no estoque com o dado oficial da nota — não com chute de modelo.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20343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0754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desenho que eu imaginei primeiro não funcionou: os números impressos não bastavam, o dado oficial só vem pelo link do QR code.</a:t>
            </a:r>
            <a:endParaRPr lang="en-US" sz="2800" dirty="0"/>
          </a:p>
        </p:txBody>
      </p:sp>
      <p:pic>
        <p:nvPicPr>
          <p:cNvPr id="13" name="Image 5" descr="art\se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10757916"/>
            <a:ext cx="475488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37560" y="106299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Quem teve a ideia fui eu. Quem descobriu que ela não parava em pé fui eu, testando.</a:t>
            </a:r>
            <a:endParaRPr lang="en-US" sz="2800" dirty="0"/>
          </a:p>
        </p:txBody>
      </p:sp>
      <p:sp>
        <p:nvSpPr>
          <p:cNvPr id="15" name="Text 7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4.4 Simulando o ciclo completo</a:t>
            </a:r>
            <a:endParaRPr lang="en-US" sz="9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4.4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que essa correção criou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09447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59664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 capacidade nova traz erro novo: com foto entrando, cresce a chance de item errado no estoque.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764895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75209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tela de conferir antes de salvar deixou de ser luxo — virou a próxima coisa a construir.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20343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0754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saída óbvia pra lasanha seria o produto perguntar em vez de chutar — só que esse mecanismo já existe, e foi ele que quebrou no episódio do hambúrguer.</a:t>
            </a:r>
            <a:endParaRPr lang="en-US" sz="2800" dirty="0"/>
          </a:p>
        </p:txBody>
      </p:sp>
      <p:pic>
        <p:nvPicPr>
          <p:cNvPr id="13" name="Image 5" descr="art\se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10757916"/>
            <a:ext cx="475488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37560" y="106299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Risco que eu conheço e registro é diferente de risco escondido — e é onde a próxima aula começa.</a:t>
            </a:r>
            <a:endParaRPr lang="en-US" sz="2800" dirty="0"/>
          </a:p>
        </p:txBody>
      </p:sp>
      <p:sp>
        <p:nvSpPr>
          <p:cNvPr id="15" name="Text 7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4.5 O que aprendemos?</a:t>
            </a:r>
            <a:endParaRPr lang="en-US" sz="9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105156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FECHAMENTO DA AULA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783080"/>
            <a:ext cx="1956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que aprendemos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2423160" y="4526280"/>
            <a:ext cx="2011680" cy="68580"/>
          </a:xfrm>
          <a:prstGeom prst="rect">
            <a:avLst/>
          </a:prstGeom>
          <a:solidFill>
            <a:srgbClr val="1F53E5"/>
          </a:solidFill>
          <a:ln/>
        </p:spPr>
      </p:sp>
      <p:pic>
        <p:nvPicPr>
          <p:cNvPr id="7" name="Image 2" descr="art\s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6094476"/>
            <a:ext cx="475488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37560" y="59664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Quatro falhas reais, e nenhuma gritou. Três eu fui atrás olhando; a quarta apareceu sozinha, usando o produto de verdade.</a:t>
            </a:r>
            <a:endParaRPr lang="en-US" sz="2800" dirty="0"/>
          </a:p>
        </p:txBody>
      </p:sp>
      <p:pic>
        <p:nvPicPr>
          <p:cNvPr id="9" name="Image 3" descr="art\s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7648956"/>
            <a:ext cx="475488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337560" y="75209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não li código para diagnosticar: observei, juntei evidência e perguntei.</a:t>
            </a:r>
            <a:endParaRPr lang="en-US" sz="2800" dirty="0"/>
          </a:p>
        </p:txBody>
      </p:sp>
      <p:pic>
        <p:nvPicPr>
          <p:cNvPr id="11" name="Image 4" descr="art\se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9203436"/>
            <a:ext cx="475488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337560" y="90754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inteligência acertou nos quatro casos — inclusive quatro vezes seguidas no mais difícil. Quem falhou foi o produto em volta dela.</a:t>
            </a:r>
            <a:endParaRPr lang="en-US" sz="2800" dirty="0"/>
          </a:p>
        </p:txBody>
      </p:sp>
      <p:pic>
        <p:nvPicPr>
          <p:cNvPr id="13" name="Image 5" descr="art\se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10757916"/>
            <a:ext cx="475488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337560" y="106299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Corrigir antes do usuário perceber é possível quando o dado de produção está visível para você.</a:t>
            </a:r>
            <a:endParaRPr lang="en-US" sz="2800" dirty="0"/>
          </a:p>
        </p:txBody>
      </p:sp>
      <p:sp>
        <p:nvSpPr>
          <p:cNvPr id="15" name="Text 7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4 — Detectar, diagnosticar e corrigir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10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23160" y="5029200"/>
            <a:ext cx="19540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AULA 4 CONCLUÍDA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2423160" y="5989320"/>
            <a:ext cx="17830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Nenhuma falha gritou</a:t>
            </a:r>
            <a:endParaRPr lang="en-US" sz="7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sozinha. Todas foram</a:t>
            </a:r>
            <a:endParaRPr lang="en-US" sz="7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encontradas olhando.</a:t>
            </a:r>
            <a:endParaRPr lang="en-US" sz="7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ncode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2026-09-14T21:42:24Z</dcterms:created>
  <dcterms:modified xsi:type="dcterms:W3CDTF">2026-09-14T21:42:24Z</dcterms:modified>
</cp:coreProperties>
</file>