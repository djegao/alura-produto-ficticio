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24387048" cy="13716000"/>
  <p:notesSz cx="13716000" cy="2438704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aula passada eu terminei com um mapa de riscos do meu produto.” “Hoje eu transformo esse mapa em alguma coisa que eu consiga checar toda semana, sem depender da minha memória.”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Início do vídeo 2.1 — continue falando, sem parar. Esta versão é pra ritmo ao vivo; o corte de edição usa o outro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“Acabamos de fazer o nosso primeiro mapa de riscos — e olha que interessante: a gente já encontrou coisas que deram errado de verdade.” “Agora imagina que amanhã eu mude o prompt do Mediador.” “Eu posso ter melhorado uma coisa e quebrado outra.” “Posso ter corrigido a classificação de fonte e, sem perceber, piorado a capacidade dele de identificar um trade-off.” “Como eu vou saber?” “Eu posso testar manualmente. Uma vez. Duas vezes.” “Mas isso não me dá garantia de que o produto continua fazendo aquilo que eu espero.” “Então eu preciso de uma maneira sistemática de verificar isso continuamente.” “E é exatamente aqui que entram os Evals.”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“Acabamos de fazer o nosso primeiro mapa de riscos — e olha que interessante: a gente já encontrou coisas que deram errado de verdade.” “Agora imagina que amanhã eu mude o prompt do Mediador.” “Eu posso ter melhorado uma coisa e quebrado outra.” “Posso ter corrigido a classificação de fonte e, sem perceber, piorado a capacidade dele de identificar um trade-off.” “Como eu vou saber?” “Eu posso testar manualmente. Uma vez. Duas vezes.” “Mas isso não me dá garantia de que o produto continua fazendo aquilo que eu espero.” “Então eu preciso de uma maneira sistemática de verificar isso continuamente.” “E é exatamente aqui que entram os Evals.”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“Acabamos de fazer o nosso primeiro mapa de riscos — e olha que interessante: a gente já encontrou coisas que deram errado de verdade.” “Agora imagina que amanhã eu mude o prompt do Mediador.” “Eu posso ter melhorado uma coisa e quebrado outra.” “Posso ter corrigido a classificação de fonte e, sem perceber, piorado a capacidade dele de identificar um trade-off.” “Como eu vou saber?” “Eu posso testar manualmente. Uma vez. Duas vezes.” “Mas isso não me dá garantia de que o produto continua fazendo aquilo que eu espero.” “Então eu preciso de uma maneira sistemática de verificar isso continuamente.” “E é exatamente aqui que entram os Evals.”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“Acabamos de fazer o nosso primeiro mapa de riscos — e olha que interessante: a gente já encontrou coisas que deram errado de verdade.” “Agora imagina que amanhã eu mude o prompt do Mediador.” “Eu posso ter melhorado uma coisa e quebrado outra.” “Posso ter corrigido a classificação de fonte e, sem perceber, piorado a capacidade dele de identificar um trade-off.” “Como eu vou saber?” “Eu posso testar manualmente. Uma vez. Duas vezes.” “Mas isso não me dá garantia de que o produto continua fazendo aquilo que eu espero.” “Então eu preciso de uma maneira sistemática de verificar isso continuamente.” “E é exatamente aqui que entram os Evals.”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“Acabamos de fazer o nosso primeiro mapa de riscos — e olha que interessante: a gente já encontrou coisas que deram errado de verdade.” “Agora imagina que amanhã eu mude o prompt do Mediador.” “Eu posso ter melhorado uma coisa e quebrado outra.” “Posso ter corrigido a classificação de fonte e, sem perceber, piorado a capacidade dele de identificar um trade-off.” “Como eu vou saber?” “Eu posso testar manualmente. Uma vez. Duas vezes.” “Mas isso não me dá garantia de que o produto continua fazendo aquilo que eu espero.” “Então eu preciso de uma maneira sistemática de verificar isso continuamente.” “E é exatamente aqui que entram os Evals.”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 quero uma definição que você consiga repetir pra outra pessoa amanhã.” “Eval é um processo sistemático pra verificar se o produto está se comportando como eu espero.” “E deixa eu tirar do caminho a confusão mais comum: isso não é QA, e não é teste de software.” “Teste compara com o resultado esperado — dois mais dois tem que dar quatro, sempre, e se eu rodar de novo dá quatro de novo.” “O Mediador não faz isso. O mesmo pedido, na mesma semana, gera texto diferente cada vez.” “E repara no pulo do gato: as duas versões podem estar certas.” “Se eu escrever um teste que espera uma frase específica, ele falha na segunda execução e não me ensina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eval que eu construo tem os mesmos quatro passos, e eles vêm nesta ordem.” “Primeiro o cenário: o que eu estou tentando avaliar. No caso do Mediador, o casal pediu uma mediação de cardápio pra semana.” “Segundo o critério: o que eu espero que ele faça naquele cenário. E repara que isso é uma decisão minha, de produto — não é o modelo que define.” “Terceiro a resposta: o que ele fez de verdade. Não o que eu imagino que ele faça, o que está gravado.” “E quarto a evidência: atendeu ou não atendeu, com uma justificativa que eu consiga apontar.” “Guarda esse funil, porque a aula inteira mora dentro dele.”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eval que eu construo tem os mesmos quatro passos, e eles vêm nesta ordem.” “Primeiro o cenário: o que eu estou tentando avaliar. No caso do Mediador, o casal pediu uma mediação de cardápio pra semana.” “Segundo o critério: o que eu espero que ele faça naquele cenário. E repara que isso é uma decisão minha, de produto — não é o modelo que define.” “Terceiro a resposta: o que ele fez de verdade. Não o que eu imagino que ele faça, o que está gravado.” “E quarto a evidência: atendeu ou não atendeu, com uma justificativa que eu consiga apontar.” “Guarda esse funil, porque a aula inteira mora dentro dele.”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eval que eu construo tem os mesmos quatro passos, e eles vêm nesta ordem.” “Primeiro o cenário: o que eu estou tentando avaliar. No caso do Mediador, o casal pediu uma mediação de cardápio pra semana.” “Segundo o critério: o que eu espero que ele faça naquele cenário. E repara que isso é uma decisão minha, de produto — não é o modelo que define.” “Terceiro a resposta: o que ele fez de verdade. Não o que eu imagino que ele faça, o que está gravado.” “E quarto a evidência: atendeu ou não atendeu, com uma justificativa que eu consiga apontar.” “Guarda esse funil, porque a aula inteira mora dentro dele.”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eval que eu construo tem os mesmos quatro passos, e eles vêm nesta ordem.” “Primeiro o cenário: o que eu estou tentando avaliar. No caso do Mediador, o casal pediu uma mediação de cardápio pra semana.” “Segundo o critério: o que eu espero que ele faça naquele cenário. E repara que isso é uma decisão minha, de produto — não é o modelo que define.” “Terceiro a resposta: o que ele fez de verdade. Não o que eu imagino que ele faça, o que está gravado.” “E quarto a evidência: atendeu ou não atendeu, com uma justificativa que eu consiga apontar.” “Guarda esse funil, porque a aula inteira mora dentro dele.”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escrever qualquer critério, uma frase que eu quero que fique gravada.” “Não estamos avaliando o modelo. Estamos avaliando o comportamento esperado do produto.” “Parece detalhe de linguagem e não é — muda o que você escreve.” “Se eu avalio o modelo, eu escrevo critério genérico: a resposta é coerente? o texto está bem escrito?” “Se eu avalio o produto, eu escrevo o que este produto prometeu pra esta casa: ele expôs o trade-off? usou o número que a ferramenta devolveu?” “O segundo tipo de critério eu consigo defender numa reunião. O primeiro, não.”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aviso que economiza semanas, e ele é contraintuitivo.” “É muito tentador comemorar quando cem por cento das respostas passam no seu critério.” “Eu já fiz isso. Levei o número verde pra reunião e todo mundo bateu palma.” “Só que cem por cento de aprovação é sinal de alerta, não de sucesso.” “Quase sempre quer dizer que o critério está tão frouxo que qualquer resposta passa — inclusive as ruins.” “A regra que eu carrego: um critério bom precisa reprovar alguma coisa. Se ele nunca reprova, ele não está medindo, está decorando.” “E aí vem a decisão mais de produto desta aula: quanto de falha eu aceito? Porque zero erro custa modelo mais caro, resposta mais lenta, e um produto que recusa tanto que a pessoa desinstala.” “Essa conta é minha. Não é do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Início do vídeo 2.2 — continue falando, sem parar. Esta versão é pra ritmo ao vivo; o corte de edição usa o outro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funil do vídeo passado a gente viu Cenário, Critério, Resposta, Evidência.” “Hoje a gente para exatamente no Critério.” “É o passo mais fácil de fazer errado — e é o único dos quatro que não precisa de código nenhum.” “Isso é bom e é perigoso ao mesmo tempo.” “É bom porque qualquer pessoa do time consegue escrever critério. É perigoso porque qualquer pessoa consegue escrever critério ruim, e critério ruim parece critério.”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“Deixa eu te dar um cenário concreto, porque critério no abstrato não se escreve bem.” “Pote vazio, gato miando, e a casa querendo pedir entrega.” “Só que tem porção caseira parada na geladeira, feita no fim de semana.” “Eu, como chef, penso em desperdício e em orçamento. A musa quer comer o que deu vontade.” “E olha: os dois têm razão. Não existe lado errado nessa conversa.” “É exatamente pra esse conflito que o Mediador existe.” “Então é daqui que os critérios têm que nascer — da promessa do produto, não de uma lista de boas práticas que eu baixei da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aqui estão os critérios que nascem desse cenário. Repara que dá pra apontar o sim ou o não em todos.” “Ele mencionou que existem porções caseiras não consumidas? Ou fingiu que a geladeira estava vazia?” “Ele citou o delivery recente como parte do motivo? Porque essa é a informação que muda a conversa.” “Ele decidiu sozinho o que a casa deve fazer? Se decidiu, ele parou de ser mediador.” “No momento em que ele diz não peça entrega, ele virou mais um app de dieta que a pessoa desinstala.” “Ele usou número real — porções restantes, dias desde o preparo — ou falou por alto?” “E o último, que é o meu favorito: ele inventou um prazo de validade que não veio de cálculo em código?” “Porque um número inventado que parece certo é a pior classe de erro que existe aqui. É indistinguível de um número certo até alguém conferir.”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aqui estão os critérios que nascem desse cenário. Repara que dá pra apontar o sim ou o não em todos.” “Ele mencionou que existem porções caseiras não consumidas? Ou fingiu que a geladeira estava vazia?” “Ele citou o delivery recente como parte do motivo? Porque essa é a informação que muda a conversa.” “Ele decidiu sozinho o que a casa deve fazer? Se decidiu, ele parou de ser mediador.” “No momento em que ele diz não peça entrega, ele virou mais um app de dieta que a pessoa desinstala.” “Ele usou número real — porções restantes, dias desde o preparo — ou falou por alto?” “E o último, que é o meu favorito: ele inventou um prazo de validade que não veio de cálculo em código?” “Porque um número inventado que parece certo é a pior classe de erro que existe aqui. É indistinguível de um número certo até alguém conferir.”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aqui estão os critérios que nascem desse cenário. Repara que dá pra apontar o sim ou o não em todos.” “Ele mencionou que existem porções caseiras não consumidas? Ou fingiu que a geladeira estava vazia?” “Ele citou o delivery recente como parte do motivo? Porque essa é a informação que muda a conversa.” “Ele decidiu sozinho o que a casa deve fazer? Se decidiu, ele parou de ser mediador.” “No momento em que ele diz não peça entrega, ele virou mais um app de dieta que a pessoa desinstala.” “Ele usou número real — porções restantes, dias desde o preparo — ou falou por alto?” “E o último, que é o meu favorito: ele inventou um prazo de validade que não veio de cálculo em código?” “Porque um número inventado que parece certo é a pior classe de erro que existe aqui. É indistinguível de um número certo até alguém conferir.”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aqui estão os critérios que nascem desse cenário. Repara que dá pra apontar o sim ou o não em todos.” “Ele mencionou que existem porções caseiras não consumidas? Ou fingiu que a geladeira estava vazia?” “Ele citou o delivery recente como parte do motivo? Porque essa é a informação que muda a conversa.” “Ele decidiu sozinho o que a casa deve fazer? Se decidiu, ele parou de ser mediador.” “No momento em que ele diz não peça entrega, ele virou mais um app de dieta que a pessoa desinstala.” “Ele usou número real — porções restantes, dias desde o preparo — ou falou por alto?” “E o último, que é o meu favorito: ele inventou um prazo de validade que não veio de cálculo em código?” “Porque um número inventado que parece certo é a pior classe de erro que existe aqui. É indistinguível de um número certo até alguém conferir.”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aqui estão os critérios que nascem desse cenário. Repara que dá pra apontar o sim ou o não em todos.” “Ele mencionou que existem porções caseiras não consumidas? Ou fingiu que a geladeira estava vazia?” “Ele citou o delivery recente como parte do motivo? Porque essa é a informação que muda a conversa.” “Ele decidiu sozinho o que a casa deve fazer? Se decidiu, ele parou de ser mediador.” “No momento em que ele diz não peça entrega, ele virou mais um app de dieta que a pessoa desinstala.” “Ele usou número real — porções restantes, dias desde o preparo — ou falou por alto?” “E o último, que é o meu favorito: ele inventou um prazo de validade que não veio de cálculo em código?” “Porque um número inventado que parece certo é a pior classe de erro que existe aqui. É indistinguível de um número certo até alguém conferir.”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 formato tem quatro partes, e as quatro são obrigatórias. Se faltar uma, o critério vaza por algum lado.” “Nome. Parece burocracia e não é: é o que vai ser gravado toda vez que o critério for aplicado.” “Sem nome estável, eu não consigo comparar a semana passada com esta. E comparar no tempo é o ponto inteiro.” “Pergunta. E o teste de fogo é esse: uma pessoa consegue responder olhando a interação, sem abrir o repositório?” “Se pra responder ela precisa do código, o critério está escrito na linguagem errada.” “Escala. Binário ou de zero a um — daqui a pouco eu falo de como escolher.” “E por que erra caro. Essa é a que todo mundo pula, e é a mais importante das quatro.”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regra da escala é mais simples do que parece.” “Binário é pra falha categórica. Ou ele deixou a escolha em aberto, ou ele decidiu sozinho. Não existe deixar setenta por cento em aberto.” “Se a falha não tem meio-termo na vida real, ela não pode ter meio-termo na régua.” “A escala de zero a um é pra quando meio certo existe de verdade. Ele citou números, mas soltos, sem ligar à escolha — isso não é a mesma coisa que não citar nada, e também não é o que eu queria.” “E na dúvida, prefira binário. Escala contínua vira opinião disfarçada de número: o meu zero vírgula sete é o zero vírgula oito seu, e ninguém sabe o que separa os dois.”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“Essa quarta parte parece burocracia de documentação. É o oposto: é o que separa um critério de uma curiosidade.” “Um critério que não custa nada quando falha não merece ser um eval.” “E repara que ele não é neutro — ele é negativo. Toda vez que eu rodo o conjunto, ele gasta tempo, gasta dinheiro, e ocupa uma linha do relatório que alguém tem que ler.” “O exercício é escrever o custo em uma frase concreta: se isso falhar, acontece tal coisa, e o prejuízo é esse.” “Se você não conseguir escrever essa frase, o critério provavelmente não deveria existir.”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“Olha o que mudou.” “Antes eu lia a mediação e achava razoável. E razoável era eu, lendo uma vez, com o humor que eu estava naquele dia.” “Agora eu tenho critério. E o teste é esse: qualquer pessoa da casa aplica e chega no mesmo sim ou no mesmo não que eu cheguei.” “Se precisa de mim pra julgar, não é critério, é gosto.” “E com critério eu consigo decidir o que fazer a seguir — que é pra isso que medir serve. Medir sem decidir nada depois é relatório, não é produto.”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Início do vídeo 2.3 — continue falando, sem parar. Esta versão é pra ritmo ao vivo; o corte de edição usa o outro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 tenho critério escrito. Agora eu preciso aplicar.” “E o primeiro jeito é o óbvio: eu leio. Pego a mediação, olho o que o produto tinha em mãos, respondo sim ou não pra cada critério.” “E eu quero ser justo com esse método, porque ele é subestimado: com três mediações, ler uma por uma é o melhor investimento que existe.” “Foi lendo à mão que eu descobri o que medir. Não pule essa etapa achando que é primitiva.” “O problema é que ela não escala — e não escala de um jeito específico.” “Com trezentas eu não leio, isso é óbvio. Mas o caso que realmente mata é o do meio: com trinta por semana, eu leio na segunda, leio na terça, e paro na quarta.” “E aí eu tenho um processo de qualidade que existe no documento e não existe na prática.”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a ideia é essa: o Claude entra num papel completamente diferente do que ele tinha até agora neste produto.” “Até agora ele gerava — ele escrevia a mediação. Agora ele julga.” “É o mesmo modelo com um trabalho oposto: ele não produz nada novo, ele lê uma execução que já aconteceu e emite um parecer.” “E olha o que ele recebe: o trace inteiro. O pedido original, a resposta final, quais ferramentas foram chamadas e o que cada uma devolveu.” “Repara que isso é bem mais do que eu olho quando leio à mão. Eu leio a resposta. Ele enxerga o caminho inteiro.” “Inclusive se o produto consultou o estoque e depois ignorou o resultado da consulta.” “É um árbitro que nunca cansa e que não julga diferente na sexta-feira.”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a ideia é essa: o Claude entra num papel completamente diferente do que ele tinha até agora neste produto.” “Até agora ele gerava — ele escrevia a mediação. Agora ele julga.” “É o mesmo modelo com um trabalho oposto: ele não produz nada novo, ele lê uma execução que já aconteceu e emite um parecer.” “E olha o que ele recebe: o trace inteiro. O pedido original, a resposta final, quais ferramentas foram chamadas e o que cada uma devolveu.” “Repara que isso é bem mais do que eu olho quando leio à mão. Eu leio a resposta. Ele enxerga o caminho inteiro.” “Inclusive se o produto consultou o estoque e depois ignorou o resultado da consulta.” “É um árbitro que nunca cansa e que não julga diferente na sexta-feira.”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a ideia é essa: o Claude entra num papel completamente diferente do que ele tinha até agora neste produto.” “Até agora ele gerava — ele escrevia a mediação. Agora ele julga.” “É o mesmo modelo com um trabalho oposto: ele não produz nada novo, ele lê uma execução que já aconteceu e emite um parecer.” “E olha o que ele recebe: o trace inteiro. O pedido original, a resposta final, quais ferramentas foram chamadas e o que cada uma devolveu.” “Repara que isso é bem mais do que eu olho quando leio à mão. Eu leio a resposta. Ele enxerga o caminho inteiro.” “Inclusive se o produto consultou o estoque e depois ignorou o resultado da consulta.” “É um árbitro que nunca cansa e que não julga diferente na sexta-feira.”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“Só que apontar o modelo pra uma resposta e perguntar isso tá bom não produz um juiz. Produz um elogiador.” “Modelo de linguagem é agradável por construção. Ele vai achar quase tudo razoável.” “O que transforma o modelo em juiz é o conjunto de regras que eu dou pra ele. Vou ler as três que mais importam.” “Primeira: julgue só com base no material. Se a informação não está no que ele recebeu, ela não existe pro julgamento.” “Isso corta pela raiz a tendência dele de preencher lacuna com o que é plausível.” “Segunda: toda nota precisa de evidência citável. A resposta foi boa não vale como razão.” “E a terceira, que é a minha favorita: seja severo com falha silenciosa.” “Repara que essa é uma instrução de valor, não uma instrução técnica. Eu estou dizendo pro juiz o que este produto considera grave.” “E é isso que simular o julgamento de um especialista quer dizer: especialista tem critério de gravidade, não só de correção.”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“Deixa eu insistir na segunda regra, porque ela muda a natureza da coisa.” “Cada critério devolve dois campos, e os dois são obrigatórios: o valor e a justificativa.” “E a justificativa tem que citar o material — um trecho da resposta, o nome de uma ferramenta, um número que apareceu.” “Isso não é capricho de documentação. É o que me deixa discordar do juiz.” “Pensa comigo: se ele me devolve nota zero vírgula três e mais nada, eu tenho duas opções e as duas são ruins. Aceitar na fé, ou refazer o trabalho à mão pra conferir.” “Se ele me devolve zero vírgula três porque a resposta não menciona as porções que estão na geladeira, eu levo cinco segundos pra verificar.” “E se ele estiver errado, eu descubro — e aí eu conserto o critério.” “Um juiz que eu não consigo auditar não é melhor que nenhum juiz. É pior, porque me dá confiança falsa.”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“Agora uma decisão de desenho que eu recomendo pra qualquer eval que você for construir.” “Antes de chamar o Claude, o código apura os fatos objetivos. Quais ferramentas rodaram. Quantos tokens saíram em cada chamada. Se alguma observação ficou em nível de erro. Se a saída final veio vazia.” “Isso tudo entra no material que o juiz recebe, já pronto, marcado como fato.” “E a instrução pra ele é explícita: isso é verdade apurada, use e não refaça conta nenhuma.” “Por que isso importa tanto? Porque comparar número é exatamente o tipo de coisa que modelo de linguagem faz mal — e faz com confiança.” “A regra que eu levo pra qualquer projeto: aritmética é trabalho de código, julgamento é trabalho do modelo.” “Misturar os dois é como a maioria dos evals estraga sem ninguém notar.”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a última decisão, que é a que mais gente aprende do jeito difícil.” “Pra somar as notas, eu preciso que a resposta do juiz venha estruturada, não em prosa.” “A tentação é escrever no prompt: responda em JSON com as notas de cada critério.” “E isso funciona. Quase sempre.” “E quase sempre não serve — porque quando ele resolve responder em prosa, não sobra nota nenhuma pra somar, e eu só descubro quando o relatório vem vazio.” “A solução não é escrever o pedido com mais ênfase. É estrutural: a chamada da ferramenta é forçada pela API. O modelo não tem a opção de responder em prosa.” “Guarda essa frase, porque ela vale muito além de eval: prompt não é contrato. Prompt é pedido.” “Quando você precisa de garantia, a garantia tem que estar na estrutura.”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Início do vídeo 2.4 — continue falando, sem parar. Esta versão é pra ritmo ao vivo; o corte de edição usa o outro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“Agora a gente monta o conjunto. E conjunto é a palavra certa: não é uma lista de tudo que dá pra medir, é uma escolha do que vale medir primeiro.” “A tentação natural, e eu já caí nela, é escrever vinte critérios pra cobrir todo cenário imaginável.” “E o resultado é sempre o mesmo: um eval que cobre tudo não é rodado por ninguém.” “Ele fica lento, fica caro, e vira aquele relatório de quarenta linhas que alguém abre na primeira semana e nunca mais.” “Priorizar não é atalho, é parte do trabalho.”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dos critérios de qualidade, tem um que vem antes de todos.” “A execução chegou ao fim inteira? Sem erro, sem saída vazia, sem resposta cortada no meio?” “Por que ele vem primeiro? Porque não adianta perguntar se o Mediador expôs o trade-off se a resposta parou no meio da palavra.” “Todos os outros critérios pressupõem que existe uma resposta pra julgar.” “E esse é o único que o código consegue quase inteiro sozinho.” “Existe uma assinatura de corte que é quase infalível: quando os tokens de saída batem exatamente no teto configurado, aquilo não é coincidência.” “Repara na divisão de trabalho de novo: o código detecta o sinal, e o juiz decide o que fazer com 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“São os mesmos critérios que a gente escreveu no cenário do gato, agora com nome e escala.” “Trade-off com números: ele expôs o custo real de cada opção, com número concreto? Porque um mediador sem número não medeia, opina.” “E opinião não resolve conflito entre duas pessoas que já sabem o que querem.” “Números vieram de ferramenta: todo número citado saiu de uma consulta de verdade, ou o modelo estimou? Binário, sem meio-termo.” “Porque como o Mediador fala com autoridade, a gente age em cima do número. Se ele estiver inventado, a casa toma decisão errada com confiança.” “Mediou sem decidir: esse é um critério de posicionamento. No momento em que ele diz não peça entrega, ele deixou de ser o produto que eu construí.” “E falta virou trade-off: faltou ingrediente e ele ofereceu substituição com o que tem em casa, em vez de simplesmente cancelar?” “Falta de item é o caso mais comum da vida real. Um produto que responde não dá toda vez é inútil exatamente na semana em que a casa mais precisa dele.”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“São os mesmos critérios que a gente escreveu no cenário do gato, agora com nome e escala.” “Trade-off com números: ele expôs o custo real de cada opção, com número concreto? Porque um mediador sem número não medeia, opina.” “E opinião não resolve conflito entre duas pessoas que já sabem o que querem.” “Números vieram de ferramenta: todo número citado saiu de uma consulta de verdade, ou o modelo estimou? Binário, sem meio-termo.” “Porque como o Mediador fala com autoridade, a gente age em cima do número. Se ele estiver inventado, a casa toma decisão errada com confiança.” “Mediou sem decidir: esse é um critério de posicionamento. No momento em que ele diz não peça entrega, ele deixou de ser o produto que eu construí.” “E falta virou trade-off: faltou ingrediente e ele ofereceu substituição com o que tem em casa, em vez de simplesmente cancelar?” “Falta de item é o caso mais comum da vida real. Um produto que responde não dá toda vez é inútil exatamente na semana em que a casa mais precisa dele.”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“São os mesmos critérios que a gente escreveu no cenário do gato, agora com nome e escala.” “Trade-off com números: ele expôs o custo real de cada opção, com número concreto? Porque um mediador sem número não medeia, opina.” “E opinião não resolve conflito entre duas pessoas que já sabem o que querem.” “Números vieram de ferramenta: todo número citado saiu de uma consulta de verdade, ou o modelo estimou? Binário, sem meio-termo.” “Porque como o Mediador fala com autoridade, a gente age em cima do número. Se ele estiver inventado, a casa toma decisão errada com confiança.” “Mediou sem decidir: esse é um critério de posicionamento. No momento em que ele diz não peça entrega, ele deixou de ser o produto que eu construí.” “E falta virou trade-off: faltou ingrediente e ele ofereceu substituição com o que tem em casa, em vez de simplesmente cancelar?” “Falta de item é o caso mais comum da vida real. Um produto que responde não dá toda vez é inútil exatamente na semana em que a casa mais precisa dele.”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“São os mesmos critérios que a gente escreveu no cenário do gato, agora com nome e escala.” “Trade-off com números: ele expôs o custo real de cada opção, com número concreto? Porque um mediador sem número não medeia, opina.” “E opinião não resolve conflito entre duas pessoas que já sabem o que querem.” “Números vieram de ferramenta: todo número citado saiu de uma consulta de verdade, ou o modelo estimou? Binário, sem meio-termo.” “Porque como o Mediador fala com autoridade, a gente age em cima do número. Se ele estiver inventado, a casa toma decisão errada com confiança.” “Mediou sem decidir: esse é um critério de posicionamento. No momento em que ele diz não peça entrega, ele deixou de ser o produto que eu construí.” “E falta virou trade-off: faltou ingrediente e ele ofereceu substituição com o que tem em casa, em vez de simplesmente cancelar?” “Falta de item é o caso mais comum da vida real. Um produto que responde não dá toda vez é inútil exatamente na semana em que a casa mais precisa dele.”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Mediador não é a única coisa que este produto faz, e o conjunto tem que cobrir o resto.” “A casa fala com ele o dia inteiro: comprei dois quilos de arroz, comemos a lasanha, joguei fora aquele resto.” “Esse caminho de entrada tem os critérios dele. Ele entendeu que aquilo era uma compra e não um desejo? Ele preencheu algum número que ninguém disse?” “E esse segundo é perigoso de um jeito particular. Se eu digo comi um prato de lasanha e o modelo estima seiscentas e cinquenta calorias, o orçamento da semana virou ficção.” “E ficção que ninguém sabe que é ficção, porque está gravada no banco igualzinho a um número real.” “A regra do produto é: campo não dito fica vazio, e o sistema pergunta.” “Repara no padrão: cada operação promete uma coisa diferente, então cada uma falha diferente. Critério genérico não pega nenhuma delas.”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agora a parte que eu acho que mais ensina: o que eu decidi não medir.” “Porque a lista do que fica de fora diz tanto sobre o produto quanto a lista do que entra.” “A mediação foi agradável — fora. Não é julgável de forma repetível, e o produto nem promete isso.” “Tom e simpatia da resposta — fora, por enquanto. É barato quando erra. Pode entrar na terceira rodada.” “Latência e custo — fora, e esse é o mais contraintuitivo, porque os dois importam muito.” “Mas eles são métricas, não critérios de qualidade. São coletados sozinhos, automaticamente.” “Medir de novo aqui só polui o resultado com número que já existe em outro lugar.” “Repara no padrão: cada exclusão tem um motivo. E o motivo nunca é não deu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“Olha o resultado.” “A primeira coisa que eu quero dizer sobre nota baixa: isso não é o conjunto falhando, é o conjunto funcionando.” “Lembra do começo da aula — se cem por cento passasse, eu ia desconfiar do critério. Ele existe pra reprovar.” “Segunda coisa: leia sempre a justificativa junto da nota.” “A nota me diz que tem problema. A justificativa me diz o que fazer a respeito. E as duas coisas são muito diferentes.” “E a terceira, que é onde mora o valor de verdade: repara em quais critérios reprovaram juntos.” “Não é uma lista de problemas independentes. Dois ou três padrões costumam responder pela maioria — e é neles que vale trabalhar primeiro.”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pra fechar, eu quero ser honesto sobre o tamanho do que a gente construiu. Porque é bastante — e é menos do que parece.” “Este conjunto julga as execuções que eu escolhi, quando eu mando rodar.” “Ninguém está sendo avisado de nada. Não tem alarme, não tem vigilância.” “Se a qualidade cair numa terça-feira de madrugada, eu descubro quando eu lembrar de rodar de novo.” “Se eu esquecer duas semanas, eu tenho duas semanas de produto ruim que ninguém viu.” “Ter critério é metade do trabalho. A outra metade é enxergar o produto continuamente, sem eu precisar lembrar.” “É esse buraco que a próxima aula preenche.”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 sei o que procurar. Agora falta enxergar.” “Até lá.”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capa.png">    </p:cNvPr>
          <p:cNvPicPr>
            <a:picLocks noChangeAspect="1"/>
          </p:cNvPicPr>
          <p:nvPr/>
        </p:nvPicPr>
        <p:blipFill>
          <a:blip r:embed="rId2"/>
          <a:stretch>
            <a:fillRect/>
          </a:stretch>
        </p:blipFill>
        <p:spPr>
          <a:xfrm>
            <a:off x="8092440" y="0"/>
            <a:ext cx="16294608" cy="13716000"/>
          </a:xfrm>
          <a:prstGeom prst="rect">
            <a:avLst/>
          </a:prstGeom>
        </p:spPr>
      </p:pic>
      <p:pic>
        <p:nvPicPr>
          <p:cNvPr id="4" name="Image 2" descr="art\logo.png">    </p:cNvPr>
          <p:cNvPicPr>
            <a:picLocks noChangeAspect="1"/>
          </p:cNvPicPr>
          <p:nvPr/>
        </p:nvPicPr>
        <p:blipFill>
          <a:blip r:embed="rId3"/>
          <a:stretch>
            <a:fillRect/>
          </a:stretch>
        </p:blipFill>
        <p:spPr>
          <a:xfrm>
            <a:off x="23436072" y="402336"/>
            <a:ext cx="475488" cy="594360"/>
          </a:xfrm>
          <a:prstGeom prst="rect">
            <a:avLst/>
          </a:prstGeom>
        </p:spPr>
      </p:pic>
      <p:sp>
        <p:nvSpPr>
          <p:cNvPr id="5" name="Text 0"/>
          <p:cNvSpPr txBox="1"/>
          <p:nvPr/>
        </p:nvSpPr>
        <p:spPr>
          <a:xfrm>
            <a:off x="2423160" y="1874520"/>
            <a:ext cx="13258800" cy="640080"/>
          </a:xfrm>
          <a:prstGeom prst="rect">
            <a:avLst/>
          </a:prstGeom>
          <a:noFill/>
          <a:ln/>
        </p:spPr>
        <p:txBody>
          <a:bodyPr wrap="square" lIns="0" tIns="0" rIns="0" bIns="0" rtlCol="0" anchor="ctr"/>
          <a:lstStyle/>
          <a:p>
            <a:pPr indent="0" marL="0">
              <a:buNone/>
            </a:pPr>
            <a:r>
              <a:rPr lang="en-US" sz="2200" b="1" spc="300" kern="0" dirty="0">
                <a:solidFill>
                  <a:srgbClr val="1F53E5"/>
                </a:solidFill>
                <a:latin typeface="Encode Sans" pitchFamily="34" charset="0"/>
                <a:ea typeface="Encode Sans" pitchFamily="34" charset="-122"/>
                <a:cs typeface="Encode Sans" pitchFamily="34" charset="-120"/>
              </a:rPr>
              <a:t>EVALS, OBSERVABILIDADE E CONFORMIDADE</a:t>
            </a:r>
            <a:endParaRPr lang="en-US" sz="2200" dirty="0"/>
          </a:p>
        </p:txBody>
      </p:sp>
      <p:sp>
        <p:nvSpPr>
          <p:cNvPr id="6" name="Text 1"/>
          <p:cNvSpPr txBox="1"/>
          <p:nvPr/>
        </p:nvSpPr>
        <p:spPr>
          <a:xfrm>
            <a:off x="2423160" y="2697480"/>
            <a:ext cx="13167360" cy="5760720"/>
          </a:xfrm>
          <a:prstGeom prst="rect">
            <a:avLst/>
          </a:prstGeom>
          <a:noFill/>
          <a:ln/>
        </p:spPr>
        <p:txBody>
          <a:bodyPr wrap="square" lIns="0" tIns="0" rIns="0" bIns="0" rtlCol="0" anchor="t"/>
          <a:lstStyle/>
          <a:p>
            <a:pPr indent="0" marL="0">
              <a:lnSpc>
                <a:spcPct val="102000"/>
              </a:lnSpc>
              <a:buNone/>
            </a:pPr>
            <a:r>
              <a:rPr lang="en-US" sz="10400" dirty="0">
                <a:solidFill>
                  <a:srgbClr val="BDBFC7"/>
                </a:solidFill>
                <a:latin typeface="Encode Sans" pitchFamily="34" charset="0"/>
                <a:ea typeface="Encode Sans" pitchFamily="34" charset="-122"/>
                <a:cs typeface="Encode Sans" pitchFamily="34" charset="-120"/>
              </a:rPr>
              <a:t>Evals: avaliando</a:t>
            </a:r>
            <a:endParaRPr lang="en-US" sz="10400" dirty="0"/>
          </a:p>
          <a:p>
            <a:pPr indent="0" marL="0">
              <a:lnSpc>
                <a:spcPct val="102000"/>
              </a:lnSpc>
              <a:buNone/>
            </a:pPr>
            <a:r>
              <a:rPr lang="en-US" sz="10400" dirty="0">
                <a:solidFill>
                  <a:srgbClr val="BDBFC7"/>
                </a:solidFill>
                <a:latin typeface="Encode Sans" pitchFamily="34" charset="0"/>
                <a:ea typeface="Encode Sans" pitchFamily="34" charset="-122"/>
                <a:cs typeface="Encode Sans" pitchFamily="34" charset="-120"/>
              </a:rPr>
              <a:t>a qualidade</a:t>
            </a:r>
            <a:endParaRPr lang="en-US" sz="10400" dirty="0"/>
          </a:p>
          <a:p>
            <a:pPr indent="0" marL="0">
              <a:lnSpc>
                <a:spcPct val="102000"/>
              </a:lnSpc>
              <a:buNone/>
            </a:pPr>
            <a:r>
              <a:rPr lang="en-US" sz="10400" dirty="0">
                <a:solidFill>
                  <a:srgbClr val="BDBFC7"/>
                </a:solidFill>
                <a:latin typeface="Encode Sans" pitchFamily="34" charset="0"/>
                <a:ea typeface="Encode Sans" pitchFamily="34" charset="-122"/>
                <a:cs typeface="Encode Sans" pitchFamily="34" charset="-120"/>
              </a:rPr>
              <a:t>das respostas</a:t>
            </a:r>
            <a:endParaRPr lang="en-US" sz="10400" dirty="0"/>
          </a:p>
        </p:txBody>
      </p:sp>
      <p:sp>
        <p:nvSpPr>
          <p:cNvPr id="7" name="Text 2"/>
          <p:cNvSpPr txBox="1"/>
          <p:nvPr/>
        </p:nvSpPr>
        <p:spPr>
          <a:xfrm>
            <a:off x="2423160" y="8732520"/>
            <a:ext cx="13624560" cy="1737360"/>
          </a:xfrm>
          <a:prstGeom prst="rect">
            <a:avLst/>
          </a:prstGeom>
          <a:noFill/>
          <a:ln/>
        </p:spPr>
        <p:txBody>
          <a:bodyPr wrap="square" lIns="0" tIns="0" rIns="0" bIns="0" rtlCol="0" anchor="t"/>
          <a:lstStyle/>
          <a:p>
            <a:pPr indent="0" marL="0">
              <a:lnSpc>
                <a:spcPct val="115000"/>
              </a:lnSpc>
              <a:buNone/>
            </a:pPr>
            <a:r>
              <a:rPr lang="en-US" sz="3800" dirty="0">
                <a:solidFill>
                  <a:srgbClr val="A7A9B4"/>
                </a:solidFill>
                <a:latin typeface="Encode Sans" pitchFamily="34" charset="0"/>
                <a:ea typeface="Encode Sans" pitchFamily="34" charset="-122"/>
                <a:cs typeface="Encode Sans" pitchFamily="34" charset="-120"/>
              </a:rPr>
              <a:t>Aula 2 — de opinião a critério verificável</a:t>
            </a:r>
            <a:endParaRPr lang="en-US" sz="3800" dirty="0"/>
          </a:p>
        </p:txBody>
      </p:sp>
      <p:sp>
        <p:nvSpPr>
          <p:cNvPr id="8" name="Text 3"/>
          <p:cNvSpPr txBox="1"/>
          <p:nvPr/>
        </p:nvSpPr>
        <p:spPr>
          <a:xfrm>
            <a:off x="2423160" y="10744200"/>
            <a:ext cx="13898880" cy="731520"/>
          </a:xfrm>
          <a:prstGeom prst="rect">
            <a:avLst/>
          </a:prstGeom>
          <a:noFill/>
          <a:ln/>
        </p:spPr>
        <p:txBody>
          <a:bodyPr wrap="square" lIns="0" tIns="0" rIns="0" bIns="0" rtlCol="0" anchor="ctr"/>
          <a:lstStyle/>
          <a:p>
            <a:pPr indent="0" marL="0">
              <a:buNone/>
            </a:pPr>
            <a:r>
              <a:rPr lang="en-US" sz="2800" dirty="0">
                <a:solidFill>
                  <a:srgbClr val="1F53E5"/>
                </a:solidFill>
                <a:latin typeface="Roboto" pitchFamily="34" charset="0"/>
                <a:ea typeface="Roboto" pitchFamily="34" charset="-122"/>
                <a:cs typeface="Roboto" pitchFamily="34" charset="-120"/>
              </a:rPr>
              <a:t>Musa Balance — o Mediador entre o chef e a musa, em produção</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2FD3"/>
        </a:solidFill>
      </p:bgPr>
    </p:bg>
    <p:spTree>
      <p:nvGrpSpPr>
        <p:cNvPr id="1" name=""/>
        <p:cNvGrpSpPr/>
        <p:nvPr/>
      </p:nvGrpSpPr>
      <p:grpSpPr>
        <a:xfrm>
          <a:off x="0" y="0"/>
          <a:ext cx="0" cy="0"/>
          <a:chOff x="0" y="0"/>
          <a:chExt cx="0" cy="0"/>
        </a:xfrm>
      </p:grpSpPr>
      <p:pic>
        <p:nvPicPr>
          <p:cNvPr id="2" name="Image 0" descr="art\logo.png">    </p:cNvPr>
          <p:cNvPicPr>
            <a:picLocks noChangeAspect="1"/>
          </p:cNvPicPr>
          <p:nvPr/>
        </p:nvPicPr>
        <p:blipFill>
          <a:blip r:embed="rId1"/>
          <a:stretch>
            <a:fillRect/>
          </a:stretch>
        </p:blipFill>
        <p:spPr>
          <a:xfrm>
            <a:off x="23436072" y="402336"/>
            <a:ext cx="475488" cy="594360"/>
          </a:xfrm>
          <a:prstGeom prst="rect">
            <a:avLst/>
          </a:prstGeom>
        </p:spPr>
      </p:pic>
      <p:sp>
        <p:nvSpPr>
          <p:cNvPr id="3" name="Text 0"/>
          <p:cNvSpPr txBox="1"/>
          <p:nvPr/>
        </p:nvSpPr>
        <p:spPr>
          <a:xfrm>
            <a:off x="4416552" y="4023360"/>
            <a:ext cx="15544800" cy="5669280"/>
          </a:xfrm>
          <a:prstGeom prst="rect">
            <a:avLst/>
          </a:prstGeom>
          <a:noFill/>
          <a:ln/>
        </p:spPr>
        <p:txBody>
          <a:bodyPr wrap="square" lIns="0" tIns="0" rIns="0" bIns="0" rtlCol="0" anchor="ctr"/>
          <a:lstStyle/>
          <a:p>
            <a:pPr algn="ctr" indent="0" marL="0">
              <a:lnSpc>
                <a:spcPct val="105000"/>
              </a:lnSpc>
              <a:buNone/>
            </a:pPr>
            <a:r>
              <a:rPr lang="en-US" sz="9600" dirty="0">
                <a:solidFill>
                  <a:srgbClr val="FFFFFF"/>
                </a:solidFill>
                <a:latin typeface="Encode Sans" pitchFamily="34" charset="0"/>
                <a:ea typeface="Encode Sans" pitchFamily="34" charset="-122"/>
                <a:cs typeface="Encode Sans" pitchFamily="34" charset="-120"/>
              </a:rPr>
              <a:t>2.1 O que são evals?</a:t>
            </a:r>
            <a:endParaRPr lang="en-US" sz="9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A gente encontrou os riscos. E agora?</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Se eu mudar o produto amanhã, como vou saber se ele continua fazendo o que deveria?</a:t>
            </a:r>
            <a:endParaRPr lang="en-US" sz="2800" dirty="0"/>
          </a:p>
        </p:txBody>
      </p:sp>
      <p:sp>
        <p:nvSpPr>
          <p:cNvPr id="9" name="Text 4"/>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A gente encontrou os riscos. E agora?</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Se eu mudar o produto amanhã, como vou saber se ele continua fazendo o que deveria?</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Uma mudança pode melhorar uma resposta e piorar outra.</a:t>
            </a:r>
            <a:endParaRPr lang="en-US" sz="2800" dirty="0"/>
          </a:p>
        </p:txBody>
      </p:sp>
      <p:sp>
        <p:nvSpPr>
          <p:cNvPr id="11"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A gente encontrou os riscos. E agora?</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Se eu mudar o produto amanhã, como vou saber se ele continua fazendo o que deveria?</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Uma mudança pode melhorar uma resposta e piorar outra.</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 comportamento que eu já tinha como garantido pode simplesmente deixar de acontecer.</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A gente encontrou os riscos. E agora?</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Se eu mudar o produto amanhã, como vou saber se ele continua fazendo o que deveria?</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Uma mudança pode melhorar uma resposta e piorar outra.</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 comportamento que eu já tinha como garantido pode simplesmente deixar de acontecer.</a:t>
            </a:r>
            <a:endParaRPr lang="en-US" sz="2800" dirty="0"/>
          </a:p>
        </p:txBody>
      </p:sp>
      <p:sp>
        <p:nvSpPr>
          <p:cNvPr id="12" name="Text 8"/>
          <p:cNvSpPr txBox="1"/>
          <p:nvPr/>
        </p:nvSpPr>
        <p:spPr>
          <a:xfrm>
            <a:off x="2423160" y="852220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3" name="Text 9"/>
          <p:cNvSpPr txBox="1"/>
          <p:nvPr/>
        </p:nvSpPr>
        <p:spPr>
          <a:xfrm>
            <a:off x="3337560" y="850392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 erro que aconteceu hoje pode voltar amanhã. E voltar pior.</a:t>
            </a:r>
            <a:endParaRPr lang="en-US" sz="2800" dirty="0"/>
          </a:p>
        </p:txBody>
      </p:sp>
      <p:sp>
        <p:nvSpPr>
          <p:cNvPr id="15" name="Text 10"/>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A gente encontrou os riscos. E agora?</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Se eu mudar o produto amanhã, como vou saber se ele continua fazendo o que deveria?</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Uma mudança pode melhorar uma resposta e piorar outra.</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 comportamento que eu já tinha como garantido pode simplesmente deixar de acontecer.</a:t>
            </a:r>
            <a:endParaRPr lang="en-US" sz="2800" dirty="0"/>
          </a:p>
        </p:txBody>
      </p:sp>
      <p:sp>
        <p:nvSpPr>
          <p:cNvPr id="12" name="Text 8"/>
          <p:cNvSpPr txBox="1"/>
          <p:nvPr/>
        </p:nvSpPr>
        <p:spPr>
          <a:xfrm>
            <a:off x="2423160" y="852220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3" name="Text 9"/>
          <p:cNvSpPr txBox="1"/>
          <p:nvPr/>
        </p:nvSpPr>
        <p:spPr>
          <a:xfrm>
            <a:off x="3337560" y="850392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 erro que aconteceu hoje pode voltar amanhã. E voltar pior.</a:t>
            </a:r>
            <a:endParaRPr lang="en-US" sz="2800" dirty="0"/>
          </a:p>
        </p:txBody>
      </p:sp>
      <p:sp>
        <p:nvSpPr>
          <p:cNvPr id="14" name="Text 10"/>
          <p:cNvSpPr txBox="1"/>
          <p:nvPr/>
        </p:nvSpPr>
        <p:spPr>
          <a:xfrm>
            <a:off x="2423160" y="957376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5" name="Text 11"/>
          <p:cNvSpPr txBox="1"/>
          <p:nvPr/>
        </p:nvSpPr>
        <p:spPr>
          <a:xfrm>
            <a:off x="3337560" y="955548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Testar uma vez responde sobre aquele momento. Produto é o que acontece nos outros dias.</a:t>
            </a:r>
            <a:endParaRPr lang="en-US" sz="2800" dirty="0"/>
          </a:p>
        </p:txBody>
      </p:sp>
      <p:sp>
        <p:nvSpPr>
          <p:cNvPr id="17" name="Text 12"/>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Evals: transformar qualidade em evidência</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Eval é um processo sistemático pra verificar se o produto está se comportando como eu espero.</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Não é QA e não é teste de software: teste pergunta "é igual ao esperado?", e eval pergunta "é bom?".</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É critério que pode ser reproduzido e aprimorado de forma repetível.</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funil que sustenta qualquer eval</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1. Cenário — o que eu estou tentando avaliar? Ex.: o casal pede uma mediação de cardápio pra semana.</a:t>
            </a:r>
            <a:endParaRPr lang="en-US" sz="2800" dirty="0"/>
          </a:p>
        </p:txBody>
      </p:sp>
      <p:sp>
        <p:nvSpPr>
          <p:cNvPr id="9" name="Text 4"/>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funil que sustenta qualquer eval</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1. Cenário — o que eu estou tentando avaliar? Ex.: o casal pede uma mediação de cardápio pra semana.</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2. Critério — o que eu espero que ele faça? Ex.: identificar o trade-off e explicar o impacto com o número que a ferramenta devolveu.</a:t>
            </a:r>
            <a:endParaRPr lang="en-US" sz="2800" dirty="0"/>
          </a:p>
        </p:txBody>
      </p:sp>
      <p:sp>
        <p:nvSpPr>
          <p:cNvPr id="11"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funil que sustenta qualquer eval</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1. Cenário — o que eu estou tentando avaliar? Ex.: o casal pede uma mediação de cardápio pra semana.</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2. Critério — o que eu espero que ele faça? Ex.: identificar o trade-off e explicar o impacto com o número que a ferramenta devolveu.</a:t>
            </a:r>
            <a:endParaRPr lang="en-US" sz="2800" dirty="0"/>
          </a:p>
        </p:txBody>
      </p:sp>
      <p:sp>
        <p:nvSpPr>
          <p:cNvPr id="10" name="Text 6"/>
          <p:cNvSpPr txBox="1"/>
          <p:nvPr/>
        </p:nvSpPr>
        <p:spPr>
          <a:xfrm>
            <a:off x="2423160" y="80192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80010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3. Resposta — o que o produto fez de verdade naquela execução?</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funil que sustenta qualquer eval</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1. Cenário — o que eu estou tentando avaliar? Ex.: o casal pede uma mediação de cardápio pra semana.</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2. Critério — o que eu espero que ele faça? Ex.: identificar o trade-off e explicar o impacto com o número que a ferramenta devolveu.</a:t>
            </a:r>
            <a:endParaRPr lang="en-US" sz="2800" dirty="0"/>
          </a:p>
        </p:txBody>
      </p:sp>
      <p:sp>
        <p:nvSpPr>
          <p:cNvPr id="10" name="Text 6"/>
          <p:cNvSpPr txBox="1"/>
          <p:nvPr/>
        </p:nvSpPr>
        <p:spPr>
          <a:xfrm>
            <a:off x="2423160" y="80192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80010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3. Resposta — o que o produto fez de verdade naquela execução?</a:t>
            </a:r>
            <a:endParaRPr lang="en-US" sz="2800" dirty="0"/>
          </a:p>
        </p:txBody>
      </p:sp>
      <p:sp>
        <p:nvSpPr>
          <p:cNvPr id="12" name="Text 8"/>
          <p:cNvSpPr txBox="1"/>
          <p:nvPr/>
        </p:nvSpPr>
        <p:spPr>
          <a:xfrm>
            <a:off x="2423160" y="90708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3" name="Text 9"/>
          <p:cNvSpPr txBox="1"/>
          <p:nvPr/>
        </p:nvSpPr>
        <p:spPr>
          <a:xfrm>
            <a:off x="3337560" y="90525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4. Evidência — atendeu ou não atendeu, com justificativa apontável.</a:t>
            </a:r>
            <a:endParaRPr lang="en-US" sz="2800" dirty="0"/>
          </a:p>
        </p:txBody>
      </p:sp>
      <p:sp>
        <p:nvSpPr>
          <p:cNvPr id="15" name="Text 10"/>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Não estamos avaliando o modelo</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O modelo é um componente. Ele é o mesmo modelo que atende milhões de outros produtos, e ele não sabe o que a minha casa combinou.</a:t>
            </a:r>
            <a:endParaRPr lang="en-US" sz="2800" dirty="0"/>
          </a:p>
        </p:txBody>
      </p:sp>
      <p:sp>
        <p:nvSpPr>
          <p:cNvPr id="8" name="Text 4"/>
          <p:cNvSpPr txBox="1"/>
          <p:nvPr/>
        </p:nvSpPr>
        <p:spPr>
          <a:xfrm>
            <a:off x="2423160" y="69677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94944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O que eu avalio é o comportamento esperado do meu produto: o que o Mediador prometeu fazer pra este casal.</a:t>
            </a:r>
            <a:endParaRPr lang="en-US" sz="2800" dirty="0"/>
          </a:p>
        </p:txBody>
      </p:sp>
      <p:sp>
        <p:nvSpPr>
          <p:cNvPr id="10" name="Text 6"/>
          <p:cNvSpPr txBox="1"/>
          <p:nvPr/>
        </p:nvSpPr>
        <p:spPr>
          <a:xfrm>
            <a:off x="2423160" y="85679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854964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Não estamos avaliando o modelo, e sim o comportamento esperado do produto.</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Se tudo passa, o critério está fácil demais</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É tentador comemorar quando 100% das respostas passam. Eu já comemorei, e estava errado.</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100% de aprovação é sinal de alerta, não de sucesso: o critério provavelmente não está pegando nada.</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 quanto de falha eu aceito é decisão minha, de produto. Não existe "zero erro" de graça.</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2FD3"/>
        </a:solidFill>
      </p:bgPr>
    </p:bg>
    <p:spTree>
      <p:nvGrpSpPr>
        <p:cNvPr id="1" name=""/>
        <p:cNvGrpSpPr/>
        <p:nvPr/>
      </p:nvGrpSpPr>
      <p:grpSpPr>
        <a:xfrm>
          <a:off x="0" y="0"/>
          <a:ext cx="0" cy="0"/>
          <a:chOff x="0" y="0"/>
          <a:chExt cx="0" cy="0"/>
        </a:xfrm>
      </p:grpSpPr>
      <p:pic>
        <p:nvPicPr>
          <p:cNvPr id="2" name="Image 0" descr="art\logo.png">    </p:cNvPr>
          <p:cNvPicPr>
            <a:picLocks noChangeAspect="1"/>
          </p:cNvPicPr>
          <p:nvPr/>
        </p:nvPicPr>
        <p:blipFill>
          <a:blip r:embed="rId1"/>
          <a:stretch>
            <a:fillRect/>
          </a:stretch>
        </p:blipFill>
        <p:spPr>
          <a:xfrm>
            <a:off x="23436072" y="402336"/>
            <a:ext cx="475488" cy="594360"/>
          </a:xfrm>
          <a:prstGeom prst="rect">
            <a:avLst/>
          </a:prstGeom>
        </p:spPr>
      </p:pic>
      <p:sp>
        <p:nvSpPr>
          <p:cNvPr id="3" name="Text 0"/>
          <p:cNvSpPr txBox="1"/>
          <p:nvPr/>
        </p:nvSpPr>
        <p:spPr>
          <a:xfrm>
            <a:off x="4416552" y="4023360"/>
            <a:ext cx="15544800" cy="5669280"/>
          </a:xfrm>
          <a:prstGeom prst="rect">
            <a:avLst/>
          </a:prstGeom>
          <a:noFill/>
          <a:ln/>
        </p:spPr>
        <p:txBody>
          <a:bodyPr wrap="square" lIns="0" tIns="0" rIns="0" bIns="0" rtlCol="0" anchor="ctr"/>
          <a:lstStyle/>
          <a:p>
            <a:pPr algn="ctr" indent="0" marL="0">
              <a:lnSpc>
                <a:spcPct val="105000"/>
              </a:lnSpc>
              <a:buNone/>
            </a:pPr>
            <a:r>
              <a:rPr lang="en-US" sz="9600" dirty="0">
                <a:solidFill>
                  <a:srgbClr val="FFFFFF"/>
                </a:solidFill>
                <a:latin typeface="Encode Sans" pitchFamily="34" charset="0"/>
                <a:ea typeface="Encode Sans" pitchFamily="34" charset="-122"/>
                <a:cs typeface="Encode Sans" pitchFamily="34" charset="-120"/>
              </a:rPr>
              <a:t>2.2 Critérios de qualidade</a:t>
            </a:r>
            <a:endParaRPr lang="en-US" sz="9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De opinião a critério verificável</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No funil, hoje a gente para exatamente no Critério — é o passo mais fácil de fazer errado.</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 é o único dos quatro que não precisa de código nenhum: é escrito em português, por gente de produto.</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Critérios claros transformam julgamento subjetivo em algo que eu consigo checar.</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cenário: o pote vazio e o gato miando</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 casa quer pedir entrega. E tem porção caseira parada na geladeira, feita no fim de semana.</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O chef pensa em desperdício e orçamento. A musa quer comer o que dá vontade. Os dois têm razão.</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É pra esse conflito que o Mediador existe. Então é dele que os critérios têm que nascer.</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Os critérios que nascem desse cenário</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Menciona explicitamente que existem porções caseiras não consumidas?</a:t>
            </a:r>
            <a:endParaRPr lang="en-US" sz="2800" dirty="0"/>
          </a:p>
        </p:txBody>
      </p:sp>
      <p:sp>
        <p:nvSpPr>
          <p:cNvPr id="9" name="Text 4"/>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Os critérios que nascem desse cenário</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Menciona explicitamente que existem porções caseiras não consumidas?</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Cita o relato de delivery ou restaurante recente como parte do motivo?</a:t>
            </a:r>
            <a:endParaRPr lang="en-US" sz="2800" dirty="0"/>
          </a:p>
        </p:txBody>
      </p:sp>
      <p:sp>
        <p:nvSpPr>
          <p:cNvPr id="11"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Os critérios que nascem desse cenário</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Menciona explicitamente que existem porções caseiras não consumidas?</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Cita o relato de delivery ou restaurante recente como parte do motivo?</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Não decide sozinho o que a casa deve fazer — expõe e deixa a escolha em aberto?</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Os critérios que nascem desse cenário</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Menciona explicitamente que existem porções caseiras não consumidas?</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Cita o relato de delivery ou restaurante recente como parte do motivo?</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Não decide sozinho o que a casa deve fazer — expõe e deixa a escolha em aberto?</a:t>
            </a:r>
            <a:endParaRPr lang="en-US" sz="2800" dirty="0"/>
          </a:p>
        </p:txBody>
      </p:sp>
      <p:sp>
        <p:nvSpPr>
          <p:cNvPr id="12" name="Text 8"/>
          <p:cNvSpPr txBox="1"/>
          <p:nvPr/>
        </p:nvSpPr>
        <p:spPr>
          <a:xfrm>
            <a:off x="2423160" y="852220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3" name="Text 9"/>
          <p:cNvSpPr txBox="1"/>
          <p:nvPr/>
        </p:nvSpPr>
        <p:spPr>
          <a:xfrm>
            <a:off x="3337560" y="850392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Usa números reais (porções restantes, dias desde o preparo) em vez de estimativa vaga?</a:t>
            </a:r>
            <a:endParaRPr lang="en-US" sz="2800" dirty="0"/>
          </a:p>
        </p:txBody>
      </p:sp>
      <p:sp>
        <p:nvSpPr>
          <p:cNvPr id="15" name="Text 10"/>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Os critérios que nascem desse cenário</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Menciona explicitamente que existem porções caseiras não consumidas?</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Cita o relato de delivery ou restaurante recente como parte do motivo?</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Não decide sozinho o que a casa deve fazer — expõe e deixa a escolha em aberto?</a:t>
            </a:r>
            <a:endParaRPr lang="en-US" sz="2800" dirty="0"/>
          </a:p>
        </p:txBody>
      </p:sp>
      <p:sp>
        <p:nvSpPr>
          <p:cNvPr id="12" name="Text 8"/>
          <p:cNvSpPr txBox="1"/>
          <p:nvPr/>
        </p:nvSpPr>
        <p:spPr>
          <a:xfrm>
            <a:off x="2423160" y="852220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3" name="Text 9"/>
          <p:cNvSpPr txBox="1"/>
          <p:nvPr/>
        </p:nvSpPr>
        <p:spPr>
          <a:xfrm>
            <a:off x="3337560" y="850392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Usa números reais (porções restantes, dias desde o preparo) em vez de estimativa vaga?</a:t>
            </a:r>
            <a:endParaRPr lang="en-US" sz="2800" dirty="0"/>
          </a:p>
        </p:txBody>
      </p:sp>
      <p:sp>
        <p:nvSpPr>
          <p:cNvPr id="14" name="Text 10"/>
          <p:cNvSpPr txBox="1"/>
          <p:nvPr/>
        </p:nvSpPr>
        <p:spPr>
          <a:xfrm>
            <a:off x="2423160" y="957376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5" name="Text 11"/>
          <p:cNvSpPr txBox="1"/>
          <p:nvPr/>
        </p:nvSpPr>
        <p:spPr>
          <a:xfrm>
            <a:off x="3337560" y="955548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Não inventa prazo de validade que não veio de cálculo em código?</a:t>
            </a:r>
            <a:endParaRPr lang="en-US" sz="2800" dirty="0"/>
          </a:p>
        </p:txBody>
      </p:sp>
      <p:sp>
        <p:nvSpPr>
          <p:cNvPr id="17" name="Text 12"/>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Todo critério tem quatro partes</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Nome — é o que vai ser gravado toda vez. Sem nome estável, não dá pra comparar esta semana com a próxima.</a:t>
            </a:r>
            <a:endParaRPr lang="en-US" sz="2800" dirty="0"/>
          </a:p>
        </p:txBody>
      </p:sp>
      <p:sp>
        <p:nvSpPr>
          <p:cNvPr id="8" name="Text 4"/>
          <p:cNvSpPr txBox="1"/>
          <p:nvPr/>
        </p:nvSpPr>
        <p:spPr>
          <a:xfrm>
            <a:off x="2423160" y="69677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9494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Pergunta — respondível por uma pessoa olhando a interação, sem abrir o repositório.</a:t>
            </a:r>
            <a:endParaRPr lang="en-US" sz="2800" dirty="0"/>
          </a:p>
        </p:txBody>
      </p:sp>
      <p:sp>
        <p:nvSpPr>
          <p:cNvPr id="10" name="Text 6"/>
          <p:cNvSpPr txBox="1"/>
          <p:nvPr/>
        </p:nvSpPr>
        <p:spPr>
          <a:xfrm>
            <a:off x="2423160" y="80192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80010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Escala — binário quando a falha é categórica; de 0 a 1 quando "meio certo" existe de verdade.</a:t>
            </a:r>
            <a:endParaRPr lang="en-US" sz="2800" dirty="0"/>
          </a:p>
        </p:txBody>
      </p:sp>
      <p:sp>
        <p:nvSpPr>
          <p:cNvPr id="12" name="Text 8"/>
          <p:cNvSpPr txBox="1"/>
          <p:nvPr/>
        </p:nvSpPr>
        <p:spPr>
          <a:xfrm>
            <a:off x="2423160" y="90708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3" name="Text 9"/>
          <p:cNvSpPr txBox="1"/>
          <p:nvPr/>
        </p:nvSpPr>
        <p:spPr>
          <a:xfrm>
            <a:off x="3337560" y="90525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Por que erra caro — o custo real quando ele falha. É a parte que todo mundo pula.</a:t>
            </a:r>
            <a:endParaRPr lang="en-US" sz="2800" dirty="0"/>
          </a:p>
        </p:txBody>
      </p:sp>
      <p:sp>
        <p:nvSpPr>
          <p:cNvPr id="15" name="Text 10"/>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Binário ou 0 a 1: como eu escolho</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Binário é pra falha categórica: ou ele deixou a escolha em aberto, ou decidiu sozinho. Não tem meio-termo.</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 escala de 0 a 1 é pra quando "meio certo" existe: citou números, mas soltos, sem ligar à escolha.</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Na dúvida, binário. Escala contínua vira opinião disfarçada de número — o meu 0,7 é o 0,8 seu.</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"Por que erra caro" é o filtro que corta a lista pela metade</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Escreve o custo em uma frase concreta. Se você não conseguir escrever, o critério provavelmente não deveria existir.</a:t>
            </a:r>
            <a:endParaRPr lang="en-US" sz="2800" dirty="0"/>
          </a:p>
        </p:txBody>
      </p:sp>
      <p:sp>
        <p:nvSpPr>
          <p:cNvPr id="8" name="Text 4"/>
          <p:cNvSpPr txBox="1"/>
          <p:nvPr/>
        </p:nvSpPr>
        <p:spPr>
          <a:xfrm>
            <a:off x="2423160" y="69677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94944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Um critério que não custa nada quando falha rouba atenção dos que custam.</a:t>
            </a:r>
            <a:endParaRPr lang="en-US" sz="2800" dirty="0"/>
          </a:p>
        </p:txBody>
      </p:sp>
      <p:sp>
        <p:nvSpPr>
          <p:cNvPr id="10" name="Text 6"/>
          <p:cNvSpPr txBox="1"/>
          <p:nvPr/>
        </p:nvSpPr>
        <p:spPr>
          <a:xfrm>
            <a:off x="2423160" y="80192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80010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Ele não é neutro: toda rodada ele gasta tempo, gasta dinheiro, e ocupa uma linha que alguém tem que ler.</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Agora eu tenho mais do que uma opinião</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Antes eu lia a mediação e achava razoável. "Razoável" era eu, lendo uma vez, no meu humor daquele dia.</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Agora eu tenho critério: qualquer pessoa da casa aplica e chega no mesmo sim ou no mesmo não que eu.</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 com isso eu consigo decidir o que fazer a seguir — que é pra isso que medir serve.</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52FD3"/>
        </a:solidFill>
      </p:bgPr>
    </p:bg>
    <p:spTree>
      <p:nvGrpSpPr>
        <p:cNvPr id="1" name=""/>
        <p:cNvGrpSpPr/>
        <p:nvPr/>
      </p:nvGrpSpPr>
      <p:grpSpPr>
        <a:xfrm>
          <a:off x="0" y="0"/>
          <a:ext cx="0" cy="0"/>
          <a:chOff x="0" y="0"/>
          <a:chExt cx="0" cy="0"/>
        </a:xfrm>
      </p:grpSpPr>
      <p:pic>
        <p:nvPicPr>
          <p:cNvPr id="2" name="Image 0" descr="art\logo.png">    </p:cNvPr>
          <p:cNvPicPr>
            <a:picLocks noChangeAspect="1"/>
          </p:cNvPicPr>
          <p:nvPr/>
        </p:nvPicPr>
        <p:blipFill>
          <a:blip r:embed="rId1"/>
          <a:stretch>
            <a:fillRect/>
          </a:stretch>
        </p:blipFill>
        <p:spPr>
          <a:xfrm>
            <a:off x="23436072" y="402336"/>
            <a:ext cx="475488" cy="594360"/>
          </a:xfrm>
          <a:prstGeom prst="rect">
            <a:avLst/>
          </a:prstGeom>
        </p:spPr>
      </p:pic>
      <p:sp>
        <p:nvSpPr>
          <p:cNvPr id="3" name="Text 0"/>
          <p:cNvSpPr txBox="1"/>
          <p:nvPr/>
        </p:nvSpPr>
        <p:spPr>
          <a:xfrm>
            <a:off x="4416552" y="4023360"/>
            <a:ext cx="15544800" cy="5669280"/>
          </a:xfrm>
          <a:prstGeom prst="rect">
            <a:avLst/>
          </a:prstGeom>
          <a:noFill/>
          <a:ln/>
        </p:spPr>
        <p:txBody>
          <a:bodyPr wrap="square" lIns="0" tIns="0" rIns="0" bIns="0" rtlCol="0" anchor="ctr"/>
          <a:lstStyle/>
          <a:p>
            <a:pPr algn="ctr" indent="0" marL="0">
              <a:lnSpc>
                <a:spcPct val="105000"/>
              </a:lnSpc>
              <a:buNone/>
            </a:pPr>
            <a:r>
              <a:rPr lang="en-US" sz="9600" dirty="0">
                <a:solidFill>
                  <a:srgbClr val="FFFFFF"/>
                </a:solidFill>
                <a:latin typeface="Encode Sans" pitchFamily="34" charset="0"/>
                <a:ea typeface="Encode Sans" pitchFamily="34" charset="-122"/>
                <a:cs typeface="Encode Sans" pitchFamily="34" charset="-120"/>
              </a:rPr>
              <a:t>2.3 Claude como avaliador</a:t>
            </a:r>
            <a:endParaRPr lang="en-US" sz="9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2.3</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Ler à mão funciona — até não funcionar</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Com três mediações, ler uma por uma é o melhor investimento que existe. É lendo que eu descobri o que medir.</a:t>
            </a:r>
            <a:endParaRPr lang="en-US" sz="2800" dirty="0"/>
          </a:p>
        </p:txBody>
      </p:sp>
      <p:sp>
        <p:nvSpPr>
          <p:cNvPr id="8" name="Text 4"/>
          <p:cNvSpPr txBox="1"/>
          <p:nvPr/>
        </p:nvSpPr>
        <p:spPr>
          <a:xfrm>
            <a:off x="2423160" y="69677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94944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Com trezentas eu não leio. E o caso que mata é o do meio: com trinta por semana, eu leio na segunda e paro na quarta.</a:t>
            </a:r>
            <a:endParaRPr lang="en-US" sz="2800" dirty="0"/>
          </a:p>
        </p:txBody>
      </p:sp>
      <p:sp>
        <p:nvSpPr>
          <p:cNvPr id="10" name="Text 6"/>
          <p:cNvSpPr txBox="1"/>
          <p:nvPr/>
        </p:nvSpPr>
        <p:spPr>
          <a:xfrm>
            <a:off x="2423160" y="85679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854964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O critério que eu escrevi não escala sozinho. Ele precisa de alguém que aplique sempre do mesmo jeito.</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2.3</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Do critério ao julgamento</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Trace — uma execução real do produto: o pedido, a resposta final, e cada ferramenta que ele chamou no meio.</a:t>
            </a:r>
            <a:endParaRPr lang="en-US" sz="2800" dirty="0"/>
          </a:p>
        </p:txBody>
      </p:sp>
      <p:sp>
        <p:nvSpPr>
          <p:cNvPr id="9" name="Text 4"/>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2.3</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Do critério ao julgamento</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Trace — uma execução real do produto: o pedido, a resposta final, e cada ferramenta que ele chamou no meio.</a:t>
            </a:r>
            <a:endParaRPr lang="en-US" sz="2800" dirty="0"/>
          </a:p>
        </p:txBody>
      </p:sp>
      <p:sp>
        <p:nvSpPr>
          <p:cNvPr id="8" name="Text 4"/>
          <p:cNvSpPr txBox="1"/>
          <p:nvPr/>
        </p:nvSpPr>
        <p:spPr>
          <a:xfrm>
            <a:off x="2423160" y="69677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9494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Julgamento — o critério foi atendido naquela execução?</a:t>
            </a:r>
            <a:endParaRPr lang="en-US" sz="2800" dirty="0"/>
          </a:p>
        </p:txBody>
      </p:sp>
      <p:sp>
        <p:nvSpPr>
          <p:cNvPr id="11"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2.3</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Do critério ao julgamento</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Trace — uma execução real do produto: o pedido, a resposta final, e cada ferramenta que ele chamou no meio.</a:t>
            </a:r>
            <a:endParaRPr lang="en-US" sz="2800" dirty="0"/>
          </a:p>
        </p:txBody>
      </p:sp>
      <p:sp>
        <p:nvSpPr>
          <p:cNvPr id="8" name="Text 4"/>
          <p:cNvSpPr txBox="1"/>
          <p:nvPr/>
        </p:nvSpPr>
        <p:spPr>
          <a:xfrm>
            <a:off x="2423160" y="69677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9494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Julgamento — o critério foi atendido naquela execução?</a:t>
            </a:r>
            <a:endParaRPr lang="en-US" sz="2800" dirty="0"/>
          </a:p>
        </p:txBody>
      </p:sp>
      <p:sp>
        <p:nvSpPr>
          <p:cNvPr id="10" name="Text 6"/>
          <p:cNvSpPr txBox="1"/>
          <p:nvPr/>
        </p:nvSpPr>
        <p:spPr>
          <a:xfrm>
            <a:off x="2423160" y="80192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800100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LLM as a judge — o Claude atua como árbitro e automatiza esse julgamento, sempre do mesmo jeito.</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2.3</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que transforma o modelo em juiz</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Julgue só com base no material — não suponha nada que não esteja ali.</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Toda nota precisa de evidência citável. Justificativa genérica é justificativa inválida.</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109728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Seja severo com falha silenciosa: um estado que ficou errado sem ninguém perceber é pior que um erro barulhento.</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2.3</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Nota sem evidência não vale nada</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Cada critério devolve dois campos obrigatórios: o valor e a justificativa, citando o material.</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É isso que me deixa discordar do juiz. Um avaliador que eu não consigo auditar me dá confiança falsa.</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"Nota 0,3" eu tenho que aceitar na fé. "0,3 porque a resposta não cita as porções da geladeira" eu confiro em cinco segundos.</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2.3</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juiz não faz conta</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Antes de chamar o Claude, o código apura os fatos: quais ferramentas rodaram, quantos tokens saíram, se houve erro.</a:t>
            </a:r>
            <a:endParaRPr lang="en-US" sz="2800" dirty="0"/>
          </a:p>
        </p:txBody>
      </p:sp>
      <p:sp>
        <p:nvSpPr>
          <p:cNvPr id="8" name="Text 4"/>
          <p:cNvSpPr txBox="1"/>
          <p:nvPr/>
        </p:nvSpPr>
        <p:spPr>
          <a:xfrm>
            <a:off x="2423160" y="69677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9494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Isso entra no material já pronto, marcado como fato. O juiz usa e não recalcula nada.</a:t>
            </a:r>
            <a:endParaRPr lang="en-US" sz="2800" dirty="0"/>
          </a:p>
        </p:txBody>
      </p:sp>
      <p:sp>
        <p:nvSpPr>
          <p:cNvPr id="10" name="Text 6"/>
          <p:cNvSpPr txBox="1"/>
          <p:nvPr/>
        </p:nvSpPr>
        <p:spPr>
          <a:xfrm>
            <a:off x="2423160" y="80192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8001000"/>
            <a:ext cx="17922240" cy="109728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Aritmética é trabalho de código. Julgamento é trabalho do modelo. Misturar os dois estraga o eval em silêncio.</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2.3</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Prompt não é contrato</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Pra somar as notas eu preciso da resposta estruturada. A tentação é escrever "responda em JSON" e torcer.</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Funciona quase sempre. E quando ele resolve responder em prosa, não sobra nota nenhuma e a rodada inteira se perde.</a:t>
            </a:r>
            <a:endParaRPr lang="en-US" sz="2800" dirty="0"/>
          </a:p>
        </p:txBody>
      </p:sp>
      <p:sp>
        <p:nvSpPr>
          <p:cNvPr id="10" name="Text 6"/>
          <p:cNvSpPr txBox="1"/>
          <p:nvPr/>
        </p:nvSpPr>
        <p:spPr>
          <a:xfrm>
            <a:off x="2423160" y="80192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800100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A garantia é estrutural: a chamada da ferramenta é forçada pela API, não pedida no texto.</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52FD3"/>
        </a:solidFill>
      </p:bgPr>
    </p:bg>
    <p:spTree>
      <p:nvGrpSpPr>
        <p:cNvPr id="1" name=""/>
        <p:cNvGrpSpPr/>
        <p:nvPr/>
      </p:nvGrpSpPr>
      <p:grpSpPr>
        <a:xfrm>
          <a:off x="0" y="0"/>
          <a:ext cx="0" cy="0"/>
          <a:chOff x="0" y="0"/>
          <a:chExt cx="0" cy="0"/>
        </a:xfrm>
      </p:grpSpPr>
      <p:pic>
        <p:nvPicPr>
          <p:cNvPr id="2" name="Image 0" descr="art\logo.png">    </p:cNvPr>
          <p:cNvPicPr>
            <a:picLocks noChangeAspect="1"/>
          </p:cNvPicPr>
          <p:nvPr/>
        </p:nvPicPr>
        <p:blipFill>
          <a:blip r:embed="rId1"/>
          <a:stretch>
            <a:fillRect/>
          </a:stretch>
        </p:blipFill>
        <p:spPr>
          <a:xfrm>
            <a:off x="23436072" y="402336"/>
            <a:ext cx="475488" cy="594360"/>
          </a:xfrm>
          <a:prstGeom prst="rect">
            <a:avLst/>
          </a:prstGeom>
        </p:spPr>
      </p:pic>
      <p:sp>
        <p:nvSpPr>
          <p:cNvPr id="3" name="Text 0"/>
          <p:cNvSpPr txBox="1"/>
          <p:nvPr/>
        </p:nvSpPr>
        <p:spPr>
          <a:xfrm>
            <a:off x="4416552" y="4023360"/>
            <a:ext cx="15544800" cy="5669280"/>
          </a:xfrm>
          <a:prstGeom prst="rect">
            <a:avLst/>
          </a:prstGeom>
          <a:noFill/>
          <a:ln/>
        </p:spPr>
        <p:txBody>
          <a:bodyPr wrap="square" lIns="0" tIns="0" rIns="0" bIns="0" rtlCol="0" anchor="ctr"/>
          <a:lstStyle/>
          <a:p>
            <a:pPr algn="ctr" indent="0" marL="0">
              <a:lnSpc>
                <a:spcPct val="105000"/>
              </a:lnSpc>
              <a:buNone/>
            </a:pPr>
            <a:r>
              <a:rPr lang="en-US" sz="9600" dirty="0">
                <a:solidFill>
                  <a:srgbClr val="FFFFFF"/>
                </a:solidFill>
                <a:latin typeface="Encode Sans" pitchFamily="34" charset="0"/>
                <a:ea typeface="Encode Sans" pitchFamily="34" charset="-122"/>
                <a:cs typeface="Encode Sans" pitchFamily="34" charset="-120"/>
              </a:rPr>
              <a:t>2.4 Primeiro conjunto de evals</a:t>
            </a:r>
            <a:endParaRPr lang="en-US" sz="9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Conjunto não é lista de tudo — é escolha</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 tentação é escrever vinte critérios pra cobrir todo cenário imaginável. Dá uma sensação ótima de rigor.</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109728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E um eval que cobre tudo não é rodado por ninguém: fica lento, fica caro, e vira relatório que ninguém abre.</a:t>
            </a:r>
            <a:endParaRPr lang="en-US" sz="2800" dirty="0"/>
          </a:p>
        </p:txBody>
      </p:sp>
      <p:sp>
        <p:nvSpPr>
          <p:cNvPr id="10" name="Text 6"/>
          <p:cNvSpPr txBox="1"/>
          <p:nvPr/>
        </p:nvSpPr>
        <p:spPr>
          <a:xfrm>
            <a:off x="2423160" y="80192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80010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 ordem que eu uso é a do próprio objetivo: os cenários mais críticos, e os erros mais custosos.</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critério que vem antes de todos os outros</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 execução chegou ao fim inteira — sem erro, sem saída vazia, sem resposta cortada no meio?</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Não adianta perguntar se ele expôs o trade-off se a resposta parou no meio da palavra.</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É o único que o código quase resolve sozinho: token de saída igual ao teto é assinatura de truncamento.</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conjunto do Mediador</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Trade-off com números — expôs o custo real de cada opção, ou deu conselho genérico?</a:t>
            </a:r>
            <a:endParaRPr lang="en-US" sz="2800" dirty="0"/>
          </a:p>
        </p:txBody>
      </p:sp>
      <p:sp>
        <p:nvSpPr>
          <p:cNvPr id="9" name="Text 4"/>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conjunto do Mediador</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Trade-off com números — expôs o custo real de cada opção, ou deu conselho genérico?</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Números vieram de ferramenta — todo número saiu de uma consulta, ou o modelo estimou?</a:t>
            </a:r>
            <a:endParaRPr lang="en-US" sz="2800" dirty="0"/>
          </a:p>
        </p:txBody>
      </p:sp>
      <p:sp>
        <p:nvSpPr>
          <p:cNvPr id="11"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conjunto do Mediador</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Trade-off com números — expôs o custo real de cada opção, ou deu conselho genérico?</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Números vieram de ferramenta — todo número saiu de uma consulta, ou o modelo estimou?</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Mediou sem decidir — apresentou o conflito e deixou a escolha com o casal?</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conjunto do Mediador</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Trade-off com números — expôs o custo real de cada opção, ou deu conselho genérico?</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Números vieram de ferramenta — todo número saiu de uma consulta, ou o modelo estimou?</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Mediou sem decidir — apresentou o conflito e deixou a escolha com o casal?</a:t>
            </a:r>
            <a:endParaRPr lang="en-US" sz="2800" dirty="0"/>
          </a:p>
        </p:txBody>
      </p:sp>
      <p:sp>
        <p:nvSpPr>
          <p:cNvPr id="12" name="Text 8"/>
          <p:cNvSpPr txBox="1"/>
          <p:nvPr/>
        </p:nvSpPr>
        <p:spPr>
          <a:xfrm>
            <a:off x="2423160" y="852220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3" name="Text 9"/>
          <p:cNvSpPr txBox="1"/>
          <p:nvPr/>
        </p:nvSpPr>
        <p:spPr>
          <a:xfrm>
            <a:off x="3337560" y="850392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Falta virou trade-off — faltou item e ele ofereceu substituição, em vez de cancelar a proposta?</a:t>
            </a:r>
            <a:endParaRPr lang="en-US" sz="2800" dirty="0"/>
          </a:p>
        </p:txBody>
      </p:sp>
      <p:sp>
        <p:nvSpPr>
          <p:cNvPr id="15" name="Text 10"/>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Mediador não está sozinho</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 casa também fala com o produto o dia inteiro: "comprei dois quilos de arroz", "comemos a lasanha".</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Esse caminho de entrada tem os critérios dele: entendeu o tipo certo? preencheu número que ninguém disse?</a:t>
            </a:r>
            <a:endParaRPr lang="en-US" sz="2800" dirty="0"/>
          </a:p>
        </p:txBody>
      </p:sp>
      <p:sp>
        <p:nvSpPr>
          <p:cNvPr id="10" name="Text 6"/>
          <p:cNvSpPr txBox="1"/>
          <p:nvPr/>
        </p:nvSpPr>
        <p:spPr>
          <a:xfrm>
            <a:off x="2423160" y="80192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800100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Cada operação promete uma coisa diferente. Por isso cada uma falha de um jeito diferente.</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que eu deliberadamente não medi</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 mediação foi agradável" — não é julgável de forma repetível, e o produto não promete isso.</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Tom e simpatia — barato quando erra. Pode entrar na terceira rodada, não na primeira.</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109728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Latência e custo — são métricas, não critérios de qualidade. Já são coletados sozinhos; medir de novo só polui.</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Nota baixa é o conjunto funcionando</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Lembra do começo da aula: se 100% passasse, eu ia desconfiar do critério. Ele existe pra reprovar.</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Leia sempre a justificativa junto da nota. A nota diz que tem problema; a justificativa diz o que fazer.</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E repara em quais critérios reprovaram juntos — dois ou três padrões respondem pela maioria.</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214884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2880360"/>
            <a:ext cx="1874520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que este conjunto ainda não faz</a:t>
            </a:r>
            <a:endParaRPr lang="en-US" sz="6600" dirty="0"/>
          </a:p>
        </p:txBody>
      </p:sp>
      <p:sp>
        <p:nvSpPr>
          <p:cNvPr id="6" name="Text 2"/>
          <p:cNvSpPr txBox="1"/>
          <p:nvPr/>
        </p:nvSpPr>
        <p:spPr>
          <a:xfrm>
            <a:off x="2423160" y="536752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7" name="Text 3"/>
          <p:cNvSpPr txBox="1"/>
          <p:nvPr/>
        </p:nvSpPr>
        <p:spPr>
          <a:xfrm>
            <a:off x="3337560" y="53492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Ele julga as execuções que eu escolhi, quando eu mando rodar. Ninguém está sendo avisado de nada.</a:t>
            </a:r>
            <a:endParaRPr lang="en-US" sz="2800" dirty="0"/>
          </a:p>
        </p:txBody>
      </p:sp>
      <p:sp>
        <p:nvSpPr>
          <p:cNvPr id="8" name="Text 4"/>
          <p:cNvSpPr txBox="1"/>
          <p:nvPr/>
        </p:nvSpPr>
        <p:spPr>
          <a:xfrm>
            <a:off x="2423160" y="641908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9" name="Text 5"/>
          <p:cNvSpPr txBox="1"/>
          <p:nvPr/>
        </p:nvSpPr>
        <p:spPr>
          <a:xfrm>
            <a:off x="3337560" y="6400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Se a qualidade cair numa terça de madrugada, eu descubro quando lembrar de rodar de novo.</a:t>
            </a:r>
            <a:endParaRPr lang="en-US" sz="2800" dirty="0"/>
          </a:p>
        </p:txBody>
      </p:sp>
      <p:sp>
        <p:nvSpPr>
          <p:cNvPr id="10" name="Text 6"/>
          <p:cNvSpPr txBox="1"/>
          <p:nvPr/>
        </p:nvSpPr>
        <p:spPr>
          <a:xfrm>
            <a:off x="2423160" y="7470648"/>
            <a:ext cx="777240" cy="548640"/>
          </a:xfrm>
          <a:prstGeom prst="rect">
            <a:avLst/>
          </a:prstGeom>
          <a:noFill/>
          <a:ln/>
        </p:spPr>
        <p:txBody>
          <a:bodyPr wrap="square" lIns="0" tIns="0" rIns="0" bIns="0" rtlCol="0" anchor="t"/>
          <a:lstStyle/>
          <a:p>
            <a:pPr indent="0" marL="0">
              <a:buNone/>
            </a:pPr>
            <a:r>
              <a:rPr lang="en-US" sz="3000" b="1" dirty="0">
                <a:solidFill>
                  <a:srgbClr val="1F53E5"/>
                </a:solidFill>
                <a:latin typeface="Roboto" pitchFamily="34" charset="0"/>
                <a:ea typeface="Roboto" pitchFamily="34" charset="-122"/>
                <a:cs typeface="Roboto" pitchFamily="34" charset="-120"/>
              </a:rPr>
              <a:t>→</a:t>
            </a:r>
            <a:endParaRPr lang="en-US" sz="3000" dirty="0"/>
          </a:p>
        </p:txBody>
      </p:sp>
      <p:sp>
        <p:nvSpPr>
          <p:cNvPr id="11" name="Text 7"/>
          <p:cNvSpPr txBox="1"/>
          <p:nvPr/>
        </p:nvSpPr>
        <p:spPr>
          <a:xfrm>
            <a:off x="3337560" y="7452360"/>
            <a:ext cx="17922240" cy="1097280"/>
          </a:xfrm>
          <a:prstGeom prst="rect">
            <a:avLst/>
          </a:prstGeom>
          <a:noFill/>
          <a:ln/>
        </p:spPr>
        <p:txBody>
          <a:bodyPr wrap="square" lIns="0" tIns="0" rIns="0" bIns="0" rtlCol="0" anchor="t"/>
          <a:lstStyle/>
          <a:p>
            <a:pPr indent="0" marL="0">
              <a:lnSpc>
                <a:spcPct val="118000"/>
              </a:lnSpc>
              <a:buNone/>
            </a:pPr>
            <a:r>
              <a:rPr lang="en-US" sz="2800" b="1" dirty="0">
                <a:solidFill>
                  <a:srgbClr val="BDBFC7"/>
                </a:solidFill>
                <a:latin typeface="Roboto" pitchFamily="34" charset="0"/>
                <a:ea typeface="Roboto" pitchFamily="34" charset="-122"/>
                <a:cs typeface="Roboto" pitchFamily="34" charset="-120"/>
              </a:rPr>
              <a:t>Ter critério é metade. A outra metade é enxergar o produto continuamente — e é aí que a próxima aula começa.</a:t>
            </a:r>
            <a:endParaRPr lang="en-US" sz="2800" dirty="0"/>
          </a:p>
        </p:txBody>
      </p:sp>
      <p:sp>
        <p:nvSpPr>
          <p:cNvPr id="13"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10C53"/>
        </a:solidFill>
      </p:bgPr>
    </p:bg>
    <p:spTree>
      <p:nvGrpSpPr>
        <p:cNvPr id="1" name=""/>
        <p:cNvGrpSpPr/>
        <p:nvPr/>
      </p:nvGrpSpPr>
      <p:grpSpPr>
        <a:xfrm>
          <a:off x="0" y="0"/>
          <a:ext cx="0" cy="0"/>
          <a:chOff x="0" y="0"/>
          <a:chExt cx="0" cy="0"/>
        </a:xfrm>
      </p:grpSpPr>
      <p:pic>
        <p:nvPicPr>
          <p:cNvPr id="2" name="Image 0" descr="art\logo.png">    </p:cNvPr>
          <p:cNvPicPr>
            <a:picLocks noChangeAspect="1"/>
          </p:cNvPicPr>
          <p:nvPr/>
        </p:nvPicPr>
        <p:blipFill>
          <a:blip r:embed="rId1"/>
          <a:stretch>
            <a:fillRect/>
          </a:stretch>
        </p:blipFill>
        <p:spPr>
          <a:xfrm>
            <a:off x="23436072" y="402336"/>
            <a:ext cx="475488" cy="594360"/>
          </a:xfrm>
          <a:prstGeom prst="rect">
            <a:avLst/>
          </a:prstGeom>
        </p:spPr>
      </p:pic>
      <p:sp>
        <p:nvSpPr>
          <p:cNvPr id="3" name="Text 0"/>
          <p:cNvSpPr txBox="1"/>
          <p:nvPr/>
        </p:nvSpPr>
        <p:spPr>
          <a:xfrm>
            <a:off x="2423160" y="5029200"/>
            <a:ext cx="19540728" cy="822960"/>
          </a:xfrm>
          <a:prstGeom prst="rect">
            <a:avLst/>
          </a:prstGeom>
          <a:noFill/>
          <a:ln/>
        </p:spPr>
        <p:txBody>
          <a:bodyPr wrap="square" lIns="0" tIns="0" rIns="0" bIns="0" rtlCol="0" anchor="ctr"/>
          <a:lstStyle/>
          <a:p>
            <a:pPr indent="0" marL="0">
              <a:buNone/>
            </a:pPr>
            <a:r>
              <a:rPr lang="en-US" sz="2600" b="1" spc="300" kern="0" dirty="0">
                <a:solidFill>
                  <a:srgbClr val="1F53E5"/>
                </a:solidFill>
                <a:latin typeface="Encode Sans" pitchFamily="34" charset="0"/>
                <a:ea typeface="Encode Sans" pitchFamily="34" charset="-122"/>
                <a:cs typeface="Encode Sans" pitchFamily="34" charset="-120"/>
              </a:rPr>
              <a:t>AULA 2 CONCLUÍDA</a:t>
            </a:r>
            <a:endParaRPr lang="en-US" sz="2600" dirty="0"/>
          </a:p>
        </p:txBody>
      </p:sp>
      <p:sp>
        <p:nvSpPr>
          <p:cNvPr id="4" name="Text 1"/>
          <p:cNvSpPr txBox="1"/>
          <p:nvPr/>
        </p:nvSpPr>
        <p:spPr>
          <a:xfrm>
            <a:off x="2423160" y="5989320"/>
            <a:ext cx="17830800" cy="4754880"/>
          </a:xfrm>
          <a:prstGeom prst="rect">
            <a:avLst/>
          </a:prstGeom>
          <a:noFill/>
          <a:ln/>
        </p:spPr>
        <p:txBody>
          <a:bodyPr wrap="square" lIns="0" tIns="0" rIns="0" bIns="0" rtlCol="0" anchor="t"/>
          <a:lstStyle/>
          <a:p>
            <a:pPr indent="0" marL="0">
              <a:lnSpc>
                <a:spcPct val="112000"/>
              </a:lnSpc>
              <a:buNone/>
            </a:pPr>
            <a:r>
              <a:rPr lang="en-US" sz="7800" dirty="0">
                <a:solidFill>
                  <a:srgbClr val="F4F5F6"/>
                </a:solidFill>
                <a:latin typeface="Encode Sans" pitchFamily="34" charset="0"/>
                <a:ea typeface="Encode Sans" pitchFamily="34" charset="-122"/>
                <a:cs typeface="Encode Sans" pitchFamily="34" charset="-120"/>
              </a:rPr>
              <a:t>Eu sei o que</a:t>
            </a:r>
            <a:endParaRPr lang="en-US" sz="7800" dirty="0"/>
          </a:p>
          <a:p>
            <a:pPr indent="0" marL="0">
              <a:lnSpc>
                <a:spcPct val="112000"/>
              </a:lnSpc>
              <a:buNone/>
            </a:pPr>
            <a:r>
              <a:rPr lang="en-US" sz="7800" dirty="0">
                <a:solidFill>
                  <a:srgbClr val="F4F5F6"/>
                </a:solidFill>
                <a:latin typeface="Encode Sans" pitchFamily="34" charset="0"/>
                <a:ea typeface="Encode Sans" pitchFamily="34" charset="-122"/>
                <a:cs typeface="Encode Sans" pitchFamily="34" charset="-120"/>
              </a:rPr>
              <a:t>procurar. Agora</a:t>
            </a:r>
            <a:endParaRPr lang="en-US" sz="7800" dirty="0"/>
          </a:p>
          <a:p>
            <a:pPr indent="0" marL="0">
              <a:lnSpc>
                <a:spcPct val="112000"/>
              </a:lnSpc>
              <a:buNone/>
            </a:pPr>
            <a:r>
              <a:rPr lang="en-US" sz="7800" dirty="0">
                <a:solidFill>
                  <a:srgbClr val="F4F5F6"/>
                </a:solidFill>
                <a:latin typeface="Encode Sans" pitchFamily="34" charset="0"/>
                <a:ea typeface="Encode Sans" pitchFamily="34" charset="-122"/>
                <a:cs typeface="Encode Sans" pitchFamily="34" charset="-120"/>
              </a:rPr>
              <a:t>falta enxergar.</a:t>
            </a:r>
            <a:endParaRPr lang="en-US" sz="7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Encode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2026-09-03T20:21:56Z</dcterms:created>
  <dcterms:modified xsi:type="dcterms:W3CDTF">2026-09-03T20:21:56Z</dcterms:modified>
</cp:coreProperties>
</file>