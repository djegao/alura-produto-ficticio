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 id="2147483692" r:id="rId2"/>
  </p:sldMasterIdLst>
  <p:notesMasterIdLst>
    <p:notesMasterId r:id="rId78"/>
  </p:notesMasterIdLst>
  <p:sldIdLst>
    <p:sldId id="336"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96" r:id="rId63"/>
    <p:sldId id="397" r:id="rId64"/>
    <p:sldId id="398" r:id="rId65"/>
    <p:sldId id="399" r:id="rId66"/>
    <p:sldId id="400" r:id="rId67"/>
    <p:sldId id="401" r:id="rId68"/>
    <p:sldId id="402" r:id="rId69"/>
    <p:sldId id="403" r:id="rId70"/>
    <p:sldId id="404" r:id="rId71"/>
    <p:sldId id="405" r:id="rId72"/>
    <p:sldId id="406" r:id="rId73"/>
    <p:sldId id="407" r:id="rId74"/>
    <p:sldId id="410" r:id="rId75"/>
    <p:sldId id="408" r:id="rId76"/>
    <p:sldId id="409" r:id="rId77"/>
  </p:sldIdLst>
  <p:sldSz cx="9144000" cy="5143500" type="screen16x9"/>
  <p:notesSz cx="6858000" cy="9144000"/>
  <p:embeddedFontLst>
    <p:embeddedFont>
      <p:font typeface="Encode Sans" pitchFamily="2" charset="0"/>
      <p:regular r:id="rId79"/>
      <p:bold r:id="rId80"/>
    </p:embeddedFont>
    <p:embeddedFont>
      <p:font typeface="Encode Sans SemiBold" pitchFamily="2" charset="0"/>
      <p:regular r:id="rId81"/>
      <p:bold r:id="rId82"/>
    </p:embeddedFont>
    <p:embeddedFont>
      <p:font typeface="Roboto" panose="02000000000000000000" pitchFamily="2"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D28C0D-3768-4436-BFC9-62D80B1D2F4A}">
  <a:tblStyle styleId="{B2D28C0D-3768-4436-BFC9-62D80B1D2F4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120" y="19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6.fntdata"/><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1.fntdata"/><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5.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font" Target="fonts/font4.fntdata"/><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Antes de gravar: nenhuma demo de terminal — é leitura de código. Ter abertos agent.js, sefaz.js, intencao-efeitos.js, receita-premium.js e server.js.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Aula 6: conformidade. Guardrail em código, transparência como comportamento do produto e LGPD como prática. É a aula que fecha o curso — e a que responde a pergunta que sobrou das aulas 3 e 4: o que eu faço com o que eu vi.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Guardrail, nesta aula, tem uma definição específica: é um limite operacional que define o que o produto pode e não pode fazer — protegendo o usuário e protegendo a empresa. E a palavra-chave é "operacional". Não é uma frase no prompt pedindo comportamento. É código que impõe o limite, com ou sem a cooperação do modelo.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Deixa eu explicar por que essa distinção importa tanto. Um prompt é uma instrução em linguagem natural, e o modelo interpreta linguagem natural — é literalmente o trabalho dele. Qualquer regra escrita só no prompt está sujeita à mesma variabilidade que qualquer outra interpretação. Lembra do achado da Aula 2? O prompt v2 pedia explicitamente pra chamar uma ferramenta antes de responder, e o modelo às vezes simplesmente não chamava. O prompt pedia. O modelo nem sempre obedecia.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Guardrail é a resposta a esse problema. Em vez de pedir, eu construo uma trava que existe independente da interpretação: tool_choice forçado não é um pedido mais educado, é uma restrição na própria chamada de API. Validação de domínio não pergunta pro modelo se a URL parece confiável — o código decide antes do modelo entrar na jogada. É a diferença entre "eu confio que ele vai se comportar" e "eu construí de um jeito que ele não consegue se comportar mal, mesmo que tentasse".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E isso vale pros dois lados. Protege o usuário — ele não recebe uma ação perigosa só porque o modelo teve um dia ruim. E protege a empresa: ninguém quer descobrir, num incidente de produção, que a única coisa entre uma chamada cara e a internet inteira era uma frase de prompt pedindo "por favor, só processe requisições autorizadas".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1/5] Cinco guardrails reais, não hipotéticos — todos já apareceram nas aulas anteriores, só que sem esse nome. Em cada um, repara no mesmo detalhe: o que exatamente o código faz que o prompt sozinho não faria. O primeiro: saída crítica nunca depende só de pedir. tool_choice é um parâmetro da chamada de API que diz "a resposta tem que vir nesse formato". Não é sugestão, é o único caminho que existe. ⏺ abrir agent.js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2/5] O segundo: dado que vem de fora do meu controle passa por validação antes de custar dinheiro. A leitura de nota por QR code só tenta buscar se a URL já bate com o formato esperado — domínio .gov.br, chave de 44 dígitos — antes de fazer requisição de rede ou gastar chamada de LLM. ⏺ abrir sefaz.js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3/5] O terceiro é o que eu mais gosto, porque é guardrail de produto, não só de código: perguntar em vez de chutar. Se a pessoa diz que porcionou mas não diz quantas porções, o produto não estima. Ele devolve uma pergunta e não grava nada até a resposta vir completa. É a regra de ouro do projeto — "Claude nunca calcula" — aplicada a quantidade. ⏺ abrir intencao-efeitos.js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4/5] O quarto: a única decisão da LLM na receita premium é escolher qual vídeo do canal casa com o estoque. Mas o código confere se aquela URL existe mesmo no feed RSS antes de postar. Se não existir, é erro — não uma URL inventada indo pro Telegram de quem usa. ⏺ abrir receita-premium.js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5/5] E o quinto, que não parece guardrail à primeira vista: Basic Auth. Ele não protege só o acesso, protege o custo. Sem credencial, qualquer um que descobrisse a URL gastaria a minha chave paga. Por isso está documentado no SDD como requisito, não como item de segurança opcional.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Repara no fio que atravessa os cinco. Nenhum deles delega pro modelo a responsabilidade de se comportar bem por educação. Cada um tem uma trava em código, fora do alcance do prompt. É a mesma lição das aulas anteriores: prompt não é garantia estrutural. Guardrail é.</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1/2] E eu quero deixar uma coisa clara, porque é fácil ouvir isso e achar que estou dizendo "não confie no modelo". Não é isso. Eu confio no modelo pra fazer o que ele é bom em fazer: interpretar linguagem ambígua, entender intenção, lidar com o caso que eu não previ.</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2/2] O que eu não faço é depender dele pra garantir uma propriedade que o produto precisa ter cem por cento das vezes. Pensa assim: eu não peço educadamente pro freio do carro funcionar. Eu construo o freio, e uso o motorista — a parte inteligente, adaptável — pra decidir quando frear. Os dois são necessários, e cada um faz a parte que só ele faz bem.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Antes de gravar: ter aberto telegram.js no estado atual (master, já com o fix do PR #4). Mostrar o código corrigido e citar o "antes" só de memória/slide — não reverter nada em câmera.</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Segundo bloco da aula: transparência com quem usa o produto. O que comunicar sobre o uso de IA, quando e por quê.</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Transparência, do jeito que esta aula trata, não é um texto de rodapé dizendo "este produto usa inteligência artificial". É o produto dizer, no momento certo, o que ele sabe fazer e o que não sabe.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1/2] Repara na diferença entre as duas ideias. Um aviso legal genérico é estático — está lá, sempre igual, independente do que está acontecendo naquele instante. Transparência de comportamento é dinâmica: ela reage ao que está acontecendo.</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2/2] E por que isso importa tanto num produto com IA? Porque a IA erra de um jeito diferente do software tradicional. Um formulário que não aceita um campo mostra um erro vermelho na hora. Um modelo que não sabe processar uma entrada pode simplesmente não fazer nada de errado visível — ou pior, responder confiante e errado. Transparência é garantir que existe sempre um terceiro caminho, além de "funcionou" e "inventou uma resposta": o caminho de avisar que não sabe.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O exemplo mais concreto do curso inteiro pra isso é o episódio B da Aula 4. Alguém manda uma foto de cupom pro bot.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Antes do PR quatro: nenhuma resposta. Nem log, nem trace, nem mensagem. Vale se colocar no lugar de quem mandou. Você manda a foto, espera, nada acontece. O que você conclui? Que o bot travou? Que sua mensagem não chegou? Que você fez algo errado? A ausência de resposta não é neutra — ela custa confiança, porque o usuário preenche esse vazio com a pior hipótese disponível.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Depois do fix: a mesma foto, e em segundos vem uma resposta específica — ainda não sei ler isso, mas aqui está o que eu sei fazer no lugar. Não é só mais educado, é acionável. E teve um efeito colateral que eu não esperava: o suporte para de receber "o bot não funciona" e passa a receber "o bot ainda não lê foto, adiciona isso?". A queixa vira pedido de feature. É outra categoria de problema.</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E repara: a capacidade técnica é idêntica nos dois lados. O produto continua sem saber ler foto de cupom.</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O custo de construir isso também é pequeno — uma checagem de tipo de mensagem e um texto de resposta. Segura essa informação, porque ela volta no próximo slide.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A única coisa que mudou foi ele ter dito. E é exatamente aí que está a correção.</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Esse é o ponto pedagógico central, direto da Aula 4. O bug real nunca foi "não saber ler foto" — sistema tem limite, tudo bem. O bug era não dizer que não sabia. E isso generaliza: toda resposta "não sei fazer isso" é mais transparente, e mais barata de construir, do que fingir que processou algo que não processou.</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Eu falei "mais barata" de propósito, porque tem um argumento de engenharia escondido aqui, não só um argumento ético. Ensinar o produto a dizer "não sei" é uma correção pequena: algumas linhas, uma checagem de tipo de mensagem, um texto de resposta.</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Ensinar o produto a de fato ler a foto — que foi a correção seguinte, no vídeo 4.3 — exigiu decisão de arquitetura, integração com a SEFAZ, um desenho que eu tentei e não funcionou antes de achar o que funcionava. A ordem importa: eu fechei o buraco barato e imediato antes de investir no problema caro. Se eu tivesse feito ao contrário, o produto teria ficado mudo por mais tempo esperando uma correção difícil.</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E tem uma última camada que eu quero que fique: dizer "não sei" publicamente também é um tipo de guardrail. Não impede uma ação perigosa, mas impede um dano diferente — o de deixar alguém confiando numa resposta que nunca existiu. Transparência e guardrail estão protegendo a mesma coisa por ângulos diferentes: a confiança de quem usa o produto.</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Antes de gravar: ter aberto schema.sql (colunas telegram_chat_id e telegram_user_id) e o trecho do SDD §13.8 sobre RLS desligado. ⚠ NÃO abrir o Supabase com dado real em tela cheia — são conversas reais de casa. Se for mostrar, corte ou borre antes.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Terceiro bloco: LGPD. Quais dados o produto coleta, como usa, e o que ele precisa garantir a quem usa — com o que eu tenho hoje, e com o que eu ainda não tenho.</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Quando a gente pensa em dado pessoal sensível, o reflexo é CPF, cartão, prontuário médico. Mas rotina familiar também é dado pessoal — o que a casa comeu, o que desejou, quanto gastou. Não é dado financeiro nem de saúde no sentido estrito. É íntimo o suficiente pra merecer o mesmo cuidado.</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1/4] E a própria LGPD é explícita sobre isso: dado pessoal é qualquer informação relacionada a pessoa natural identificada ou identificável. Não é uma lista fechada de campos sensíveis tipo CPF ou dado de saúde.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2/4] Se o dado permite identificar alguém, ele entra na definição. O log do meu produto sabe que horas a casa janta, o que ela evita comer, quando alguém desperdiçou comida, quando teve vontade de alguma coisa às dez da noite.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3/4] Junta isso ao longo de meses e você tem um retrato bem íntimo de uma rotina familiar — que é exatamente o tipo de coisa que a LGPD existe pra proteger, mesmo sem nenhum CPF em lugar nenhum. É fácil um time pensar "eu não coleto dado sensível, meu produto é só sobre receita e estoque" — e é exatamente aí que a exposição acontece. Não dá pra proteger o que você não admite que precisa de proteção.</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4/4] Junta isso ao longo de meses e você tem um retrato bem íntimo de uma rotina familiar — que é exatamente o tipo de coisa que a LGPD existe pra proteger, mesmo sem nenhum CPF em lugar nenhum. É fácil um time pensar "eu não coleto dado sensível, meu produto é só sobre receita e estoque" — e é exatamente aí que a exposição acontece. Não dá pra proteger o que você não admite que precisa de proteção.</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O que o produto coleta, concretamente: identificação de pessoas reais numa conversa real. ⏺ mostrar schema.sql, apontar as colunas — sem abrir nenhuma linha de dado real.</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O log cru de tudo que a casa conversa sobre comida. E o telegram_chat_id merece uma palavra à parte, porque é o tipo de dado que passa despercebido: não parece pessoal, é só um número que identifica um chat. Mas cruzado com o resto — quem mandou, em que chat, sobre o quê — ele reidentifica uma pessoa real de um jeito que nenhum pseudônimo apagaria.</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E os itens de estoque ligados à casa. Nenhum desses três é telemetria escondida — são o dado funcional que faz o produto funcionar. É exatamente por isso que a decisão de como proteger importa tanto.</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1/2] Vale separar essa distinção com cuidado, porque ela muda completamente como eu penso em risco. Telemetria escondida é dado que o produto junta sem que o funcionamento dependa dele — analytics de clique, por exemplo. Nesse caso a saída mais fácil existe: parar de coletar.</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2/2] Dado funcional é o oposto. Se eu apagasse pensamentos agora, o produto inteiro para de funcionar, porque é literalmente o feed, a fonte de tudo que o resto do sistema lê. Isso significa que eu não posso simplesmente "parar de coletar" pra reduzir risco — o dado é o produto. O trabalho não é coletar menos, é proteger melhor o que é inevitavelmente necessário.</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Aqui eu preciso ser honesto sobre uma escolha real do projeto. O RLS — segurança em nível de linha, que isola um tenant do outro dentro do banco — está desligado, de propósito, no Supabase. "Desligar segurança de propósito" soa alarmante fora de contexto, então deixa eu explicar onde termina a decisão razoável e onde começaria o risco real. RLS resolve um problema específico: várias contas no mesmo banco, cada uma enxergando só a própria linha. Meu produto hoje tem uma casa. Uma. ⏺ mostrar SDD §13.8</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A camada que eu tenho no lugar é essa: só o backend, com a chave de serviço, toca essas tabelas, e o navegador nunca recebe essa chave. Isso cobre exatamente o risco que existe hoje — alguém de fora acessando o banco. O risco que o RLS cobriria, um tenant lendo dado do outro, simplesmente não existe ainda.</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E o Basic Auth do deploy público funciona como gate de acesso, não como controle de LGPD — mas é a única barreira entre os dados reais da casa e qualquer pessoa que descubra a URL. Se esse produto virasse multi-tenant, a decisão do RLS deixaria de ser aceitável na hora. É por isso que documentar importa tanto quanto decidir: o registro escrito é o que garante que alguém vai revisitar a escolha quando o escopo mudar, em vez dela sobreviver por inércia.</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 aqui fica a pergunta que eu deixo em aberto de propósito — é exatamente a pergunta que o checklist do próximo vídeo formaliza. Hoje não existe rota de exclusão nem prazo de retenção automático. É uma pendência honesta, não uma solução. E ela é mais difícil do que parece: pensamentos é o histórico que o produto usa pra saber que a lasanha ainda tem cinco porções. Apagar uma linha de conversa pode apagar junto o único registro de um evento que ainda importa. Isso não é motivo pra não construir o mecanismo — é motivo pro mecanismo ser desenhado com cuidado. Mas até esse desenho existir, a resposta honesta é "eu faço manualmente, sem processo formal" — e isso precisa estar escrito em algum lugar, não descoberto na hora que alguém pedir.</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Antes de gravar: ter aberto docs/aula5-checklist-conformidade.md. Este vídeo é leitura guiada do documento — o slide é o resumo, não substitui a tabela.</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Quarto bloco: o checklist. Tudo que apareceu nos três vídeos anteriores vira uma lista aplicável a qualquer produto com IA, não só ao meu.</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Tudo que apareceu nos três vídeos anteriores vira um checklist aplicável a qualquer produto com IA. E ele é honesto sobre o que falta — não é uma lista de "está tudo certo". É uma lista de "aqui está onde a gente está, aqui está o que falta". Por que um checklist, e não só bom senso? Porque bom senso não escala e não deixa rastro. Se eu perguntar pra mim mesmo, de cabeça, "meu produto está bem?", a resposta tende a ser sim — ninguém audita a própria memória com rigor.</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1/4] Rodo as três seções como pergunta de sim, não ou parcial. ⏺ abrir o checklist real e percorrer a coluna "como o produto está hoje".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2/4] Guardrails: a maioria já é sim, porque são os mesmos cinco do primeiro vídeo. Não pulei pra parcial sem escrever o que falta pra virar sim — Basic Auth protege o acesso, mas não tem limite de uso depois de autenticado.</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3/4] Transparência: nenhum caminho termina em silêncio no Telegram. Mas a convenção é aplicada caso a caso, não automática — e a falha silenciosa de estado, o caso da lasanha, segue sem monitoramento.</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4/4] E LGPD. Reparo especificamente no "parcial", porque é a resposta que mais gente evita dar. É desconfortável escrever "meio que sim, mas não completamente" — parece mais fraco que um sim limpo. Mas é a resposta mais honesta na maioria dos produtos reais, e fingir que é sim só empurra a descoberta do não pro pior momento possível: quando já é incidente, não mais checklist.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Três coisas estão marcadas como pendência, sem prazo definido. A primeira: a falha silenciosa de estado — o caso da lasanha, que continua sem monitoramento.</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A segunda: o RLS desligado, que a gente acabou de discutir.</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E a terceira: a ausência de qualquer política de retenção ou exclusão de dado. Nenhuma delas está escondida. Todo item marcado como pendência tem uma decisão explícita registrada: aceito o risco, ou vou corrigir até tal data. Nunca um "não" sem dono.</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Eu quero fechar esse vídeo com a distinção que separa maturidade de negligência: ter pendência não é o problema. Todo produto real tem pendência — quem diz que não tem está escondendo ou não sabe. O problema é pendência sem dono, sem data, sem registro — aquela que ninguém decidiu conscientemente manter, que só está lá porque ninguém olhou. As três daqui foram olhadas. Alguém — no caso, eu — decidiu "sim, eu sei que isso existe, o risco é aceitável nesse escopo, e está escrito onde qualquer um confere depois". É essa decisão registrada que separa um risco gerenciado de um acidente esperando pra acontecer.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Fechamento da aula. Sem demo, sem terminal — só slide.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Três lições, uma por pilar desta aula.</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Guardrail é limite em código, não intenção em prompt — os cinco guardrails reais do produto seguem o mesmo padrão: nunca confiar só em pedir.</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Transparência é o produto dizer, no momento certo, o que não sabe fazer — "admitir já é corrigir".</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E LGPD em produtos com IA começa em identificar que dado de rotina também é dado pessoal — e em documentar honestamente onde a proteção existe e onde ainda não existe. O checklist formaliza os três como algo aplicável a qualquer produto, não só a este.</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 eu tivesse que resumir os três numa frase só, seria essa: cada um deles existe porque, em algum momento, alguém — eu, neste caso — teve que admitir que o modelo sozinho não garante uma propriedade que o produto precisa ter. Guardrail admite isso pro comportamento. Transparência admite isso pra comunicação. LGPD admite isso pro dado. Os três são a mesma postura, aplicada em três lugares diferentes.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Fechamento do curso inteiro. Sem demo — amarrar os três pilares e encerrar.</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Último vídeo. Volto ao gancho da Aula 1 e fecho os três pilares com conteúdo real por trás de cada um.</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1/4] Volto ao gancho da Aula 1: lançar é o começo, não o fim. Agora com conteúdo real por trás de cada pilar. Evals: critério mensurável, Claude como juiz com saída forçada, resultado gravado de volta no Langfuse.</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2/4] Observabilidade: trace real, custo real, quatro padrões de falha reais — duas corrigidas ao vivo, duas que eu escolhi manter como risco aceito e registrado, não escondido.</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3/4] E conformidade responsável: guardrail em código, transparência como comportamento do produto, LGPD como prática.</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4/4] Repara que os três apareceram na ordem certa, e essa ordem não é acaso. Eval vem primeiro porque sem critério mensurável eu nem sei reconhecer uma falha quando ela aparece. Observabilidade vem depois porque, com o critério definido, eu preciso do dado real pra aplicar aquele critério contra o que está de fato acontecendo. E conformidade fecha o ciclo, porque sobra a pergunta mais difícil: o que eu faço com o que eu vi — corrijo, documento como risco aceito, ou finjo que não vi?</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 eval que não vira dado observável não gera aprendizado. A observabilidade sem guardrail vira incidente. O guardrail sem eval nunca sabe se está funcionando de verdade. O produto que você acabou de ver por dentro rodou — errou, foi corrigido, errou de novo — com os três juntos.</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Deixa eu mostrar cada uma dessas três falhas de fé, porque cada uma é uma armadilha real que eu já vi times caírem. Eval sem observabilidade: você constrói um juiz caprichado, mas ele só roda quando alguém lembra de mandar rodar, contra um punhado de casos de teste — e a produção, que é onde a vida real acontece, segue sem nenhum critério aplicado nela.</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Observabilidade sem guardrail: você vê tudo, em tempo real, bonito no painel — e continua sem nada que impeça a próxima falha de acontecer de novo, porque ver não é o mesmo que prevenir.</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3/3] Guardrail sem eval: você trava um comportamento perigoso, mas nunca mede se aquela trava está funcionando bem, ou se está travando coisa demais e irritando quem usa, ou de menos e deixando passar o que devia barrar. Os três juntos formam um ciclo que se sustenta. Tira uma perna, a mesa cai.</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[quadro 3/3] Se você chegou até aqui achando que precisava de um produto grande, com time grande, pra fazer tudo isso — não precisa. Tudo que eu mostrei nessas aulas rodou numa casa só, com uma pessoa mantendo o código, gastando um dólar e cinquenta e quatro num mês inteiro de uso real. O tamanho do produto não é desculpa pra pular o run. Aplica o mesmo ciclo no seu produto: detecte, diagnostique, corrija, registre o risco que sobrar. Até a próxima.</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1/3] Lançar é o começo, não o fim.</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[quadro 2/3] O run — evals, observabilidade, conformidade — é o resto da história, e é o que separa um produto de IA que sobrevive ao primeiro mês de um que não.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5.png"/><Relationship Id="rId1" Type="http://schemas.openxmlformats.org/officeDocument/2006/relationships/slideMaster" Target="../slideMasters/slideMaster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51"/>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a ">
  <p:cSld name="Capa ">
    <p:spTree>
      <p:nvGrpSpPr>
        <p:cNvPr id="1" name="Shape 52"/>
        <p:cNvGrpSpPr/>
        <p:nvPr/>
      </p:nvGrpSpPr>
      <p:grpSpPr>
        <a:xfrm>
          <a:off x="0" y="0"/>
          <a:ext cx="0" cy="0"/>
          <a:chOff x="0" y="0"/>
          <a:chExt cx="0" cy="0"/>
        </a:xfrm>
      </p:grpSpPr>
      <p:pic>
        <p:nvPicPr>
          <p:cNvPr id="53" name="Google Shape;53;p15" descr=" "/>
          <p:cNvPicPr preferRelativeResize="0"/>
          <p:nvPr/>
        </p:nvPicPr>
        <p:blipFill rotWithShape="1">
          <a:blip r:embed="rId2">
            <a:alphaModFix amt="50000"/>
          </a:blip>
          <a:srcRect l="588" r="-1"/>
          <a:stretch/>
        </p:blipFill>
        <p:spPr>
          <a:xfrm>
            <a:off x="3033318" y="0"/>
            <a:ext cx="6110635" cy="5142830"/>
          </a:xfrm>
          <a:prstGeom prst="rect">
            <a:avLst/>
          </a:prstGeom>
          <a:noFill/>
          <a:ln>
            <a:noFill/>
          </a:ln>
        </p:spPr>
      </p:pic>
      <p:sp>
        <p:nvSpPr>
          <p:cNvPr id="54" name="Google Shape;54;p15"/>
          <p:cNvSpPr/>
          <p:nvPr/>
        </p:nvSpPr>
        <p:spPr>
          <a:xfrm>
            <a:off x="909633" y="990600"/>
            <a:ext cx="5076798" cy="316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5" name="Google Shape;55;p15"/>
          <p:cNvSpPr/>
          <p:nvPr/>
        </p:nvSpPr>
        <p:spPr>
          <a:xfrm>
            <a:off x="909633" y="990600"/>
            <a:ext cx="5076798" cy="264795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6" name="Google Shape;56;p15"/>
          <p:cNvSpPr/>
          <p:nvPr/>
        </p:nvSpPr>
        <p:spPr>
          <a:xfrm>
            <a:off x="909633" y="4019550"/>
            <a:ext cx="1724016" cy="13335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7" name="Google Shape;57;p15"/>
          <p:cNvSpPr txBox="1">
            <a:spLocks noGrp="1"/>
          </p:cNvSpPr>
          <p:nvPr>
            <p:ph type="body" idx="1"/>
          </p:nvPr>
        </p:nvSpPr>
        <p:spPr>
          <a:xfrm>
            <a:off x="868380" y="905471"/>
            <a:ext cx="5235504" cy="2349103"/>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0"/>
              </a:spcBef>
              <a:spcAft>
                <a:spcPts val="0"/>
              </a:spcAft>
              <a:buClr>
                <a:srgbClr val="BDBFC7"/>
              </a:buClr>
              <a:buSzPts val="4900"/>
              <a:buFont typeface="Arial"/>
              <a:buNone/>
              <a:defRPr sz="4900" b="0" i="0" u="none" strike="noStrike" cap="none">
                <a:solidFill>
                  <a:srgbClr val="BDBFC7"/>
                </a:solidFill>
                <a:latin typeface="Encode Sans"/>
                <a:ea typeface="Encode Sans"/>
                <a:cs typeface="Encode Sans"/>
                <a:sym typeface="Encode Sans"/>
              </a:defRPr>
            </a:lvl1pPr>
            <a:lvl2pPr marL="914400" marR="0" lvl="1" indent="-539750" algn="l" rtl="0">
              <a:lnSpc>
                <a:spcPct val="100000"/>
              </a:lnSpc>
              <a:spcBef>
                <a:spcPts val="1000"/>
              </a:spcBef>
              <a:spcAft>
                <a:spcPts val="0"/>
              </a:spcAft>
              <a:buClr>
                <a:schemeClr val="dk1"/>
              </a:buClr>
              <a:buSzPts val="4900"/>
              <a:buFont typeface="Arial"/>
              <a:buChar char="–"/>
              <a:defRPr sz="4900" b="0" i="0" u="none" strike="noStrike" cap="none">
                <a:solidFill>
                  <a:schemeClr val="dk1"/>
                </a:solidFill>
                <a:latin typeface="Encode Sans"/>
                <a:ea typeface="Encode Sans"/>
                <a:cs typeface="Encode Sans"/>
                <a:sym typeface="Encode Sans"/>
              </a:defRPr>
            </a:lvl2pPr>
            <a:lvl3pPr marL="1371600" marR="0" lvl="2" indent="-539750" algn="l" rtl="0">
              <a:lnSpc>
                <a:spcPct val="100000"/>
              </a:lnSpc>
              <a:spcBef>
                <a:spcPts val="1000"/>
              </a:spcBef>
              <a:spcAft>
                <a:spcPts val="0"/>
              </a:spcAft>
              <a:buClr>
                <a:schemeClr val="dk1"/>
              </a:buClr>
              <a:buSzPts val="4900"/>
              <a:buFont typeface="Arial"/>
              <a:buChar char="•"/>
              <a:defRPr sz="4900" b="0" i="0" u="none" strike="noStrike" cap="none">
                <a:solidFill>
                  <a:schemeClr val="dk1"/>
                </a:solidFill>
                <a:latin typeface="Encode Sans"/>
                <a:ea typeface="Encode Sans"/>
                <a:cs typeface="Encode Sans"/>
                <a:sym typeface="Encode Sans"/>
              </a:defRPr>
            </a:lvl3pPr>
            <a:lvl4pPr marL="1828800" marR="0" lvl="3" indent="-539750" algn="l" rtl="0">
              <a:lnSpc>
                <a:spcPct val="100000"/>
              </a:lnSpc>
              <a:spcBef>
                <a:spcPts val="1000"/>
              </a:spcBef>
              <a:spcAft>
                <a:spcPts val="0"/>
              </a:spcAft>
              <a:buClr>
                <a:schemeClr val="dk1"/>
              </a:buClr>
              <a:buSzPts val="4900"/>
              <a:buFont typeface="Arial"/>
              <a:buChar char="–"/>
              <a:defRPr sz="4900" b="0" i="0" u="none" strike="noStrike" cap="none">
                <a:solidFill>
                  <a:schemeClr val="dk1"/>
                </a:solidFill>
                <a:latin typeface="Encode Sans"/>
                <a:ea typeface="Encode Sans"/>
                <a:cs typeface="Encode Sans"/>
                <a:sym typeface="Encode Sans"/>
              </a:defRPr>
            </a:lvl4pPr>
            <a:lvl5pPr marL="2286000" marR="0" lvl="4" indent="-539750" algn="l" rtl="0">
              <a:lnSpc>
                <a:spcPct val="100000"/>
              </a:lnSpc>
              <a:spcBef>
                <a:spcPts val="1000"/>
              </a:spcBef>
              <a:spcAft>
                <a:spcPts val="0"/>
              </a:spcAft>
              <a:buClr>
                <a:schemeClr val="dk1"/>
              </a:buClr>
              <a:buSzPts val="4900"/>
              <a:buFont typeface="Arial"/>
              <a:buChar char="»"/>
              <a:defRPr sz="4900" b="0" i="0" u="none" strike="noStrike" cap="none">
                <a:solidFill>
                  <a:schemeClr val="dk1"/>
                </a:solidFill>
                <a:latin typeface="Encode Sans"/>
                <a:ea typeface="Encode Sans"/>
                <a:cs typeface="Encode Sans"/>
                <a:sym typeface="Encode Sans"/>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58" name="Google Shape;58;p15"/>
          <p:cNvSpPr txBox="1">
            <a:spLocks noGrp="1"/>
          </p:cNvSpPr>
          <p:nvPr>
            <p:ph type="body" idx="2"/>
          </p:nvPr>
        </p:nvSpPr>
        <p:spPr>
          <a:xfrm>
            <a:off x="868380" y="3334742"/>
            <a:ext cx="5235687" cy="303808"/>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400"/>
              </a:spcBef>
              <a:spcAft>
                <a:spcPts val="0"/>
              </a:spcAft>
              <a:buClr>
                <a:srgbClr val="BDBFC7"/>
              </a:buClr>
              <a:buSzPts val="1800"/>
              <a:buFont typeface="Arial"/>
              <a:buNone/>
              <a:defRPr sz="1800" b="0" i="0" u="none" strike="noStrike" cap="none">
                <a:solidFill>
                  <a:srgbClr val="BDBFC7"/>
                </a:solidFill>
                <a:latin typeface="Encode Sans"/>
                <a:ea typeface="Encode Sans"/>
                <a:cs typeface="Encode Sans"/>
                <a:sym typeface="Encode Sans"/>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59" name="Google Shape;59;p15"/>
          <p:cNvSpPr txBox="1">
            <a:spLocks noGrp="1"/>
          </p:cNvSpPr>
          <p:nvPr>
            <p:ph type="body" idx="3"/>
          </p:nvPr>
        </p:nvSpPr>
        <p:spPr>
          <a:xfrm>
            <a:off x="890801" y="3950970"/>
            <a:ext cx="3485696" cy="241102"/>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rgbClr val="BDBFC7"/>
              </a:buClr>
              <a:buSzPts val="1200"/>
              <a:buFont typeface="Arial"/>
              <a:buNone/>
              <a:defRPr sz="1200" b="0" i="0" u="none" strike="noStrike" cap="none">
                <a:solidFill>
                  <a:srgbClr val="BDBFC7"/>
                </a:solidFill>
                <a:latin typeface="Roboto"/>
                <a:ea typeface="Roboto"/>
                <a:cs typeface="Roboto"/>
                <a:sym typeface="Roboto"/>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1">
  <p:cSld name="Título 1">
    <p:spTree>
      <p:nvGrpSpPr>
        <p:cNvPr id="1" name="Shape 60"/>
        <p:cNvGrpSpPr/>
        <p:nvPr/>
      </p:nvGrpSpPr>
      <p:grpSpPr>
        <a:xfrm>
          <a:off x="0" y="0"/>
          <a:ext cx="0" cy="0"/>
          <a:chOff x="0" y="0"/>
          <a:chExt cx="0" cy="0"/>
        </a:xfrm>
      </p:grpSpPr>
      <p:sp>
        <p:nvSpPr>
          <p:cNvPr id="61" name="Google Shape;61;p16"/>
          <p:cNvSpPr/>
          <p:nvPr/>
        </p:nvSpPr>
        <p:spPr>
          <a:xfrm>
            <a:off x="-62206" y="-56427"/>
            <a:ext cx="9258541" cy="5265034"/>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62" name="Google Shape;62;p16"/>
          <p:cNvSpPr/>
          <p:nvPr/>
        </p:nvSpPr>
        <p:spPr>
          <a:xfrm>
            <a:off x="8786283" y="152400"/>
            <a:ext cx="178875"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63" name="Google Shape;63;p16" descr=" "/>
          <p:cNvPicPr preferRelativeResize="0"/>
          <p:nvPr/>
        </p:nvPicPr>
        <p:blipFill rotWithShape="1">
          <a:blip r:embed="rId2">
            <a:alphaModFix/>
          </a:blip>
          <a:srcRect/>
          <a:stretch/>
        </p:blipFill>
        <p:spPr>
          <a:xfrm>
            <a:off x="8786283" y="152400"/>
            <a:ext cx="178830" cy="222353"/>
          </a:xfrm>
          <a:prstGeom prst="rect">
            <a:avLst/>
          </a:prstGeom>
          <a:noFill/>
          <a:ln>
            <a:noFill/>
          </a:ln>
        </p:spPr>
      </p:pic>
      <p:sp>
        <p:nvSpPr>
          <p:cNvPr id="64" name="Google Shape;64;p16"/>
          <p:cNvSpPr/>
          <p:nvPr/>
        </p:nvSpPr>
        <p:spPr>
          <a:xfrm>
            <a:off x="-4010004" y="-423862"/>
            <a:ext cx="5986431" cy="5986462"/>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65" name="Google Shape;65;p16"/>
          <p:cNvSpPr/>
          <p:nvPr/>
        </p:nvSpPr>
        <p:spPr>
          <a:xfrm>
            <a:off x="1581142" y="-423862"/>
            <a:ext cx="5986431" cy="5986462"/>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66" name="Google Shape;66;p16" descr="Ícone&#10;&#10;O conteúdo gerado por IA pode estar incorreto."/>
          <p:cNvPicPr preferRelativeResize="0"/>
          <p:nvPr/>
        </p:nvPicPr>
        <p:blipFill rotWithShape="1">
          <a:blip r:embed="rId3">
            <a:alphaModFix/>
          </a:blip>
          <a:srcRect/>
          <a:stretch/>
        </p:blipFill>
        <p:spPr>
          <a:xfrm>
            <a:off x="9426430" y="-54316"/>
            <a:ext cx="588048" cy="3753280"/>
          </a:xfrm>
          <a:prstGeom prst="rect">
            <a:avLst/>
          </a:prstGeom>
          <a:noFill/>
          <a:ln>
            <a:noFill/>
          </a:ln>
        </p:spPr>
      </p:pic>
      <p:sp>
        <p:nvSpPr>
          <p:cNvPr id="67" name="Google Shape;67;p16"/>
          <p:cNvSpPr txBox="1">
            <a:spLocks noGrp="1"/>
          </p:cNvSpPr>
          <p:nvPr>
            <p:ph type="body" idx="1"/>
          </p:nvPr>
        </p:nvSpPr>
        <p:spPr>
          <a:xfrm>
            <a:off x="2705086" y="1890117"/>
            <a:ext cx="4388667" cy="1358503"/>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800"/>
              </a:spcBef>
              <a:spcAft>
                <a:spcPts val="0"/>
              </a:spcAft>
              <a:buClr>
                <a:srgbClr val="F4F4F6"/>
              </a:buClr>
              <a:buSzPts val="3800"/>
              <a:buFont typeface="Arial"/>
              <a:buNone/>
              <a:defRPr sz="3800" b="0" i="0" u="none" strike="noStrike" cap="none">
                <a:solidFill>
                  <a:srgbClr val="F4F4F6"/>
                </a:solidFill>
                <a:latin typeface="Encode Sans"/>
                <a:ea typeface="Encode Sans"/>
                <a:cs typeface="Encode Sans"/>
                <a:sym typeface="Encode Sans"/>
              </a:defRPr>
            </a:lvl1pPr>
            <a:lvl2pPr marL="914400" marR="0" lvl="1"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00"/>
              </a:spcBef>
              <a:spcAft>
                <a:spcPts val="0"/>
              </a:spcAft>
              <a:buClr>
                <a:schemeClr val="dk1"/>
              </a:buClr>
              <a:buSzPts val="700"/>
              <a:buFont typeface="Arial"/>
              <a:buNone/>
              <a:defRPr sz="7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00"/>
              </a:spcBef>
              <a:spcAft>
                <a:spcPts val="0"/>
              </a:spcAft>
              <a:buClr>
                <a:schemeClr val="dk1"/>
              </a:buClr>
              <a:buSzPts val="700"/>
              <a:buFont typeface="Arial"/>
              <a:buNone/>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 texto">
  <p:cSld name="Título + texto">
    <p:spTree>
      <p:nvGrpSpPr>
        <p:cNvPr id="1" name="Shape 68"/>
        <p:cNvGrpSpPr/>
        <p:nvPr/>
      </p:nvGrpSpPr>
      <p:grpSpPr>
        <a:xfrm>
          <a:off x="0" y="0"/>
          <a:ext cx="0" cy="0"/>
          <a:chOff x="0" y="0"/>
          <a:chExt cx="0" cy="0"/>
        </a:xfrm>
      </p:grpSpPr>
      <p:sp>
        <p:nvSpPr>
          <p:cNvPr id="69" name="Google Shape;69;p17"/>
          <p:cNvSpPr/>
          <p:nvPr/>
        </p:nvSpPr>
        <p:spPr>
          <a:xfrm>
            <a:off x="-53950" y="-57150"/>
            <a:ext cx="9251900" cy="5237018"/>
          </a:xfrm>
          <a:prstGeom prst="rect">
            <a:avLst/>
          </a:prstGeom>
          <a:solidFill>
            <a:srgbClr val="D6D4D6"/>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70" name="Google Shape;70;p17" descr=" "/>
          <p:cNvPicPr preferRelativeResize="0"/>
          <p:nvPr/>
        </p:nvPicPr>
        <p:blipFill rotWithShape="1">
          <a:blip r:embed="rId2">
            <a:alphaModFix/>
          </a:blip>
          <a:srcRect/>
          <a:stretch/>
        </p:blipFill>
        <p:spPr>
          <a:xfrm>
            <a:off x="3976360" y="133350"/>
            <a:ext cx="5167593" cy="5009498"/>
          </a:xfrm>
          <a:prstGeom prst="rect">
            <a:avLst/>
          </a:prstGeom>
          <a:noFill/>
          <a:ln>
            <a:noFill/>
          </a:ln>
        </p:spPr>
      </p:pic>
      <p:pic>
        <p:nvPicPr>
          <p:cNvPr id="71" name="Google Shape;71;p17" descr=" "/>
          <p:cNvPicPr preferRelativeResize="0"/>
          <p:nvPr/>
        </p:nvPicPr>
        <p:blipFill rotWithShape="1">
          <a:blip r:embed="rId3">
            <a:alphaModFix/>
          </a:blip>
          <a:srcRect/>
          <a:stretch/>
        </p:blipFill>
        <p:spPr>
          <a:xfrm>
            <a:off x="3956924" y="133350"/>
            <a:ext cx="1369291" cy="5009498"/>
          </a:xfrm>
          <a:prstGeom prst="rect">
            <a:avLst/>
          </a:prstGeom>
          <a:noFill/>
          <a:ln>
            <a:noFill/>
          </a:ln>
        </p:spPr>
      </p:pic>
      <p:sp>
        <p:nvSpPr>
          <p:cNvPr id="72" name="Google Shape;72;p17"/>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73" name="Google Shape;73;p17"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74" name="Google Shape;74;p17"/>
          <p:cNvSpPr/>
          <p:nvPr/>
        </p:nvSpPr>
        <p:spPr>
          <a:xfrm>
            <a:off x="909633" y="1409700"/>
            <a:ext cx="3581381" cy="215265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75" name="Google Shape;75;p17" descr=" "/>
          <p:cNvPicPr preferRelativeResize="0"/>
          <p:nvPr/>
        </p:nvPicPr>
        <p:blipFill rotWithShape="1">
          <a:blip r:embed="rId5">
            <a:alphaModFix/>
          </a:blip>
          <a:srcRect/>
          <a:stretch/>
        </p:blipFill>
        <p:spPr>
          <a:xfrm>
            <a:off x="0" y="3986213"/>
            <a:ext cx="5863799" cy="1157137"/>
          </a:xfrm>
          <a:prstGeom prst="rect">
            <a:avLst/>
          </a:prstGeom>
          <a:noFill/>
          <a:ln>
            <a:noFill/>
          </a:ln>
        </p:spPr>
      </p:pic>
      <p:pic>
        <p:nvPicPr>
          <p:cNvPr id="76" name="Google Shape;76;p17" descr=" "/>
          <p:cNvPicPr preferRelativeResize="0"/>
          <p:nvPr/>
        </p:nvPicPr>
        <p:blipFill rotWithShape="1">
          <a:blip r:embed="rId6">
            <a:alphaModFix/>
          </a:blip>
          <a:srcRect/>
          <a:stretch/>
        </p:blipFill>
        <p:spPr>
          <a:xfrm>
            <a:off x="5709017" y="3986213"/>
            <a:ext cx="3434935" cy="1157137"/>
          </a:xfrm>
          <a:prstGeom prst="rect">
            <a:avLst/>
          </a:prstGeom>
          <a:noFill/>
          <a:ln>
            <a:noFill/>
          </a:ln>
        </p:spPr>
      </p:pic>
      <p:sp>
        <p:nvSpPr>
          <p:cNvPr id="77" name="Google Shape;77;p17"/>
          <p:cNvSpPr txBox="1">
            <a:spLocks noGrp="1"/>
          </p:cNvSpPr>
          <p:nvPr>
            <p:ph type="body" idx="1"/>
          </p:nvPr>
        </p:nvSpPr>
        <p:spPr>
          <a:xfrm>
            <a:off x="869083" y="2631739"/>
            <a:ext cx="3662481" cy="1505545"/>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300"/>
              </a:spcBef>
              <a:spcAft>
                <a:spcPts val="0"/>
              </a:spcAft>
              <a:buClr>
                <a:schemeClr val="dk1"/>
              </a:buClr>
              <a:buSzPts val="1300"/>
              <a:buFont typeface="Arial"/>
              <a:buNone/>
              <a:defRPr sz="1300" b="0" i="0" u="none" strike="noStrike" cap="none">
                <a:solidFill>
                  <a:schemeClr val="dk1"/>
                </a:solidFill>
                <a:latin typeface="Roboto"/>
                <a:ea typeface="Roboto"/>
                <a:cs typeface="Roboto"/>
                <a:sym typeface="Roboto"/>
              </a:defRPr>
            </a:lvl1pPr>
            <a:lvl2pPr marL="914400" marR="0" lvl="1" indent="-228600" algn="l" rtl="0">
              <a:lnSpc>
                <a:spcPct val="100000"/>
              </a:lnSpc>
              <a:spcBef>
                <a:spcPts val="300"/>
              </a:spcBef>
              <a:spcAft>
                <a:spcPts val="0"/>
              </a:spcAft>
              <a:buClr>
                <a:schemeClr val="dk1"/>
              </a:buClr>
              <a:buSzPts val="1300"/>
              <a:buFont typeface="Arial"/>
              <a:buNone/>
              <a:defRPr sz="1300" b="0" i="0" u="none" strike="noStrike" cap="none">
                <a:solidFill>
                  <a:schemeClr val="dk1"/>
                </a:solidFill>
                <a:latin typeface="Encode Sans"/>
                <a:ea typeface="Encode Sans"/>
                <a:cs typeface="Encode Sans"/>
                <a:sym typeface="Encode Sans"/>
              </a:defRPr>
            </a:lvl2pPr>
            <a:lvl3pPr marL="1371600" marR="0" lvl="2" indent="-228600" algn="l" rtl="0">
              <a:lnSpc>
                <a:spcPct val="100000"/>
              </a:lnSpc>
              <a:spcBef>
                <a:spcPts val="300"/>
              </a:spcBef>
              <a:spcAft>
                <a:spcPts val="0"/>
              </a:spcAft>
              <a:buClr>
                <a:schemeClr val="dk1"/>
              </a:buClr>
              <a:buSzPts val="1300"/>
              <a:buFont typeface="Arial"/>
              <a:buNone/>
              <a:defRPr sz="1300" b="0" i="0" u="none" strike="noStrike" cap="none">
                <a:solidFill>
                  <a:schemeClr val="dk1"/>
                </a:solidFill>
                <a:latin typeface="Encode Sans"/>
                <a:ea typeface="Encode Sans"/>
                <a:cs typeface="Encode Sans"/>
                <a:sym typeface="Encode Sans"/>
              </a:defRPr>
            </a:lvl3pPr>
            <a:lvl4pPr marL="1828800" marR="0" lvl="3" indent="-228600" algn="l" rtl="0">
              <a:lnSpc>
                <a:spcPct val="100000"/>
              </a:lnSpc>
              <a:spcBef>
                <a:spcPts val="300"/>
              </a:spcBef>
              <a:spcAft>
                <a:spcPts val="0"/>
              </a:spcAft>
              <a:buClr>
                <a:schemeClr val="dk1"/>
              </a:buClr>
              <a:buSzPts val="1300"/>
              <a:buFont typeface="Arial"/>
              <a:buNone/>
              <a:defRPr sz="1300" b="0" i="0" u="none" strike="noStrike" cap="none">
                <a:solidFill>
                  <a:schemeClr val="dk1"/>
                </a:solidFill>
                <a:latin typeface="Encode Sans"/>
                <a:ea typeface="Encode Sans"/>
                <a:cs typeface="Encode Sans"/>
                <a:sym typeface="Encode Sans"/>
              </a:defRPr>
            </a:lvl4pPr>
            <a:lvl5pPr marL="2286000" marR="0" lvl="4" indent="-228600" algn="l" rtl="0">
              <a:lnSpc>
                <a:spcPct val="100000"/>
              </a:lnSpc>
              <a:spcBef>
                <a:spcPts val="300"/>
              </a:spcBef>
              <a:spcAft>
                <a:spcPts val="0"/>
              </a:spcAft>
              <a:buClr>
                <a:schemeClr val="dk1"/>
              </a:buClr>
              <a:buSzPts val="1300"/>
              <a:buFont typeface="Arial"/>
              <a:buNone/>
              <a:defRPr sz="1300" b="0" i="0" u="none" strike="noStrike" cap="none">
                <a:solidFill>
                  <a:schemeClr val="dk1"/>
                </a:solidFill>
                <a:latin typeface="Encode Sans"/>
                <a:ea typeface="Encode Sans"/>
                <a:cs typeface="Encode Sans"/>
                <a:sym typeface="Encode Sans"/>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78" name="Google Shape;78;p17"/>
          <p:cNvSpPr txBox="1">
            <a:spLocks noGrp="1"/>
          </p:cNvSpPr>
          <p:nvPr>
            <p:ph type="body" idx="2"/>
          </p:nvPr>
        </p:nvSpPr>
        <p:spPr>
          <a:xfrm>
            <a:off x="873805" y="1319670"/>
            <a:ext cx="3698195" cy="1157287"/>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0"/>
              </a:spcBef>
              <a:spcAft>
                <a:spcPts val="0"/>
              </a:spcAft>
              <a:buClr>
                <a:srgbClr val="26272C"/>
              </a:buClr>
              <a:buSzPts val="3400"/>
              <a:buFont typeface="Arial"/>
              <a:buNone/>
              <a:defRPr sz="3400" b="0" i="0" u="none" strike="noStrike" cap="none">
                <a:solidFill>
                  <a:srgbClr val="26272C"/>
                </a:solidFill>
                <a:latin typeface="Encode Sans"/>
                <a:ea typeface="Encode Sans"/>
                <a:cs typeface="Encode Sans"/>
                <a:sym typeface="Encode Sans"/>
              </a:defRPr>
            </a:lvl1pPr>
            <a:lvl2pPr marL="914400" marR="0" lvl="1" indent="-228600" algn="l" rtl="0">
              <a:lnSpc>
                <a:spcPct val="100000"/>
              </a:lnSpc>
              <a:spcBef>
                <a:spcPts val="500"/>
              </a:spcBef>
              <a:spcAft>
                <a:spcPts val="0"/>
              </a:spcAft>
              <a:buClr>
                <a:schemeClr val="dk1"/>
              </a:buClr>
              <a:buSzPts val="2700"/>
              <a:buFont typeface="Arial"/>
              <a:buNone/>
              <a:defRPr sz="27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500"/>
              </a:spcBef>
              <a:spcAft>
                <a:spcPts val="0"/>
              </a:spcAft>
              <a:buClr>
                <a:schemeClr val="dk1"/>
              </a:buClr>
              <a:buSzPts val="2700"/>
              <a:buFont typeface="Arial"/>
              <a:buNone/>
              <a:defRPr sz="27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500"/>
              </a:spcBef>
              <a:spcAft>
                <a:spcPts val="0"/>
              </a:spcAft>
              <a:buClr>
                <a:schemeClr val="dk1"/>
              </a:buClr>
              <a:buSzPts val="2700"/>
              <a:buFont typeface="Arial"/>
              <a:buNone/>
              <a:defRPr sz="27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500"/>
              </a:spcBef>
              <a:spcAft>
                <a:spcPts val="0"/>
              </a:spcAft>
              <a:buClr>
                <a:schemeClr val="dk1"/>
              </a:buClr>
              <a:buSzPts val="2700"/>
              <a:buFont typeface="Arial"/>
              <a:buNone/>
              <a:defRPr sz="2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ema 1">
  <p:cSld name="Tema 1">
    <p:spTree>
      <p:nvGrpSpPr>
        <p:cNvPr id="1" name="Shape 79"/>
        <p:cNvGrpSpPr/>
        <p:nvPr/>
      </p:nvGrpSpPr>
      <p:grpSpPr>
        <a:xfrm>
          <a:off x="0" y="0"/>
          <a:ext cx="0" cy="0"/>
          <a:chOff x="0" y="0"/>
          <a:chExt cx="0" cy="0"/>
        </a:xfrm>
      </p:grpSpPr>
      <p:sp>
        <p:nvSpPr>
          <p:cNvPr id="80" name="Google Shape;80;p18"/>
          <p:cNvSpPr/>
          <p:nvPr/>
        </p:nvSpPr>
        <p:spPr>
          <a:xfrm>
            <a:off x="-62206" y="-56427"/>
            <a:ext cx="9258541" cy="5265034"/>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81" name="Google Shape;81;p18" descr=" "/>
          <p:cNvPicPr preferRelativeResize="0"/>
          <p:nvPr/>
        </p:nvPicPr>
        <p:blipFill rotWithShape="1">
          <a:blip r:embed="rId2">
            <a:alphaModFix/>
          </a:blip>
          <a:srcRect/>
          <a:stretch/>
        </p:blipFill>
        <p:spPr>
          <a:xfrm>
            <a:off x="4188299" y="173538"/>
            <a:ext cx="4796287" cy="4795799"/>
          </a:xfrm>
          <a:prstGeom prst="rect">
            <a:avLst/>
          </a:prstGeom>
          <a:noFill/>
          <a:ln>
            <a:noFill/>
          </a:ln>
        </p:spPr>
      </p:pic>
      <p:pic>
        <p:nvPicPr>
          <p:cNvPr id="82" name="Google Shape;82;p18" descr=" "/>
          <p:cNvPicPr preferRelativeResize="0"/>
          <p:nvPr/>
        </p:nvPicPr>
        <p:blipFill rotWithShape="1">
          <a:blip r:embed="rId3">
            <a:alphaModFix/>
          </a:blip>
          <a:srcRect/>
          <a:stretch/>
        </p:blipFill>
        <p:spPr>
          <a:xfrm>
            <a:off x="159255" y="159252"/>
            <a:ext cx="4796287" cy="4795798"/>
          </a:xfrm>
          <a:prstGeom prst="rect">
            <a:avLst/>
          </a:prstGeom>
          <a:noFill/>
          <a:ln>
            <a:noFill/>
          </a:ln>
        </p:spPr>
      </p:pic>
      <p:sp>
        <p:nvSpPr>
          <p:cNvPr id="83" name="Google Shape;83;p18"/>
          <p:cNvSpPr/>
          <p:nvPr/>
        </p:nvSpPr>
        <p:spPr>
          <a:xfrm>
            <a:off x="1162044" y="-838200"/>
            <a:ext cx="6824627" cy="6824662"/>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84" name="Google Shape;84;p18"/>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85" name="Google Shape;85;p18"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86" name="Google Shape;86;p18" descr="Ícone&#10;&#10;O conteúdo gerado por IA pode estar incorreto."/>
          <p:cNvPicPr preferRelativeResize="0"/>
          <p:nvPr/>
        </p:nvPicPr>
        <p:blipFill rotWithShape="1">
          <a:blip r:embed="rId5">
            <a:alphaModFix/>
          </a:blip>
          <a:srcRect/>
          <a:stretch/>
        </p:blipFill>
        <p:spPr>
          <a:xfrm>
            <a:off x="-825736" y="-3233"/>
            <a:ext cx="588048" cy="3753280"/>
          </a:xfrm>
          <a:prstGeom prst="rect">
            <a:avLst/>
          </a:prstGeom>
          <a:noFill/>
          <a:ln>
            <a:noFill/>
          </a:ln>
        </p:spPr>
      </p:pic>
      <p:sp>
        <p:nvSpPr>
          <p:cNvPr id="87" name="Google Shape;87;p18"/>
          <p:cNvSpPr txBox="1">
            <a:spLocks noGrp="1"/>
          </p:cNvSpPr>
          <p:nvPr>
            <p:ph type="body" idx="1"/>
          </p:nvPr>
        </p:nvSpPr>
        <p:spPr>
          <a:xfrm>
            <a:off x="2474218" y="1259498"/>
            <a:ext cx="4185692" cy="2324100"/>
          </a:xfrm>
          <a:prstGeom prst="rect">
            <a:avLst/>
          </a:prstGeom>
          <a:noFill/>
          <a:ln>
            <a:noFill/>
          </a:ln>
        </p:spPr>
        <p:txBody>
          <a:bodyPr spcFirstLastPara="1" wrap="square" lIns="34275" tIns="17125" rIns="34275" bIns="17125" anchor="t" anchorCtr="0">
            <a:noAutofit/>
          </a:bodyPr>
          <a:lstStyle>
            <a:lvl1pPr marL="457200" marR="0" lvl="0" indent="-228600" algn="ctr" rtl="0">
              <a:lnSpc>
                <a:spcPct val="100000"/>
              </a:lnSpc>
              <a:spcBef>
                <a:spcPts val="0"/>
              </a:spcBef>
              <a:spcAft>
                <a:spcPts val="0"/>
              </a:spcAft>
              <a:buClr>
                <a:srgbClr val="BDBFC7"/>
              </a:buClr>
              <a:buSzPts val="4900"/>
              <a:buFont typeface="Arial"/>
              <a:buNone/>
              <a:defRPr sz="4900" b="0" i="0" u="none" strike="noStrike" cap="none">
                <a:solidFill>
                  <a:srgbClr val="BDBFC7"/>
                </a:solidFill>
                <a:latin typeface="Calibri"/>
                <a:ea typeface="Calibri"/>
                <a:cs typeface="Calibri"/>
                <a:sym typeface="Calibri"/>
              </a:defRPr>
            </a:lvl1pPr>
            <a:lvl2pPr marL="914400" marR="0" lvl="1" indent="-228600" algn="l" rtl="0">
              <a:lnSpc>
                <a:spcPct val="100000"/>
              </a:lnSpc>
              <a:spcBef>
                <a:spcPts val="200"/>
              </a:spcBef>
              <a:spcAft>
                <a:spcPts val="0"/>
              </a:spcAft>
              <a:buClr>
                <a:srgbClr val="BDBFC7"/>
              </a:buClr>
              <a:buSzPts val="1000"/>
              <a:buFont typeface="Arial"/>
              <a:buNone/>
              <a:defRPr sz="1000" b="0" i="0" u="none" strike="noStrike" cap="none">
                <a:solidFill>
                  <a:srgbClr val="BDBFC7"/>
                </a:solidFill>
                <a:latin typeface="Calibri"/>
                <a:ea typeface="Calibri"/>
                <a:cs typeface="Calibri"/>
                <a:sym typeface="Calibri"/>
              </a:defRPr>
            </a:lvl2pPr>
            <a:lvl3pPr marL="1371600" marR="0" lvl="2" indent="-228600" algn="l" rtl="0">
              <a:lnSpc>
                <a:spcPct val="100000"/>
              </a:lnSpc>
              <a:spcBef>
                <a:spcPts val="200"/>
              </a:spcBef>
              <a:spcAft>
                <a:spcPts val="0"/>
              </a:spcAft>
              <a:buClr>
                <a:srgbClr val="BDBFC7"/>
              </a:buClr>
              <a:buSzPts val="900"/>
              <a:buFont typeface="Arial"/>
              <a:buNone/>
              <a:defRPr sz="900" b="0" i="0" u="none" strike="noStrike" cap="none">
                <a:solidFill>
                  <a:srgbClr val="BDBFC7"/>
                </a:solidFill>
                <a:latin typeface="Calibri"/>
                <a:ea typeface="Calibri"/>
                <a:cs typeface="Calibri"/>
                <a:sym typeface="Calibri"/>
              </a:defRPr>
            </a:lvl3pPr>
            <a:lvl4pPr marL="1828800" marR="0" lvl="3" indent="-228600" algn="l" rtl="0">
              <a:lnSpc>
                <a:spcPct val="100000"/>
              </a:lnSpc>
              <a:spcBef>
                <a:spcPts val="100"/>
              </a:spcBef>
              <a:spcAft>
                <a:spcPts val="0"/>
              </a:spcAft>
              <a:buClr>
                <a:srgbClr val="BDBFC7"/>
              </a:buClr>
              <a:buSzPts val="700"/>
              <a:buFont typeface="Arial"/>
              <a:buNone/>
              <a:defRPr sz="700" b="0" i="0" u="none" strike="noStrike" cap="none">
                <a:solidFill>
                  <a:srgbClr val="BDBFC7"/>
                </a:solidFill>
                <a:latin typeface="Calibri"/>
                <a:ea typeface="Calibri"/>
                <a:cs typeface="Calibri"/>
                <a:sym typeface="Calibri"/>
              </a:defRPr>
            </a:lvl4pPr>
            <a:lvl5pPr marL="2286000" marR="0" lvl="4" indent="-228600" algn="l" rtl="0">
              <a:lnSpc>
                <a:spcPct val="100000"/>
              </a:lnSpc>
              <a:spcBef>
                <a:spcPts val="100"/>
              </a:spcBef>
              <a:spcAft>
                <a:spcPts val="0"/>
              </a:spcAft>
              <a:buClr>
                <a:srgbClr val="BDBFC7"/>
              </a:buClr>
              <a:buSzPts val="700"/>
              <a:buFont typeface="Arial"/>
              <a:buNone/>
              <a:defRPr sz="700" b="0" i="0" u="none" strike="noStrike" cap="none">
                <a:solidFill>
                  <a:srgbClr val="BDBFC7"/>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ema 2">
  <p:cSld name="Tema 2">
    <p:spTree>
      <p:nvGrpSpPr>
        <p:cNvPr id="1" name="Shape 88"/>
        <p:cNvGrpSpPr/>
        <p:nvPr/>
      </p:nvGrpSpPr>
      <p:grpSpPr>
        <a:xfrm>
          <a:off x="0" y="0"/>
          <a:ext cx="0" cy="0"/>
          <a:chOff x="0" y="0"/>
          <a:chExt cx="0" cy="0"/>
        </a:xfrm>
      </p:grpSpPr>
      <p:sp>
        <p:nvSpPr>
          <p:cNvPr id="89" name="Google Shape;89;p19"/>
          <p:cNvSpPr/>
          <p:nvPr/>
        </p:nvSpPr>
        <p:spPr>
          <a:xfrm>
            <a:off x="1581142" y="-423862"/>
            <a:ext cx="5986431" cy="5986462"/>
          </a:xfrm>
          <a:prstGeom prst="ellipse">
            <a:avLst/>
          </a:prstGeom>
          <a:solidFill>
            <a:srgbClr val="131316"/>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90" name="Google Shape;90;p19"/>
          <p:cNvSpPr/>
          <p:nvPr/>
        </p:nvSpPr>
        <p:spPr>
          <a:xfrm>
            <a:off x="7048463" y="-423862"/>
            <a:ext cx="5986431" cy="5986462"/>
          </a:xfrm>
          <a:prstGeom prst="ellipse">
            <a:avLst/>
          </a:prstGeom>
          <a:solidFill>
            <a:srgbClr val="131316"/>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91" name="Google Shape;91;p19"/>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2" name="Google Shape;92;p19" descr=" "/>
          <p:cNvPicPr preferRelativeResize="0"/>
          <p:nvPr/>
        </p:nvPicPr>
        <p:blipFill rotWithShape="1">
          <a:blip r:embed="rId2">
            <a:alphaModFix/>
          </a:blip>
          <a:srcRect/>
          <a:stretch/>
        </p:blipFill>
        <p:spPr>
          <a:xfrm>
            <a:off x="8786767" y="152400"/>
            <a:ext cx="177867" cy="222353"/>
          </a:xfrm>
          <a:prstGeom prst="rect">
            <a:avLst/>
          </a:prstGeom>
          <a:noFill/>
          <a:ln>
            <a:noFill/>
          </a:ln>
        </p:spPr>
      </p:pic>
      <p:pic>
        <p:nvPicPr>
          <p:cNvPr id="93" name="Google Shape;93;p19" descr="Ícone&#10;&#10;O conteúdo gerado por IA pode estar incorreto."/>
          <p:cNvPicPr preferRelativeResize="0"/>
          <p:nvPr/>
        </p:nvPicPr>
        <p:blipFill rotWithShape="1">
          <a:blip r:embed="rId3">
            <a:alphaModFix/>
          </a:blip>
          <a:srcRect/>
          <a:stretch/>
        </p:blipFill>
        <p:spPr>
          <a:xfrm>
            <a:off x="-825736" y="-3233"/>
            <a:ext cx="588048" cy="3753280"/>
          </a:xfrm>
          <a:prstGeom prst="rect">
            <a:avLst/>
          </a:prstGeom>
          <a:noFill/>
          <a:ln>
            <a:noFill/>
          </a:ln>
        </p:spPr>
      </p:pic>
      <p:sp>
        <p:nvSpPr>
          <p:cNvPr id="94" name="Google Shape;94;p19"/>
          <p:cNvSpPr txBox="1">
            <a:spLocks noGrp="1"/>
          </p:cNvSpPr>
          <p:nvPr>
            <p:ph type="body" idx="1"/>
          </p:nvPr>
        </p:nvSpPr>
        <p:spPr>
          <a:xfrm>
            <a:off x="161904" y="1925638"/>
            <a:ext cx="4061884" cy="3028950"/>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0"/>
              </a:spcBef>
              <a:spcAft>
                <a:spcPts val="0"/>
              </a:spcAft>
              <a:buClr>
                <a:srgbClr val="5F8BEC"/>
              </a:buClr>
              <a:buSzPts val="4900"/>
              <a:buFont typeface="Arial"/>
              <a:buNone/>
              <a:defRPr sz="4900" b="0" i="0" u="none" strike="noStrike" cap="none">
                <a:solidFill>
                  <a:srgbClr val="5F8BEC"/>
                </a:solidFill>
                <a:latin typeface="Encode Sans"/>
                <a:ea typeface="Encode Sans"/>
                <a:cs typeface="Encode Sans"/>
                <a:sym typeface="Encode Sans"/>
              </a:defRPr>
            </a:lvl1pPr>
            <a:lvl2pPr marL="914400" marR="0" lvl="1" indent="-228600" algn="l" rtl="0">
              <a:lnSpc>
                <a:spcPct val="100000"/>
              </a:lnSpc>
              <a:spcBef>
                <a:spcPts val="1000"/>
              </a:spcBef>
              <a:spcAft>
                <a:spcPts val="0"/>
              </a:spcAft>
              <a:buClr>
                <a:schemeClr val="dk1"/>
              </a:buClr>
              <a:buSzPts val="4900"/>
              <a:buFont typeface="Arial"/>
              <a:buNone/>
              <a:defRPr sz="4900" b="0" i="0" u="none" strike="noStrike" cap="none">
                <a:solidFill>
                  <a:schemeClr val="dk1"/>
                </a:solidFill>
                <a:latin typeface="Encode Sans"/>
                <a:ea typeface="Encode Sans"/>
                <a:cs typeface="Encode Sans"/>
                <a:sym typeface="Encode Sans"/>
              </a:defRPr>
            </a:lvl2pPr>
            <a:lvl3pPr marL="1371600" marR="0" lvl="2" indent="-228600" algn="l" rtl="0">
              <a:lnSpc>
                <a:spcPct val="100000"/>
              </a:lnSpc>
              <a:spcBef>
                <a:spcPts val="1000"/>
              </a:spcBef>
              <a:spcAft>
                <a:spcPts val="0"/>
              </a:spcAft>
              <a:buClr>
                <a:schemeClr val="dk1"/>
              </a:buClr>
              <a:buSzPts val="4900"/>
              <a:buFont typeface="Arial"/>
              <a:buNone/>
              <a:defRPr sz="4900" b="0" i="0" u="none" strike="noStrike" cap="none">
                <a:solidFill>
                  <a:schemeClr val="dk1"/>
                </a:solidFill>
                <a:latin typeface="Encode Sans"/>
                <a:ea typeface="Encode Sans"/>
                <a:cs typeface="Encode Sans"/>
                <a:sym typeface="Encode Sans"/>
              </a:defRPr>
            </a:lvl3pPr>
            <a:lvl4pPr marL="1828800" marR="0" lvl="3" indent="-228600" algn="l" rtl="0">
              <a:lnSpc>
                <a:spcPct val="100000"/>
              </a:lnSpc>
              <a:spcBef>
                <a:spcPts val="1000"/>
              </a:spcBef>
              <a:spcAft>
                <a:spcPts val="0"/>
              </a:spcAft>
              <a:buClr>
                <a:schemeClr val="dk1"/>
              </a:buClr>
              <a:buSzPts val="4900"/>
              <a:buFont typeface="Arial"/>
              <a:buNone/>
              <a:defRPr sz="4900" b="0" i="0" u="none" strike="noStrike" cap="none">
                <a:solidFill>
                  <a:schemeClr val="dk1"/>
                </a:solidFill>
                <a:latin typeface="Encode Sans"/>
                <a:ea typeface="Encode Sans"/>
                <a:cs typeface="Encode Sans"/>
                <a:sym typeface="Encode Sans"/>
              </a:defRPr>
            </a:lvl4pPr>
            <a:lvl5pPr marL="2286000" marR="0" lvl="4" indent="-228600" algn="l" rtl="0">
              <a:lnSpc>
                <a:spcPct val="100000"/>
              </a:lnSpc>
              <a:spcBef>
                <a:spcPts val="1000"/>
              </a:spcBef>
              <a:spcAft>
                <a:spcPts val="0"/>
              </a:spcAft>
              <a:buClr>
                <a:schemeClr val="dk1"/>
              </a:buClr>
              <a:buSzPts val="4900"/>
              <a:buFont typeface="Arial"/>
              <a:buNone/>
              <a:defRPr sz="4900" b="0" i="0" u="none" strike="noStrike" cap="none">
                <a:solidFill>
                  <a:schemeClr val="dk1"/>
                </a:solidFill>
                <a:latin typeface="Encode Sans"/>
                <a:ea typeface="Encode Sans"/>
                <a:cs typeface="Encode Sans"/>
                <a:sym typeface="Encode Sans"/>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Imagem lateral 1">
  <p:cSld name="Imagem lateral 1">
    <p:spTree>
      <p:nvGrpSpPr>
        <p:cNvPr id="1" name="Shape 95"/>
        <p:cNvGrpSpPr/>
        <p:nvPr/>
      </p:nvGrpSpPr>
      <p:grpSpPr>
        <a:xfrm>
          <a:off x="0" y="0"/>
          <a:ext cx="0" cy="0"/>
          <a:chOff x="0" y="0"/>
          <a:chExt cx="0" cy="0"/>
        </a:xfrm>
      </p:grpSpPr>
      <p:sp>
        <p:nvSpPr>
          <p:cNvPr id="96" name="Google Shape;96;p20"/>
          <p:cNvSpPr/>
          <p:nvPr/>
        </p:nvSpPr>
        <p:spPr>
          <a:xfrm>
            <a:off x="8786283" y="152400"/>
            <a:ext cx="178875"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7" name="Google Shape;97;p20" descr=" "/>
          <p:cNvPicPr preferRelativeResize="0"/>
          <p:nvPr/>
        </p:nvPicPr>
        <p:blipFill rotWithShape="1">
          <a:blip r:embed="rId2">
            <a:alphaModFix/>
          </a:blip>
          <a:srcRect/>
          <a:stretch/>
        </p:blipFill>
        <p:spPr>
          <a:xfrm>
            <a:off x="8786283" y="152400"/>
            <a:ext cx="178830" cy="222353"/>
          </a:xfrm>
          <a:prstGeom prst="rect">
            <a:avLst/>
          </a:prstGeom>
          <a:noFill/>
          <a:ln>
            <a:noFill/>
          </a:ln>
        </p:spPr>
      </p:pic>
      <p:sp>
        <p:nvSpPr>
          <p:cNvPr id="98" name="Google Shape;98;p20"/>
          <p:cNvSpPr>
            <a:spLocks noGrp="1"/>
          </p:cNvSpPr>
          <p:nvPr>
            <p:ph type="pic" idx="2"/>
          </p:nvPr>
        </p:nvSpPr>
        <p:spPr>
          <a:xfrm flipH="1">
            <a:off x="5400646" y="-194310"/>
            <a:ext cx="4599301" cy="5452110"/>
          </a:xfrm>
          <a:prstGeom prst="flowChartDelay">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magem lateral 2">
  <p:cSld name="Imagem lateral 2">
    <p:spTree>
      <p:nvGrpSpPr>
        <p:cNvPr id="1" name="Shape 99"/>
        <p:cNvGrpSpPr/>
        <p:nvPr/>
      </p:nvGrpSpPr>
      <p:grpSpPr>
        <a:xfrm>
          <a:off x="0" y="0"/>
          <a:ext cx="0" cy="0"/>
          <a:chOff x="0" y="0"/>
          <a:chExt cx="0" cy="0"/>
        </a:xfrm>
      </p:grpSpPr>
      <p:sp>
        <p:nvSpPr>
          <p:cNvPr id="100" name="Google Shape;100;p21"/>
          <p:cNvSpPr>
            <a:spLocks noGrp="1"/>
          </p:cNvSpPr>
          <p:nvPr>
            <p:ph type="pic" idx="2"/>
          </p:nvPr>
        </p:nvSpPr>
        <p:spPr>
          <a:xfrm flipH="1">
            <a:off x="5665211" y="0"/>
            <a:ext cx="4031827" cy="5143500"/>
          </a:xfrm>
          <a:prstGeom prst="rect">
            <a:avLst/>
          </a:prstGeom>
          <a:noFill/>
          <a:ln>
            <a:noFill/>
          </a:ln>
        </p:spPr>
      </p:sp>
      <p:sp>
        <p:nvSpPr>
          <p:cNvPr id="101" name="Google Shape;101;p21"/>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2" name="Google Shape;102;p21" descr=" "/>
          <p:cNvPicPr preferRelativeResize="0"/>
          <p:nvPr/>
        </p:nvPicPr>
        <p:blipFill rotWithShape="1">
          <a:blip r:embed="rId2">
            <a:alphaModFix/>
          </a:blip>
          <a:srcRect/>
          <a:stretch/>
        </p:blipFill>
        <p:spPr>
          <a:xfrm>
            <a:off x="8786767" y="152400"/>
            <a:ext cx="177867" cy="222353"/>
          </a:xfrm>
          <a:prstGeom prst="rect">
            <a:avLst/>
          </a:prstGeom>
          <a:noFill/>
          <a:ln>
            <a:noFill/>
          </a:ln>
        </p:spPr>
      </p:pic>
      <p:pic>
        <p:nvPicPr>
          <p:cNvPr id="103" name="Google Shape;103;p21" descr=" "/>
          <p:cNvPicPr preferRelativeResize="0"/>
          <p:nvPr/>
        </p:nvPicPr>
        <p:blipFill rotWithShape="1">
          <a:blip r:embed="rId3">
            <a:alphaModFix/>
          </a:blip>
          <a:srcRect/>
          <a:stretch/>
        </p:blipFill>
        <p:spPr>
          <a:xfrm>
            <a:off x="8786767" y="152400"/>
            <a:ext cx="177908" cy="22235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itação">
  <p:cSld name="Citação">
    <p:spTree>
      <p:nvGrpSpPr>
        <p:cNvPr id="1" name="Shape 104"/>
        <p:cNvGrpSpPr/>
        <p:nvPr/>
      </p:nvGrpSpPr>
      <p:grpSpPr>
        <a:xfrm>
          <a:off x="0" y="0"/>
          <a:ext cx="0" cy="0"/>
          <a:chOff x="0" y="0"/>
          <a:chExt cx="0" cy="0"/>
        </a:xfrm>
      </p:grpSpPr>
      <p:sp>
        <p:nvSpPr>
          <p:cNvPr id="105" name="Google Shape;105;p22"/>
          <p:cNvSpPr/>
          <p:nvPr/>
        </p:nvSpPr>
        <p:spPr>
          <a:xfrm>
            <a:off x="547685" y="-423862"/>
            <a:ext cx="5986431" cy="5986462"/>
          </a:xfrm>
          <a:prstGeom prst="ellipse">
            <a:avLst/>
          </a:prstGeom>
          <a:solidFill>
            <a:srgbClr val="131316"/>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06" name="Google Shape;106;p22"/>
          <p:cNvSpPr/>
          <p:nvPr/>
        </p:nvSpPr>
        <p:spPr>
          <a:xfrm>
            <a:off x="6138830" y="-423862"/>
            <a:ext cx="5986431" cy="5986462"/>
          </a:xfrm>
          <a:prstGeom prst="ellipse">
            <a:avLst/>
          </a:prstGeom>
          <a:solidFill>
            <a:srgbClr val="131316"/>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07" name="Google Shape;107;p22"/>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8" name="Google Shape;108;p22" descr=" "/>
          <p:cNvPicPr preferRelativeResize="0"/>
          <p:nvPr/>
        </p:nvPicPr>
        <p:blipFill rotWithShape="1">
          <a:blip r:embed="rId2">
            <a:alphaModFix/>
          </a:blip>
          <a:srcRect/>
          <a:stretch/>
        </p:blipFill>
        <p:spPr>
          <a:xfrm>
            <a:off x="8786767" y="152400"/>
            <a:ext cx="177863" cy="222353"/>
          </a:xfrm>
          <a:prstGeom prst="rect">
            <a:avLst/>
          </a:prstGeom>
          <a:noFill/>
          <a:ln>
            <a:noFill/>
          </a:ln>
        </p:spPr>
      </p:pic>
      <p:sp>
        <p:nvSpPr>
          <p:cNvPr id="109" name="Google Shape;109;p22"/>
          <p:cNvSpPr/>
          <p:nvPr/>
        </p:nvSpPr>
        <p:spPr>
          <a:xfrm>
            <a:off x="1657341" y="2014538"/>
            <a:ext cx="5829270" cy="161925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0" name="Google Shape;110;p22" descr=" "/>
          <p:cNvPicPr preferRelativeResize="0"/>
          <p:nvPr/>
        </p:nvPicPr>
        <p:blipFill rotWithShape="1">
          <a:blip r:embed="rId3">
            <a:alphaModFix/>
          </a:blip>
          <a:srcRect/>
          <a:stretch/>
        </p:blipFill>
        <p:spPr>
          <a:xfrm>
            <a:off x="1590667" y="1509713"/>
            <a:ext cx="400048" cy="399998"/>
          </a:xfrm>
          <a:prstGeom prst="rect">
            <a:avLst/>
          </a:prstGeom>
          <a:noFill/>
          <a:ln>
            <a:noFill/>
          </a:ln>
        </p:spPr>
      </p:pic>
      <p:pic>
        <p:nvPicPr>
          <p:cNvPr id="111" name="Google Shape;111;p22" descr=" "/>
          <p:cNvPicPr preferRelativeResize="0"/>
          <p:nvPr/>
        </p:nvPicPr>
        <p:blipFill rotWithShape="1">
          <a:blip r:embed="rId4">
            <a:alphaModFix/>
          </a:blip>
          <a:srcRect/>
          <a:stretch/>
        </p:blipFill>
        <p:spPr>
          <a:xfrm>
            <a:off x="1664485" y="1616869"/>
            <a:ext cx="252411" cy="185713"/>
          </a:xfrm>
          <a:prstGeom prst="rect">
            <a:avLst/>
          </a:prstGeom>
          <a:noFill/>
          <a:ln>
            <a:noFill/>
          </a:ln>
        </p:spPr>
      </p:pic>
      <p:sp>
        <p:nvSpPr>
          <p:cNvPr id="112" name="Google Shape;112;p22"/>
          <p:cNvSpPr txBox="1">
            <a:spLocks noGrp="1"/>
          </p:cNvSpPr>
          <p:nvPr>
            <p:ph type="body" idx="1"/>
          </p:nvPr>
        </p:nvSpPr>
        <p:spPr>
          <a:xfrm>
            <a:off x="1664485" y="1981524"/>
            <a:ext cx="5905922" cy="1295400"/>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300"/>
              </a:spcBef>
              <a:spcAft>
                <a:spcPts val="0"/>
              </a:spcAft>
              <a:buClr>
                <a:srgbClr val="F4F4F6"/>
              </a:buClr>
              <a:buSzPts val="1500"/>
              <a:buFont typeface="Arial"/>
              <a:buNone/>
              <a:defRPr sz="1500" b="0" i="0" u="none" strike="noStrike" cap="none">
                <a:solidFill>
                  <a:srgbClr val="F4F4F6"/>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13" name="Google Shape;113;p22"/>
          <p:cNvSpPr txBox="1">
            <a:spLocks noGrp="1"/>
          </p:cNvSpPr>
          <p:nvPr>
            <p:ph type="body" idx="2"/>
          </p:nvPr>
        </p:nvSpPr>
        <p:spPr>
          <a:xfrm>
            <a:off x="1674163" y="3446859"/>
            <a:ext cx="5986278" cy="291703"/>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rgbClr val="BDBFC7"/>
              </a:buClr>
              <a:buSzPts val="1200"/>
              <a:buFont typeface="Arial"/>
              <a:buNone/>
              <a:defRPr sz="1200" b="0" i="0" u="none" strike="noStrike" cap="none">
                <a:solidFill>
                  <a:srgbClr val="BDBFC7"/>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 texto 2">
  <p:cSld name="Título + texto 2">
    <p:spTree>
      <p:nvGrpSpPr>
        <p:cNvPr id="1" name="Shape 114"/>
        <p:cNvGrpSpPr/>
        <p:nvPr/>
      </p:nvGrpSpPr>
      <p:grpSpPr>
        <a:xfrm>
          <a:off x="0" y="0"/>
          <a:ext cx="0" cy="0"/>
          <a:chOff x="0" y="0"/>
          <a:chExt cx="0" cy="0"/>
        </a:xfrm>
      </p:grpSpPr>
      <p:sp>
        <p:nvSpPr>
          <p:cNvPr id="115" name="Google Shape;115;p23"/>
          <p:cNvSpPr/>
          <p:nvPr/>
        </p:nvSpPr>
        <p:spPr>
          <a:xfrm>
            <a:off x="-62206" y="-56427"/>
            <a:ext cx="9258541" cy="5265034"/>
          </a:xfrm>
          <a:prstGeom prst="rect">
            <a:avLst/>
          </a:prstGeom>
          <a:solidFill>
            <a:schemeClr val="dk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6" name="Google Shape;116;p23" descr=" "/>
          <p:cNvPicPr preferRelativeResize="0"/>
          <p:nvPr/>
        </p:nvPicPr>
        <p:blipFill rotWithShape="1">
          <a:blip r:embed="rId2">
            <a:alphaModFix/>
          </a:blip>
          <a:srcRect/>
          <a:stretch/>
        </p:blipFill>
        <p:spPr>
          <a:xfrm>
            <a:off x="4188304" y="173538"/>
            <a:ext cx="4796291" cy="4795799"/>
          </a:xfrm>
          <a:prstGeom prst="rect">
            <a:avLst/>
          </a:prstGeom>
          <a:noFill/>
          <a:ln>
            <a:noFill/>
          </a:ln>
        </p:spPr>
      </p:pic>
      <p:pic>
        <p:nvPicPr>
          <p:cNvPr id="117" name="Google Shape;117;p23" descr=" "/>
          <p:cNvPicPr preferRelativeResize="0"/>
          <p:nvPr/>
        </p:nvPicPr>
        <p:blipFill rotWithShape="1">
          <a:blip r:embed="rId3">
            <a:alphaModFix/>
          </a:blip>
          <a:srcRect/>
          <a:stretch/>
        </p:blipFill>
        <p:spPr>
          <a:xfrm>
            <a:off x="159250" y="159252"/>
            <a:ext cx="4796291" cy="4795798"/>
          </a:xfrm>
          <a:prstGeom prst="rect">
            <a:avLst/>
          </a:prstGeom>
          <a:noFill/>
          <a:ln>
            <a:noFill/>
          </a:ln>
        </p:spPr>
      </p:pic>
      <p:sp>
        <p:nvSpPr>
          <p:cNvPr id="118" name="Google Shape;118;p23"/>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9" name="Google Shape;119;p23" descr=" "/>
          <p:cNvPicPr preferRelativeResize="0"/>
          <p:nvPr/>
        </p:nvPicPr>
        <p:blipFill rotWithShape="1">
          <a:blip r:embed="rId4">
            <a:alphaModFix/>
          </a:blip>
          <a:srcRect/>
          <a:stretch/>
        </p:blipFill>
        <p:spPr>
          <a:xfrm>
            <a:off x="8786767" y="152400"/>
            <a:ext cx="177863" cy="222353"/>
          </a:xfrm>
          <a:prstGeom prst="rect">
            <a:avLst/>
          </a:prstGeom>
          <a:noFill/>
          <a:ln>
            <a:noFill/>
          </a:ln>
        </p:spPr>
      </p:pic>
      <p:sp>
        <p:nvSpPr>
          <p:cNvPr id="120" name="Google Shape;120;p23"/>
          <p:cNvSpPr/>
          <p:nvPr/>
        </p:nvSpPr>
        <p:spPr>
          <a:xfrm>
            <a:off x="1162044" y="-838200"/>
            <a:ext cx="6824627" cy="6824662"/>
          </a:xfrm>
          <a:prstGeom prst="ellipse">
            <a:avLst/>
          </a:prstGeom>
          <a:solidFill>
            <a:srgbClr val="052FD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21" name="Google Shape;121;p23"/>
          <p:cNvSpPr/>
          <p:nvPr/>
        </p:nvSpPr>
        <p:spPr>
          <a:xfrm>
            <a:off x="2747948" y="1519238"/>
            <a:ext cx="3652819" cy="2105025"/>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22" name="Google Shape;122;p23"/>
          <p:cNvSpPr txBox="1">
            <a:spLocks noGrp="1"/>
          </p:cNvSpPr>
          <p:nvPr>
            <p:ph type="body" idx="1"/>
          </p:nvPr>
        </p:nvSpPr>
        <p:spPr>
          <a:xfrm>
            <a:off x="2685105" y="1468437"/>
            <a:ext cx="3773790" cy="996553"/>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23" name="Google Shape;123;p23"/>
          <p:cNvSpPr txBox="1">
            <a:spLocks noGrp="1"/>
          </p:cNvSpPr>
          <p:nvPr>
            <p:ph type="body" idx="2"/>
          </p:nvPr>
        </p:nvSpPr>
        <p:spPr>
          <a:xfrm>
            <a:off x="2515463" y="2555756"/>
            <a:ext cx="4113074" cy="1320919"/>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Imagem + título">
  <p:cSld name="Imagem + título">
    <p:spTree>
      <p:nvGrpSpPr>
        <p:cNvPr id="1" name="Shape 124"/>
        <p:cNvGrpSpPr/>
        <p:nvPr/>
      </p:nvGrpSpPr>
      <p:grpSpPr>
        <a:xfrm>
          <a:off x="0" y="0"/>
          <a:ext cx="0" cy="0"/>
          <a:chOff x="0" y="0"/>
          <a:chExt cx="0" cy="0"/>
        </a:xfrm>
      </p:grpSpPr>
      <p:pic>
        <p:nvPicPr>
          <p:cNvPr id="125" name="Google Shape;125;p24" descr=" "/>
          <p:cNvPicPr preferRelativeResize="0"/>
          <p:nvPr/>
        </p:nvPicPr>
        <p:blipFill rotWithShape="1">
          <a:blip r:embed="rId2">
            <a:alphaModFix/>
          </a:blip>
          <a:srcRect/>
          <a:stretch/>
        </p:blipFill>
        <p:spPr>
          <a:xfrm>
            <a:off x="4188304" y="173538"/>
            <a:ext cx="4796291" cy="4795799"/>
          </a:xfrm>
          <a:prstGeom prst="rect">
            <a:avLst/>
          </a:prstGeom>
          <a:noFill/>
          <a:ln>
            <a:noFill/>
          </a:ln>
        </p:spPr>
      </p:pic>
      <p:pic>
        <p:nvPicPr>
          <p:cNvPr id="126" name="Google Shape;126;p24" descr=" "/>
          <p:cNvPicPr preferRelativeResize="0"/>
          <p:nvPr/>
        </p:nvPicPr>
        <p:blipFill rotWithShape="1">
          <a:blip r:embed="rId3">
            <a:alphaModFix/>
          </a:blip>
          <a:srcRect/>
          <a:stretch/>
        </p:blipFill>
        <p:spPr>
          <a:xfrm>
            <a:off x="159250" y="159251"/>
            <a:ext cx="3994182" cy="4795799"/>
          </a:xfrm>
          <a:prstGeom prst="rect">
            <a:avLst/>
          </a:prstGeom>
          <a:noFill/>
          <a:ln>
            <a:noFill/>
          </a:ln>
        </p:spPr>
      </p:pic>
      <p:sp>
        <p:nvSpPr>
          <p:cNvPr id="127" name="Google Shape;127;p24"/>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28" name="Google Shape;128;p24" descr=" "/>
          <p:cNvPicPr preferRelativeResize="0"/>
          <p:nvPr/>
        </p:nvPicPr>
        <p:blipFill rotWithShape="1">
          <a:blip r:embed="rId4">
            <a:alphaModFix/>
          </a:blip>
          <a:srcRect/>
          <a:stretch/>
        </p:blipFill>
        <p:spPr>
          <a:xfrm>
            <a:off x="8786767" y="152400"/>
            <a:ext cx="177863" cy="222353"/>
          </a:xfrm>
          <a:prstGeom prst="rect">
            <a:avLst/>
          </a:prstGeom>
          <a:noFill/>
          <a:ln>
            <a:noFill/>
          </a:ln>
        </p:spPr>
      </p:pic>
      <p:sp>
        <p:nvSpPr>
          <p:cNvPr id="129" name="Google Shape;129;p24"/>
          <p:cNvSpPr/>
          <p:nvPr/>
        </p:nvSpPr>
        <p:spPr>
          <a:xfrm>
            <a:off x="161924" y="4876800"/>
            <a:ext cx="111124" cy="130175"/>
          </a:xfrm>
          <a:prstGeom prst="rect">
            <a:avLst/>
          </a:prstGeom>
          <a:noFill/>
          <a:ln>
            <a:noFill/>
          </a:ln>
        </p:spPr>
        <p:txBody>
          <a:bodyPr spcFirstLastPara="1" wrap="square" lIns="0" tIns="0" rIns="0" bIns="0" anchor="t" anchorCtr="0">
            <a:noAutofit/>
          </a:bodyPr>
          <a:lstStyle/>
          <a:p>
            <a:pPr marL="0" marR="0" lvl="0" indent="0" algn="l" rtl="0">
              <a:lnSpc>
                <a:spcPct val="137500"/>
              </a:lnSpc>
              <a:spcBef>
                <a:spcPts val="0"/>
              </a:spcBef>
              <a:spcAft>
                <a:spcPts val="0"/>
              </a:spcAft>
              <a:buClr>
                <a:srgbClr val="868998"/>
              </a:buClr>
              <a:buSzPts val="600"/>
              <a:buFont typeface="Roboto"/>
              <a:buNone/>
            </a:pPr>
            <a:r>
              <a:rPr lang="pt-BR" sz="600" b="0" i="0" u="none" strike="noStrike" cap="none">
                <a:solidFill>
                  <a:srgbClr val="868998"/>
                </a:solidFill>
                <a:latin typeface="Roboto"/>
                <a:ea typeface="Roboto"/>
                <a:cs typeface="Roboto"/>
                <a:sym typeface="Roboto"/>
              </a:rPr>
              <a:t>15</a:t>
            </a:r>
            <a:endParaRPr sz="600" b="0" i="0" u="none" strike="noStrike" cap="none">
              <a:solidFill>
                <a:schemeClr val="dk1"/>
              </a:solidFill>
              <a:latin typeface="Roboto"/>
              <a:ea typeface="Roboto"/>
              <a:cs typeface="Roboto"/>
              <a:sym typeface="Roboto"/>
            </a:endParaRPr>
          </a:p>
        </p:txBody>
      </p:sp>
      <p:sp>
        <p:nvSpPr>
          <p:cNvPr id="130" name="Google Shape;130;p24"/>
          <p:cNvSpPr>
            <a:spLocks noGrp="1"/>
          </p:cNvSpPr>
          <p:nvPr>
            <p:ph type="pic" idx="2"/>
          </p:nvPr>
        </p:nvSpPr>
        <p:spPr>
          <a:xfrm>
            <a:off x="747615" y="1162050"/>
            <a:ext cx="7648770" cy="3300413"/>
          </a:xfrm>
          <a:prstGeom prst="rect">
            <a:avLst/>
          </a:prstGeom>
          <a:noFill/>
          <a:ln>
            <a:noFill/>
          </a:ln>
        </p:spPr>
      </p:sp>
      <p:sp>
        <p:nvSpPr>
          <p:cNvPr id="131" name="Google Shape;131;p24"/>
          <p:cNvSpPr txBox="1">
            <a:spLocks noGrp="1"/>
          </p:cNvSpPr>
          <p:nvPr>
            <p:ph type="body" idx="1"/>
          </p:nvPr>
        </p:nvSpPr>
        <p:spPr>
          <a:xfrm>
            <a:off x="747615" y="539250"/>
            <a:ext cx="3080936" cy="381000"/>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32" name="Google Shape;132;p24"/>
          <p:cNvSpPr txBox="1">
            <a:spLocks noGrp="1"/>
          </p:cNvSpPr>
          <p:nvPr>
            <p:ph type="body" idx="3"/>
          </p:nvPr>
        </p:nvSpPr>
        <p:spPr>
          <a:xfrm>
            <a:off x="6097587" y="641837"/>
            <a:ext cx="2298798" cy="265509"/>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uas imagens">
  <p:cSld name="Duas imagens">
    <p:spTree>
      <p:nvGrpSpPr>
        <p:cNvPr id="1" name="Shape 133"/>
        <p:cNvGrpSpPr/>
        <p:nvPr/>
      </p:nvGrpSpPr>
      <p:grpSpPr>
        <a:xfrm>
          <a:off x="0" y="0"/>
          <a:ext cx="0" cy="0"/>
          <a:chOff x="0" y="0"/>
          <a:chExt cx="0" cy="0"/>
        </a:xfrm>
      </p:grpSpPr>
      <p:pic>
        <p:nvPicPr>
          <p:cNvPr id="134" name="Google Shape;134;p25" descr=" "/>
          <p:cNvPicPr preferRelativeResize="0"/>
          <p:nvPr/>
        </p:nvPicPr>
        <p:blipFill rotWithShape="1">
          <a:blip r:embed="rId2">
            <a:alphaModFix/>
          </a:blip>
          <a:srcRect/>
          <a:stretch/>
        </p:blipFill>
        <p:spPr>
          <a:xfrm>
            <a:off x="4188304" y="173538"/>
            <a:ext cx="4796291" cy="4795799"/>
          </a:xfrm>
          <a:prstGeom prst="rect">
            <a:avLst/>
          </a:prstGeom>
          <a:noFill/>
          <a:ln>
            <a:noFill/>
          </a:ln>
        </p:spPr>
      </p:pic>
      <p:pic>
        <p:nvPicPr>
          <p:cNvPr id="135" name="Google Shape;135;p25" descr=" "/>
          <p:cNvPicPr preferRelativeResize="0"/>
          <p:nvPr/>
        </p:nvPicPr>
        <p:blipFill rotWithShape="1">
          <a:blip r:embed="rId3">
            <a:alphaModFix/>
          </a:blip>
          <a:srcRect/>
          <a:stretch/>
        </p:blipFill>
        <p:spPr>
          <a:xfrm>
            <a:off x="159250" y="159251"/>
            <a:ext cx="3994182" cy="4795799"/>
          </a:xfrm>
          <a:prstGeom prst="rect">
            <a:avLst/>
          </a:prstGeom>
          <a:noFill/>
          <a:ln>
            <a:noFill/>
          </a:ln>
        </p:spPr>
      </p:pic>
      <p:sp>
        <p:nvSpPr>
          <p:cNvPr id="136" name="Google Shape;136;p25"/>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37" name="Google Shape;137;p25" descr=" "/>
          <p:cNvPicPr preferRelativeResize="0"/>
          <p:nvPr/>
        </p:nvPicPr>
        <p:blipFill rotWithShape="1">
          <a:blip r:embed="rId4">
            <a:alphaModFix/>
          </a:blip>
          <a:srcRect/>
          <a:stretch/>
        </p:blipFill>
        <p:spPr>
          <a:xfrm>
            <a:off x="8786767" y="152400"/>
            <a:ext cx="177863" cy="222353"/>
          </a:xfrm>
          <a:prstGeom prst="rect">
            <a:avLst/>
          </a:prstGeom>
          <a:noFill/>
          <a:ln>
            <a:noFill/>
          </a:ln>
        </p:spPr>
      </p:pic>
      <p:sp>
        <p:nvSpPr>
          <p:cNvPr id="138" name="Google Shape;138;p25"/>
          <p:cNvSpPr>
            <a:spLocks noGrp="1"/>
          </p:cNvSpPr>
          <p:nvPr>
            <p:ph type="pic" idx="2"/>
          </p:nvPr>
        </p:nvSpPr>
        <p:spPr>
          <a:xfrm>
            <a:off x="430768" y="833438"/>
            <a:ext cx="3929650" cy="3476625"/>
          </a:xfrm>
          <a:prstGeom prst="rect">
            <a:avLst/>
          </a:prstGeom>
          <a:noFill/>
          <a:ln>
            <a:noFill/>
          </a:ln>
        </p:spPr>
      </p:sp>
      <p:sp>
        <p:nvSpPr>
          <p:cNvPr id="139" name="Google Shape;139;p25"/>
          <p:cNvSpPr>
            <a:spLocks noGrp="1"/>
          </p:cNvSpPr>
          <p:nvPr>
            <p:ph type="pic" idx="3"/>
          </p:nvPr>
        </p:nvSpPr>
        <p:spPr>
          <a:xfrm>
            <a:off x="4783583" y="827209"/>
            <a:ext cx="3929650" cy="3476625"/>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ítulo + subtítulo">
  <p:cSld name="Título + subtítulo">
    <p:spTree>
      <p:nvGrpSpPr>
        <p:cNvPr id="1" name="Shape 140"/>
        <p:cNvGrpSpPr/>
        <p:nvPr/>
      </p:nvGrpSpPr>
      <p:grpSpPr>
        <a:xfrm>
          <a:off x="0" y="0"/>
          <a:ext cx="0" cy="0"/>
          <a:chOff x="0" y="0"/>
          <a:chExt cx="0" cy="0"/>
        </a:xfrm>
      </p:grpSpPr>
      <p:sp>
        <p:nvSpPr>
          <p:cNvPr id="141" name="Google Shape;141;p26"/>
          <p:cNvSpPr/>
          <p:nvPr/>
        </p:nvSpPr>
        <p:spPr>
          <a:xfrm>
            <a:off x="-62206" y="-56427"/>
            <a:ext cx="9258541" cy="5265034"/>
          </a:xfrm>
          <a:prstGeom prst="rect">
            <a:avLst/>
          </a:prstGeom>
          <a:solidFill>
            <a:srgbClr val="E2E2E2"/>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42" name="Google Shape;142;p26"/>
          <p:cNvSpPr/>
          <p:nvPr/>
        </p:nvSpPr>
        <p:spPr>
          <a:xfrm>
            <a:off x="747709" y="1238250"/>
            <a:ext cx="3905230" cy="26670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43" name="Google Shape;143;p26"/>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44" name="Google Shape;144;p26" descr=" "/>
          <p:cNvPicPr preferRelativeResize="0"/>
          <p:nvPr/>
        </p:nvPicPr>
        <p:blipFill rotWithShape="1">
          <a:blip r:embed="rId2">
            <a:alphaModFix/>
          </a:blip>
          <a:srcRect/>
          <a:stretch/>
        </p:blipFill>
        <p:spPr>
          <a:xfrm>
            <a:off x="8786767" y="152400"/>
            <a:ext cx="177863" cy="222353"/>
          </a:xfrm>
          <a:prstGeom prst="rect">
            <a:avLst/>
          </a:prstGeom>
          <a:noFill/>
          <a:ln>
            <a:noFill/>
          </a:ln>
        </p:spPr>
      </p:pic>
      <p:grpSp>
        <p:nvGrpSpPr>
          <p:cNvPr id="145" name="Google Shape;145;p26"/>
          <p:cNvGrpSpPr/>
          <p:nvPr/>
        </p:nvGrpSpPr>
        <p:grpSpPr>
          <a:xfrm>
            <a:off x="4052866" y="628577"/>
            <a:ext cx="5091134" cy="4514923"/>
            <a:chOff x="10809051" y="1676205"/>
            <a:chExt cx="13578125" cy="12039795"/>
          </a:xfrm>
        </p:grpSpPr>
        <p:pic>
          <p:nvPicPr>
            <p:cNvPr id="146" name="Google Shape;146;p26" descr=" "/>
            <p:cNvPicPr preferRelativeResize="0"/>
            <p:nvPr/>
          </p:nvPicPr>
          <p:blipFill rotWithShape="1">
            <a:blip r:embed="rId3">
              <a:alphaModFix/>
            </a:blip>
            <a:srcRect/>
            <a:stretch/>
          </p:blipFill>
          <p:spPr>
            <a:xfrm>
              <a:off x="10815365" y="1689100"/>
              <a:ext cx="13571683" cy="12026900"/>
            </a:xfrm>
            <a:prstGeom prst="rect">
              <a:avLst/>
            </a:prstGeom>
            <a:noFill/>
            <a:ln>
              <a:noFill/>
            </a:ln>
          </p:spPr>
        </p:pic>
        <p:pic>
          <p:nvPicPr>
            <p:cNvPr id="147" name="Google Shape;147;p26" descr=" "/>
            <p:cNvPicPr preferRelativeResize="0"/>
            <p:nvPr/>
          </p:nvPicPr>
          <p:blipFill rotWithShape="1">
            <a:blip r:embed="rId4">
              <a:alphaModFix/>
            </a:blip>
            <a:srcRect/>
            <a:stretch/>
          </p:blipFill>
          <p:spPr>
            <a:xfrm>
              <a:off x="10809051" y="1739900"/>
              <a:ext cx="1574997" cy="11976100"/>
            </a:xfrm>
            <a:prstGeom prst="rect">
              <a:avLst/>
            </a:prstGeom>
            <a:noFill/>
            <a:ln>
              <a:noFill/>
            </a:ln>
          </p:spPr>
        </p:pic>
        <p:pic>
          <p:nvPicPr>
            <p:cNvPr id="148" name="Google Shape;148;p26" descr=" "/>
            <p:cNvPicPr preferRelativeResize="0"/>
            <p:nvPr/>
          </p:nvPicPr>
          <p:blipFill rotWithShape="1">
            <a:blip r:embed="rId4">
              <a:alphaModFix/>
            </a:blip>
            <a:srcRect/>
            <a:stretch/>
          </p:blipFill>
          <p:spPr>
            <a:xfrm rot="5400000">
              <a:off x="17319527" y="-3232246"/>
              <a:ext cx="2159198" cy="11976100"/>
            </a:xfrm>
            <a:prstGeom prst="rect">
              <a:avLst/>
            </a:prstGeom>
            <a:noFill/>
            <a:ln>
              <a:noFill/>
            </a:ln>
          </p:spPr>
        </p:pic>
      </p:grpSp>
      <p:sp>
        <p:nvSpPr>
          <p:cNvPr id="149" name="Google Shape;149;p26"/>
          <p:cNvSpPr txBox="1">
            <a:spLocks noGrp="1"/>
          </p:cNvSpPr>
          <p:nvPr>
            <p:ph type="body" idx="1"/>
          </p:nvPr>
        </p:nvSpPr>
        <p:spPr>
          <a:xfrm>
            <a:off x="747709" y="1238250"/>
            <a:ext cx="4323787" cy="2324100"/>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50" name="Google Shape;150;p26"/>
          <p:cNvSpPr txBox="1">
            <a:spLocks noGrp="1"/>
          </p:cNvSpPr>
          <p:nvPr>
            <p:ph type="body" idx="2"/>
          </p:nvPr>
        </p:nvSpPr>
        <p:spPr>
          <a:xfrm>
            <a:off x="747709" y="3581400"/>
            <a:ext cx="3981527" cy="400050"/>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ítulo + tópicos ">
  <p:cSld name="Título + tópicos ">
    <p:spTree>
      <p:nvGrpSpPr>
        <p:cNvPr id="1" name="Shape 151"/>
        <p:cNvGrpSpPr/>
        <p:nvPr/>
      </p:nvGrpSpPr>
      <p:grpSpPr>
        <a:xfrm>
          <a:off x="0" y="0"/>
          <a:ext cx="0" cy="0"/>
          <a:chOff x="0" y="0"/>
          <a:chExt cx="0" cy="0"/>
        </a:xfrm>
      </p:grpSpPr>
      <p:sp>
        <p:nvSpPr>
          <p:cNvPr id="152" name="Google Shape;152;p27"/>
          <p:cNvSpPr/>
          <p:nvPr/>
        </p:nvSpPr>
        <p:spPr>
          <a:xfrm>
            <a:off x="-62206" y="-56427"/>
            <a:ext cx="9258541" cy="5265034"/>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53" name="Google Shape;153;p27" descr=" "/>
          <p:cNvPicPr preferRelativeResize="0"/>
          <p:nvPr/>
        </p:nvPicPr>
        <p:blipFill rotWithShape="1">
          <a:blip r:embed="rId2">
            <a:alphaModFix/>
          </a:blip>
          <a:srcRect/>
          <a:stretch/>
        </p:blipFill>
        <p:spPr>
          <a:xfrm>
            <a:off x="7086563" y="114300"/>
            <a:ext cx="2057389" cy="4914260"/>
          </a:xfrm>
          <a:prstGeom prst="rect">
            <a:avLst/>
          </a:prstGeom>
          <a:noFill/>
          <a:ln>
            <a:noFill/>
          </a:ln>
        </p:spPr>
      </p:pic>
      <p:sp>
        <p:nvSpPr>
          <p:cNvPr id="154" name="Google Shape;154;p27"/>
          <p:cNvSpPr/>
          <p:nvPr/>
        </p:nvSpPr>
        <p:spPr>
          <a:xfrm>
            <a:off x="8786767" y="152400"/>
            <a:ext cx="177908" cy="222386"/>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55" name="Google Shape;155;p27" descr=" "/>
          <p:cNvPicPr preferRelativeResize="0"/>
          <p:nvPr/>
        </p:nvPicPr>
        <p:blipFill rotWithShape="1">
          <a:blip r:embed="rId3">
            <a:alphaModFix/>
          </a:blip>
          <a:srcRect/>
          <a:stretch/>
        </p:blipFill>
        <p:spPr>
          <a:xfrm>
            <a:off x="8786767" y="152400"/>
            <a:ext cx="177867" cy="222353"/>
          </a:xfrm>
          <a:prstGeom prst="rect">
            <a:avLst/>
          </a:prstGeom>
          <a:noFill/>
          <a:ln>
            <a:noFill/>
          </a:ln>
        </p:spPr>
      </p:pic>
      <p:pic>
        <p:nvPicPr>
          <p:cNvPr id="156" name="Google Shape;156;p27" descr=" "/>
          <p:cNvPicPr preferRelativeResize="0"/>
          <p:nvPr/>
        </p:nvPicPr>
        <p:blipFill rotWithShape="1">
          <a:blip r:embed="rId4">
            <a:alphaModFix/>
          </a:blip>
          <a:srcRect/>
          <a:stretch/>
        </p:blipFill>
        <p:spPr>
          <a:xfrm>
            <a:off x="909633" y="2076450"/>
            <a:ext cx="1876415" cy="2071418"/>
          </a:xfrm>
          <a:prstGeom prst="rect">
            <a:avLst/>
          </a:prstGeom>
          <a:noFill/>
          <a:ln>
            <a:noFill/>
          </a:ln>
        </p:spPr>
      </p:pic>
      <p:pic>
        <p:nvPicPr>
          <p:cNvPr id="157" name="Google Shape;157;p27" descr=" "/>
          <p:cNvPicPr preferRelativeResize="0"/>
          <p:nvPr/>
        </p:nvPicPr>
        <p:blipFill rotWithShape="1">
          <a:blip r:embed="rId5">
            <a:alphaModFix/>
          </a:blip>
          <a:srcRect/>
          <a:stretch/>
        </p:blipFill>
        <p:spPr>
          <a:xfrm>
            <a:off x="1714491" y="2488406"/>
            <a:ext cx="266699" cy="266665"/>
          </a:xfrm>
          <a:prstGeom prst="rect">
            <a:avLst/>
          </a:prstGeom>
          <a:noFill/>
          <a:ln>
            <a:noFill/>
          </a:ln>
        </p:spPr>
      </p:pic>
      <p:pic>
        <p:nvPicPr>
          <p:cNvPr id="158" name="Google Shape;158;p27" descr=" "/>
          <p:cNvPicPr preferRelativeResize="0"/>
          <p:nvPr/>
        </p:nvPicPr>
        <p:blipFill rotWithShape="1">
          <a:blip r:embed="rId6">
            <a:alphaModFix/>
          </a:blip>
          <a:srcRect/>
          <a:stretch/>
        </p:blipFill>
        <p:spPr>
          <a:xfrm>
            <a:off x="2938447" y="2076450"/>
            <a:ext cx="1881178" cy="2071418"/>
          </a:xfrm>
          <a:prstGeom prst="rect">
            <a:avLst/>
          </a:prstGeom>
          <a:noFill/>
          <a:ln>
            <a:noFill/>
          </a:ln>
        </p:spPr>
      </p:pic>
      <p:pic>
        <p:nvPicPr>
          <p:cNvPr id="159" name="Google Shape;159;p27" descr=" "/>
          <p:cNvPicPr preferRelativeResize="0"/>
          <p:nvPr/>
        </p:nvPicPr>
        <p:blipFill rotWithShape="1">
          <a:blip r:embed="rId5">
            <a:alphaModFix/>
          </a:blip>
          <a:srcRect/>
          <a:stretch/>
        </p:blipFill>
        <p:spPr>
          <a:xfrm>
            <a:off x="3745687" y="2488406"/>
            <a:ext cx="266699" cy="266665"/>
          </a:xfrm>
          <a:prstGeom prst="rect">
            <a:avLst/>
          </a:prstGeom>
          <a:noFill/>
          <a:ln>
            <a:noFill/>
          </a:ln>
        </p:spPr>
      </p:pic>
      <p:pic>
        <p:nvPicPr>
          <p:cNvPr id="160" name="Google Shape;160;p27" descr=" "/>
          <p:cNvPicPr preferRelativeResize="0"/>
          <p:nvPr/>
        </p:nvPicPr>
        <p:blipFill rotWithShape="1">
          <a:blip r:embed="rId4">
            <a:alphaModFix/>
          </a:blip>
          <a:srcRect/>
          <a:stretch/>
        </p:blipFill>
        <p:spPr>
          <a:xfrm>
            <a:off x="4972024" y="2076450"/>
            <a:ext cx="1876415" cy="2071418"/>
          </a:xfrm>
          <a:prstGeom prst="rect">
            <a:avLst/>
          </a:prstGeom>
          <a:noFill/>
          <a:ln>
            <a:noFill/>
          </a:ln>
        </p:spPr>
      </p:pic>
      <p:pic>
        <p:nvPicPr>
          <p:cNvPr id="161" name="Google Shape;161;p27" descr=" "/>
          <p:cNvPicPr preferRelativeResize="0"/>
          <p:nvPr/>
        </p:nvPicPr>
        <p:blipFill rotWithShape="1">
          <a:blip r:embed="rId5">
            <a:alphaModFix/>
          </a:blip>
          <a:srcRect/>
          <a:stretch/>
        </p:blipFill>
        <p:spPr>
          <a:xfrm>
            <a:off x="5776883" y="2488406"/>
            <a:ext cx="266699" cy="266665"/>
          </a:xfrm>
          <a:prstGeom prst="rect">
            <a:avLst/>
          </a:prstGeom>
          <a:noFill/>
          <a:ln>
            <a:noFill/>
          </a:ln>
        </p:spPr>
      </p:pic>
      <p:sp>
        <p:nvSpPr>
          <p:cNvPr id="162" name="Google Shape;162;p27"/>
          <p:cNvSpPr/>
          <p:nvPr/>
        </p:nvSpPr>
        <p:spPr>
          <a:xfrm>
            <a:off x="909633" y="590550"/>
            <a:ext cx="4329090" cy="1038225"/>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cxnSp>
        <p:nvCxnSpPr>
          <p:cNvPr id="163" name="Google Shape;163;p27"/>
          <p:cNvCxnSpPr/>
          <p:nvPr/>
        </p:nvCxnSpPr>
        <p:spPr>
          <a:xfrm>
            <a:off x="956767" y="4695092"/>
            <a:ext cx="1261785" cy="0"/>
          </a:xfrm>
          <a:prstGeom prst="straightConnector1">
            <a:avLst/>
          </a:prstGeom>
          <a:noFill/>
          <a:ln w="28575" cap="flat" cmpd="sng">
            <a:solidFill>
              <a:srgbClr val="0C0C0E"/>
            </a:solidFill>
            <a:prstDash val="solid"/>
            <a:miter lim="0"/>
            <a:headEnd type="none" w="sm" len="sm"/>
            <a:tailEnd type="none" w="sm" len="sm"/>
          </a:ln>
        </p:spPr>
      </p:cxnSp>
      <p:sp>
        <p:nvSpPr>
          <p:cNvPr id="164" name="Google Shape;164;p27"/>
          <p:cNvSpPr>
            <a:spLocks noGrp="1"/>
          </p:cNvSpPr>
          <p:nvPr>
            <p:ph type="pic" idx="2"/>
          </p:nvPr>
        </p:nvSpPr>
        <p:spPr>
          <a:xfrm>
            <a:off x="7000559" y="2076450"/>
            <a:ext cx="2143441" cy="2071688"/>
          </a:xfrm>
          <a:prstGeom prst="rect">
            <a:avLst/>
          </a:prstGeom>
          <a:noFill/>
          <a:ln>
            <a:noFill/>
          </a:ln>
        </p:spPr>
      </p:sp>
      <p:sp>
        <p:nvSpPr>
          <p:cNvPr id="165" name="Google Shape;165;p27"/>
          <p:cNvSpPr txBox="1">
            <a:spLocks noGrp="1"/>
          </p:cNvSpPr>
          <p:nvPr>
            <p:ph type="body" idx="1"/>
          </p:nvPr>
        </p:nvSpPr>
        <p:spPr>
          <a:xfrm>
            <a:off x="909633" y="563486"/>
            <a:ext cx="4449977" cy="587574"/>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66" name="Google Shape;166;p27"/>
          <p:cNvSpPr txBox="1">
            <a:spLocks noGrp="1"/>
          </p:cNvSpPr>
          <p:nvPr>
            <p:ph type="body" idx="3"/>
          </p:nvPr>
        </p:nvSpPr>
        <p:spPr>
          <a:xfrm>
            <a:off x="909585" y="1217226"/>
            <a:ext cx="4379739" cy="501253"/>
          </a:xfrm>
          <a:prstGeom prst="rect">
            <a:avLst/>
          </a:prstGeom>
          <a:noFill/>
          <a:ln>
            <a:noFill/>
          </a:ln>
        </p:spPr>
        <p:txBody>
          <a:bodyPr spcFirstLastPara="1" wrap="square" lIns="34275" tIns="17125" rIns="34275" bIns="17125" anchor="t" anchorCtr="0">
            <a:noAutofit/>
          </a:bodyPr>
          <a:lstStyle>
            <a:lvl1pPr marL="457200" marR="0" lvl="0" indent="-228600" algn="l"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67" name="Google Shape;167;p27"/>
          <p:cNvSpPr txBox="1">
            <a:spLocks noGrp="1"/>
          </p:cNvSpPr>
          <p:nvPr>
            <p:ph type="body" idx="4"/>
          </p:nvPr>
        </p:nvSpPr>
        <p:spPr>
          <a:xfrm>
            <a:off x="1173208" y="3012281"/>
            <a:ext cx="1402969" cy="768549"/>
          </a:xfrm>
          <a:prstGeom prst="rect">
            <a:avLst/>
          </a:prstGeom>
          <a:noFill/>
          <a:ln>
            <a:noFill/>
          </a:ln>
        </p:spPr>
        <p:txBody>
          <a:bodyPr spcFirstLastPara="1" wrap="square" lIns="34275" tIns="17125" rIns="34275" bIns="17125" anchor="t" anchorCtr="0">
            <a:noAutofit/>
          </a:bodyPr>
          <a:lstStyle>
            <a:lvl1pPr marL="457200" marR="0" lvl="0" indent="-228600" algn="ctr"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68" name="Google Shape;168;p27"/>
          <p:cNvSpPr>
            <a:spLocks noGrp="1"/>
          </p:cNvSpPr>
          <p:nvPr>
            <p:ph type="pic" idx="5"/>
          </p:nvPr>
        </p:nvSpPr>
        <p:spPr>
          <a:xfrm>
            <a:off x="1746419" y="2498527"/>
            <a:ext cx="256546" cy="256546"/>
          </a:xfrm>
          <a:prstGeom prst="rect">
            <a:avLst/>
          </a:prstGeom>
          <a:noFill/>
          <a:ln>
            <a:noFill/>
          </a:ln>
        </p:spPr>
      </p:sp>
      <p:sp>
        <p:nvSpPr>
          <p:cNvPr id="169" name="Google Shape;169;p27"/>
          <p:cNvSpPr txBox="1">
            <a:spLocks noGrp="1"/>
          </p:cNvSpPr>
          <p:nvPr>
            <p:ph type="body" idx="6"/>
          </p:nvPr>
        </p:nvSpPr>
        <p:spPr>
          <a:xfrm>
            <a:off x="3163584" y="3012281"/>
            <a:ext cx="1402969" cy="768549"/>
          </a:xfrm>
          <a:prstGeom prst="rect">
            <a:avLst/>
          </a:prstGeom>
          <a:noFill/>
          <a:ln>
            <a:noFill/>
          </a:ln>
        </p:spPr>
        <p:txBody>
          <a:bodyPr spcFirstLastPara="1" wrap="square" lIns="34275" tIns="17125" rIns="34275" bIns="17125" anchor="t" anchorCtr="0">
            <a:noAutofit/>
          </a:bodyPr>
          <a:lstStyle>
            <a:lvl1pPr marL="457200" marR="0" lvl="0" indent="-228600" algn="ctr"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70" name="Google Shape;170;p27"/>
          <p:cNvSpPr>
            <a:spLocks noGrp="1"/>
          </p:cNvSpPr>
          <p:nvPr>
            <p:ph type="pic" idx="7"/>
          </p:nvPr>
        </p:nvSpPr>
        <p:spPr>
          <a:xfrm>
            <a:off x="3736795" y="2498527"/>
            <a:ext cx="256546" cy="256546"/>
          </a:xfrm>
          <a:prstGeom prst="rect">
            <a:avLst/>
          </a:prstGeom>
          <a:noFill/>
          <a:ln>
            <a:noFill/>
          </a:ln>
        </p:spPr>
      </p:sp>
      <p:sp>
        <p:nvSpPr>
          <p:cNvPr id="171" name="Google Shape;171;p27"/>
          <p:cNvSpPr txBox="1">
            <a:spLocks noGrp="1"/>
          </p:cNvSpPr>
          <p:nvPr>
            <p:ph type="body" idx="8"/>
          </p:nvPr>
        </p:nvSpPr>
        <p:spPr>
          <a:xfrm>
            <a:off x="5222173" y="3012281"/>
            <a:ext cx="1402969" cy="768549"/>
          </a:xfrm>
          <a:prstGeom prst="rect">
            <a:avLst/>
          </a:prstGeom>
          <a:noFill/>
          <a:ln>
            <a:noFill/>
          </a:ln>
        </p:spPr>
        <p:txBody>
          <a:bodyPr spcFirstLastPara="1" wrap="square" lIns="34275" tIns="17125" rIns="34275" bIns="17125" anchor="t" anchorCtr="0">
            <a:noAutofit/>
          </a:bodyPr>
          <a:lstStyle>
            <a:lvl1pPr marL="457200" marR="0" lvl="0" indent="-228600" algn="ctr" rtl="0">
              <a:lnSpc>
                <a:spcPct val="100000"/>
              </a:lnSpc>
              <a:spcBef>
                <a:spcPts val="2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Calibri"/>
                <a:ea typeface="Calibri"/>
                <a:cs typeface="Calibri"/>
                <a:sym typeface="Calibri"/>
              </a:defRPr>
            </a:lvl3pPr>
            <a:lvl4pPr marL="1828800" marR="0" lvl="3"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5pPr>
            <a:lvl6pPr marL="2743200" marR="0" lvl="5"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6pPr>
            <a:lvl7pPr marL="3200400" marR="0" lvl="6"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7pPr>
            <a:lvl8pPr marL="3657600" marR="0" lvl="7"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8pPr>
            <a:lvl9pPr marL="4114800" marR="0" lvl="8"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Calibri"/>
                <a:ea typeface="Calibri"/>
                <a:cs typeface="Calibri"/>
                <a:sym typeface="Calibri"/>
              </a:defRPr>
            </a:lvl9pPr>
          </a:lstStyle>
          <a:p>
            <a:endParaRPr/>
          </a:p>
        </p:txBody>
      </p:sp>
      <p:sp>
        <p:nvSpPr>
          <p:cNvPr id="172" name="Google Shape;172;p27"/>
          <p:cNvSpPr>
            <a:spLocks noGrp="1"/>
          </p:cNvSpPr>
          <p:nvPr>
            <p:ph type="pic" idx="9"/>
          </p:nvPr>
        </p:nvSpPr>
        <p:spPr>
          <a:xfrm>
            <a:off x="5795384" y="2498527"/>
            <a:ext cx="256546" cy="256546"/>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undo escuro 1">
  <p:cSld name="Fundo escuro 1">
    <p:spTree>
      <p:nvGrpSpPr>
        <p:cNvPr id="1" name="Shape 173"/>
        <p:cNvGrpSpPr/>
        <p:nvPr/>
      </p:nvGrpSpPr>
      <p:grpSpPr>
        <a:xfrm>
          <a:off x="0" y="0"/>
          <a:ext cx="0" cy="0"/>
          <a:chOff x="0" y="0"/>
          <a:chExt cx="0" cy="0"/>
        </a:xfrm>
      </p:grpSpPr>
      <p:sp>
        <p:nvSpPr>
          <p:cNvPr id="174" name="Google Shape;174;p28"/>
          <p:cNvSpPr/>
          <p:nvPr/>
        </p:nvSpPr>
        <p:spPr>
          <a:xfrm>
            <a:off x="-523872" y="-419100"/>
            <a:ext cx="5986431" cy="5986462"/>
          </a:xfrm>
          <a:prstGeom prst="ellipse">
            <a:avLst/>
          </a:prstGeom>
          <a:solidFill>
            <a:srgbClr val="0C0C0E"/>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75" name="Google Shape;175;p28"/>
          <p:cNvSpPr/>
          <p:nvPr/>
        </p:nvSpPr>
        <p:spPr>
          <a:xfrm>
            <a:off x="5067274" y="-419100"/>
            <a:ext cx="5986431" cy="5986462"/>
          </a:xfrm>
          <a:prstGeom prst="ellipse">
            <a:avLst/>
          </a:prstGeom>
          <a:solidFill>
            <a:srgbClr val="0C0C0E"/>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Fundo escuro 2">
  <p:cSld name="Fundo escuro 2">
    <p:spTree>
      <p:nvGrpSpPr>
        <p:cNvPr id="1" name="Shape 176"/>
        <p:cNvGrpSpPr/>
        <p:nvPr/>
      </p:nvGrpSpPr>
      <p:grpSpPr>
        <a:xfrm>
          <a:off x="0" y="0"/>
          <a:ext cx="0" cy="0"/>
          <a:chOff x="0" y="0"/>
          <a:chExt cx="0" cy="0"/>
        </a:xfrm>
      </p:grpSpPr>
      <p:sp>
        <p:nvSpPr>
          <p:cNvPr id="177" name="Google Shape;177;p29"/>
          <p:cNvSpPr/>
          <p:nvPr/>
        </p:nvSpPr>
        <p:spPr>
          <a:xfrm>
            <a:off x="-62206" y="-56427"/>
            <a:ext cx="9258541" cy="5265034"/>
          </a:xfrm>
          <a:prstGeom prst="rect">
            <a:avLst/>
          </a:prstGeom>
          <a:solidFill>
            <a:srgbClr val="131316"/>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78" name="Google Shape;178;p29"/>
          <p:cNvSpPr/>
          <p:nvPr/>
        </p:nvSpPr>
        <p:spPr>
          <a:xfrm>
            <a:off x="-2290751" y="-419100"/>
            <a:ext cx="5986431" cy="5986462"/>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79" name="Google Shape;179;p29"/>
          <p:cNvSpPr/>
          <p:nvPr/>
        </p:nvSpPr>
        <p:spPr>
          <a:xfrm>
            <a:off x="3269439" y="-419100"/>
            <a:ext cx="5986431" cy="5986462"/>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8">
            <a:alphaModFix/>
          </a:blip>
          <a:stretch>
            <a:fillRect/>
          </a:stretch>
        </a:blipFill>
        <a:effectLst/>
      </p:bgPr>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8.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9.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0.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4.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9.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0.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2.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5.png"/></Relationships>
</file>

<file path=ppt/slides/_rels/slide7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7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5.xml"/><Relationship Id="rId1" Type="http://schemas.openxmlformats.org/officeDocument/2006/relationships/slideLayout" Target="../slideLayouts/slideLayout1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 name="Google Shape;321;p48"/>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902"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03" name="Google Shape;323;p48" descr=" "/>
          <p:cNvPicPr preferRelativeResize="0"/>
          <p:nvPr/>
        </p:nvPicPr>
        <p:blipFill rotWithShape="1">
          <a:blip r:embed="rId3">
            <a:alphaModFix/>
          </a:blip>
          <a:srcRect/>
          <a:stretch/>
        </p:blipFill>
        <p:spPr>
          <a:xfrm>
            <a:off x="8786283" y="152400"/>
            <a:ext cx="178830" cy="222353"/>
          </a:xfrm>
          <a:prstGeom prst="rect">
            <a:avLst/>
          </a:prstGeom>
          <a:noFill/>
          <a:ln>
            <a:noFill/>
          </a:ln>
        </p:spPr>
      </p:pic>
      <p:pic>
        <p:nvPicPr>
          <p:cNvPr id="904" name="Google Shape;325;p48" descr="Ícone&#10;&#10;O conteúdo gerado por IA pode estar incorreto."/>
          <p:cNvPicPr preferRelativeResize="0"/>
          <p:nvPr/>
        </p:nvPicPr>
        <p:blipFill rotWithShape="1">
          <a:blip r:embed="rId4">
            <a:alphaModFix/>
          </a:blip>
          <a:srcRect/>
          <a:stretch/>
        </p:blipFill>
        <p:spPr>
          <a:xfrm>
            <a:off x="9426430" y="-54316"/>
            <a:ext cx="588048" cy="3753281"/>
          </a:xfrm>
          <a:prstGeom prst="rect">
            <a:avLst/>
          </a:prstGeom>
          <a:noFill/>
          <a:ln>
            <a:noFill/>
          </a:ln>
        </p:spPr>
      </p:pic>
      <p:sp>
        <p:nvSpPr>
          <p:cNvPr id="905" name="TextBox 904"/>
          <p:cNvSpPr txBox="1"/>
          <p:nvPr/>
        </p:nvSpPr>
        <p:spPr>
          <a:xfrm>
            <a:off x="2235200" y="1778000"/>
            <a:ext cx="4673600" cy="1739900"/>
          </a:xfrm>
          <a:prstGeom prst="rect">
            <a:avLst/>
          </a:prstGeom>
          <a:noFill/>
        </p:spPr>
        <p:txBody>
          <a:bodyPr wrap="square" lIns="0" tIns="0" rIns="0" bIns="0" anchor="ctr">
            <a:spAutoFit/>
          </a:bodyPr>
          <a:lstStyle/>
          <a:p>
            <a:pPr algn="ctr">
              <a:lnSpc>
                <a:spcPct val="112000"/>
              </a:lnSpc>
            </a:pPr>
            <a:r>
              <a:rPr sz="3800">
                <a:solidFill>
                  <a:srgbClr val="FFFFFF"/>
                </a:solidFill>
                <a:latin typeface="Encode Sans"/>
              </a:rPr>
              <a:t>6.1 O que são</a:t>
            </a:r>
          </a:p>
          <a:p>
            <a:pPr algn="ctr">
              <a:lnSpc>
                <a:spcPct val="112000"/>
              </a:lnSpc>
            </a:pPr>
            <a:r>
              <a:rPr sz="3800">
                <a:solidFill>
                  <a:srgbClr val="FFFFFF"/>
                </a:solidFill>
                <a:latin typeface="Encode Sans"/>
              </a:rPr>
              <a:t>guardrails?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5" name="Google Shape;331;p49" descr="art\malha.png"/>
          <p:cNvPicPr preferRelativeResize="0"/>
          <p:nvPr/>
        </p:nvPicPr>
        <p:blipFill rotWithShape="1">
          <a:blip r:embed="rId3">
            <a:alphaModFix/>
          </a:blip>
          <a:srcRect/>
          <a:stretch/>
        </p:blipFill>
        <p:spPr>
          <a:xfrm>
            <a:off x="0" y="0"/>
            <a:ext cx="9143952" cy="5142830"/>
          </a:xfrm>
          <a:prstGeom prst="rect">
            <a:avLst/>
          </a:prstGeom>
          <a:noFill/>
          <a:ln>
            <a:noFill/>
          </a:ln>
        </p:spPr>
      </p:pic>
      <p:pic>
        <p:nvPicPr>
          <p:cNvPr id="906" name="Google Shape;332;p49" descr="art\capa.png"/>
          <p:cNvPicPr preferRelativeResize="0"/>
          <p:nvPr/>
        </p:nvPicPr>
        <p:blipFill rotWithShape="1">
          <a:blip r:embed="rId4">
            <a:alphaModFix/>
          </a:blip>
          <a:srcRect/>
          <a:stretch/>
        </p:blipFill>
        <p:spPr>
          <a:xfrm>
            <a:off x="3034270" y="0"/>
            <a:ext cx="6109682" cy="5142830"/>
          </a:xfrm>
          <a:prstGeom prst="rect">
            <a:avLst/>
          </a:prstGeom>
          <a:noFill/>
          <a:ln>
            <a:noFill/>
          </a:ln>
        </p:spPr>
      </p:pic>
      <p:pic>
        <p:nvPicPr>
          <p:cNvPr id="907" name="Google Shape;333;p49" descr="art\logo.png"/>
          <p:cNvPicPr preferRelativeResize="0"/>
          <p:nvPr/>
        </p:nvPicPr>
        <p:blipFill rotWithShape="1">
          <a:blip r:embed="rId5">
            <a:alphaModFix/>
          </a:blip>
          <a:srcRect/>
          <a:stretch/>
        </p:blipFill>
        <p:spPr>
          <a:xfrm>
            <a:off x="8787383" y="150876"/>
            <a:ext cx="178285" cy="222856"/>
          </a:xfrm>
          <a:prstGeom prst="rect">
            <a:avLst/>
          </a:prstGeom>
          <a:noFill/>
          <a:ln>
            <a:noFill/>
          </a:ln>
        </p:spPr>
      </p:pic>
      <p:sp>
        <p:nvSpPr>
          <p:cNvPr id="908" name="TextBox 907"/>
          <p:cNvSpPr txBox="1"/>
          <p:nvPr/>
        </p:nvSpPr>
        <p:spPr>
          <a:xfrm>
            <a:off x="914400" y="698500"/>
            <a:ext cx="4965700" cy="241300"/>
          </a:xfrm>
          <a:prstGeom prst="rect">
            <a:avLst/>
          </a:prstGeom>
          <a:noFill/>
        </p:spPr>
        <p:txBody>
          <a:bodyPr wrap="square" lIns="0" tIns="0" rIns="0" bIns="0" anchor="t">
            <a:spAutoFit/>
          </a:bodyPr>
          <a:lstStyle/>
          <a:p>
            <a:pPr algn="l">
              <a:lnSpc>
                <a:spcPct val="100000"/>
              </a:lnSpc>
            </a:pPr>
            <a:r>
              <a:rPr sz="800" b="1">
                <a:solidFill>
                  <a:srgbClr val="1F53E5"/>
                </a:solidFill>
                <a:latin typeface="Encode Sans"/>
              </a:rPr>
              <a:t>EVALS, OBSERVABILIDADE E CONFORMIDADE</a:t>
            </a:r>
          </a:p>
        </p:txBody>
      </p:sp>
      <p:sp>
        <p:nvSpPr>
          <p:cNvPr id="909" name="TextBox 908"/>
          <p:cNvSpPr txBox="1"/>
          <p:nvPr/>
        </p:nvSpPr>
        <p:spPr>
          <a:xfrm>
            <a:off x="914400" y="1651000"/>
            <a:ext cx="5080000" cy="1524000"/>
          </a:xfrm>
          <a:prstGeom prst="rect">
            <a:avLst/>
          </a:prstGeom>
          <a:noFill/>
        </p:spPr>
        <p:txBody>
          <a:bodyPr wrap="square" lIns="0" tIns="0" rIns="0" bIns="0" anchor="t">
            <a:spAutoFit/>
          </a:bodyPr>
          <a:lstStyle/>
          <a:p>
            <a:pPr algn="l">
              <a:lnSpc>
                <a:spcPct val="115000"/>
              </a:lnSpc>
            </a:pPr>
            <a:r>
              <a:rPr sz="3600">
                <a:solidFill>
                  <a:srgbClr val="FFFFFF"/>
                </a:solidFill>
                <a:latin typeface="Encode Sans"/>
              </a:rPr>
              <a:t>Aula 6</a:t>
            </a:r>
          </a:p>
          <a:p>
            <a:pPr algn="l">
              <a:lnSpc>
                <a:spcPct val="115000"/>
              </a:lnSpc>
            </a:pPr>
            <a:r>
              <a:rPr sz="3600">
                <a:solidFill>
                  <a:srgbClr val="FFFFFF"/>
                </a:solidFill>
                <a:latin typeface="Encode Sans"/>
              </a:rPr>
              <a:t>Conformidade</a:t>
            </a:r>
          </a:p>
        </p:txBody>
      </p:sp>
      <p:sp>
        <p:nvSpPr>
          <p:cNvPr id="910" name="TextBox 909"/>
          <p:cNvSpPr txBox="1"/>
          <p:nvPr/>
        </p:nvSpPr>
        <p:spPr>
          <a:xfrm>
            <a:off x="914400" y="3276600"/>
            <a:ext cx="5105400" cy="532838"/>
          </a:xfrm>
          <a:prstGeom prst="rect">
            <a:avLst/>
          </a:prstGeom>
          <a:noFill/>
        </p:spPr>
        <p:txBody>
          <a:bodyPr wrap="square" lIns="0" tIns="0" rIns="0" bIns="0" anchor="t">
            <a:spAutoFit/>
          </a:bodyPr>
          <a:lstStyle/>
          <a:p>
            <a:pPr algn="l">
              <a:lnSpc>
                <a:spcPct val="120000"/>
              </a:lnSpc>
            </a:pPr>
            <a:r>
              <a:rPr sz="1500" dirty="0">
                <a:solidFill>
                  <a:srgbClr val="FFFFFF"/>
                </a:solidFill>
                <a:latin typeface="Roboto"/>
              </a:rPr>
              <a:t>Guardrails </a:t>
            </a:r>
            <a:r>
              <a:rPr sz="1500" dirty="0" err="1">
                <a:solidFill>
                  <a:srgbClr val="FFFFFF"/>
                </a:solidFill>
                <a:latin typeface="Roboto"/>
              </a:rPr>
              <a:t>em</a:t>
            </a:r>
            <a:r>
              <a:rPr sz="1500" dirty="0">
                <a:solidFill>
                  <a:srgbClr val="FFFFFF"/>
                </a:solidFill>
                <a:latin typeface="Roboto"/>
              </a:rPr>
              <a:t> </a:t>
            </a:r>
            <a:r>
              <a:rPr sz="1500" dirty="0" err="1">
                <a:solidFill>
                  <a:srgbClr val="FFFFFF"/>
                </a:solidFill>
                <a:latin typeface="Roboto"/>
              </a:rPr>
              <a:t>código</a:t>
            </a:r>
            <a:r>
              <a:rPr sz="1500" dirty="0">
                <a:solidFill>
                  <a:srgbClr val="FFFFFF"/>
                </a:solidFill>
                <a:latin typeface="Roboto"/>
              </a:rPr>
              <a:t>, </a:t>
            </a:r>
            <a:r>
              <a:rPr lang="pt-BR" sz="1500" dirty="0">
                <a:solidFill>
                  <a:srgbClr val="FFFFFF"/>
                </a:solidFill>
                <a:latin typeface="Roboto"/>
              </a:rPr>
              <a:t>T</a:t>
            </a:r>
            <a:r>
              <a:rPr sz="1500" dirty="0" err="1">
                <a:solidFill>
                  <a:srgbClr val="FFFFFF"/>
                </a:solidFill>
                <a:latin typeface="Roboto"/>
              </a:rPr>
              <a:t>ransparência</a:t>
            </a:r>
            <a:r>
              <a:rPr sz="1500" dirty="0">
                <a:solidFill>
                  <a:srgbClr val="FFFFFF"/>
                </a:solidFill>
                <a:latin typeface="Roboto"/>
              </a:rPr>
              <a:t> </a:t>
            </a:r>
            <a:r>
              <a:rPr sz="1500" dirty="0" err="1">
                <a:solidFill>
                  <a:srgbClr val="FFFFFF"/>
                </a:solidFill>
                <a:latin typeface="Roboto"/>
              </a:rPr>
              <a:t>como</a:t>
            </a:r>
            <a:r>
              <a:rPr sz="1500" dirty="0">
                <a:solidFill>
                  <a:srgbClr val="FFFFFF"/>
                </a:solidFill>
                <a:latin typeface="Roboto"/>
              </a:rPr>
              <a:t> design e LGPD </a:t>
            </a:r>
            <a:r>
              <a:rPr sz="1500" dirty="0" err="1">
                <a:solidFill>
                  <a:srgbClr val="FFFFFF"/>
                </a:solidFill>
                <a:latin typeface="Roboto"/>
              </a:rPr>
              <a:t>na</a:t>
            </a:r>
            <a:r>
              <a:rPr sz="1500" dirty="0">
                <a:solidFill>
                  <a:srgbClr val="FFFFFF"/>
                </a:solidFill>
                <a:latin typeface="Roboto"/>
              </a:rPr>
              <a:t> </a:t>
            </a:r>
            <a:r>
              <a:rPr sz="1500" dirty="0" err="1">
                <a:solidFill>
                  <a:srgbClr val="FFFFFF"/>
                </a:solidFill>
                <a:latin typeface="Roboto"/>
              </a:rPr>
              <a:t>prática</a:t>
            </a:r>
            <a:endParaRPr sz="1500" dirty="0">
              <a:solidFill>
                <a:srgbClr val="FFFFFF"/>
              </a:solidFill>
              <a:latin typeface="Roboto"/>
            </a:endParaRPr>
          </a:p>
        </p:txBody>
      </p:sp>
      <p:sp>
        <p:nvSpPr>
          <p:cNvPr id="911" name="TextBox 910"/>
          <p:cNvSpPr txBox="1"/>
          <p:nvPr/>
        </p:nvSpPr>
        <p:spPr>
          <a:xfrm>
            <a:off x="914400" y="4025900"/>
            <a:ext cx="5207000" cy="279400"/>
          </a:xfrm>
          <a:prstGeom prst="rect">
            <a:avLst/>
          </a:prstGeom>
          <a:noFill/>
        </p:spPr>
        <p:txBody>
          <a:bodyPr wrap="square" lIns="0" tIns="0" rIns="0" bIns="0" anchor="t">
            <a:spAutoFit/>
          </a:bodyPr>
          <a:lstStyle/>
          <a:p>
            <a:pPr algn="l">
              <a:lnSpc>
                <a:spcPct val="100000"/>
              </a:lnSpc>
            </a:pPr>
            <a:r>
              <a:rPr sz="1200">
                <a:solidFill>
                  <a:srgbClr val="4A9BE8"/>
                </a:solidFill>
                <a:latin typeface="Roboto"/>
              </a:rPr>
              <a:t>Lançar é o começo. O run é a grande responsabilidade.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09"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910"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911"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912"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13"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914"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915" name="TextBox 914"/>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4000">
                <a:solidFill>
                  <a:srgbClr val="BDBFC7"/>
                </a:solidFill>
                <a:latin typeface="Encode Sans"/>
              </a:rPr>
              <a:t>Guardrail é</a:t>
            </a:r>
          </a:p>
          <a:p>
            <a:pPr algn="ctr">
              <a:lnSpc>
                <a:spcPct val="112000"/>
              </a:lnSpc>
            </a:pPr>
            <a:r>
              <a:rPr sz="4000">
                <a:solidFill>
                  <a:srgbClr val="BDBFC7"/>
                </a:solidFill>
                <a:latin typeface="Encode Sans"/>
              </a:rPr>
              <a:t>limite em</a:t>
            </a:r>
          </a:p>
          <a:p>
            <a:pPr algn="ctr">
              <a:lnSpc>
                <a:spcPct val="112000"/>
              </a:lnSpc>
            </a:pPr>
            <a:r>
              <a:rPr sz="4000">
                <a:solidFill>
                  <a:srgbClr val="BDBFC7"/>
                </a:solidFill>
                <a:latin typeface="Encode Sans"/>
              </a:rPr>
              <a:t>código. Não é</a:t>
            </a:r>
          </a:p>
          <a:p>
            <a:pPr algn="ctr">
              <a:lnSpc>
                <a:spcPct val="112000"/>
              </a:lnSpc>
            </a:pPr>
            <a:r>
              <a:rPr sz="4000">
                <a:solidFill>
                  <a:srgbClr val="BDBFC7"/>
                </a:solidFill>
                <a:latin typeface="Encode Sans"/>
              </a:rPr>
              <a:t>intenção em</a:t>
            </a:r>
          </a:p>
          <a:p>
            <a:pPr algn="ctr">
              <a:lnSpc>
                <a:spcPct val="112000"/>
              </a:lnSpc>
            </a:pPr>
            <a:r>
              <a:rPr sz="4000">
                <a:solidFill>
                  <a:srgbClr val="BDBFC7"/>
                </a:solidFill>
                <a:latin typeface="Encode Sans"/>
              </a:rPr>
              <a:t>prompt.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16"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17"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18"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19"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20" name="TextBox 919"/>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Guardrail é operacional</a:t>
            </a:r>
          </a:p>
        </p:txBody>
      </p:sp>
      <p:sp>
        <p:nvSpPr>
          <p:cNvPr id="921" name="Rounded Rectangle 920"/>
          <p:cNvSpPr/>
          <p:nvPr/>
        </p:nvSpPr>
        <p:spPr>
          <a:xfrm>
            <a:off x="571500" y="1435100"/>
            <a:ext cx="2497666" cy="350729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2" name="Rectangle 921"/>
          <p:cNvSpPr/>
          <p:nvPr/>
        </p:nvSpPr>
        <p:spPr>
          <a:xfrm>
            <a:off x="571500" y="1435100"/>
            <a:ext cx="2497666"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3" name="TextBox 922"/>
          <p:cNvSpPr txBox="1"/>
          <p:nvPr/>
        </p:nvSpPr>
        <p:spPr>
          <a:xfrm>
            <a:off x="774700" y="1663700"/>
            <a:ext cx="2091266" cy="177800"/>
          </a:xfrm>
          <a:prstGeom prst="rect">
            <a:avLst/>
          </a:prstGeom>
          <a:noFill/>
        </p:spPr>
        <p:txBody>
          <a:bodyPr wrap="square" lIns="0" tIns="0" rIns="0" bIns="0" anchor="ctr">
            <a:spAutoFit/>
          </a:bodyPr>
          <a:lstStyle/>
          <a:p>
            <a:pPr algn="ctr">
              <a:lnSpc>
                <a:spcPct val="100000"/>
              </a:lnSpc>
            </a:pPr>
            <a:r>
              <a:rPr sz="1100" b="1" cap="all">
                <a:solidFill>
                  <a:srgbClr val="052FD3"/>
                </a:solidFill>
                <a:latin typeface="Encode Sans"/>
              </a:rPr>
              <a:t>Prompt</a:t>
            </a:r>
          </a:p>
        </p:txBody>
      </p:sp>
      <p:sp>
        <p:nvSpPr>
          <p:cNvPr id="924" name="TextBox 923"/>
          <p:cNvSpPr txBox="1"/>
          <p:nvPr/>
        </p:nvSpPr>
        <p:spPr>
          <a:xfrm>
            <a:off x="774700" y="19431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Linguagem natural =</a:t>
            </a:r>
          </a:p>
          <a:p>
            <a:pPr algn="ctr">
              <a:lnSpc>
                <a:spcPct val="110000"/>
              </a:lnSpc>
            </a:pPr>
            <a:r>
              <a:rPr sz="1500">
                <a:solidFill>
                  <a:srgbClr val="14161B"/>
                </a:solidFill>
                <a:latin typeface="Encode Sans SemiBold"/>
              </a:rPr>
              <a:t>variabilidade</a:t>
            </a:r>
          </a:p>
        </p:txBody>
      </p:sp>
      <p:sp>
        <p:nvSpPr>
          <p:cNvPr id="925" name="TextBox 924"/>
          <p:cNvSpPr txBox="1"/>
          <p:nvPr/>
        </p:nvSpPr>
        <p:spPr>
          <a:xfrm>
            <a:off x="774700" y="2614178"/>
            <a:ext cx="2091266" cy="2061514"/>
          </a:xfrm>
          <a:prstGeom prst="rect">
            <a:avLst/>
          </a:prstGeom>
          <a:noFill/>
        </p:spPr>
        <p:txBody>
          <a:bodyPr wrap="square" lIns="0" tIns="0" rIns="0" bIns="0" anchor="t">
            <a:spAutoFit/>
          </a:bodyPr>
          <a:lstStyle/>
          <a:p>
            <a:pPr marL="182880" indent="-182880" algn="l">
              <a:lnSpc>
                <a:spcPct val="115000"/>
              </a:lnSpc>
              <a:spcAft>
                <a:spcPts val="500"/>
              </a:spcAft>
              <a:buClr>
                <a:srgbClr val="052FD3"/>
              </a:buClr>
              <a:buSzPts val="700"/>
              <a:buFont typeface="Arial"/>
              <a:buChar char="●"/>
            </a:pPr>
            <a:r>
              <a:rPr sz="1000">
                <a:solidFill>
                  <a:srgbClr val="5B6070"/>
                </a:solidFill>
                <a:latin typeface="Roboto"/>
              </a:rPr>
              <a:t>Regras no prompt não são determinísticas</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Contexto ambíguo → interpretações diferentes</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Caso real: o prompt v2 exigia chamar a ferramenta, e o modelo nem sempre chamou</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Não é "defeito": é o limite de instruir em linguagem natural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21"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22"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23"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24"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25" name="TextBox 924"/>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Guardrail é operacional</a:t>
            </a:r>
          </a:p>
        </p:txBody>
      </p:sp>
      <p:sp>
        <p:nvSpPr>
          <p:cNvPr id="926" name="Rounded Rectangle 925"/>
          <p:cNvSpPr/>
          <p:nvPr/>
        </p:nvSpPr>
        <p:spPr>
          <a:xfrm>
            <a:off x="571500" y="1435100"/>
            <a:ext cx="2497666" cy="350729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7" name="Rectangle 926"/>
          <p:cNvSpPr/>
          <p:nvPr/>
        </p:nvSpPr>
        <p:spPr>
          <a:xfrm>
            <a:off x="571500" y="1435100"/>
            <a:ext cx="2497666"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8" name="TextBox 927"/>
          <p:cNvSpPr txBox="1"/>
          <p:nvPr/>
        </p:nvSpPr>
        <p:spPr>
          <a:xfrm>
            <a:off x="774700" y="1663700"/>
            <a:ext cx="2091266" cy="177800"/>
          </a:xfrm>
          <a:prstGeom prst="rect">
            <a:avLst/>
          </a:prstGeom>
          <a:noFill/>
        </p:spPr>
        <p:txBody>
          <a:bodyPr wrap="square" lIns="0" tIns="0" rIns="0" bIns="0" anchor="ctr">
            <a:spAutoFit/>
          </a:bodyPr>
          <a:lstStyle/>
          <a:p>
            <a:pPr algn="ctr">
              <a:lnSpc>
                <a:spcPct val="100000"/>
              </a:lnSpc>
            </a:pPr>
            <a:r>
              <a:rPr sz="1100" b="1" cap="all">
                <a:solidFill>
                  <a:srgbClr val="052FD3"/>
                </a:solidFill>
                <a:latin typeface="Encode Sans"/>
              </a:rPr>
              <a:t>Prompt</a:t>
            </a:r>
          </a:p>
        </p:txBody>
      </p:sp>
      <p:sp>
        <p:nvSpPr>
          <p:cNvPr id="929" name="TextBox 928"/>
          <p:cNvSpPr txBox="1"/>
          <p:nvPr/>
        </p:nvSpPr>
        <p:spPr>
          <a:xfrm>
            <a:off x="774700" y="19431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Linguagem natural =</a:t>
            </a:r>
          </a:p>
          <a:p>
            <a:pPr algn="ctr">
              <a:lnSpc>
                <a:spcPct val="110000"/>
              </a:lnSpc>
            </a:pPr>
            <a:r>
              <a:rPr sz="1500">
                <a:solidFill>
                  <a:srgbClr val="14161B"/>
                </a:solidFill>
                <a:latin typeface="Encode Sans SemiBold"/>
              </a:rPr>
              <a:t>variabilidade</a:t>
            </a:r>
          </a:p>
        </p:txBody>
      </p:sp>
      <p:sp>
        <p:nvSpPr>
          <p:cNvPr id="930" name="TextBox 929"/>
          <p:cNvSpPr txBox="1"/>
          <p:nvPr/>
        </p:nvSpPr>
        <p:spPr>
          <a:xfrm>
            <a:off x="774700" y="2614178"/>
            <a:ext cx="2091266" cy="2061514"/>
          </a:xfrm>
          <a:prstGeom prst="rect">
            <a:avLst/>
          </a:prstGeom>
          <a:noFill/>
        </p:spPr>
        <p:txBody>
          <a:bodyPr wrap="square" lIns="0" tIns="0" rIns="0" bIns="0" anchor="t">
            <a:spAutoFit/>
          </a:bodyPr>
          <a:lstStyle/>
          <a:p>
            <a:pPr marL="182880" indent="-182880" algn="l">
              <a:lnSpc>
                <a:spcPct val="115000"/>
              </a:lnSpc>
              <a:spcAft>
                <a:spcPts val="500"/>
              </a:spcAft>
              <a:buClr>
                <a:srgbClr val="052FD3"/>
              </a:buClr>
              <a:buSzPts val="700"/>
              <a:buFont typeface="Arial"/>
              <a:buChar char="●"/>
            </a:pPr>
            <a:r>
              <a:rPr sz="1000">
                <a:solidFill>
                  <a:srgbClr val="5B6070"/>
                </a:solidFill>
                <a:latin typeface="Roboto"/>
              </a:rPr>
              <a:t>Regras no prompt não são determinísticas</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Contexto ambíguo → interpretações diferentes</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Caso real: o prompt v2 exigia chamar a ferramenta, e o modelo nem sempre chamou</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Não é "defeito": é o limite de instruir em linguagem natural</a:t>
            </a:r>
          </a:p>
        </p:txBody>
      </p:sp>
      <p:sp>
        <p:nvSpPr>
          <p:cNvPr id="931" name="Rounded Rectangle 930"/>
          <p:cNvSpPr/>
          <p:nvPr/>
        </p:nvSpPr>
        <p:spPr>
          <a:xfrm>
            <a:off x="3323166" y="1435100"/>
            <a:ext cx="2497666" cy="350729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2" name="Rectangle 931"/>
          <p:cNvSpPr/>
          <p:nvPr/>
        </p:nvSpPr>
        <p:spPr>
          <a:xfrm>
            <a:off x="3323166" y="1435100"/>
            <a:ext cx="2497666" cy="50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3" name="TextBox 932"/>
          <p:cNvSpPr txBox="1"/>
          <p:nvPr/>
        </p:nvSpPr>
        <p:spPr>
          <a:xfrm>
            <a:off x="3526366" y="1663700"/>
            <a:ext cx="2091266" cy="177800"/>
          </a:xfrm>
          <a:prstGeom prst="rect">
            <a:avLst/>
          </a:prstGeom>
          <a:noFill/>
        </p:spPr>
        <p:txBody>
          <a:bodyPr wrap="square" lIns="0" tIns="0" rIns="0" bIns="0" anchor="ctr">
            <a:spAutoFit/>
          </a:bodyPr>
          <a:lstStyle/>
          <a:p>
            <a:pPr algn="ctr">
              <a:lnSpc>
                <a:spcPct val="100000"/>
              </a:lnSpc>
            </a:pPr>
            <a:r>
              <a:rPr sz="1100" b="1" cap="all">
                <a:solidFill>
                  <a:srgbClr val="4A86E8"/>
                </a:solidFill>
                <a:latin typeface="Encode Sans"/>
              </a:rPr>
              <a:t>Guardrail</a:t>
            </a:r>
          </a:p>
        </p:txBody>
      </p:sp>
      <p:sp>
        <p:nvSpPr>
          <p:cNvPr id="934" name="TextBox 933"/>
          <p:cNvSpPr txBox="1"/>
          <p:nvPr/>
        </p:nvSpPr>
        <p:spPr>
          <a:xfrm>
            <a:off x="3526366" y="19431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Do "confio" ao</a:t>
            </a:r>
          </a:p>
          <a:p>
            <a:pPr algn="ctr">
              <a:lnSpc>
                <a:spcPct val="110000"/>
              </a:lnSpc>
            </a:pPr>
            <a:r>
              <a:rPr sz="1500">
                <a:solidFill>
                  <a:srgbClr val="14161B"/>
                </a:solidFill>
                <a:latin typeface="Encode Sans SemiBold"/>
              </a:rPr>
              <a:t>"garanto"</a:t>
            </a:r>
          </a:p>
        </p:txBody>
      </p:sp>
      <p:sp>
        <p:nvSpPr>
          <p:cNvPr id="935" name="TextBox 934"/>
          <p:cNvSpPr txBox="1"/>
          <p:nvPr/>
        </p:nvSpPr>
        <p:spPr>
          <a:xfrm>
            <a:off x="3526366" y="2614178"/>
            <a:ext cx="2091266" cy="2125014"/>
          </a:xfrm>
          <a:prstGeom prst="rect">
            <a:avLst/>
          </a:prstGeom>
          <a:noFill/>
        </p:spPr>
        <p:txBody>
          <a:bodyPr wrap="square" lIns="0" tIns="0" rIns="0" bIns="0" anchor="t">
            <a:spAutoFit/>
          </a:bodyPr>
          <a:lstStyle/>
          <a:p>
            <a:pPr marL="182880" indent="-182880" algn="l">
              <a:lnSpc>
                <a:spcPct val="115000"/>
              </a:lnSpc>
              <a:spcAft>
                <a:spcPts val="500"/>
              </a:spcAft>
              <a:buClr>
                <a:srgbClr val="4A86E8"/>
              </a:buClr>
              <a:buSzPts val="700"/>
              <a:buFont typeface="Arial"/>
              <a:buChar char="●"/>
            </a:pPr>
            <a:r>
              <a:rPr sz="1000">
                <a:solidFill>
                  <a:srgbClr val="5B6070"/>
                </a:solidFill>
                <a:latin typeface="Roboto"/>
              </a:rPr>
              <a:t>Prompt → comportamento esperado</a:t>
            </a:r>
          </a:p>
          <a:p>
            <a:pPr marL="182880" indent="-182880" algn="l">
              <a:lnSpc>
                <a:spcPct val="115000"/>
              </a:lnSpc>
              <a:spcAft>
                <a:spcPts val="500"/>
              </a:spcAft>
              <a:buClr>
                <a:srgbClr val="4A86E8"/>
              </a:buClr>
              <a:buSzPts val="700"/>
              <a:buFont typeface="Arial"/>
              <a:buChar char="●"/>
            </a:pPr>
            <a:r>
              <a:rPr sz="1000">
                <a:solidFill>
                  <a:srgbClr val="5B6070"/>
                </a:solidFill>
                <a:latin typeface="Roboto"/>
              </a:rPr>
              <a:t>Guardrail → comportamento restringido</a:t>
            </a:r>
          </a:p>
          <a:p>
            <a:pPr marL="182880" indent="-182880" algn="l">
              <a:lnSpc>
                <a:spcPct val="115000"/>
              </a:lnSpc>
              <a:spcAft>
                <a:spcPts val="500"/>
              </a:spcAft>
              <a:buClr>
                <a:srgbClr val="4A86E8"/>
              </a:buClr>
              <a:buSzPts val="700"/>
              <a:buFont typeface="Arial"/>
              <a:buChar char="●"/>
            </a:pPr>
            <a:r>
              <a:rPr sz="1000">
                <a:solidFill>
                  <a:srgbClr val="5B6070"/>
                </a:solidFill>
                <a:latin typeface="Roboto"/>
              </a:rPr>
              <a:t>tool_choice → chamada obrigatória</a:t>
            </a:r>
          </a:p>
          <a:p>
            <a:pPr marL="182880" indent="-182880" algn="l">
              <a:lnSpc>
                <a:spcPct val="115000"/>
              </a:lnSpc>
              <a:spcAft>
                <a:spcPts val="500"/>
              </a:spcAft>
              <a:buClr>
                <a:srgbClr val="4A86E8"/>
              </a:buClr>
              <a:buSzPts val="700"/>
              <a:buFont typeface="Arial"/>
              <a:buChar char="●"/>
            </a:pPr>
            <a:r>
              <a:rPr sz="1000">
                <a:solidFill>
                  <a:srgbClr val="5B6070"/>
                </a:solidFill>
                <a:latin typeface="Roboto"/>
              </a:rPr>
              <a:t>Validação → regra executada pelo código</a:t>
            </a:r>
          </a:p>
          <a:p>
            <a:pPr marL="182880" indent="-182880" algn="l">
              <a:lnSpc>
                <a:spcPct val="115000"/>
              </a:lnSpc>
              <a:spcAft>
                <a:spcPts val="500"/>
              </a:spcAft>
              <a:buClr>
                <a:srgbClr val="4A86E8"/>
              </a:buClr>
              <a:buSzPts val="700"/>
              <a:buFont typeface="Arial"/>
              <a:buChar char="●"/>
            </a:pPr>
            <a:r>
              <a:rPr sz="1000">
                <a:solidFill>
                  <a:srgbClr val="5B6070"/>
                </a:solidFill>
                <a:latin typeface="Roboto"/>
              </a:rPr>
              <a:t>Não dependo da interpretação do modelo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26"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27"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28"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29"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30" name="TextBox 929"/>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Guardrail é operacional</a:t>
            </a:r>
          </a:p>
        </p:txBody>
      </p:sp>
      <p:sp>
        <p:nvSpPr>
          <p:cNvPr id="931" name="Rounded Rectangle 930"/>
          <p:cNvSpPr/>
          <p:nvPr/>
        </p:nvSpPr>
        <p:spPr>
          <a:xfrm>
            <a:off x="571500" y="1435100"/>
            <a:ext cx="2497666" cy="350729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2" name="Rectangle 931"/>
          <p:cNvSpPr/>
          <p:nvPr/>
        </p:nvSpPr>
        <p:spPr>
          <a:xfrm>
            <a:off x="571500" y="1435100"/>
            <a:ext cx="2497666"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3" name="TextBox 932"/>
          <p:cNvSpPr txBox="1"/>
          <p:nvPr/>
        </p:nvSpPr>
        <p:spPr>
          <a:xfrm>
            <a:off x="774700" y="1663700"/>
            <a:ext cx="2091266" cy="177800"/>
          </a:xfrm>
          <a:prstGeom prst="rect">
            <a:avLst/>
          </a:prstGeom>
          <a:noFill/>
        </p:spPr>
        <p:txBody>
          <a:bodyPr wrap="square" lIns="0" tIns="0" rIns="0" bIns="0" anchor="ctr">
            <a:spAutoFit/>
          </a:bodyPr>
          <a:lstStyle/>
          <a:p>
            <a:pPr algn="ctr">
              <a:lnSpc>
                <a:spcPct val="100000"/>
              </a:lnSpc>
            </a:pPr>
            <a:r>
              <a:rPr sz="1100" b="1" cap="all">
                <a:solidFill>
                  <a:srgbClr val="052FD3"/>
                </a:solidFill>
                <a:latin typeface="Encode Sans"/>
              </a:rPr>
              <a:t>Prompt</a:t>
            </a:r>
          </a:p>
        </p:txBody>
      </p:sp>
      <p:sp>
        <p:nvSpPr>
          <p:cNvPr id="934" name="TextBox 933"/>
          <p:cNvSpPr txBox="1"/>
          <p:nvPr/>
        </p:nvSpPr>
        <p:spPr>
          <a:xfrm>
            <a:off x="774700" y="19431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Linguagem natural =</a:t>
            </a:r>
          </a:p>
          <a:p>
            <a:pPr algn="ctr">
              <a:lnSpc>
                <a:spcPct val="110000"/>
              </a:lnSpc>
            </a:pPr>
            <a:r>
              <a:rPr sz="1500">
                <a:solidFill>
                  <a:srgbClr val="14161B"/>
                </a:solidFill>
                <a:latin typeface="Encode Sans SemiBold"/>
              </a:rPr>
              <a:t>variabilidade</a:t>
            </a:r>
          </a:p>
        </p:txBody>
      </p:sp>
      <p:sp>
        <p:nvSpPr>
          <p:cNvPr id="935" name="TextBox 934"/>
          <p:cNvSpPr txBox="1"/>
          <p:nvPr/>
        </p:nvSpPr>
        <p:spPr>
          <a:xfrm>
            <a:off x="774700" y="2614178"/>
            <a:ext cx="2091266" cy="2061514"/>
          </a:xfrm>
          <a:prstGeom prst="rect">
            <a:avLst/>
          </a:prstGeom>
          <a:noFill/>
        </p:spPr>
        <p:txBody>
          <a:bodyPr wrap="square" lIns="0" tIns="0" rIns="0" bIns="0" anchor="t">
            <a:spAutoFit/>
          </a:bodyPr>
          <a:lstStyle/>
          <a:p>
            <a:pPr marL="182880" indent="-182880" algn="l">
              <a:lnSpc>
                <a:spcPct val="115000"/>
              </a:lnSpc>
              <a:spcAft>
                <a:spcPts val="500"/>
              </a:spcAft>
              <a:buClr>
                <a:srgbClr val="052FD3"/>
              </a:buClr>
              <a:buSzPts val="700"/>
              <a:buFont typeface="Arial"/>
              <a:buChar char="●"/>
            </a:pPr>
            <a:r>
              <a:rPr sz="1000">
                <a:solidFill>
                  <a:srgbClr val="5B6070"/>
                </a:solidFill>
                <a:latin typeface="Roboto"/>
              </a:rPr>
              <a:t>Regras no prompt não são determinísticas</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Contexto ambíguo → interpretações diferentes</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Caso real: o prompt v2 exigia chamar a ferramenta, e o modelo nem sempre chamou</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Não é "defeito": é o limite de instruir em linguagem natural</a:t>
            </a:r>
          </a:p>
        </p:txBody>
      </p:sp>
      <p:sp>
        <p:nvSpPr>
          <p:cNvPr id="936" name="Rounded Rectangle 935"/>
          <p:cNvSpPr/>
          <p:nvPr/>
        </p:nvSpPr>
        <p:spPr>
          <a:xfrm>
            <a:off x="3323166" y="1435100"/>
            <a:ext cx="2497666" cy="350729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7" name="Rectangle 936"/>
          <p:cNvSpPr/>
          <p:nvPr/>
        </p:nvSpPr>
        <p:spPr>
          <a:xfrm>
            <a:off x="3323166" y="1435100"/>
            <a:ext cx="2497666" cy="50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8" name="TextBox 937"/>
          <p:cNvSpPr txBox="1"/>
          <p:nvPr/>
        </p:nvSpPr>
        <p:spPr>
          <a:xfrm>
            <a:off x="3526366" y="1663700"/>
            <a:ext cx="2091266" cy="177800"/>
          </a:xfrm>
          <a:prstGeom prst="rect">
            <a:avLst/>
          </a:prstGeom>
          <a:noFill/>
        </p:spPr>
        <p:txBody>
          <a:bodyPr wrap="square" lIns="0" tIns="0" rIns="0" bIns="0" anchor="ctr">
            <a:spAutoFit/>
          </a:bodyPr>
          <a:lstStyle/>
          <a:p>
            <a:pPr algn="ctr">
              <a:lnSpc>
                <a:spcPct val="100000"/>
              </a:lnSpc>
            </a:pPr>
            <a:r>
              <a:rPr sz="1100" b="1" cap="all">
                <a:solidFill>
                  <a:srgbClr val="4A86E8"/>
                </a:solidFill>
                <a:latin typeface="Encode Sans"/>
              </a:rPr>
              <a:t>Guardrail</a:t>
            </a:r>
          </a:p>
        </p:txBody>
      </p:sp>
      <p:sp>
        <p:nvSpPr>
          <p:cNvPr id="939" name="TextBox 938"/>
          <p:cNvSpPr txBox="1"/>
          <p:nvPr/>
        </p:nvSpPr>
        <p:spPr>
          <a:xfrm>
            <a:off x="3526366" y="19431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Do "confio" ao</a:t>
            </a:r>
          </a:p>
          <a:p>
            <a:pPr algn="ctr">
              <a:lnSpc>
                <a:spcPct val="110000"/>
              </a:lnSpc>
            </a:pPr>
            <a:r>
              <a:rPr sz="1500">
                <a:solidFill>
                  <a:srgbClr val="14161B"/>
                </a:solidFill>
                <a:latin typeface="Encode Sans SemiBold"/>
              </a:rPr>
              <a:t>"garanto"</a:t>
            </a:r>
          </a:p>
        </p:txBody>
      </p:sp>
      <p:sp>
        <p:nvSpPr>
          <p:cNvPr id="940" name="TextBox 939"/>
          <p:cNvSpPr txBox="1"/>
          <p:nvPr/>
        </p:nvSpPr>
        <p:spPr>
          <a:xfrm>
            <a:off x="3526366" y="2614178"/>
            <a:ext cx="2091266" cy="2125014"/>
          </a:xfrm>
          <a:prstGeom prst="rect">
            <a:avLst/>
          </a:prstGeom>
          <a:noFill/>
        </p:spPr>
        <p:txBody>
          <a:bodyPr wrap="square" lIns="0" tIns="0" rIns="0" bIns="0" anchor="t">
            <a:spAutoFit/>
          </a:bodyPr>
          <a:lstStyle/>
          <a:p>
            <a:pPr marL="182880" indent="-182880" algn="l">
              <a:lnSpc>
                <a:spcPct val="115000"/>
              </a:lnSpc>
              <a:spcAft>
                <a:spcPts val="500"/>
              </a:spcAft>
              <a:buClr>
                <a:srgbClr val="4A86E8"/>
              </a:buClr>
              <a:buSzPts val="700"/>
              <a:buFont typeface="Arial"/>
              <a:buChar char="●"/>
            </a:pPr>
            <a:r>
              <a:rPr sz="1000">
                <a:solidFill>
                  <a:srgbClr val="5B6070"/>
                </a:solidFill>
                <a:latin typeface="Roboto"/>
              </a:rPr>
              <a:t>Prompt → comportamento esperado</a:t>
            </a:r>
          </a:p>
          <a:p>
            <a:pPr marL="182880" indent="-182880" algn="l">
              <a:lnSpc>
                <a:spcPct val="115000"/>
              </a:lnSpc>
              <a:spcAft>
                <a:spcPts val="500"/>
              </a:spcAft>
              <a:buClr>
                <a:srgbClr val="4A86E8"/>
              </a:buClr>
              <a:buSzPts val="700"/>
              <a:buFont typeface="Arial"/>
              <a:buChar char="●"/>
            </a:pPr>
            <a:r>
              <a:rPr sz="1000">
                <a:solidFill>
                  <a:srgbClr val="5B6070"/>
                </a:solidFill>
                <a:latin typeface="Roboto"/>
              </a:rPr>
              <a:t>Guardrail → comportamento restringido</a:t>
            </a:r>
          </a:p>
          <a:p>
            <a:pPr marL="182880" indent="-182880" algn="l">
              <a:lnSpc>
                <a:spcPct val="115000"/>
              </a:lnSpc>
              <a:spcAft>
                <a:spcPts val="500"/>
              </a:spcAft>
              <a:buClr>
                <a:srgbClr val="4A86E8"/>
              </a:buClr>
              <a:buSzPts val="700"/>
              <a:buFont typeface="Arial"/>
              <a:buChar char="●"/>
            </a:pPr>
            <a:r>
              <a:rPr sz="1000">
                <a:solidFill>
                  <a:srgbClr val="5B6070"/>
                </a:solidFill>
                <a:latin typeface="Roboto"/>
              </a:rPr>
              <a:t>tool_choice → chamada obrigatória</a:t>
            </a:r>
          </a:p>
          <a:p>
            <a:pPr marL="182880" indent="-182880" algn="l">
              <a:lnSpc>
                <a:spcPct val="115000"/>
              </a:lnSpc>
              <a:spcAft>
                <a:spcPts val="500"/>
              </a:spcAft>
              <a:buClr>
                <a:srgbClr val="4A86E8"/>
              </a:buClr>
              <a:buSzPts val="700"/>
              <a:buFont typeface="Arial"/>
              <a:buChar char="●"/>
            </a:pPr>
            <a:r>
              <a:rPr sz="1000">
                <a:solidFill>
                  <a:srgbClr val="5B6070"/>
                </a:solidFill>
                <a:latin typeface="Roboto"/>
              </a:rPr>
              <a:t>Validação → regra executada pelo código</a:t>
            </a:r>
          </a:p>
          <a:p>
            <a:pPr marL="182880" indent="-182880" algn="l">
              <a:lnSpc>
                <a:spcPct val="115000"/>
              </a:lnSpc>
              <a:spcAft>
                <a:spcPts val="500"/>
              </a:spcAft>
              <a:buClr>
                <a:srgbClr val="4A86E8"/>
              </a:buClr>
              <a:buSzPts val="700"/>
              <a:buFont typeface="Arial"/>
              <a:buChar char="●"/>
            </a:pPr>
            <a:r>
              <a:rPr sz="1000">
                <a:solidFill>
                  <a:srgbClr val="5B6070"/>
                </a:solidFill>
                <a:latin typeface="Roboto"/>
              </a:rPr>
              <a:t>Não dependo da interpretação do modelo</a:t>
            </a:r>
          </a:p>
        </p:txBody>
      </p:sp>
      <p:sp>
        <p:nvSpPr>
          <p:cNvPr id="941" name="Rounded Rectangle 940"/>
          <p:cNvSpPr/>
          <p:nvPr/>
        </p:nvSpPr>
        <p:spPr>
          <a:xfrm>
            <a:off x="6074833" y="1435100"/>
            <a:ext cx="2497666" cy="350729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2" name="Rectangle 941"/>
          <p:cNvSpPr/>
          <p:nvPr/>
        </p:nvSpPr>
        <p:spPr>
          <a:xfrm>
            <a:off x="6074833" y="1435100"/>
            <a:ext cx="2497666"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3" name="TextBox 942"/>
          <p:cNvSpPr txBox="1"/>
          <p:nvPr/>
        </p:nvSpPr>
        <p:spPr>
          <a:xfrm>
            <a:off x="6278033" y="1663700"/>
            <a:ext cx="2091266" cy="177800"/>
          </a:xfrm>
          <a:prstGeom prst="rect">
            <a:avLst/>
          </a:prstGeom>
          <a:noFill/>
        </p:spPr>
        <p:txBody>
          <a:bodyPr wrap="square" lIns="0" tIns="0" rIns="0" bIns="0" anchor="ctr">
            <a:spAutoFit/>
          </a:bodyPr>
          <a:lstStyle/>
          <a:p>
            <a:pPr algn="ctr">
              <a:lnSpc>
                <a:spcPct val="100000"/>
              </a:lnSpc>
            </a:pPr>
            <a:r>
              <a:rPr sz="1100" b="1" cap="all">
                <a:solidFill>
                  <a:srgbClr val="2FB36B"/>
                </a:solidFill>
                <a:latin typeface="Encode Sans"/>
              </a:rPr>
              <a:t>Confere limites</a:t>
            </a:r>
          </a:p>
        </p:txBody>
      </p:sp>
      <p:sp>
        <p:nvSpPr>
          <p:cNvPr id="944" name="TextBox 943"/>
          <p:cNvSpPr txBox="1"/>
          <p:nvPr/>
        </p:nvSpPr>
        <p:spPr>
          <a:xfrm>
            <a:off x="6278033" y="19431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Não é só sobre o</a:t>
            </a:r>
          </a:p>
          <a:p>
            <a:pPr algn="ctr">
              <a:lnSpc>
                <a:spcPct val="110000"/>
              </a:lnSpc>
            </a:pPr>
            <a:r>
              <a:rPr sz="1500">
                <a:solidFill>
                  <a:srgbClr val="14161B"/>
                </a:solidFill>
                <a:latin typeface="Encode Sans SemiBold"/>
              </a:rPr>
              <a:t>usuário</a:t>
            </a:r>
          </a:p>
        </p:txBody>
      </p:sp>
      <p:sp>
        <p:nvSpPr>
          <p:cNvPr id="945" name="TextBox 944"/>
          <p:cNvSpPr txBox="1"/>
          <p:nvPr/>
        </p:nvSpPr>
        <p:spPr>
          <a:xfrm>
            <a:off x="6278033" y="2614178"/>
            <a:ext cx="2091266" cy="1700011"/>
          </a:xfrm>
          <a:prstGeom prst="rect">
            <a:avLst/>
          </a:prstGeom>
          <a:noFill/>
        </p:spPr>
        <p:txBody>
          <a:bodyPr wrap="square" lIns="0" tIns="0" rIns="0" bIns="0" anchor="t">
            <a:spAutoFit/>
          </a:bodyPr>
          <a:lstStyle/>
          <a:p>
            <a:pPr marL="182880" indent="-182880" algn="l">
              <a:lnSpc>
                <a:spcPct val="115000"/>
              </a:lnSpc>
              <a:spcAft>
                <a:spcPts val="500"/>
              </a:spcAft>
              <a:buClr>
                <a:srgbClr val="2FB36B"/>
              </a:buClr>
              <a:buSzPts val="700"/>
              <a:buFont typeface="Arial"/>
              <a:buChar char="●"/>
            </a:pPr>
            <a:r>
              <a:rPr sz="1000">
                <a:solidFill>
                  <a:srgbClr val="5B6070"/>
                </a:solidFill>
                <a:latin typeface="Roboto"/>
              </a:rPr>
              <a:t>Guardrails protegem usuário + empresa</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Evitam ação perigosa e comportamento inesperado</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Reduzem risco operacional, financeiro e de segurança</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Prompt não pode ser a última barreira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0"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931"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932" name="TextBox 931"/>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guardrails do produto atual</a:t>
            </a:r>
          </a:p>
        </p:txBody>
      </p:sp>
      <p:sp>
        <p:nvSpPr>
          <p:cNvPr id="933" name="Rounded Rectangle 932"/>
          <p:cNvSpPr/>
          <p:nvPr/>
        </p:nvSpPr>
        <p:spPr>
          <a:xfrm>
            <a:off x="571500" y="147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4" name="Rectangle 933"/>
          <p:cNvSpPr/>
          <p:nvPr/>
        </p:nvSpPr>
        <p:spPr>
          <a:xfrm>
            <a:off x="571500" y="1473200"/>
            <a:ext cx="50800" cy="558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5" name="Rounded Rectangle 934"/>
          <p:cNvSpPr/>
          <p:nvPr/>
        </p:nvSpPr>
        <p:spPr>
          <a:xfrm>
            <a:off x="774700" y="1600200"/>
            <a:ext cx="482600" cy="304800"/>
          </a:xfrm>
          <a:prstGeom prst="roundRect">
            <a:avLst>
              <a:gd name="adj" fmla="val 22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6" name="TextBox 935"/>
          <p:cNvSpPr txBox="1"/>
          <p:nvPr/>
        </p:nvSpPr>
        <p:spPr>
          <a:xfrm>
            <a:off x="774700" y="160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01</a:t>
            </a:r>
          </a:p>
        </p:txBody>
      </p:sp>
      <p:sp>
        <p:nvSpPr>
          <p:cNvPr id="937" name="TextBox 936"/>
          <p:cNvSpPr txBox="1"/>
          <p:nvPr/>
        </p:nvSpPr>
        <p:spPr>
          <a:xfrm>
            <a:off x="1422400" y="147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tool_choice forçado</a:t>
            </a:r>
          </a:p>
        </p:txBody>
      </p:sp>
      <p:sp>
        <p:nvSpPr>
          <p:cNvPr id="938" name="TextBox 937"/>
          <p:cNvSpPr txBox="1"/>
          <p:nvPr/>
        </p:nvSpPr>
        <p:spPr>
          <a:xfrm>
            <a:off x="4267200" y="147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agent.js — a saída crítica não tem outro caminho possível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2"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933"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934" name="TextBox 933"/>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guardrails do produto atual</a:t>
            </a:r>
          </a:p>
        </p:txBody>
      </p:sp>
      <p:sp>
        <p:nvSpPr>
          <p:cNvPr id="935" name="Rounded Rectangle 934"/>
          <p:cNvSpPr/>
          <p:nvPr/>
        </p:nvSpPr>
        <p:spPr>
          <a:xfrm>
            <a:off x="571500" y="147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6" name="Rectangle 935"/>
          <p:cNvSpPr/>
          <p:nvPr/>
        </p:nvSpPr>
        <p:spPr>
          <a:xfrm>
            <a:off x="571500" y="1473200"/>
            <a:ext cx="50800" cy="558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7" name="Rounded Rectangle 936"/>
          <p:cNvSpPr/>
          <p:nvPr/>
        </p:nvSpPr>
        <p:spPr>
          <a:xfrm>
            <a:off x="774700" y="1600200"/>
            <a:ext cx="482600" cy="304800"/>
          </a:xfrm>
          <a:prstGeom prst="roundRect">
            <a:avLst>
              <a:gd name="adj" fmla="val 22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8" name="TextBox 937"/>
          <p:cNvSpPr txBox="1"/>
          <p:nvPr/>
        </p:nvSpPr>
        <p:spPr>
          <a:xfrm>
            <a:off x="774700" y="160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01</a:t>
            </a:r>
          </a:p>
        </p:txBody>
      </p:sp>
      <p:sp>
        <p:nvSpPr>
          <p:cNvPr id="939" name="TextBox 938"/>
          <p:cNvSpPr txBox="1"/>
          <p:nvPr/>
        </p:nvSpPr>
        <p:spPr>
          <a:xfrm>
            <a:off x="1422400" y="147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tool_choice forçado</a:t>
            </a:r>
          </a:p>
        </p:txBody>
      </p:sp>
      <p:sp>
        <p:nvSpPr>
          <p:cNvPr id="940" name="TextBox 939"/>
          <p:cNvSpPr txBox="1"/>
          <p:nvPr/>
        </p:nvSpPr>
        <p:spPr>
          <a:xfrm>
            <a:off x="4267200" y="147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agent.js — a saída crítica não tem outro caminho possível</a:t>
            </a:r>
          </a:p>
        </p:txBody>
      </p:sp>
      <p:sp>
        <p:nvSpPr>
          <p:cNvPr id="941" name="Rounded Rectangle 940"/>
          <p:cNvSpPr/>
          <p:nvPr/>
        </p:nvSpPr>
        <p:spPr>
          <a:xfrm>
            <a:off x="571500" y="2108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2" name="Rectangle 941"/>
          <p:cNvSpPr/>
          <p:nvPr/>
        </p:nvSpPr>
        <p:spPr>
          <a:xfrm>
            <a:off x="571500" y="2108200"/>
            <a:ext cx="50800" cy="558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3" name="Rounded Rectangle 942"/>
          <p:cNvSpPr/>
          <p:nvPr/>
        </p:nvSpPr>
        <p:spPr>
          <a:xfrm>
            <a:off x="774700" y="2235200"/>
            <a:ext cx="482600" cy="304800"/>
          </a:xfrm>
          <a:prstGeom prst="roundRect">
            <a:avLst>
              <a:gd name="adj" fmla="val 22000"/>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4" name="TextBox 943"/>
          <p:cNvSpPr txBox="1"/>
          <p:nvPr/>
        </p:nvSpPr>
        <p:spPr>
          <a:xfrm>
            <a:off x="774700" y="2235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02</a:t>
            </a:r>
          </a:p>
        </p:txBody>
      </p:sp>
      <p:sp>
        <p:nvSpPr>
          <p:cNvPr id="945" name="TextBox 944"/>
          <p:cNvSpPr txBox="1"/>
          <p:nvPr/>
        </p:nvSpPr>
        <p:spPr>
          <a:xfrm>
            <a:off x="1422400" y="2108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Validação de domínio</a:t>
            </a:r>
          </a:p>
        </p:txBody>
      </p:sp>
      <p:sp>
        <p:nvSpPr>
          <p:cNvPr id="946" name="TextBox 945"/>
          <p:cNvSpPr txBox="1"/>
          <p:nvPr/>
        </p:nvSpPr>
        <p:spPr>
          <a:xfrm>
            <a:off x="4267200" y="2108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sefaz.js — só URL .gov.br com chave de 44 dígitos passa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4"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935"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936" name="TextBox 935"/>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guardrails do produto atual</a:t>
            </a:r>
          </a:p>
        </p:txBody>
      </p:sp>
      <p:sp>
        <p:nvSpPr>
          <p:cNvPr id="937" name="Rounded Rectangle 936"/>
          <p:cNvSpPr/>
          <p:nvPr/>
        </p:nvSpPr>
        <p:spPr>
          <a:xfrm>
            <a:off x="571500" y="147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8" name="Rectangle 937"/>
          <p:cNvSpPr/>
          <p:nvPr/>
        </p:nvSpPr>
        <p:spPr>
          <a:xfrm>
            <a:off x="571500" y="1473200"/>
            <a:ext cx="50800" cy="558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9" name="Rounded Rectangle 938"/>
          <p:cNvSpPr/>
          <p:nvPr/>
        </p:nvSpPr>
        <p:spPr>
          <a:xfrm>
            <a:off x="774700" y="1600200"/>
            <a:ext cx="482600" cy="304800"/>
          </a:xfrm>
          <a:prstGeom prst="roundRect">
            <a:avLst>
              <a:gd name="adj" fmla="val 22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0" name="TextBox 939"/>
          <p:cNvSpPr txBox="1"/>
          <p:nvPr/>
        </p:nvSpPr>
        <p:spPr>
          <a:xfrm>
            <a:off x="774700" y="160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01</a:t>
            </a:r>
          </a:p>
        </p:txBody>
      </p:sp>
      <p:sp>
        <p:nvSpPr>
          <p:cNvPr id="941" name="TextBox 940"/>
          <p:cNvSpPr txBox="1"/>
          <p:nvPr/>
        </p:nvSpPr>
        <p:spPr>
          <a:xfrm>
            <a:off x="1422400" y="147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tool_choice forçado</a:t>
            </a:r>
          </a:p>
        </p:txBody>
      </p:sp>
      <p:sp>
        <p:nvSpPr>
          <p:cNvPr id="942" name="TextBox 941"/>
          <p:cNvSpPr txBox="1"/>
          <p:nvPr/>
        </p:nvSpPr>
        <p:spPr>
          <a:xfrm>
            <a:off x="4267200" y="147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agent.js — a saída crítica não tem outro caminho possível</a:t>
            </a:r>
          </a:p>
        </p:txBody>
      </p:sp>
      <p:sp>
        <p:nvSpPr>
          <p:cNvPr id="943" name="Rounded Rectangle 942"/>
          <p:cNvSpPr/>
          <p:nvPr/>
        </p:nvSpPr>
        <p:spPr>
          <a:xfrm>
            <a:off x="571500" y="2108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4" name="Rectangle 943"/>
          <p:cNvSpPr/>
          <p:nvPr/>
        </p:nvSpPr>
        <p:spPr>
          <a:xfrm>
            <a:off x="571500" y="2108200"/>
            <a:ext cx="50800" cy="558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5" name="Rounded Rectangle 944"/>
          <p:cNvSpPr/>
          <p:nvPr/>
        </p:nvSpPr>
        <p:spPr>
          <a:xfrm>
            <a:off x="774700" y="2235200"/>
            <a:ext cx="482600" cy="304800"/>
          </a:xfrm>
          <a:prstGeom prst="roundRect">
            <a:avLst>
              <a:gd name="adj" fmla="val 22000"/>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6" name="TextBox 945"/>
          <p:cNvSpPr txBox="1"/>
          <p:nvPr/>
        </p:nvSpPr>
        <p:spPr>
          <a:xfrm>
            <a:off x="774700" y="2235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02</a:t>
            </a:r>
          </a:p>
        </p:txBody>
      </p:sp>
      <p:sp>
        <p:nvSpPr>
          <p:cNvPr id="947" name="TextBox 946"/>
          <p:cNvSpPr txBox="1"/>
          <p:nvPr/>
        </p:nvSpPr>
        <p:spPr>
          <a:xfrm>
            <a:off x="1422400" y="2108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Validação de domínio</a:t>
            </a:r>
          </a:p>
        </p:txBody>
      </p:sp>
      <p:sp>
        <p:nvSpPr>
          <p:cNvPr id="948" name="TextBox 947"/>
          <p:cNvSpPr txBox="1"/>
          <p:nvPr/>
        </p:nvSpPr>
        <p:spPr>
          <a:xfrm>
            <a:off x="4267200" y="2108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sefaz.js — só URL .gov.br com chave de 44 dígitos passa</a:t>
            </a:r>
          </a:p>
        </p:txBody>
      </p:sp>
      <p:sp>
        <p:nvSpPr>
          <p:cNvPr id="949" name="Rounded Rectangle 948"/>
          <p:cNvSpPr/>
          <p:nvPr/>
        </p:nvSpPr>
        <p:spPr>
          <a:xfrm>
            <a:off x="571500" y="274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0" name="Rectangle 949"/>
          <p:cNvSpPr/>
          <p:nvPr/>
        </p:nvSpPr>
        <p:spPr>
          <a:xfrm>
            <a:off x="571500" y="2743200"/>
            <a:ext cx="50800" cy="558800"/>
          </a:xfrm>
          <a:prstGeom prst="rect">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1" name="Rounded Rectangle 950"/>
          <p:cNvSpPr/>
          <p:nvPr/>
        </p:nvSpPr>
        <p:spPr>
          <a:xfrm>
            <a:off x="774700" y="2870200"/>
            <a:ext cx="482600" cy="304800"/>
          </a:xfrm>
          <a:prstGeom prst="roundRect">
            <a:avLst>
              <a:gd name="adj" fmla="val 22000"/>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2" name="TextBox 951"/>
          <p:cNvSpPr txBox="1"/>
          <p:nvPr/>
        </p:nvSpPr>
        <p:spPr>
          <a:xfrm>
            <a:off x="774700" y="287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03</a:t>
            </a:r>
          </a:p>
        </p:txBody>
      </p:sp>
      <p:sp>
        <p:nvSpPr>
          <p:cNvPr id="953" name="TextBox 952"/>
          <p:cNvSpPr txBox="1"/>
          <p:nvPr/>
        </p:nvSpPr>
        <p:spPr>
          <a:xfrm>
            <a:off x="1422400" y="274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Perguntar, não estimar</a:t>
            </a:r>
          </a:p>
        </p:txBody>
      </p:sp>
      <p:sp>
        <p:nvSpPr>
          <p:cNvPr id="954" name="TextBox 953"/>
          <p:cNvSpPr txBox="1"/>
          <p:nvPr/>
        </p:nvSpPr>
        <p:spPr>
          <a:xfrm>
            <a:off x="4267200" y="274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intencao-efeitos.js — sem número dito, vira pergunta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6"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937"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938" name="TextBox 937"/>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guardrails do produto atual</a:t>
            </a:r>
          </a:p>
        </p:txBody>
      </p:sp>
      <p:sp>
        <p:nvSpPr>
          <p:cNvPr id="939" name="Rounded Rectangle 938"/>
          <p:cNvSpPr/>
          <p:nvPr/>
        </p:nvSpPr>
        <p:spPr>
          <a:xfrm>
            <a:off x="571500" y="147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0" name="Rectangle 939"/>
          <p:cNvSpPr/>
          <p:nvPr/>
        </p:nvSpPr>
        <p:spPr>
          <a:xfrm>
            <a:off x="571500" y="1473200"/>
            <a:ext cx="50800" cy="558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1" name="Rounded Rectangle 940"/>
          <p:cNvSpPr/>
          <p:nvPr/>
        </p:nvSpPr>
        <p:spPr>
          <a:xfrm>
            <a:off x="774700" y="1600200"/>
            <a:ext cx="482600" cy="304800"/>
          </a:xfrm>
          <a:prstGeom prst="roundRect">
            <a:avLst>
              <a:gd name="adj" fmla="val 22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2" name="TextBox 941"/>
          <p:cNvSpPr txBox="1"/>
          <p:nvPr/>
        </p:nvSpPr>
        <p:spPr>
          <a:xfrm>
            <a:off x="774700" y="160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01</a:t>
            </a:r>
          </a:p>
        </p:txBody>
      </p:sp>
      <p:sp>
        <p:nvSpPr>
          <p:cNvPr id="943" name="TextBox 942"/>
          <p:cNvSpPr txBox="1"/>
          <p:nvPr/>
        </p:nvSpPr>
        <p:spPr>
          <a:xfrm>
            <a:off x="1422400" y="147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tool_choice forçado</a:t>
            </a:r>
          </a:p>
        </p:txBody>
      </p:sp>
      <p:sp>
        <p:nvSpPr>
          <p:cNvPr id="944" name="TextBox 943"/>
          <p:cNvSpPr txBox="1"/>
          <p:nvPr/>
        </p:nvSpPr>
        <p:spPr>
          <a:xfrm>
            <a:off x="4267200" y="147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agent.js — a saída crítica não tem outro caminho possível</a:t>
            </a:r>
          </a:p>
        </p:txBody>
      </p:sp>
      <p:sp>
        <p:nvSpPr>
          <p:cNvPr id="945" name="Rounded Rectangle 944"/>
          <p:cNvSpPr/>
          <p:nvPr/>
        </p:nvSpPr>
        <p:spPr>
          <a:xfrm>
            <a:off x="571500" y="2108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6" name="Rectangle 945"/>
          <p:cNvSpPr/>
          <p:nvPr/>
        </p:nvSpPr>
        <p:spPr>
          <a:xfrm>
            <a:off x="571500" y="2108200"/>
            <a:ext cx="50800" cy="558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7" name="Rounded Rectangle 946"/>
          <p:cNvSpPr/>
          <p:nvPr/>
        </p:nvSpPr>
        <p:spPr>
          <a:xfrm>
            <a:off x="774700" y="2235200"/>
            <a:ext cx="482600" cy="304800"/>
          </a:xfrm>
          <a:prstGeom prst="roundRect">
            <a:avLst>
              <a:gd name="adj" fmla="val 22000"/>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8" name="TextBox 947"/>
          <p:cNvSpPr txBox="1"/>
          <p:nvPr/>
        </p:nvSpPr>
        <p:spPr>
          <a:xfrm>
            <a:off x="774700" y="2235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02</a:t>
            </a:r>
          </a:p>
        </p:txBody>
      </p:sp>
      <p:sp>
        <p:nvSpPr>
          <p:cNvPr id="949" name="TextBox 948"/>
          <p:cNvSpPr txBox="1"/>
          <p:nvPr/>
        </p:nvSpPr>
        <p:spPr>
          <a:xfrm>
            <a:off x="1422400" y="2108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Validação de domínio</a:t>
            </a:r>
          </a:p>
        </p:txBody>
      </p:sp>
      <p:sp>
        <p:nvSpPr>
          <p:cNvPr id="950" name="TextBox 949"/>
          <p:cNvSpPr txBox="1"/>
          <p:nvPr/>
        </p:nvSpPr>
        <p:spPr>
          <a:xfrm>
            <a:off x="4267200" y="2108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sefaz.js — só URL .gov.br com chave de 44 dígitos passa</a:t>
            </a:r>
          </a:p>
        </p:txBody>
      </p:sp>
      <p:sp>
        <p:nvSpPr>
          <p:cNvPr id="951" name="Rounded Rectangle 950"/>
          <p:cNvSpPr/>
          <p:nvPr/>
        </p:nvSpPr>
        <p:spPr>
          <a:xfrm>
            <a:off x="571500" y="274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2" name="Rectangle 951"/>
          <p:cNvSpPr/>
          <p:nvPr/>
        </p:nvSpPr>
        <p:spPr>
          <a:xfrm>
            <a:off x="571500" y="2743200"/>
            <a:ext cx="50800" cy="558800"/>
          </a:xfrm>
          <a:prstGeom prst="rect">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3" name="Rounded Rectangle 952"/>
          <p:cNvSpPr/>
          <p:nvPr/>
        </p:nvSpPr>
        <p:spPr>
          <a:xfrm>
            <a:off x="774700" y="2870200"/>
            <a:ext cx="482600" cy="304800"/>
          </a:xfrm>
          <a:prstGeom prst="roundRect">
            <a:avLst>
              <a:gd name="adj" fmla="val 22000"/>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4" name="TextBox 953"/>
          <p:cNvSpPr txBox="1"/>
          <p:nvPr/>
        </p:nvSpPr>
        <p:spPr>
          <a:xfrm>
            <a:off x="774700" y="287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03</a:t>
            </a:r>
          </a:p>
        </p:txBody>
      </p:sp>
      <p:sp>
        <p:nvSpPr>
          <p:cNvPr id="955" name="TextBox 954"/>
          <p:cNvSpPr txBox="1"/>
          <p:nvPr/>
        </p:nvSpPr>
        <p:spPr>
          <a:xfrm>
            <a:off x="1422400" y="274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Perguntar, não estimar</a:t>
            </a:r>
          </a:p>
        </p:txBody>
      </p:sp>
      <p:sp>
        <p:nvSpPr>
          <p:cNvPr id="956" name="TextBox 955"/>
          <p:cNvSpPr txBox="1"/>
          <p:nvPr/>
        </p:nvSpPr>
        <p:spPr>
          <a:xfrm>
            <a:off x="4267200" y="274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intencao-efeitos.js — sem número dito, vira pergunta</a:t>
            </a:r>
          </a:p>
        </p:txBody>
      </p:sp>
      <p:sp>
        <p:nvSpPr>
          <p:cNvPr id="957" name="Rounded Rectangle 956"/>
          <p:cNvSpPr/>
          <p:nvPr/>
        </p:nvSpPr>
        <p:spPr>
          <a:xfrm>
            <a:off x="571500" y="3378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8" name="Rectangle 957"/>
          <p:cNvSpPr/>
          <p:nvPr/>
        </p:nvSpPr>
        <p:spPr>
          <a:xfrm>
            <a:off x="571500" y="3378200"/>
            <a:ext cx="50800" cy="558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9" name="Rounded Rectangle 958"/>
          <p:cNvSpPr/>
          <p:nvPr/>
        </p:nvSpPr>
        <p:spPr>
          <a:xfrm>
            <a:off x="774700" y="3505200"/>
            <a:ext cx="482600" cy="304800"/>
          </a:xfrm>
          <a:prstGeom prst="roundRect">
            <a:avLst>
              <a:gd name="adj" fmla="val 22000"/>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0" name="TextBox 959"/>
          <p:cNvSpPr txBox="1"/>
          <p:nvPr/>
        </p:nvSpPr>
        <p:spPr>
          <a:xfrm>
            <a:off x="774700" y="3505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04</a:t>
            </a:r>
          </a:p>
        </p:txBody>
      </p:sp>
      <p:sp>
        <p:nvSpPr>
          <p:cNvPr id="961" name="TextBox 960"/>
          <p:cNvSpPr txBox="1"/>
          <p:nvPr/>
        </p:nvSpPr>
        <p:spPr>
          <a:xfrm>
            <a:off x="1422400" y="3378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Guarda-corpo de URL</a:t>
            </a:r>
          </a:p>
        </p:txBody>
      </p:sp>
      <p:sp>
        <p:nvSpPr>
          <p:cNvPr id="962" name="TextBox 961"/>
          <p:cNvSpPr txBox="1"/>
          <p:nvPr/>
        </p:nvSpPr>
        <p:spPr>
          <a:xfrm>
            <a:off x="4267200" y="3378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receita-premium.js — conferida contra o feed real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8"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939"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940" name="TextBox 939"/>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guardrails do produto atual</a:t>
            </a:r>
          </a:p>
        </p:txBody>
      </p:sp>
      <p:sp>
        <p:nvSpPr>
          <p:cNvPr id="941" name="Rounded Rectangle 940"/>
          <p:cNvSpPr/>
          <p:nvPr/>
        </p:nvSpPr>
        <p:spPr>
          <a:xfrm>
            <a:off x="571500" y="147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2" name="Rectangle 941"/>
          <p:cNvSpPr/>
          <p:nvPr/>
        </p:nvSpPr>
        <p:spPr>
          <a:xfrm>
            <a:off x="571500" y="1473200"/>
            <a:ext cx="50800" cy="558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3" name="Rounded Rectangle 942"/>
          <p:cNvSpPr/>
          <p:nvPr/>
        </p:nvSpPr>
        <p:spPr>
          <a:xfrm>
            <a:off x="774700" y="1600200"/>
            <a:ext cx="482600" cy="304800"/>
          </a:xfrm>
          <a:prstGeom prst="roundRect">
            <a:avLst>
              <a:gd name="adj" fmla="val 22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4" name="TextBox 943"/>
          <p:cNvSpPr txBox="1"/>
          <p:nvPr/>
        </p:nvSpPr>
        <p:spPr>
          <a:xfrm>
            <a:off x="774700" y="160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01</a:t>
            </a:r>
          </a:p>
        </p:txBody>
      </p:sp>
      <p:sp>
        <p:nvSpPr>
          <p:cNvPr id="945" name="TextBox 944"/>
          <p:cNvSpPr txBox="1"/>
          <p:nvPr/>
        </p:nvSpPr>
        <p:spPr>
          <a:xfrm>
            <a:off x="1422400" y="147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tool_choice forçado</a:t>
            </a:r>
          </a:p>
        </p:txBody>
      </p:sp>
      <p:sp>
        <p:nvSpPr>
          <p:cNvPr id="946" name="TextBox 945"/>
          <p:cNvSpPr txBox="1"/>
          <p:nvPr/>
        </p:nvSpPr>
        <p:spPr>
          <a:xfrm>
            <a:off x="4267200" y="147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agent.js — a saída crítica não tem outro caminho possível</a:t>
            </a:r>
          </a:p>
        </p:txBody>
      </p:sp>
      <p:sp>
        <p:nvSpPr>
          <p:cNvPr id="947" name="Rounded Rectangle 946"/>
          <p:cNvSpPr/>
          <p:nvPr/>
        </p:nvSpPr>
        <p:spPr>
          <a:xfrm>
            <a:off x="571500" y="2108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8" name="Rectangle 947"/>
          <p:cNvSpPr/>
          <p:nvPr/>
        </p:nvSpPr>
        <p:spPr>
          <a:xfrm>
            <a:off x="571500" y="2108200"/>
            <a:ext cx="50800" cy="558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9" name="Rounded Rectangle 948"/>
          <p:cNvSpPr/>
          <p:nvPr/>
        </p:nvSpPr>
        <p:spPr>
          <a:xfrm>
            <a:off x="774700" y="2235200"/>
            <a:ext cx="482600" cy="304800"/>
          </a:xfrm>
          <a:prstGeom prst="roundRect">
            <a:avLst>
              <a:gd name="adj" fmla="val 22000"/>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0" name="TextBox 949"/>
          <p:cNvSpPr txBox="1"/>
          <p:nvPr/>
        </p:nvSpPr>
        <p:spPr>
          <a:xfrm>
            <a:off x="774700" y="2235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02</a:t>
            </a:r>
          </a:p>
        </p:txBody>
      </p:sp>
      <p:sp>
        <p:nvSpPr>
          <p:cNvPr id="951" name="TextBox 950"/>
          <p:cNvSpPr txBox="1"/>
          <p:nvPr/>
        </p:nvSpPr>
        <p:spPr>
          <a:xfrm>
            <a:off x="1422400" y="2108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Validação de domínio</a:t>
            </a:r>
          </a:p>
        </p:txBody>
      </p:sp>
      <p:sp>
        <p:nvSpPr>
          <p:cNvPr id="952" name="TextBox 951"/>
          <p:cNvSpPr txBox="1"/>
          <p:nvPr/>
        </p:nvSpPr>
        <p:spPr>
          <a:xfrm>
            <a:off x="4267200" y="2108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sefaz.js — só URL .gov.br com chave de 44 dígitos passa</a:t>
            </a:r>
          </a:p>
        </p:txBody>
      </p:sp>
      <p:sp>
        <p:nvSpPr>
          <p:cNvPr id="953" name="Rounded Rectangle 952"/>
          <p:cNvSpPr/>
          <p:nvPr/>
        </p:nvSpPr>
        <p:spPr>
          <a:xfrm>
            <a:off x="571500" y="274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4" name="Rectangle 953"/>
          <p:cNvSpPr/>
          <p:nvPr/>
        </p:nvSpPr>
        <p:spPr>
          <a:xfrm>
            <a:off x="571500" y="2743200"/>
            <a:ext cx="50800" cy="558800"/>
          </a:xfrm>
          <a:prstGeom prst="rect">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5" name="Rounded Rectangle 954"/>
          <p:cNvSpPr/>
          <p:nvPr/>
        </p:nvSpPr>
        <p:spPr>
          <a:xfrm>
            <a:off x="774700" y="2870200"/>
            <a:ext cx="482600" cy="304800"/>
          </a:xfrm>
          <a:prstGeom prst="roundRect">
            <a:avLst>
              <a:gd name="adj" fmla="val 22000"/>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6" name="TextBox 955"/>
          <p:cNvSpPr txBox="1"/>
          <p:nvPr/>
        </p:nvSpPr>
        <p:spPr>
          <a:xfrm>
            <a:off x="774700" y="287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03</a:t>
            </a:r>
          </a:p>
        </p:txBody>
      </p:sp>
      <p:sp>
        <p:nvSpPr>
          <p:cNvPr id="957" name="TextBox 956"/>
          <p:cNvSpPr txBox="1"/>
          <p:nvPr/>
        </p:nvSpPr>
        <p:spPr>
          <a:xfrm>
            <a:off x="1422400" y="274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Perguntar, não estimar</a:t>
            </a:r>
          </a:p>
        </p:txBody>
      </p:sp>
      <p:sp>
        <p:nvSpPr>
          <p:cNvPr id="958" name="TextBox 957"/>
          <p:cNvSpPr txBox="1"/>
          <p:nvPr/>
        </p:nvSpPr>
        <p:spPr>
          <a:xfrm>
            <a:off x="4267200" y="274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intencao-efeitos.js — sem número dito, vira pergunta</a:t>
            </a:r>
          </a:p>
        </p:txBody>
      </p:sp>
      <p:sp>
        <p:nvSpPr>
          <p:cNvPr id="959" name="Rounded Rectangle 958"/>
          <p:cNvSpPr/>
          <p:nvPr/>
        </p:nvSpPr>
        <p:spPr>
          <a:xfrm>
            <a:off x="571500" y="3378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0" name="Rectangle 959"/>
          <p:cNvSpPr/>
          <p:nvPr/>
        </p:nvSpPr>
        <p:spPr>
          <a:xfrm>
            <a:off x="571500" y="3378200"/>
            <a:ext cx="50800" cy="558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1" name="Rounded Rectangle 960"/>
          <p:cNvSpPr/>
          <p:nvPr/>
        </p:nvSpPr>
        <p:spPr>
          <a:xfrm>
            <a:off x="774700" y="3505200"/>
            <a:ext cx="482600" cy="304800"/>
          </a:xfrm>
          <a:prstGeom prst="roundRect">
            <a:avLst>
              <a:gd name="adj" fmla="val 22000"/>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2" name="TextBox 961"/>
          <p:cNvSpPr txBox="1"/>
          <p:nvPr/>
        </p:nvSpPr>
        <p:spPr>
          <a:xfrm>
            <a:off x="774700" y="3505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04</a:t>
            </a:r>
          </a:p>
        </p:txBody>
      </p:sp>
      <p:sp>
        <p:nvSpPr>
          <p:cNvPr id="963" name="TextBox 962"/>
          <p:cNvSpPr txBox="1"/>
          <p:nvPr/>
        </p:nvSpPr>
        <p:spPr>
          <a:xfrm>
            <a:off x="1422400" y="3378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Guarda-corpo de URL</a:t>
            </a:r>
          </a:p>
        </p:txBody>
      </p:sp>
      <p:sp>
        <p:nvSpPr>
          <p:cNvPr id="964" name="TextBox 963"/>
          <p:cNvSpPr txBox="1"/>
          <p:nvPr/>
        </p:nvSpPr>
        <p:spPr>
          <a:xfrm>
            <a:off x="4267200" y="3378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receita-premium.js — conferida contra o feed real</a:t>
            </a:r>
          </a:p>
        </p:txBody>
      </p:sp>
      <p:sp>
        <p:nvSpPr>
          <p:cNvPr id="965" name="Rounded Rectangle 964"/>
          <p:cNvSpPr/>
          <p:nvPr/>
        </p:nvSpPr>
        <p:spPr>
          <a:xfrm>
            <a:off x="571500" y="4013200"/>
            <a:ext cx="8001000" cy="558800"/>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6" name="Rectangle 965"/>
          <p:cNvSpPr/>
          <p:nvPr/>
        </p:nvSpPr>
        <p:spPr>
          <a:xfrm>
            <a:off x="571500" y="4013200"/>
            <a:ext cx="50800" cy="5588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7" name="Rounded Rectangle 966"/>
          <p:cNvSpPr/>
          <p:nvPr/>
        </p:nvSpPr>
        <p:spPr>
          <a:xfrm>
            <a:off x="774700" y="4140200"/>
            <a:ext cx="482600" cy="304800"/>
          </a:xfrm>
          <a:prstGeom prst="roundRect">
            <a:avLst>
              <a:gd name="adj" fmla="val 22000"/>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8" name="TextBox 967"/>
          <p:cNvSpPr txBox="1"/>
          <p:nvPr/>
        </p:nvSpPr>
        <p:spPr>
          <a:xfrm>
            <a:off x="774700" y="414020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05</a:t>
            </a:r>
          </a:p>
        </p:txBody>
      </p:sp>
      <p:sp>
        <p:nvSpPr>
          <p:cNvPr id="969" name="TextBox 968"/>
          <p:cNvSpPr txBox="1"/>
          <p:nvPr/>
        </p:nvSpPr>
        <p:spPr>
          <a:xfrm>
            <a:off x="1422400" y="4013200"/>
            <a:ext cx="2641600" cy="558800"/>
          </a:xfrm>
          <a:prstGeom prst="rect">
            <a:avLst/>
          </a:prstGeom>
          <a:noFill/>
        </p:spPr>
        <p:txBody>
          <a:bodyPr wrap="square" lIns="0" tIns="0" rIns="0" bIns="0" anchor="ctr">
            <a:spAutoFit/>
          </a:bodyPr>
          <a:lstStyle/>
          <a:p>
            <a:pPr algn="l">
              <a:lnSpc>
                <a:spcPct val="115000"/>
              </a:lnSpc>
            </a:pPr>
            <a:r>
              <a:rPr sz="1400">
                <a:solidFill>
                  <a:srgbClr val="FFFFFF"/>
                </a:solidFill>
                <a:latin typeface="Encode Sans SemiBold"/>
              </a:rPr>
              <a:t>Basic Auth limita custo</a:t>
            </a:r>
          </a:p>
        </p:txBody>
      </p:sp>
      <p:sp>
        <p:nvSpPr>
          <p:cNvPr id="970" name="TextBox 969"/>
          <p:cNvSpPr txBox="1"/>
          <p:nvPr/>
        </p:nvSpPr>
        <p:spPr>
          <a:xfrm>
            <a:off x="4267200" y="4013200"/>
            <a:ext cx="4064000" cy="558800"/>
          </a:xfrm>
          <a:prstGeom prst="rect">
            <a:avLst/>
          </a:prstGeom>
          <a:noFill/>
        </p:spPr>
        <p:txBody>
          <a:bodyPr wrap="square" lIns="0" tIns="0" rIns="0" bIns="0" anchor="ctr">
            <a:spAutoFit/>
          </a:bodyPr>
          <a:lstStyle/>
          <a:p>
            <a:pPr algn="l">
              <a:lnSpc>
                <a:spcPct val="125000"/>
              </a:lnSpc>
            </a:pPr>
            <a:r>
              <a:rPr sz="1050">
                <a:solidFill>
                  <a:srgbClr val="A8ADBD"/>
                </a:solidFill>
                <a:latin typeface="Roboto"/>
              </a:rPr>
              <a:t>server.js — sem credencial, ninguém gasta a chave paga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41"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942"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943"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944"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45"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946"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947" name="TextBox 946"/>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4000">
                <a:solidFill>
                  <a:srgbClr val="BDBFC7"/>
                </a:solidFill>
                <a:latin typeface="Encode Sans"/>
              </a:rPr>
              <a:t>Nenhum confia</a:t>
            </a:r>
          </a:p>
          <a:p>
            <a:pPr algn="ctr">
              <a:lnSpc>
                <a:spcPct val="112000"/>
              </a:lnSpc>
            </a:pPr>
            <a:r>
              <a:rPr sz="4000">
                <a:solidFill>
                  <a:srgbClr val="BDBFC7"/>
                </a:solidFill>
                <a:latin typeface="Encode Sans"/>
              </a:rPr>
              <a:t>em "pedir"</a:t>
            </a:r>
          </a:p>
          <a:p>
            <a:pPr algn="ctr">
              <a:lnSpc>
                <a:spcPct val="112000"/>
              </a:lnSpc>
            </a:pPr>
            <a:r>
              <a:rPr sz="4000">
                <a:solidFill>
                  <a:srgbClr val="BDBFC7"/>
                </a:solidFill>
                <a:latin typeface="Encode Sans"/>
              </a:rPr>
              <a:t>quando a saída</a:t>
            </a:r>
          </a:p>
          <a:p>
            <a:pPr algn="ctr">
              <a:lnSpc>
                <a:spcPct val="112000"/>
              </a:lnSpc>
            </a:pPr>
            <a:r>
              <a:rPr sz="4000">
                <a:solidFill>
                  <a:srgbClr val="BDBFC7"/>
                </a:solidFill>
                <a:latin typeface="Encode Sans"/>
              </a:rPr>
              <a:t>importa.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48"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49"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50"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51"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52" name="TextBox 951"/>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freio e o motorista</a:t>
            </a:r>
          </a:p>
        </p:txBody>
      </p:sp>
      <p:sp>
        <p:nvSpPr>
          <p:cNvPr id="953" name="TextBox 952"/>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Guardrail não é desconfiança do modelo</a:t>
            </a:r>
          </a:p>
        </p:txBody>
      </p:sp>
      <p:sp>
        <p:nvSpPr>
          <p:cNvPr id="954" name="Rounded Rectangle 953"/>
          <p:cNvSpPr/>
          <p:nvPr/>
        </p:nvSpPr>
        <p:spPr>
          <a:xfrm>
            <a:off x="571500" y="1680974"/>
            <a:ext cx="3784600" cy="2924550"/>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5" name="Rectangle 954"/>
          <p:cNvSpPr/>
          <p:nvPr/>
        </p:nvSpPr>
        <p:spPr>
          <a:xfrm>
            <a:off x="571500" y="1680974"/>
            <a:ext cx="3784600" cy="3810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6" name="TextBox 955"/>
          <p:cNvSpPr txBox="1"/>
          <p:nvPr/>
        </p:nvSpPr>
        <p:spPr>
          <a:xfrm>
            <a:off x="571500" y="1680974"/>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O guardrail é o freio</a:t>
            </a:r>
          </a:p>
        </p:txBody>
      </p:sp>
      <p:sp>
        <p:nvSpPr>
          <p:cNvPr id="957" name="TextBox 956"/>
          <p:cNvSpPr txBox="1"/>
          <p:nvPr/>
        </p:nvSpPr>
        <p:spPr>
          <a:xfrm>
            <a:off x="774700" y="2265174"/>
            <a:ext cx="3378200" cy="259339"/>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Trabalho de garantia</a:t>
            </a:r>
          </a:p>
        </p:txBody>
      </p:sp>
      <p:sp>
        <p:nvSpPr>
          <p:cNvPr id="958" name="TextBox 957"/>
          <p:cNvSpPr txBox="1"/>
          <p:nvPr/>
        </p:nvSpPr>
        <p:spPr>
          <a:xfrm>
            <a:off x="774700" y="2676913"/>
            <a:ext cx="3378200" cy="1750811"/>
          </a:xfrm>
          <a:prstGeom prst="rect">
            <a:avLst/>
          </a:prstGeom>
          <a:noFill/>
        </p:spPr>
        <p:txBody>
          <a:bodyPr wrap="square" lIns="0" tIns="0" rIns="0" bIns="0" anchor="t">
            <a:spAutoFit/>
          </a:bodyPr>
          <a:lstStyle/>
          <a:p>
            <a:pPr marL="182880" indent="-182880" algn="l">
              <a:lnSpc>
                <a:spcPct val="115000"/>
              </a:lnSpc>
              <a:spcAft>
                <a:spcPts val="600"/>
              </a:spcAft>
              <a:buClr>
                <a:srgbClr val="052FD3"/>
              </a:buClr>
              <a:buSzPts val="700"/>
              <a:buFont typeface="Arial"/>
              <a:buChar char="●"/>
            </a:pPr>
            <a:r>
              <a:rPr sz="1000">
                <a:solidFill>
                  <a:srgbClr val="5B6070"/>
                </a:solidFill>
                <a:latin typeface="Roboto"/>
              </a:rPr>
              <a:t>Formato de saída, limite de gasto, dado validado</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Propriedades que o produto precisa ter 100% das vezes</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Eu não peço educadamente pro freio funcionar — eu construo</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Vale mesmo no caso raro e na versão nova do modelo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53"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54"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55"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56"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57" name="TextBox 956"/>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freio e o motorista</a:t>
            </a:r>
          </a:p>
        </p:txBody>
      </p:sp>
      <p:sp>
        <p:nvSpPr>
          <p:cNvPr id="958" name="TextBox 957"/>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Guardrail não é desconfiança do modelo</a:t>
            </a:r>
          </a:p>
        </p:txBody>
      </p:sp>
      <p:sp>
        <p:nvSpPr>
          <p:cNvPr id="959" name="Rounded Rectangle 958"/>
          <p:cNvSpPr/>
          <p:nvPr/>
        </p:nvSpPr>
        <p:spPr>
          <a:xfrm>
            <a:off x="571500" y="1680974"/>
            <a:ext cx="3784600" cy="2924550"/>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0" name="Rectangle 959"/>
          <p:cNvSpPr/>
          <p:nvPr/>
        </p:nvSpPr>
        <p:spPr>
          <a:xfrm>
            <a:off x="571500" y="1680974"/>
            <a:ext cx="3784600" cy="3810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1" name="TextBox 960"/>
          <p:cNvSpPr txBox="1"/>
          <p:nvPr/>
        </p:nvSpPr>
        <p:spPr>
          <a:xfrm>
            <a:off x="571500" y="1680974"/>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O guardrail é o freio</a:t>
            </a:r>
          </a:p>
        </p:txBody>
      </p:sp>
      <p:sp>
        <p:nvSpPr>
          <p:cNvPr id="962" name="TextBox 961"/>
          <p:cNvSpPr txBox="1"/>
          <p:nvPr/>
        </p:nvSpPr>
        <p:spPr>
          <a:xfrm>
            <a:off x="774700" y="2265174"/>
            <a:ext cx="3378200" cy="259339"/>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Trabalho de garantia</a:t>
            </a:r>
          </a:p>
        </p:txBody>
      </p:sp>
      <p:sp>
        <p:nvSpPr>
          <p:cNvPr id="963" name="TextBox 962"/>
          <p:cNvSpPr txBox="1"/>
          <p:nvPr/>
        </p:nvSpPr>
        <p:spPr>
          <a:xfrm>
            <a:off x="774700" y="2676913"/>
            <a:ext cx="3378200" cy="1750811"/>
          </a:xfrm>
          <a:prstGeom prst="rect">
            <a:avLst/>
          </a:prstGeom>
          <a:noFill/>
        </p:spPr>
        <p:txBody>
          <a:bodyPr wrap="square" lIns="0" tIns="0" rIns="0" bIns="0" anchor="t">
            <a:spAutoFit/>
          </a:bodyPr>
          <a:lstStyle/>
          <a:p>
            <a:pPr marL="182880" indent="-182880" algn="l">
              <a:lnSpc>
                <a:spcPct val="115000"/>
              </a:lnSpc>
              <a:spcAft>
                <a:spcPts val="600"/>
              </a:spcAft>
              <a:buClr>
                <a:srgbClr val="052FD3"/>
              </a:buClr>
              <a:buSzPts val="700"/>
              <a:buFont typeface="Arial"/>
              <a:buChar char="●"/>
            </a:pPr>
            <a:r>
              <a:rPr sz="1000">
                <a:solidFill>
                  <a:srgbClr val="5B6070"/>
                </a:solidFill>
                <a:latin typeface="Roboto"/>
              </a:rPr>
              <a:t>Formato de saída, limite de gasto, dado validado</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Propriedades que o produto precisa ter 100% das vezes</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Eu não peço educadamente pro freio funcionar — eu construo</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Vale mesmo no caso raro e na versão nova do modelo</a:t>
            </a:r>
          </a:p>
        </p:txBody>
      </p:sp>
      <p:sp>
        <p:nvSpPr>
          <p:cNvPr id="964" name="Rounded Rectangle 963"/>
          <p:cNvSpPr/>
          <p:nvPr/>
        </p:nvSpPr>
        <p:spPr>
          <a:xfrm>
            <a:off x="4787900" y="1680974"/>
            <a:ext cx="3784600" cy="2924550"/>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5" name="Rectangle 964"/>
          <p:cNvSpPr/>
          <p:nvPr/>
        </p:nvSpPr>
        <p:spPr>
          <a:xfrm>
            <a:off x="4787900" y="1680974"/>
            <a:ext cx="3784600" cy="3810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6" name="TextBox 965"/>
          <p:cNvSpPr txBox="1"/>
          <p:nvPr/>
        </p:nvSpPr>
        <p:spPr>
          <a:xfrm>
            <a:off x="4787900" y="1680974"/>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O modelo é o motorista</a:t>
            </a:r>
          </a:p>
        </p:txBody>
      </p:sp>
      <p:sp>
        <p:nvSpPr>
          <p:cNvPr id="967" name="TextBox 966"/>
          <p:cNvSpPr txBox="1"/>
          <p:nvPr/>
        </p:nvSpPr>
        <p:spPr>
          <a:xfrm>
            <a:off x="4991100" y="2265174"/>
            <a:ext cx="3378200" cy="259339"/>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Trabalho de julgamento</a:t>
            </a:r>
          </a:p>
        </p:txBody>
      </p:sp>
      <p:sp>
        <p:nvSpPr>
          <p:cNvPr id="968" name="TextBox 967"/>
          <p:cNvSpPr txBox="1"/>
          <p:nvPr/>
        </p:nvSpPr>
        <p:spPr>
          <a:xfrm>
            <a:off x="4991100" y="2676913"/>
            <a:ext cx="3378200" cy="1208557"/>
          </a:xfrm>
          <a:prstGeom prst="rect">
            <a:avLst/>
          </a:prstGeom>
          <a:noFill/>
        </p:spPr>
        <p:txBody>
          <a:bodyPr wrap="square" lIns="0" tIns="0" rIns="0" bIns="0" anchor="t">
            <a:spAutoFit/>
          </a:bodyPr>
          <a:lstStyle/>
          <a:p>
            <a:pPr marL="182880" indent="-182880" algn="l">
              <a:lnSpc>
                <a:spcPct val="115000"/>
              </a:lnSpc>
              <a:spcAft>
                <a:spcPts val="600"/>
              </a:spcAft>
              <a:buClr>
                <a:srgbClr val="2FB36B"/>
              </a:buClr>
              <a:buSzPts val="700"/>
              <a:buFont typeface="Arial"/>
              <a:buChar char="●"/>
            </a:pPr>
            <a:r>
              <a:rPr sz="1000">
                <a:solidFill>
                  <a:srgbClr val="5B6070"/>
                </a:solidFill>
                <a:latin typeface="Roboto"/>
              </a:rPr>
              <a:t>Interpretar linguagem ambígua e entender intenção</a:t>
            </a:r>
          </a:p>
          <a:p>
            <a:pPr marL="182880" indent="-182880" algn="l">
              <a:lnSpc>
                <a:spcPct val="115000"/>
              </a:lnSpc>
              <a:spcAft>
                <a:spcPts val="600"/>
              </a:spcAft>
              <a:buClr>
                <a:srgbClr val="2FB36B"/>
              </a:buClr>
              <a:buSzPts val="700"/>
              <a:buFont typeface="Arial"/>
              <a:buChar char="●"/>
            </a:pPr>
            <a:r>
              <a:rPr sz="1000">
                <a:solidFill>
                  <a:srgbClr val="5B6070"/>
                </a:solidFill>
                <a:latin typeface="Roboto"/>
              </a:rPr>
              <a:t>Lidar com o caso que eu não previ</a:t>
            </a:r>
          </a:p>
          <a:p>
            <a:pPr marL="182880" indent="-182880" algn="l">
              <a:lnSpc>
                <a:spcPct val="115000"/>
              </a:lnSpc>
              <a:spcAft>
                <a:spcPts val="600"/>
              </a:spcAft>
              <a:buClr>
                <a:srgbClr val="2FB36B"/>
              </a:buClr>
              <a:buSzPts val="700"/>
              <a:buFont typeface="Arial"/>
              <a:buChar char="●"/>
            </a:pPr>
            <a:r>
              <a:rPr sz="1000">
                <a:solidFill>
                  <a:srgbClr val="5B6070"/>
                </a:solidFill>
                <a:latin typeface="Roboto"/>
              </a:rPr>
              <a:t>Decidir quando frear — não construir o freio</a:t>
            </a:r>
          </a:p>
          <a:p>
            <a:pPr marL="182880" indent="-182880" algn="l">
              <a:lnSpc>
                <a:spcPct val="115000"/>
              </a:lnSpc>
              <a:spcAft>
                <a:spcPts val="600"/>
              </a:spcAft>
              <a:buClr>
                <a:srgbClr val="2FB36B"/>
              </a:buClr>
              <a:buSzPts val="700"/>
              <a:buFont typeface="Arial"/>
              <a:buChar char="●"/>
            </a:pPr>
            <a:r>
              <a:rPr sz="1000">
                <a:solidFill>
                  <a:srgbClr val="5B6070"/>
                </a:solidFill>
                <a:latin typeface="Roboto"/>
              </a:rPr>
              <a:t>É exatamente aqui que eu confio nele</a:t>
            </a:r>
          </a:p>
        </p:txBody>
      </p:sp>
      <p:sp>
        <p:nvSpPr>
          <p:cNvPr id="969" name="Oval 968"/>
          <p:cNvSpPr/>
          <p:nvPr/>
        </p:nvSpPr>
        <p:spPr>
          <a:xfrm>
            <a:off x="4381500" y="2952750"/>
            <a:ext cx="381000" cy="381000"/>
          </a:xfrm>
          <a:prstGeom prst="ellipse">
            <a:avLst/>
          </a:prstGeom>
          <a:solidFill>
            <a:srgbClr val="EEEFF1"/>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0" name="TextBox 969"/>
          <p:cNvSpPr txBox="1"/>
          <p:nvPr/>
        </p:nvSpPr>
        <p:spPr>
          <a:xfrm>
            <a:off x="4381500" y="2952750"/>
            <a:ext cx="381000" cy="381000"/>
          </a:xfrm>
          <a:prstGeom prst="rect">
            <a:avLst/>
          </a:prstGeom>
          <a:noFill/>
        </p:spPr>
        <p:txBody>
          <a:bodyPr wrap="square" lIns="0" tIns="0" rIns="0" bIns="0" anchor="ctr">
            <a:spAutoFit/>
          </a:bodyPr>
          <a:lstStyle/>
          <a:p>
            <a:pPr algn="ctr">
              <a:lnSpc>
                <a:spcPct val="100000"/>
              </a:lnSpc>
            </a:pPr>
            <a:r>
              <a:rPr sz="1200" b="1">
                <a:solidFill>
                  <a:srgbClr val="8A8FA0"/>
                </a:solidFill>
                <a:latin typeface="Encode Sans"/>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 name="Google Shape;321;p48"/>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958"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59" name="Google Shape;323;p48" descr=" "/>
          <p:cNvPicPr preferRelativeResize="0"/>
          <p:nvPr/>
        </p:nvPicPr>
        <p:blipFill rotWithShape="1">
          <a:blip r:embed="rId3">
            <a:alphaModFix/>
          </a:blip>
          <a:srcRect/>
          <a:stretch/>
        </p:blipFill>
        <p:spPr>
          <a:xfrm>
            <a:off x="8786283" y="152400"/>
            <a:ext cx="178830" cy="222353"/>
          </a:xfrm>
          <a:prstGeom prst="rect">
            <a:avLst/>
          </a:prstGeom>
          <a:noFill/>
          <a:ln>
            <a:noFill/>
          </a:ln>
        </p:spPr>
      </p:pic>
      <p:pic>
        <p:nvPicPr>
          <p:cNvPr id="960" name="Google Shape;325;p48" descr="Ícone&#10;&#10;O conteúdo gerado por IA pode estar incorreto."/>
          <p:cNvPicPr preferRelativeResize="0"/>
          <p:nvPr/>
        </p:nvPicPr>
        <p:blipFill rotWithShape="1">
          <a:blip r:embed="rId4">
            <a:alphaModFix/>
          </a:blip>
          <a:srcRect/>
          <a:stretch/>
        </p:blipFill>
        <p:spPr>
          <a:xfrm>
            <a:off x="9426430" y="-54316"/>
            <a:ext cx="588048" cy="3753281"/>
          </a:xfrm>
          <a:prstGeom prst="rect">
            <a:avLst/>
          </a:prstGeom>
          <a:noFill/>
          <a:ln>
            <a:noFill/>
          </a:ln>
        </p:spPr>
      </p:pic>
      <p:sp>
        <p:nvSpPr>
          <p:cNvPr id="961" name="TextBox 960"/>
          <p:cNvSpPr txBox="1"/>
          <p:nvPr/>
        </p:nvSpPr>
        <p:spPr>
          <a:xfrm>
            <a:off x="2235200" y="1778000"/>
            <a:ext cx="4673600" cy="1739900"/>
          </a:xfrm>
          <a:prstGeom prst="rect">
            <a:avLst/>
          </a:prstGeom>
          <a:noFill/>
        </p:spPr>
        <p:txBody>
          <a:bodyPr wrap="square" lIns="0" tIns="0" rIns="0" bIns="0" anchor="ctr">
            <a:spAutoFit/>
          </a:bodyPr>
          <a:lstStyle/>
          <a:p>
            <a:pPr algn="ctr">
              <a:lnSpc>
                <a:spcPct val="112000"/>
              </a:lnSpc>
            </a:pPr>
            <a:r>
              <a:rPr sz="3800">
                <a:solidFill>
                  <a:srgbClr val="FFFFFF"/>
                </a:solidFill>
                <a:latin typeface="Encode Sans"/>
              </a:rPr>
              <a:t>6.2 Transparência</a:t>
            </a:r>
          </a:p>
          <a:p>
            <a:pPr algn="ctr">
              <a:lnSpc>
                <a:spcPct val="112000"/>
              </a:lnSpc>
            </a:pPr>
            <a:r>
              <a:rPr sz="3800">
                <a:solidFill>
                  <a:srgbClr val="FFFFFF"/>
                </a:solidFill>
                <a:latin typeface="Encode Sans"/>
              </a:rPr>
              <a:t>com o usuário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1" name="Google Shape;331;p49" descr="art\malha.png"/>
          <p:cNvPicPr preferRelativeResize="0"/>
          <p:nvPr/>
        </p:nvPicPr>
        <p:blipFill rotWithShape="1">
          <a:blip r:embed="rId3">
            <a:alphaModFix/>
          </a:blip>
          <a:srcRect/>
          <a:stretch/>
        </p:blipFill>
        <p:spPr>
          <a:xfrm>
            <a:off x="0" y="0"/>
            <a:ext cx="9143952" cy="5142830"/>
          </a:xfrm>
          <a:prstGeom prst="rect">
            <a:avLst/>
          </a:prstGeom>
          <a:noFill/>
          <a:ln>
            <a:noFill/>
          </a:ln>
        </p:spPr>
      </p:pic>
      <p:pic>
        <p:nvPicPr>
          <p:cNvPr id="962" name="Google Shape;332;p49" descr="art\capa.png"/>
          <p:cNvPicPr preferRelativeResize="0"/>
          <p:nvPr/>
        </p:nvPicPr>
        <p:blipFill rotWithShape="1">
          <a:blip r:embed="rId4">
            <a:alphaModFix/>
          </a:blip>
          <a:srcRect/>
          <a:stretch/>
        </p:blipFill>
        <p:spPr>
          <a:xfrm>
            <a:off x="3034270" y="0"/>
            <a:ext cx="6109682" cy="5142830"/>
          </a:xfrm>
          <a:prstGeom prst="rect">
            <a:avLst/>
          </a:prstGeom>
          <a:noFill/>
          <a:ln>
            <a:noFill/>
          </a:ln>
        </p:spPr>
      </p:pic>
      <p:pic>
        <p:nvPicPr>
          <p:cNvPr id="963" name="Google Shape;333;p49" descr="art\logo.png"/>
          <p:cNvPicPr preferRelativeResize="0"/>
          <p:nvPr/>
        </p:nvPicPr>
        <p:blipFill rotWithShape="1">
          <a:blip r:embed="rId5">
            <a:alphaModFix/>
          </a:blip>
          <a:srcRect/>
          <a:stretch/>
        </p:blipFill>
        <p:spPr>
          <a:xfrm>
            <a:off x="8787383" y="150876"/>
            <a:ext cx="178285" cy="222856"/>
          </a:xfrm>
          <a:prstGeom prst="rect">
            <a:avLst/>
          </a:prstGeom>
          <a:noFill/>
          <a:ln>
            <a:noFill/>
          </a:ln>
        </p:spPr>
      </p:pic>
      <p:sp>
        <p:nvSpPr>
          <p:cNvPr id="964" name="TextBox 963"/>
          <p:cNvSpPr txBox="1"/>
          <p:nvPr/>
        </p:nvSpPr>
        <p:spPr>
          <a:xfrm>
            <a:off x="914400" y="698500"/>
            <a:ext cx="4965700" cy="241300"/>
          </a:xfrm>
          <a:prstGeom prst="rect">
            <a:avLst/>
          </a:prstGeom>
          <a:noFill/>
        </p:spPr>
        <p:txBody>
          <a:bodyPr wrap="square" lIns="0" tIns="0" rIns="0" bIns="0" anchor="t">
            <a:spAutoFit/>
          </a:bodyPr>
          <a:lstStyle/>
          <a:p>
            <a:pPr algn="l">
              <a:lnSpc>
                <a:spcPct val="100000"/>
              </a:lnSpc>
            </a:pPr>
            <a:r>
              <a:rPr sz="800" b="1">
                <a:solidFill>
                  <a:srgbClr val="1F53E5"/>
                </a:solidFill>
                <a:latin typeface="Encode Sans"/>
              </a:rPr>
              <a:t>EVALS, OBSERVABILIDADE E CONFORMIDADE</a:t>
            </a:r>
          </a:p>
        </p:txBody>
      </p:sp>
      <p:sp>
        <p:nvSpPr>
          <p:cNvPr id="965" name="TextBox 964"/>
          <p:cNvSpPr txBox="1"/>
          <p:nvPr/>
        </p:nvSpPr>
        <p:spPr>
          <a:xfrm>
            <a:off x="914400" y="1651000"/>
            <a:ext cx="5080000" cy="1524000"/>
          </a:xfrm>
          <a:prstGeom prst="rect">
            <a:avLst/>
          </a:prstGeom>
          <a:noFill/>
        </p:spPr>
        <p:txBody>
          <a:bodyPr wrap="square" lIns="0" tIns="0" rIns="0" bIns="0" anchor="t">
            <a:spAutoFit/>
          </a:bodyPr>
          <a:lstStyle/>
          <a:p>
            <a:pPr algn="l">
              <a:lnSpc>
                <a:spcPct val="115000"/>
              </a:lnSpc>
            </a:pPr>
            <a:r>
              <a:rPr sz="3600">
                <a:solidFill>
                  <a:srgbClr val="FFFFFF"/>
                </a:solidFill>
                <a:latin typeface="Encode Sans"/>
              </a:rPr>
              <a:t>Aula 6</a:t>
            </a:r>
          </a:p>
          <a:p>
            <a:pPr algn="l">
              <a:lnSpc>
                <a:spcPct val="115000"/>
              </a:lnSpc>
            </a:pPr>
            <a:r>
              <a:rPr sz="3600">
                <a:solidFill>
                  <a:srgbClr val="FFFFFF"/>
                </a:solidFill>
                <a:latin typeface="Encode Sans"/>
              </a:rPr>
              <a:t>Transparência</a:t>
            </a:r>
          </a:p>
        </p:txBody>
      </p:sp>
      <p:sp>
        <p:nvSpPr>
          <p:cNvPr id="966" name="TextBox 965"/>
          <p:cNvSpPr txBox="1"/>
          <p:nvPr/>
        </p:nvSpPr>
        <p:spPr>
          <a:xfrm>
            <a:off x="914400" y="3276600"/>
            <a:ext cx="5105400" cy="647700"/>
          </a:xfrm>
          <a:prstGeom prst="rect">
            <a:avLst/>
          </a:prstGeom>
          <a:noFill/>
        </p:spPr>
        <p:txBody>
          <a:bodyPr wrap="square" lIns="0" tIns="0" rIns="0" bIns="0" anchor="t">
            <a:spAutoFit/>
          </a:bodyPr>
          <a:lstStyle/>
          <a:p>
            <a:pPr algn="l">
              <a:lnSpc>
                <a:spcPct val="120000"/>
              </a:lnSpc>
            </a:pPr>
            <a:r>
              <a:rPr sz="1500">
                <a:solidFill>
                  <a:srgbClr val="FFFFFF"/>
                </a:solidFill>
                <a:latin typeface="Roboto"/>
              </a:rPr>
              <a:t>Guardrails em código, transparência como design e LGPD na prática</a:t>
            </a:r>
          </a:p>
        </p:txBody>
      </p:sp>
      <p:sp>
        <p:nvSpPr>
          <p:cNvPr id="967" name="TextBox 966"/>
          <p:cNvSpPr txBox="1"/>
          <p:nvPr/>
        </p:nvSpPr>
        <p:spPr>
          <a:xfrm>
            <a:off x="914400" y="4025900"/>
            <a:ext cx="5207000" cy="279400"/>
          </a:xfrm>
          <a:prstGeom prst="rect">
            <a:avLst/>
          </a:prstGeom>
          <a:noFill/>
        </p:spPr>
        <p:txBody>
          <a:bodyPr wrap="square" lIns="0" tIns="0" rIns="0" bIns="0" anchor="t">
            <a:spAutoFit/>
          </a:bodyPr>
          <a:lstStyle/>
          <a:p>
            <a:pPr algn="l">
              <a:lnSpc>
                <a:spcPct val="100000"/>
              </a:lnSpc>
            </a:pPr>
            <a:r>
              <a:rPr sz="1200">
                <a:solidFill>
                  <a:srgbClr val="4A9BE8"/>
                </a:solidFill>
                <a:latin typeface="Roboto"/>
              </a:rPr>
              <a:t>Lançar é o começo. O run é a grande responsabilidade.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65"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966"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967"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968"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69"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970"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971" name="TextBox 970"/>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4900">
                <a:solidFill>
                  <a:srgbClr val="BDBFC7"/>
                </a:solidFill>
                <a:latin typeface="Encode Sans"/>
              </a:rPr>
              <a:t>Transparência</a:t>
            </a:r>
          </a:p>
          <a:p>
            <a:pPr algn="ctr">
              <a:lnSpc>
                <a:spcPct val="112000"/>
              </a:lnSpc>
            </a:pPr>
            <a:r>
              <a:rPr sz="4900">
                <a:solidFill>
                  <a:srgbClr val="BDBFC7"/>
                </a:solidFill>
                <a:latin typeface="Encode Sans"/>
              </a:rPr>
              <a:t>não é aviso</a:t>
            </a:r>
          </a:p>
          <a:p>
            <a:pPr algn="ctr">
              <a:lnSpc>
                <a:spcPct val="112000"/>
              </a:lnSpc>
            </a:pPr>
            <a:r>
              <a:rPr sz="4900">
                <a:solidFill>
                  <a:srgbClr val="BDBFC7"/>
                </a:solidFill>
                <a:latin typeface="Encode Sans"/>
              </a:rPr>
              <a:t>legal</a:t>
            </a:r>
          </a:p>
          <a:p>
            <a:pPr algn="ctr">
              <a:lnSpc>
                <a:spcPct val="112000"/>
              </a:lnSpc>
            </a:pPr>
            <a:r>
              <a:rPr sz="4900">
                <a:solidFill>
                  <a:srgbClr val="BDBFC7"/>
                </a:solidFill>
                <a:latin typeface="Encode Sans"/>
              </a:rPr>
              <a:t>genérico.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72"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73"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74"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75"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76" name="TextBox 975"/>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Estático × dinâmico</a:t>
            </a:r>
          </a:p>
        </p:txBody>
      </p:sp>
      <p:sp>
        <p:nvSpPr>
          <p:cNvPr id="977" name="TextBox 976"/>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Duas ideias que costumam ser confundidas</a:t>
            </a:r>
          </a:p>
        </p:txBody>
      </p:sp>
      <p:sp>
        <p:nvSpPr>
          <p:cNvPr id="978" name="Rounded Rectangle 977"/>
          <p:cNvSpPr/>
          <p:nvPr/>
        </p:nvSpPr>
        <p:spPr>
          <a:xfrm>
            <a:off x="571500" y="1714767"/>
            <a:ext cx="3784600" cy="2856965"/>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9" name="Rectangle 978"/>
          <p:cNvSpPr/>
          <p:nvPr/>
        </p:nvSpPr>
        <p:spPr>
          <a:xfrm>
            <a:off x="571500" y="1714767"/>
            <a:ext cx="3784600" cy="381000"/>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0" name="TextBox 979"/>
          <p:cNvSpPr txBox="1"/>
          <p:nvPr/>
        </p:nvSpPr>
        <p:spPr>
          <a:xfrm>
            <a:off x="571500" y="1714767"/>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Aviso legal</a:t>
            </a:r>
          </a:p>
        </p:txBody>
      </p:sp>
      <p:sp>
        <p:nvSpPr>
          <p:cNvPr id="981" name="TextBox 980"/>
          <p:cNvSpPr txBox="1"/>
          <p:nvPr/>
        </p:nvSpPr>
        <p:spPr>
          <a:xfrm>
            <a:off x="774700" y="2298967"/>
            <a:ext cx="3378200" cy="276628"/>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Sempre igual, sempre lá</a:t>
            </a:r>
          </a:p>
        </p:txBody>
      </p:sp>
      <p:sp>
        <p:nvSpPr>
          <p:cNvPr id="982" name="TextBox 981"/>
          <p:cNvSpPr txBox="1"/>
          <p:nvPr/>
        </p:nvSpPr>
        <p:spPr>
          <a:xfrm>
            <a:off x="774700" y="2727995"/>
            <a:ext cx="3378200" cy="1027805"/>
          </a:xfrm>
          <a:prstGeom prst="rect">
            <a:avLst/>
          </a:prstGeom>
          <a:noFill/>
        </p:spPr>
        <p:txBody>
          <a:bodyPr wrap="square" lIns="0" tIns="0" rIns="0" bIns="0" anchor="t">
            <a:spAutoFit/>
          </a:bodyPr>
          <a:lstStyle/>
          <a:p>
            <a:pPr marL="182880" indent="-182880" algn="l">
              <a:lnSpc>
                <a:spcPct val="115000"/>
              </a:lnSpc>
              <a:spcAft>
                <a:spcPts val="600"/>
              </a:spcAft>
              <a:buClr>
                <a:srgbClr val="8A8FA0"/>
              </a:buClr>
              <a:buSzPts val="700"/>
              <a:buFont typeface="Arial"/>
              <a:buChar char="●"/>
            </a:pPr>
            <a:r>
              <a:rPr sz="1000">
                <a:solidFill>
                  <a:srgbClr val="5B6070"/>
                </a:solidFill>
                <a:latin typeface="Roboto"/>
              </a:rPr>
              <a:t>Não muda com o que está acontecendo agora</a:t>
            </a:r>
          </a:p>
          <a:p>
            <a:pPr marL="182880" indent="-182880" algn="l">
              <a:lnSpc>
                <a:spcPct val="115000"/>
              </a:lnSpc>
              <a:spcAft>
                <a:spcPts val="600"/>
              </a:spcAft>
              <a:buClr>
                <a:srgbClr val="8A8FA0"/>
              </a:buClr>
              <a:buSzPts val="700"/>
              <a:buFont typeface="Arial"/>
              <a:buChar char="●"/>
            </a:pPr>
            <a:r>
              <a:rPr sz="1000">
                <a:solidFill>
                  <a:srgbClr val="5B6070"/>
                </a:solidFill>
                <a:latin typeface="Roboto"/>
              </a:rPr>
              <a:t>Protege juridicamente — talvez</a:t>
            </a:r>
          </a:p>
          <a:p>
            <a:pPr marL="182880" indent="-182880" algn="l">
              <a:lnSpc>
                <a:spcPct val="115000"/>
              </a:lnSpc>
              <a:spcAft>
                <a:spcPts val="600"/>
              </a:spcAft>
              <a:buClr>
                <a:srgbClr val="8A8FA0"/>
              </a:buClr>
              <a:buSzPts val="700"/>
              <a:buFont typeface="Arial"/>
              <a:buChar char="●"/>
            </a:pPr>
            <a:r>
              <a:rPr sz="1000">
                <a:solidFill>
                  <a:srgbClr val="5B6070"/>
                </a:solidFill>
                <a:latin typeface="Roboto"/>
              </a:rPr>
              <a:t>Não ajuda a entender uma interação específica</a:t>
            </a:r>
          </a:p>
          <a:p>
            <a:pPr marL="182880" indent="-182880" algn="l">
              <a:lnSpc>
                <a:spcPct val="115000"/>
              </a:lnSpc>
              <a:spcAft>
                <a:spcPts val="600"/>
              </a:spcAft>
              <a:buClr>
                <a:srgbClr val="8A8FA0"/>
              </a:buClr>
              <a:buSzPts val="700"/>
              <a:buFont typeface="Arial"/>
              <a:buChar char="●"/>
            </a:pPr>
            <a:r>
              <a:rPr sz="1000">
                <a:solidFill>
                  <a:srgbClr val="5B6070"/>
                </a:solidFill>
                <a:latin typeface="Roboto"/>
              </a:rPr>
              <a:t>O usuário lê uma vez e nunca mais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77"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78"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79"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80"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81" name="TextBox 980"/>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Estático × dinâmico</a:t>
            </a:r>
          </a:p>
        </p:txBody>
      </p:sp>
      <p:sp>
        <p:nvSpPr>
          <p:cNvPr id="982" name="TextBox 981"/>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Duas ideias que costumam ser confundidas</a:t>
            </a:r>
          </a:p>
        </p:txBody>
      </p:sp>
      <p:sp>
        <p:nvSpPr>
          <p:cNvPr id="983" name="Rounded Rectangle 982"/>
          <p:cNvSpPr/>
          <p:nvPr/>
        </p:nvSpPr>
        <p:spPr>
          <a:xfrm>
            <a:off x="571500" y="1714767"/>
            <a:ext cx="3784600" cy="2856965"/>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4" name="Rectangle 983"/>
          <p:cNvSpPr/>
          <p:nvPr/>
        </p:nvSpPr>
        <p:spPr>
          <a:xfrm>
            <a:off x="571500" y="1714767"/>
            <a:ext cx="3784600" cy="381000"/>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5" name="TextBox 984"/>
          <p:cNvSpPr txBox="1"/>
          <p:nvPr/>
        </p:nvSpPr>
        <p:spPr>
          <a:xfrm>
            <a:off x="571500" y="1714767"/>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Aviso legal</a:t>
            </a:r>
          </a:p>
        </p:txBody>
      </p:sp>
      <p:sp>
        <p:nvSpPr>
          <p:cNvPr id="986" name="TextBox 985"/>
          <p:cNvSpPr txBox="1"/>
          <p:nvPr/>
        </p:nvSpPr>
        <p:spPr>
          <a:xfrm>
            <a:off x="774700" y="2298967"/>
            <a:ext cx="3378200" cy="276628"/>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Sempre igual, sempre lá</a:t>
            </a:r>
          </a:p>
        </p:txBody>
      </p:sp>
      <p:sp>
        <p:nvSpPr>
          <p:cNvPr id="987" name="TextBox 986"/>
          <p:cNvSpPr txBox="1"/>
          <p:nvPr/>
        </p:nvSpPr>
        <p:spPr>
          <a:xfrm>
            <a:off x="774700" y="2727995"/>
            <a:ext cx="3378200" cy="1027805"/>
          </a:xfrm>
          <a:prstGeom prst="rect">
            <a:avLst/>
          </a:prstGeom>
          <a:noFill/>
        </p:spPr>
        <p:txBody>
          <a:bodyPr wrap="square" lIns="0" tIns="0" rIns="0" bIns="0" anchor="t">
            <a:spAutoFit/>
          </a:bodyPr>
          <a:lstStyle/>
          <a:p>
            <a:pPr marL="182880" indent="-182880" algn="l">
              <a:lnSpc>
                <a:spcPct val="115000"/>
              </a:lnSpc>
              <a:spcAft>
                <a:spcPts val="600"/>
              </a:spcAft>
              <a:buClr>
                <a:srgbClr val="8A8FA0"/>
              </a:buClr>
              <a:buSzPts val="700"/>
              <a:buFont typeface="Arial"/>
              <a:buChar char="●"/>
            </a:pPr>
            <a:r>
              <a:rPr sz="1000">
                <a:solidFill>
                  <a:srgbClr val="5B6070"/>
                </a:solidFill>
                <a:latin typeface="Roboto"/>
              </a:rPr>
              <a:t>Não muda com o que está acontecendo agora</a:t>
            </a:r>
          </a:p>
          <a:p>
            <a:pPr marL="182880" indent="-182880" algn="l">
              <a:lnSpc>
                <a:spcPct val="115000"/>
              </a:lnSpc>
              <a:spcAft>
                <a:spcPts val="600"/>
              </a:spcAft>
              <a:buClr>
                <a:srgbClr val="8A8FA0"/>
              </a:buClr>
              <a:buSzPts val="700"/>
              <a:buFont typeface="Arial"/>
              <a:buChar char="●"/>
            </a:pPr>
            <a:r>
              <a:rPr sz="1000">
                <a:solidFill>
                  <a:srgbClr val="5B6070"/>
                </a:solidFill>
                <a:latin typeface="Roboto"/>
              </a:rPr>
              <a:t>Protege juridicamente — talvez</a:t>
            </a:r>
          </a:p>
          <a:p>
            <a:pPr marL="182880" indent="-182880" algn="l">
              <a:lnSpc>
                <a:spcPct val="115000"/>
              </a:lnSpc>
              <a:spcAft>
                <a:spcPts val="600"/>
              </a:spcAft>
              <a:buClr>
                <a:srgbClr val="8A8FA0"/>
              </a:buClr>
              <a:buSzPts val="700"/>
              <a:buFont typeface="Arial"/>
              <a:buChar char="●"/>
            </a:pPr>
            <a:r>
              <a:rPr sz="1000">
                <a:solidFill>
                  <a:srgbClr val="5B6070"/>
                </a:solidFill>
                <a:latin typeface="Roboto"/>
              </a:rPr>
              <a:t>Não ajuda a entender uma interação específica</a:t>
            </a:r>
          </a:p>
          <a:p>
            <a:pPr marL="182880" indent="-182880" algn="l">
              <a:lnSpc>
                <a:spcPct val="115000"/>
              </a:lnSpc>
              <a:spcAft>
                <a:spcPts val="600"/>
              </a:spcAft>
              <a:buClr>
                <a:srgbClr val="8A8FA0"/>
              </a:buClr>
              <a:buSzPts val="700"/>
              <a:buFont typeface="Arial"/>
              <a:buChar char="●"/>
            </a:pPr>
            <a:r>
              <a:rPr sz="1000">
                <a:solidFill>
                  <a:srgbClr val="5B6070"/>
                </a:solidFill>
                <a:latin typeface="Roboto"/>
              </a:rPr>
              <a:t>O usuário lê uma vez e nunca mais</a:t>
            </a:r>
          </a:p>
        </p:txBody>
      </p:sp>
      <p:sp>
        <p:nvSpPr>
          <p:cNvPr id="988" name="Rounded Rectangle 987"/>
          <p:cNvSpPr/>
          <p:nvPr/>
        </p:nvSpPr>
        <p:spPr>
          <a:xfrm>
            <a:off x="4787900" y="1714767"/>
            <a:ext cx="3784600" cy="2856965"/>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9" name="Rectangle 988"/>
          <p:cNvSpPr/>
          <p:nvPr/>
        </p:nvSpPr>
        <p:spPr>
          <a:xfrm>
            <a:off x="4787900" y="1714767"/>
            <a:ext cx="3784600" cy="3810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0" name="TextBox 989"/>
          <p:cNvSpPr txBox="1"/>
          <p:nvPr/>
        </p:nvSpPr>
        <p:spPr>
          <a:xfrm>
            <a:off x="4787900" y="1714767"/>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Comportamento</a:t>
            </a:r>
          </a:p>
        </p:txBody>
      </p:sp>
      <p:sp>
        <p:nvSpPr>
          <p:cNvPr id="991" name="TextBox 990"/>
          <p:cNvSpPr txBox="1"/>
          <p:nvPr/>
        </p:nvSpPr>
        <p:spPr>
          <a:xfrm>
            <a:off x="4991100" y="2298967"/>
            <a:ext cx="3378200" cy="553256"/>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Reage ao que acabou de</a:t>
            </a:r>
          </a:p>
          <a:p>
            <a:pPr algn="ctr">
              <a:lnSpc>
                <a:spcPct val="110000"/>
              </a:lnSpc>
            </a:pPr>
            <a:r>
              <a:rPr sz="1600">
                <a:solidFill>
                  <a:srgbClr val="14161B"/>
                </a:solidFill>
                <a:latin typeface="Encode Sans SemiBold"/>
              </a:rPr>
              <a:t>acontecer</a:t>
            </a:r>
          </a:p>
        </p:txBody>
      </p:sp>
      <p:sp>
        <p:nvSpPr>
          <p:cNvPr id="992" name="TextBox 991"/>
          <p:cNvSpPr txBox="1"/>
          <p:nvPr/>
        </p:nvSpPr>
        <p:spPr>
          <a:xfrm>
            <a:off x="4991100" y="3004623"/>
            <a:ext cx="3378200" cy="1389308"/>
          </a:xfrm>
          <a:prstGeom prst="rect">
            <a:avLst/>
          </a:prstGeom>
          <a:noFill/>
        </p:spPr>
        <p:txBody>
          <a:bodyPr wrap="square" lIns="0" tIns="0" rIns="0" bIns="0" anchor="t">
            <a:spAutoFit/>
          </a:bodyPr>
          <a:lstStyle/>
          <a:p>
            <a:pPr marL="182880" indent="-182880" algn="l">
              <a:lnSpc>
                <a:spcPct val="115000"/>
              </a:lnSpc>
              <a:spcAft>
                <a:spcPts val="600"/>
              </a:spcAft>
              <a:buClr>
                <a:srgbClr val="052FD3"/>
              </a:buClr>
              <a:buSzPts val="700"/>
              <a:buFont typeface="Arial"/>
              <a:buChar char="●"/>
            </a:pPr>
            <a:r>
              <a:rPr sz="1000">
                <a:solidFill>
                  <a:srgbClr val="5B6070"/>
                </a:solidFill>
                <a:latin typeface="Roboto"/>
              </a:rPr>
              <a:t>Se o produto não sabe processar, ele diz ali, na hora</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Se processou bem, a resposta certa já basta</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É específico sobre aquela coisa, não sobre o produto</a:t>
            </a:r>
          </a:p>
          <a:p>
            <a:pPr marL="182880" indent="-182880" algn="l">
              <a:lnSpc>
                <a:spcPct val="115000"/>
              </a:lnSpc>
              <a:spcAft>
                <a:spcPts val="600"/>
              </a:spcAft>
              <a:buClr>
                <a:srgbClr val="052FD3"/>
              </a:buClr>
              <a:buSzPts val="700"/>
              <a:buFont typeface="Arial"/>
              <a:buChar char="●"/>
            </a:pPr>
            <a:r>
              <a:rPr sz="1000">
                <a:solidFill>
                  <a:srgbClr val="5B6070"/>
                </a:solidFill>
                <a:latin typeface="Roboto"/>
              </a:rPr>
              <a:t>Fecha a lacuna entre "funcionou" e "inventou"</a:t>
            </a:r>
          </a:p>
        </p:txBody>
      </p:sp>
      <p:sp>
        <p:nvSpPr>
          <p:cNvPr id="993" name="Oval 992"/>
          <p:cNvSpPr/>
          <p:nvPr/>
        </p:nvSpPr>
        <p:spPr>
          <a:xfrm>
            <a:off x="4381500" y="2952750"/>
            <a:ext cx="381000" cy="381000"/>
          </a:xfrm>
          <a:prstGeom prst="ellipse">
            <a:avLst/>
          </a:prstGeom>
          <a:solidFill>
            <a:srgbClr val="EEEFF1"/>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4" name="TextBox 993"/>
          <p:cNvSpPr txBox="1"/>
          <p:nvPr/>
        </p:nvSpPr>
        <p:spPr>
          <a:xfrm>
            <a:off x="4381500" y="2952750"/>
            <a:ext cx="381000" cy="381000"/>
          </a:xfrm>
          <a:prstGeom prst="rect">
            <a:avLst/>
          </a:prstGeom>
          <a:noFill/>
        </p:spPr>
        <p:txBody>
          <a:bodyPr wrap="square" lIns="0" tIns="0" rIns="0" bIns="0" anchor="ctr">
            <a:spAutoFit/>
          </a:bodyPr>
          <a:lstStyle/>
          <a:p>
            <a:pPr algn="ctr">
              <a:lnSpc>
                <a:spcPct val="100000"/>
              </a:lnSpc>
            </a:pPr>
            <a:r>
              <a:rPr sz="1200" b="1">
                <a:solidFill>
                  <a:srgbClr val="8A8FA0"/>
                </a:solidFill>
                <a:latin typeface="Encode Sans"/>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1"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82"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83"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84"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85"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86" name="TextBox 985"/>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A foto do cupom, antes e depois</a:t>
            </a:r>
          </a:p>
        </p:txBody>
      </p:sp>
      <p:sp>
        <p:nvSpPr>
          <p:cNvPr id="987" name="TextBox 986"/>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Episódio B da Aula 4 — mesma capacidade técnica nos dois lados</a:t>
            </a:r>
          </a:p>
        </p:txBody>
      </p:sp>
      <p:sp>
        <p:nvSpPr>
          <p:cNvPr id="988" name="TextBox 987"/>
          <p:cNvSpPr txBox="1"/>
          <p:nvPr/>
        </p:nvSpPr>
        <p:spPr>
          <a:xfrm>
            <a:off x="3492500" y="1732113"/>
            <a:ext cx="4064000" cy="165100"/>
          </a:xfrm>
          <a:prstGeom prst="rect">
            <a:avLst/>
          </a:prstGeom>
          <a:noFill/>
        </p:spPr>
        <p:txBody>
          <a:bodyPr wrap="square" lIns="0" tIns="0" rIns="0" bIns="0" anchor="t">
            <a:spAutoFit/>
          </a:bodyPr>
          <a:lstStyle/>
          <a:p>
            <a:pPr algn="r">
              <a:lnSpc>
                <a:spcPct val="100000"/>
              </a:lnSpc>
            </a:pPr>
            <a:r>
              <a:rPr sz="1000" b="1" cap="all">
                <a:solidFill>
                  <a:srgbClr val="052FD3"/>
                </a:solidFill>
                <a:latin typeface="Encode Sans"/>
              </a:rPr>
              <a:t>Renata manda</a:t>
            </a:r>
          </a:p>
        </p:txBody>
      </p:sp>
      <p:sp>
        <p:nvSpPr>
          <p:cNvPr id="989" name="Rounded Rectangle 988"/>
          <p:cNvSpPr/>
          <p:nvPr/>
        </p:nvSpPr>
        <p:spPr>
          <a:xfrm>
            <a:off x="3492500" y="1922613"/>
            <a:ext cx="4064000" cy="575393"/>
          </a:xfrm>
          <a:prstGeom prst="roundRect">
            <a:avLst>
              <a:gd name="adj" fmla="val 16000"/>
            </a:avLst>
          </a:prstGeom>
          <a:solidFill>
            <a:srgbClr val="052FD3"/>
          </a:solidFill>
          <a:ln w="26670">
            <a:solidFill>
              <a:srgbClr val="052F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0" name="TextBox 989"/>
          <p:cNvSpPr txBox="1"/>
          <p:nvPr/>
        </p:nvSpPr>
        <p:spPr>
          <a:xfrm>
            <a:off x="3657600" y="1922613"/>
            <a:ext cx="3733800" cy="575393"/>
          </a:xfrm>
          <a:prstGeom prst="rect">
            <a:avLst/>
          </a:prstGeom>
          <a:noFill/>
        </p:spPr>
        <p:txBody>
          <a:bodyPr wrap="square" lIns="0" tIns="0" rIns="0" bIns="0" anchor="ctr">
            <a:spAutoFit/>
          </a:bodyPr>
          <a:lstStyle/>
          <a:p>
            <a:pPr algn="l">
              <a:lnSpc>
                <a:spcPct val="130000"/>
              </a:lnSpc>
            </a:pPr>
            <a:r>
              <a:rPr sz="1200">
                <a:solidFill>
                  <a:srgbClr val="FFFFFF"/>
                </a:solidFill>
                <a:latin typeface="Roboto"/>
              </a:rPr>
              <a:t>📷 cupom-mercado.jpg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87"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88"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89"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90"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91" name="TextBox 990"/>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A foto do cupom, antes e depois</a:t>
            </a:r>
          </a:p>
        </p:txBody>
      </p:sp>
      <p:sp>
        <p:nvSpPr>
          <p:cNvPr id="992" name="TextBox 991"/>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Episódio B da Aula 4 — mesma capacidade técnica nos dois lados</a:t>
            </a:r>
          </a:p>
        </p:txBody>
      </p:sp>
      <p:sp>
        <p:nvSpPr>
          <p:cNvPr id="993" name="TextBox 992"/>
          <p:cNvSpPr txBox="1"/>
          <p:nvPr/>
        </p:nvSpPr>
        <p:spPr>
          <a:xfrm>
            <a:off x="3492500" y="1732113"/>
            <a:ext cx="4064000" cy="165100"/>
          </a:xfrm>
          <a:prstGeom prst="rect">
            <a:avLst/>
          </a:prstGeom>
          <a:noFill/>
        </p:spPr>
        <p:txBody>
          <a:bodyPr wrap="square" lIns="0" tIns="0" rIns="0" bIns="0" anchor="t">
            <a:spAutoFit/>
          </a:bodyPr>
          <a:lstStyle/>
          <a:p>
            <a:pPr algn="r">
              <a:lnSpc>
                <a:spcPct val="100000"/>
              </a:lnSpc>
            </a:pPr>
            <a:r>
              <a:rPr sz="1000" b="1" cap="all">
                <a:solidFill>
                  <a:srgbClr val="052FD3"/>
                </a:solidFill>
                <a:latin typeface="Encode Sans"/>
              </a:rPr>
              <a:t>Renata manda</a:t>
            </a:r>
          </a:p>
        </p:txBody>
      </p:sp>
      <p:sp>
        <p:nvSpPr>
          <p:cNvPr id="994" name="Rounded Rectangle 993"/>
          <p:cNvSpPr/>
          <p:nvPr/>
        </p:nvSpPr>
        <p:spPr>
          <a:xfrm>
            <a:off x="3492500" y="1922613"/>
            <a:ext cx="4064000" cy="575393"/>
          </a:xfrm>
          <a:prstGeom prst="roundRect">
            <a:avLst>
              <a:gd name="adj" fmla="val 16000"/>
            </a:avLst>
          </a:prstGeom>
          <a:solidFill>
            <a:srgbClr val="052FD3"/>
          </a:solidFill>
          <a:ln w="26670">
            <a:solidFill>
              <a:srgbClr val="052F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5" name="TextBox 994"/>
          <p:cNvSpPr txBox="1"/>
          <p:nvPr/>
        </p:nvSpPr>
        <p:spPr>
          <a:xfrm>
            <a:off x="3657600" y="1922613"/>
            <a:ext cx="3733800" cy="575393"/>
          </a:xfrm>
          <a:prstGeom prst="rect">
            <a:avLst/>
          </a:prstGeom>
          <a:noFill/>
        </p:spPr>
        <p:txBody>
          <a:bodyPr wrap="square" lIns="0" tIns="0" rIns="0" bIns="0" anchor="ctr">
            <a:spAutoFit/>
          </a:bodyPr>
          <a:lstStyle/>
          <a:p>
            <a:pPr algn="l">
              <a:lnSpc>
                <a:spcPct val="130000"/>
              </a:lnSpc>
            </a:pPr>
            <a:r>
              <a:rPr sz="1200">
                <a:solidFill>
                  <a:srgbClr val="FFFFFF"/>
                </a:solidFill>
                <a:latin typeface="Roboto"/>
              </a:rPr>
              <a:t>📷 cupom-mercado.jpg</a:t>
            </a:r>
          </a:p>
        </p:txBody>
      </p:sp>
      <p:sp>
        <p:nvSpPr>
          <p:cNvPr id="996" name="TextBox 995"/>
          <p:cNvSpPr txBox="1"/>
          <p:nvPr/>
        </p:nvSpPr>
        <p:spPr>
          <a:xfrm>
            <a:off x="1587500" y="2637706"/>
            <a:ext cx="4064000" cy="165100"/>
          </a:xfrm>
          <a:prstGeom prst="rect">
            <a:avLst/>
          </a:prstGeom>
          <a:noFill/>
        </p:spPr>
        <p:txBody>
          <a:bodyPr wrap="square" lIns="0" tIns="0" rIns="0" bIns="0" anchor="t">
            <a:spAutoFit/>
          </a:bodyPr>
          <a:lstStyle/>
          <a:p>
            <a:pPr algn="l">
              <a:lnSpc>
                <a:spcPct val="100000"/>
              </a:lnSpc>
            </a:pPr>
            <a:r>
              <a:rPr sz="1000" b="1" cap="all">
                <a:solidFill>
                  <a:srgbClr val="C0392B"/>
                </a:solidFill>
                <a:latin typeface="Encode Sans"/>
              </a:rPr>
              <a:t>Antes — até 11/09</a:t>
            </a:r>
          </a:p>
        </p:txBody>
      </p:sp>
      <p:sp>
        <p:nvSpPr>
          <p:cNvPr id="997" name="Rounded Rectangle 996"/>
          <p:cNvSpPr/>
          <p:nvPr/>
        </p:nvSpPr>
        <p:spPr>
          <a:xfrm>
            <a:off x="1587500" y="2828206"/>
            <a:ext cx="4064000" cy="575393"/>
          </a:xfrm>
          <a:prstGeom prst="roundRect">
            <a:avLst>
              <a:gd name="adj" fmla="val 16000"/>
            </a:avLst>
          </a:prstGeom>
          <a:solidFill>
            <a:srgbClr val="EEEFF1"/>
          </a:solidFill>
          <a:ln w="17780">
            <a:solidFill>
              <a:srgbClr val="C0392B"/>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8" name="TextBox 997"/>
          <p:cNvSpPr txBox="1"/>
          <p:nvPr/>
        </p:nvSpPr>
        <p:spPr>
          <a:xfrm>
            <a:off x="1752600" y="2828206"/>
            <a:ext cx="3733800" cy="575393"/>
          </a:xfrm>
          <a:prstGeom prst="rect">
            <a:avLst/>
          </a:prstGeom>
          <a:noFill/>
        </p:spPr>
        <p:txBody>
          <a:bodyPr wrap="square" lIns="0" tIns="0" rIns="0" bIns="0" anchor="ctr">
            <a:spAutoFit/>
          </a:bodyPr>
          <a:lstStyle/>
          <a:p>
            <a:pPr algn="l">
              <a:lnSpc>
                <a:spcPct val="130000"/>
              </a:lnSpc>
            </a:pPr>
            <a:r>
              <a:rPr sz="1200">
                <a:solidFill>
                  <a:srgbClr val="5B6070"/>
                </a:solidFill>
                <a:latin typeface="Roboto"/>
              </a:rPr>
              <a:t>(nenhuma resposta · nenhum log · nenhum trace)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992"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993"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994"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995"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996" name="TextBox 995"/>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A foto do cupom, antes e depois</a:t>
            </a:r>
          </a:p>
        </p:txBody>
      </p:sp>
      <p:sp>
        <p:nvSpPr>
          <p:cNvPr id="997" name="TextBox 996"/>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Episódio B da Aula 4 — mesma capacidade técnica nos dois lados</a:t>
            </a:r>
          </a:p>
        </p:txBody>
      </p:sp>
      <p:sp>
        <p:nvSpPr>
          <p:cNvPr id="998" name="TextBox 997"/>
          <p:cNvSpPr txBox="1"/>
          <p:nvPr/>
        </p:nvSpPr>
        <p:spPr>
          <a:xfrm>
            <a:off x="3492500" y="1732113"/>
            <a:ext cx="4064000" cy="165100"/>
          </a:xfrm>
          <a:prstGeom prst="rect">
            <a:avLst/>
          </a:prstGeom>
          <a:noFill/>
        </p:spPr>
        <p:txBody>
          <a:bodyPr wrap="square" lIns="0" tIns="0" rIns="0" bIns="0" anchor="t">
            <a:spAutoFit/>
          </a:bodyPr>
          <a:lstStyle/>
          <a:p>
            <a:pPr algn="r">
              <a:lnSpc>
                <a:spcPct val="100000"/>
              </a:lnSpc>
            </a:pPr>
            <a:r>
              <a:rPr sz="1000" b="1" cap="all">
                <a:solidFill>
                  <a:srgbClr val="052FD3"/>
                </a:solidFill>
                <a:latin typeface="Encode Sans"/>
              </a:rPr>
              <a:t>Renata manda</a:t>
            </a:r>
          </a:p>
        </p:txBody>
      </p:sp>
      <p:sp>
        <p:nvSpPr>
          <p:cNvPr id="999" name="Rounded Rectangle 998"/>
          <p:cNvSpPr/>
          <p:nvPr/>
        </p:nvSpPr>
        <p:spPr>
          <a:xfrm>
            <a:off x="3492500" y="1922613"/>
            <a:ext cx="4064000" cy="575393"/>
          </a:xfrm>
          <a:prstGeom prst="roundRect">
            <a:avLst>
              <a:gd name="adj" fmla="val 16000"/>
            </a:avLst>
          </a:prstGeom>
          <a:solidFill>
            <a:srgbClr val="052FD3"/>
          </a:solidFill>
          <a:ln w="26670">
            <a:solidFill>
              <a:srgbClr val="052F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0" name="TextBox 999"/>
          <p:cNvSpPr txBox="1"/>
          <p:nvPr/>
        </p:nvSpPr>
        <p:spPr>
          <a:xfrm>
            <a:off x="3657600" y="1922613"/>
            <a:ext cx="3733800" cy="575393"/>
          </a:xfrm>
          <a:prstGeom prst="rect">
            <a:avLst/>
          </a:prstGeom>
          <a:noFill/>
        </p:spPr>
        <p:txBody>
          <a:bodyPr wrap="square" lIns="0" tIns="0" rIns="0" bIns="0" anchor="ctr">
            <a:spAutoFit/>
          </a:bodyPr>
          <a:lstStyle/>
          <a:p>
            <a:pPr algn="l">
              <a:lnSpc>
                <a:spcPct val="130000"/>
              </a:lnSpc>
            </a:pPr>
            <a:r>
              <a:rPr sz="1200">
                <a:solidFill>
                  <a:srgbClr val="FFFFFF"/>
                </a:solidFill>
                <a:latin typeface="Roboto"/>
              </a:rPr>
              <a:t>📷 cupom-mercado.jpg</a:t>
            </a:r>
          </a:p>
        </p:txBody>
      </p:sp>
      <p:sp>
        <p:nvSpPr>
          <p:cNvPr id="1001" name="TextBox 1000"/>
          <p:cNvSpPr txBox="1"/>
          <p:nvPr/>
        </p:nvSpPr>
        <p:spPr>
          <a:xfrm>
            <a:off x="1587500" y="2637706"/>
            <a:ext cx="4064000" cy="165100"/>
          </a:xfrm>
          <a:prstGeom prst="rect">
            <a:avLst/>
          </a:prstGeom>
          <a:noFill/>
        </p:spPr>
        <p:txBody>
          <a:bodyPr wrap="square" lIns="0" tIns="0" rIns="0" bIns="0" anchor="t">
            <a:spAutoFit/>
          </a:bodyPr>
          <a:lstStyle/>
          <a:p>
            <a:pPr algn="l">
              <a:lnSpc>
                <a:spcPct val="100000"/>
              </a:lnSpc>
            </a:pPr>
            <a:r>
              <a:rPr sz="1000" b="1" cap="all">
                <a:solidFill>
                  <a:srgbClr val="C0392B"/>
                </a:solidFill>
                <a:latin typeface="Encode Sans"/>
              </a:rPr>
              <a:t>Antes — até 11/09</a:t>
            </a:r>
          </a:p>
        </p:txBody>
      </p:sp>
      <p:sp>
        <p:nvSpPr>
          <p:cNvPr id="1002" name="Rounded Rectangle 1001"/>
          <p:cNvSpPr/>
          <p:nvPr/>
        </p:nvSpPr>
        <p:spPr>
          <a:xfrm>
            <a:off x="1587500" y="2828206"/>
            <a:ext cx="4064000" cy="575393"/>
          </a:xfrm>
          <a:prstGeom prst="roundRect">
            <a:avLst>
              <a:gd name="adj" fmla="val 16000"/>
            </a:avLst>
          </a:prstGeom>
          <a:solidFill>
            <a:srgbClr val="EEEFF1"/>
          </a:solidFill>
          <a:ln w="17780">
            <a:solidFill>
              <a:srgbClr val="C0392B"/>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3" name="TextBox 1002"/>
          <p:cNvSpPr txBox="1"/>
          <p:nvPr/>
        </p:nvSpPr>
        <p:spPr>
          <a:xfrm>
            <a:off x="1752600" y="2828206"/>
            <a:ext cx="3733800" cy="575393"/>
          </a:xfrm>
          <a:prstGeom prst="rect">
            <a:avLst/>
          </a:prstGeom>
          <a:noFill/>
        </p:spPr>
        <p:txBody>
          <a:bodyPr wrap="square" lIns="0" tIns="0" rIns="0" bIns="0" anchor="ctr">
            <a:spAutoFit/>
          </a:bodyPr>
          <a:lstStyle/>
          <a:p>
            <a:pPr algn="l">
              <a:lnSpc>
                <a:spcPct val="130000"/>
              </a:lnSpc>
            </a:pPr>
            <a:r>
              <a:rPr sz="1200">
                <a:solidFill>
                  <a:srgbClr val="5B6070"/>
                </a:solidFill>
                <a:latin typeface="Roboto"/>
              </a:rPr>
              <a:t>(nenhuma resposta · nenhum log · nenhum trace)</a:t>
            </a:r>
          </a:p>
        </p:txBody>
      </p:sp>
      <p:sp>
        <p:nvSpPr>
          <p:cNvPr id="1004" name="TextBox 1003"/>
          <p:cNvSpPr txBox="1"/>
          <p:nvPr/>
        </p:nvSpPr>
        <p:spPr>
          <a:xfrm>
            <a:off x="1587500" y="3543300"/>
            <a:ext cx="4064000" cy="165100"/>
          </a:xfrm>
          <a:prstGeom prst="rect">
            <a:avLst/>
          </a:prstGeom>
          <a:noFill/>
        </p:spPr>
        <p:txBody>
          <a:bodyPr wrap="square" lIns="0" tIns="0" rIns="0" bIns="0" anchor="t">
            <a:spAutoFit/>
          </a:bodyPr>
          <a:lstStyle/>
          <a:p>
            <a:pPr algn="l">
              <a:lnSpc>
                <a:spcPct val="100000"/>
              </a:lnSpc>
            </a:pPr>
            <a:r>
              <a:rPr sz="1000" b="1" cap="all">
                <a:solidFill>
                  <a:srgbClr val="2FB36B"/>
                </a:solidFill>
                <a:latin typeface="Encode Sans"/>
              </a:rPr>
              <a:t>Depois — PR #4, no ar desde 12/09</a:t>
            </a:r>
          </a:p>
        </p:txBody>
      </p:sp>
      <p:sp>
        <p:nvSpPr>
          <p:cNvPr id="1005" name="Rounded Rectangle 1004"/>
          <p:cNvSpPr/>
          <p:nvPr/>
        </p:nvSpPr>
        <p:spPr>
          <a:xfrm>
            <a:off x="1587500" y="3733800"/>
            <a:ext cx="4064000" cy="820586"/>
          </a:xfrm>
          <a:prstGeom prst="roundRect">
            <a:avLst>
              <a:gd name="adj" fmla="val 1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6" name="TextBox 1005"/>
          <p:cNvSpPr txBox="1"/>
          <p:nvPr/>
        </p:nvSpPr>
        <p:spPr>
          <a:xfrm>
            <a:off x="1752600" y="3733800"/>
            <a:ext cx="3733800" cy="820586"/>
          </a:xfrm>
          <a:prstGeom prst="rect">
            <a:avLst/>
          </a:prstGeom>
          <a:noFill/>
        </p:spPr>
        <p:txBody>
          <a:bodyPr wrap="square" lIns="0" tIns="0" rIns="0" bIns="0" anchor="ctr">
            <a:spAutoFit/>
          </a:bodyPr>
          <a:lstStyle/>
          <a:p>
            <a:pPr algn="l">
              <a:lnSpc>
                <a:spcPct val="130000"/>
              </a:lnSpc>
            </a:pPr>
            <a:r>
              <a:rPr sz="1200">
                <a:solidFill>
                  <a:srgbClr val="14161B"/>
                </a:solidFill>
                <a:latin typeface="Roboto"/>
              </a:rPr>
              <a:t>Ainda não sei ler foto de cupom, me manda o</a:t>
            </a:r>
          </a:p>
          <a:p>
            <a:pPr algn="l">
              <a:lnSpc>
                <a:spcPct val="130000"/>
              </a:lnSpc>
            </a:pPr>
            <a:r>
              <a:rPr sz="1200">
                <a:solidFill>
                  <a:srgbClr val="14161B"/>
                </a:solidFill>
                <a:latin typeface="Roboto"/>
              </a:rPr>
              <a:t>link do QR ou o texto.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6"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997"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998" name="TextBox 997"/>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que mudou — e o que não mudou</a:t>
            </a:r>
          </a:p>
        </p:txBody>
      </p:sp>
      <p:sp>
        <p:nvSpPr>
          <p:cNvPr id="999" name="TextBox 998"/>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A diferença inteira cabe em uma linha</a:t>
            </a:r>
          </a:p>
        </p:txBody>
      </p:sp>
      <p:sp>
        <p:nvSpPr>
          <p:cNvPr id="1000" name="Rounded Rectangle 999"/>
          <p:cNvSpPr/>
          <p:nvPr/>
        </p:nvSpPr>
        <p:spPr>
          <a:xfrm>
            <a:off x="571500" y="1999602"/>
            <a:ext cx="8001000" cy="686231"/>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1" name="Rectangle 1000"/>
          <p:cNvSpPr/>
          <p:nvPr/>
        </p:nvSpPr>
        <p:spPr>
          <a:xfrm>
            <a:off x="571500" y="1999602"/>
            <a:ext cx="50800" cy="686231"/>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2" name="Rounded Rectangle 1001"/>
          <p:cNvSpPr/>
          <p:nvPr/>
        </p:nvSpPr>
        <p:spPr>
          <a:xfrm>
            <a:off x="774700" y="2190318"/>
            <a:ext cx="482600" cy="304800"/>
          </a:xfrm>
          <a:prstGeom prst="roundRect">
            <a:avLst>
              <a:gd name="adj" fmla="val 22000"/>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3" name="TextBox 1002"/>
          <p:cNvSpPr txBox="1"/>
          <p:nvPr/>
        </p:nvSpPr>
        <p:spPr>
          <a:xfrm>
            <a:off x="774700" y="2190318"/>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a:t>
            </a:r>
          </a:p>
        </p:txBody>
      </p:sp>
      <p:sp>
        <p:nvSpPr>
          <p:cNvPr id="1004" name="TextBox 1003"/>
          <p:cNvSpPr txBox="1"/>
          <p:nvPr/>
        </p:nvSpPr>
        <p:spPr>
          <a:xfrm>
            <a:off x="1422400" y="1999602"/>
            <a:ext cx="2641600" cy="686231"/>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A capacidade técnica</a:t>
            </a:r>
          </a:p>
        </p:txBody>
      </p:sp>
      <p:sp>
        <p:nvSpPr>
          <p:cNvPr id="1005" name="TextBox 1004"/>
          <p:cNvSpPr txBox="1"/>
          <p:nvPr/>
        </p:nvSpPr>
        <p:spPr>
          <a:xfrm>
            <a:off x="4267200" y="1999602"/>
            <a:ext cx="4064000" cy="686231"/>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Idêntica nos dois lados. O produto continua sem saber</a:t>
            </a:r>
          </a:p>
          <a:p>
            <a:pPr algn="l">
              <a:lnSpc>
                <a:spcPct val="125000"/>
              </a:lnSpc>
            </a:pPr>
            <a:r>
              <a:rPr sz="1100">
                <a:solidFill>
                  <a:srgbClr val="A8ADBD"/>
                </a:solidFill>
                <a:latin typeface="Roboto"/>
              </a:rPr>
              <a:t>ler foto de cupom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8"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999"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000" name="TextBox 999"/>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que mudou — e o que não mudou</a:t>
            </a:r>
          </a:p>
        </p:txBody>
      </p:sp>
      <p:sp>
        <p:nvSpPr>
          <p:cNvPr id="1001" name="TextBox 1000"/>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A diferença inteira cabe em uma linha</a:t>
            </a:r>
          </a:p>
        </p:txBody>
      </p:sp>
      <p:sp>
        <p:nvSpPr>
          <p:cNvPr id="1002" name="Rounded Rectangle 1001"/>
          <p:cNvSpPr/>
          <p:nvPr/>
        </p:nvSpPr>
        <p:spPr>
          <a:xfrm>
            <a:off x="571500" y="1999602"/>
            <a:ext cx="8001000" cy="686231"/>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3" name="Rectangle 1002"/>
          <p:cNvSpPr/>
          <p:nvPr/>
        </p:nvSpPr>
        <p:spPr>
          <a:xfrm>
            <a:off x="571500" y="1999602"/>
            <a:ext cx="50800" cy="686231"/>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4" name="Rounded Rectangle 1003"/>
          <p:cNvSpPr/>
          <p:nvPr/>
        </p:nvSpPr>
        <p:spPr>
          <a:xfrm>
            <a:off x="774700" y="2190318"/>
            <a:ext cx="482600" cy="304800"/>
          </a:xfrm>
          <a:prstGeom prst="roundRect">
            <a:avLst>
              <a:gd name="adj" fmla="val 22000"/>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5" name="TextBox 1004"/>
          <p:cNvSpPr txBox="1"/>
          <p:nvPr/>
        </p:nvSpPr>
        <p:spPr>
          <a:xfrm>
            <a:off x="774700" y="2190318"/>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a:t>
            </a:r>
          </a:p>
        </p:txBody>
      </p:sp>
      <p:sp>
        <p:nvSpPr>
          <p:cNvPr id="1006" name="TextBox 1005"/>
          <p:cNvSpPr txBox="1"/>
          <p:nvPr/>
        </p:nvSpPr>
        <p:spPr>
          <a:xfrm>
            <a:off x="1422400" y="1999602"/>
            <a:ext cx="2641600" cy="686231"/>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A capacidade técnica</a:t>
            </a:r>
          </a:p>
        </p:txBody>
      </p:sp>
      <p:sp>
        <p:nvSpPr>
          <p:cNvPr id="1007" name="TextBox 1006"/>
          <p:cNvSpPr txBox="1"/>
          <p:nvPr/>
        </p:nvSpPr>
        <p:spPr>
          <a:xfrm>
            <a:off x="4267200" y="1999602"/>
            <a:ext cx="4064000" cy="686231"/>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Idêntica nos dois lados. O produto continua sem saber</a:t>
            </a:r>
          </a:p>
          <a:p>
            <a:pPr algn="l">
              <a:lnSpc>
                <a:spcPct val="125000"/>
              </a:lnSpc>
            </a:pPr>
            <a:r>
              <a:rPr sz="1100">
                <a:solidFill>
                  <a:srgbClr val="A8ADBD"/>
                </a:solidFill>
                <a:latin typeface="Roboto"/>
              </a:rPr>
              <a:t>ler foto de cupom</a:t>
            </a:r>
          </a:p>
        </p:txBody>
      </p:sp>
      <p:sp>
        <p:nvSpPr>
          <p:cNvPr id="1008" name="Rounded Rectangle 1007"/>
          <p:cNvSpPr/>
          <p:nvPr/>
        </p:nvSpPr>
        <p:spPr>
          <a:xfrm>
            <a:off x="571500" y="2800134"/>
            <a:ext cx="8001000" cy="686231"/>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9" name="Rectangle 1008"/>
          <p:cNvSpPr/>
          <p:nvPr/>
        </p:nvSpPr>
        <p:spPr>
          <a:xfrm>
            <a:off x="571500" y="2800134"/>
            <a:ext cx="50800" cy="686231"/>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0" name="Rounded Rectangle 1009"/>
          <p:cNvSpPr/>
          <p:nvPr/>
        </p:nvSpPr>
        <p:spPr>
          <a:xfrm>
            <a:off x="774700" y="2990850"/>
            <a:ext cx="482600" cy="304800"/>
          </a:xfrm>
          <a:prstGeom prst="roundRect">
            <a:avLst>
              <a:gd name="adj" fmla="val 22000"/>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1" name="TextBox 1010"/>
          <p:cNvSpPr txBox="1"/>
          <p:nvPr/>
        </p:nvSpPr>
        <p:spPr>
          <a:xfrm>
            <a:off x="774700" y="299085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a:t>
            </a:r>
          </a:p>
        </p:txBody>
      </p:sp>
      <p:sp>
        <p:nvSpPr>
          <p:cNvPr id="1012" name="TextBox 1011"/>
          <p:cNvSpPr txBox="1"/>
          <p:nvPr/>
        </p:nvSpPr>
        <p:spPr>
          <a:xfrm>
            <a:off x="1422400" y="2800134"/>
            <a:ext cx="2641600" cy="686231"/>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O custo de construir</a:t>
            </a:r>
          </a:p>
        </p:txBody>
      </p:sp>
      <p:sp>
        <p:nvSpPr>
          <p:cNvPr id="1013" name="TextBox 1012"/>
          <p:cNvSpPr txBox="1"/>
          <p:nvPr/>
        </p:nvSpPr>
        <p:spPr>
          <a:xfrm>
            <a:off x="4267200" y="2800134"/>
            <a:ext cx="4064000" cy="686231"/>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Algumas linhas: uma checagem de tipo de mensagem e um</a:t>
            </a:r>
          </a:p>
          <a:p>
            <a:pPr algn="l">
              <a:lnSpc>
                <a:spcPct val="125000"/>
              </a:lnSpc>
            </a:pPr>
            <a:r>
              <a:rPr sz="1100">
                <a:solidFill>
                  <a:srgbClr val="A8ADBD"/>
                </a:solidFill>
                <a:latin typeface="Roboto"/>
              </a:rPr>
              <a:t>texto de resposta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0"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001"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002" name="TextBox 1001"/>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que mudou — e o que não mudou</a:t>
            </a:r>
          </a:p>
        </p:txBody>
      </p:sp>
      <p:sp>
        <p:nvSpPr>
          <p:cNvPr id="1003" name="TextBox 1002"/>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A diferença inteira cabe em uma linha</a:t>
            </a:r>
          </a:p>
        </p:txBody>
      </p:sp>
      <p:sp>
        <p:nvSpPr>
          <p:cNvPr id="1004" name="Rounded Rectangle 1003"/>
          <p:cNvSpPr/>
          <p:nvPr/>
        </p:nvSpPr>
        <p:spPr>
          <a:xfrm>
            <a:off x="571500" y="1999602"/>
            <a:ext cx="8001000" cy="686231"/>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5" name="Rectangle 1004"/>
          <p:cNvSpPr/>
          <p:nvPr/>
        </p:nvSpPr>
        <p:spPr>
          <a:xfrm>
            <a:off x="571500" y="1999602"/>
            <a:ext cx="50800" cy="686231"/>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6" name="Rounded Rectangle 1005"/>
          <p:cNvSpPr/>
          <p:nvPr/>
        </p:nvSpPr>
        <p:spPr>
          <a:xfrm>
            <a:off x="774700" y="2190318"/>
            <a:ext cx="482600" cy="304800"/>
          </a:xfrm>
          <a:prstGeom prst="roundRect">
            <a:avLst>
              <a:gd name="adj" fmla="val 22000"/>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7" name="TextBox 1006"/>
          <p:cNvSpPr txBox="1"/>
          <p:nvPr/>
        </p:nvSpPr>
        <p:spPr>
          <a:xfrm>
            <a:off x="774700" y="2190318"/>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a:t>
            </a:r>
          </a:p>
        </p:txBody>
      </p:sp>
      <p:sp>
        <p:nvSpPr>
          <p:cNvPr id="1008" name="TextBox 1007"/>
          <p:cNvSpPr txBox="1"/>
          <p:nvPr/>
        </p:nvSpPr>
        <p:spPr>
          <a:xfrm>
            <a:off x="1422400" y="1999602"/>
            <a:ext cx="2641600" cy="686231"/>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A capacidade técnica</a:t>
            </a:r>
          </a:p>
        </p:txBody>
      </p:sp>
      <p:sp>
        <p:nvSpPr>
          <p:cNvPr id="1009" name="TextBox 1008"/>
          <p:cNvSpPr txBox="1"/>
          <p:nvPr/>
        </p:nvSpPr>
        <p:spPr>
          <a:xfrm>
            <a:off x="4267200" y="1999602"/>
            <a:ext cx="4064000" cy="686231"/>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Idêntica nos dois lados. O produto continua sem saber</a:t>
            </a:r>
          </a:p>
          <a:p>
            <a:pPr algn="l">
              <a:lnSpc>
                <a:spcPct val="125000"/>
              </a:lnSpc>
            </a:pPr>
            <a:r>
              <a:rPr sz="1100">
                <a:solidFill>
                  <a:srgbClr val="A8ADBD"/>
                </a:solidFill>
                <a:latin typeface="Roboto"/>
              </a:rPr>
              <a:t>ler foto de cupom</a:t>
            </a:r>
          </a:p>
        </p:txBody>
      </p:sp>
      <p:sp>
        <p:nvSpPr>
          <p:cNvPr id="1010" name="Rounded Rectangle 1009"/>
          <p:cNvSpPr/>
          <p:nvPr/>
        </p:nvSpPr>
        <p:spPr>
          <a:xfrm>
            <a:off x="571500" y="2800134"/>
            <a:ext cx="8001000" cy="686231"/>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1" name="Rectangle 1010"/>
          <p:cNvSpPr/>
          <p:nvPr/>
        </p:nvSpPr>
        <p:spPr>
          <a:xfrm>
            <a:off x="571500" y="2800134"/>
            <a:ext cx="50800" cy="686231"/>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2" name="Rounded Rectangle 1011"/>
          <p:cNvSpPr/>
          <p:nvPr/>
        </p:nvSpPr>
        <p:spPr>
          <a:xfrm>
            <a:off x="774700" y="2990850"/>
            <a:ext cx="482600" cy="304800"/>
          </a:xfrm>
          <a:prstGeom prst="roundRect">
            <a:avLst>
              <a:gd name="adj" fmla="val 22000"/>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3" name="TextBox 1012"/>
          <p:cNvSpPr txBox="1"/>
          <p:nvPr/>
        </p:nvSpPr>
        <p:spPr>
          <a:xfrm>
            <a:off x="774700" y="299085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a:t>
            </a:r>
          </a:p>
        </p:txBody>
      </p:sp>
      <p:sp>
        <p:nvSpPr>
          <p:cNvPr id="1014" name="TextBox 1013"/>
          <p:cNvSpPr txBox="1"/>
          <p:nvPr/>
        </p:nvSpPr>
        <p:spPr>
          <a:xfrm>
            <a:off x="1422400" y="2800134"/>
            <a:ext cx="2641600" cy="686231"/>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O custo de construir</a:t>
            </a:r>
          </a:p>
        </p:txBody>
      </p:sp>
      <p:sp>
        <p:nvSpPr>
          <p:cNvPr id="1015" name="TextBox 1014"/>
          <p:cNvSpPr txBox="1"/>
          <p:nvPr/>
        </p:nvSpPr>
        <p:spPr>
          <a:xfrm>
            <a:off x="4267200" y="2800134"/>
            <a:ext cx="4064000" cy="686231"/>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Algumas linhas: uma checagem de tipo de mensagem e um</a:t>
            </a:r>
          </a:p>
          <a:p>
            <a:pPr algn="l">
              <a:lnSpc>
                <a:spcPct val="125000"/>
              </a:lnSpc>
            </a:pPr>
            <a:r>
              <a:rPr sz="1100">
                <a:solidFill>
                  <a:srgbClr val="A8ADBD"/>
                </a:solidFill>
                <a:latin typeface="Roboto"/>
              </a:rPr>
              <a:t>texto de resposta</a:t>
            </a:r>
          </a:p>
        </p:txBody>
      </p:sp>
      <p:sp>
        <p:nvSpPr>
          <p:cNvPr id="1016" name="Rounded Rectangle 1015"/>
          <p:cNvSpPr/>
          <p:nvPr/>
        </p:nvSpPr>
        <p:spPr>
          <a:xfrm>
            <a:off x="571500" y="3600665"/>
            <a:ext cx="8001000" cy="686231"/>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7" name="Rectangle 1016"/>
          <p:cNvSpPr/>
          <p:nvPr/>
        </p:nvSpPr>
        <p:spPr>
          <a:xfrm>
            <a:off x="571500" y="3600665"/>
            <a:ext cx="50800" cy="686231"/>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8" name="Rounded Rectangle 1017"/>
          <p:cNvSpPr/>
          <p:nvPr/>
        </p:nvSpPr>
        <p:spPr>
          <a:xfrm>
            <a:off x="774700" y="3791381"/>
            <a:ext cx="482600" cy="304800"/>
          </a:xfrm>
          <a:prstGeom prst="roundRect">
            <a:avLst>
              <a:gd name="adj" fmla="val 22000"/>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9" name="TextBox 1018"/>
          <p:cNvSpPr txBox="1"/>
          <p:nvPr/>
        </p:nvSpPr>
        <p:spPr>
          <a:xfrm>
            <a:off x="774700" y="3791381"/>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a:t>
            </a:r>
          </a:p>
        </p:txBody>
      </p:sp>
      <p:sp>
        <p:nvSpPr>
          <p:cNvPr id="1020" name="TextBox 1019"/>
          <p:cNvSpPr txBox="1"/>
          <p:nvPr/>
        </p:nvSpPr>
        <p:spPr>
          <a:xfrm>
            <a:off x="1422400" y="3600665"/>
            <a:ext cx="2641600" cy="686231"/>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O que mudou</a:t>
            </a:r>
          </a:p>
        </p:txBody>
      </p:sp>
      <p:sp>
        <p:nvSpPr>
          <p:cNvPr id="1021" name="TextBox 1020"/>
          <p:cNvSpPr txBox="1"/>
          <p:nvPr/>
        </p:nvSpPr>
        <p:spPr>
          <a:xfrm>
            <a:off x="4267200" y="3600665"/>
            <a:ext cx="4064000" cy="686231"/>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Só ele ter dito. E isso já é a correção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03"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1004"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1005"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006"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07"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1008"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1009" name="TextBox 1008"/>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4900">
                <a:solidFill>
                  <a:srgbClr val="BDBFC7"/>
                </a:solidFill>
                <a:latin typeface="Encode Sans"/>
              </a:rPr>
              <a:t>Admitir a</a:t>
            </a:r>
          </a:p>
          <a:p>
            <a:pPr algn="ctr">
              <a:lnSpc>
                <a:spcPct val="112000"/>
              </a:lnSpc>
            </a:pPr>
            <a:r>
              <a:rPr sz="4900">
                <a:solidFill>
                  <a:srgbClr val="BDBFC7"/>
                </a:solidFill>
                <a:latin typeface="Encode Sans"/>
              </a:rPr>
              <a:t>limitação já</a:t>
            </a:r>
          </a:p>
          <a:p>
            <a:pPr algn="ctr">
              <a:lnSpc>
                <a:spcPct val="112000"/>
              </a:lnSpc>
            </a:pPr>
            <a:r>
              <a:rPr sz="4900">
                <a:solidFill>
                  <a:srgbClr val="BDBFC7"/>
                </a:solidFill>
                <a:latin typeface="Encode Sans"/>
              </a:rPr>
              <a:t>é uma</a:t>
            </a:r>
          </a:p>
          <a:p>
            <a:pPr algn="ctr">
              <a:lnSpc>
                <a:spcPct val="112000"/>
              </a:lnSpc>
            </a:pPr>
            <a:r>
              <a:rPr sz="4900">
                <a:solidFill>
                  <a:srgbClr val="BDBFC7"/>
                </a:solidFill>
                <a:latin typeface="Encode Sans"/>
              </a:rPr>
              <a:t>correção.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10"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11"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12"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13"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14" name="TextBox 1013"/>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Por que a correção barata vem primeiro</a:t>
            </a:r>
          </a:p>
        </p:txBody>
      </p:sp>
      <p:sp>
        <p:nvSpPr>
          <p:cNvPr id="1015" name="Rounded Rectangle 1014"/>
          <p:cNvSpPr/>
          <p:nvPr/>
        </p:nvSpPr>
        <p:spPr>
          <a:xfrm>
            <a:off x="571500" y="1442476"/>
            <a:ext cx="2497666" cy="3160247"/>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6" name="Rectangle 1015"/>
          <p:cNvSpPr/>
          <p:nvPr/>
        </p:nvSpPr>
        <p:spPr>
          <a:xfrm>
            <a:off x="571500" y="1442476"/>
            <a:ext cx="2497666"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7" name="TextBox 1016"/>
          <p:cNvSpPr txBox="1"/>
          <p:nvPr/>
        </p:nvSpPr>
        <p:spPr>
          <a:xfrm>
            <a:off x="774700" y="1671076"/>
            <a:ext cx="2091266" cy="177800"/>
          </a:xfrm>
          <a:prstGeom prst="rect">
            <a:avLst/>
          </a:prstGeom>
          <a:noFill/>
        </p:spPr>
        <p:txBody>
          <a:bodyPr wrap="square" lIns="0" tIns="0" rIns="0" bIns="0" anchor="ctr">
            <a:spAutoFit/>
          </a:bodyPr>
          <a:lstStyle/>
          <a:p>
            <a:pPr algn="ctr">
              <a:lnSpc>
                <a:spcPct val="100000"/>
              </a:lnSpc>
            </a:pPr>
            <a:r>
              <a:rPr sz="1100" b="1" cap="all">
                <a:solidFill>
                  <a:srgbClr val="2FB36B"/>
                </a:solidFill>
                <a:latin typeface="Encode Sans"/>
              </a:rPr>
              <a:t>Custo</a:t>
            </a:r>
          </a:p>
        </p:txBody>
      </p:sp>
      <p:sp>
        <p:nvSpPr>
          <p:cNvPr id="1018" name="TextBox 1017"/>
          <p:cNvSpPr txBox="1"/>
          <p:nvPr/>
        </p:nvSpPr>
        <p:spPr>
          <a:xfrm>
            <a:off x="774700" y="1950476"/>
            <a:ext cx="2091266" cy="587835"/>
          </a:xfrm>
          <a:prstGeom prst="rect">
            <a:avLst/>
          </a:prstGeom>
          <a:noFill/>
        </p:spPr>
        <p:txBody>
          <a:bodyPr wrap="square" lIns="0" tIns="0" rIns="0" bIns="0" anchor="ctr">
            <a:spAutoFit/>
          </a:bodyPr>
          <a:lstStyle/>
          <a:p>
            <a:pPr algn="ctr">
              <a:lnSpc>
                <a:spcPct val="110000"/>
              </a:lnSpc>
            </a:pPr>
            <a:r>
              <a:rPr sz="1700">
                <a:solidFill>
                  <a:srgbClr val="14161B"/>
                </a:solidFill>
                <a:latin typeface="Encode Sans SemiBold"/>
              </a:rPr>
              <a:t>Dizer "não sei"</a:t>
            </a:r>
          </a:p>
          <a:p>
            <a:pPr algn="ctr">
              <a:lnSpc>
                <a:spcPct val="110000"/>
              </a:lnSpc>
            </a:pPr>
            <a:r>
              <a:rPr sz="1700">
                <a:solidFill>
                  <a:srgbClr val="14161B"/>
                </a:solidFill>
                <a:latin typeface="Encode Sans SemiBold"/>
              </a:rPr>
              <a:t>é barato</a:t>
            </a:r>
          </a:p>
        </p:txBody>
      </p:sp>
      <p:sp>
        <p:nvSpPr>
          <p:cNvPr id="1019" name="TextBox 1018"/>
          <p:cNvSpPr txBox="1"/>
          <p:nvPr/>
        </p:nvSpPr>
        <p:spPr>
          <a:xfrm>
            <a:off x="774700" y="2690711"/>
            <a:ext cx="2091266" cy="1329234"/>
          </a:xfrm>
          <a:prstGeom prst="rect">
            <a:avLst/>
          </a:prstGeom>
          <a:noFill/>
        </p:spPr>
        <p:txBody>
          <a:bodyPr wrap="square" lIns="0" tIns="0" rIns="0" bIns="0" anchor="t">
            <a:spAutoFit/>
          </a:bodyPr>
          <a:lstStyle/>
          <a:p>
            <a:pPr marL="182880" indent="-182880" algn="l">
              <a:lnSpc>
                <a:spcPct val="115000"/>
              </a:lnSpc>
              <a:spcAft>
                <a:spcPts val="500"/>
              </a:spcAft>
              <a:buClr>
                <a:srgbClr val="2FB36B"/>
              </a:buClr>
              <a:buSzPts val="735"/>
              <a:buFont typeface="Arial"/>
              <a:buChar char="●"/>
            </a:pPr>
            <a:r>
              <a:rPr sz="1050">
                <a:solidFill>
                  <a:srgbClr val="5B6070"/>
                </a:solidFill>
                <a:latin typeface="Roboto"/>
              </a:rPr>
              <a:t>Uma checagem de tipo e um texto de resposta</a:t>
            </a:r>
          </a:p>
          <a:p>
            <a:pPr marL="182880" indent="-182880" algn="l">
              <a:lnSpc>
                <a:spcPct val="115000"/>
              </a:lnSpc>
              <a:spcAft>
                <a:spcPts val="500"/>
              </a:spcAft>
              <a:buClr>
                <a:srgbClr val="2FB36B"/>
              </a:buClr>
              <a:buSzPts val="735"/>
              <a:buFont typeface="Arial"/>
              <a:buChar char="●"/>
            </a:pPr>
            <a:r>
              <a:rPr sz="1050">
                <a:solidFill>
                  <a:srgbClr val="5B6070"/>
                </a:solidFill>
                <a:latin typeface="Roboto"/>
              </a:rPr>
              <a:t>Fecha o pior sintoma no mesmo dia</a:t>
            </a:r>
          </a:p>
          <a:p>
            <a:pPr marL="182880" indent="-182880" algn="l">
              <a:lnSpc>
                <a:spcPct val="115000"/>
              </a:lnSpc>
              <a:spcAft>
                <a:spcPts val="500"/>
              </a:spcAft>
              <a:buClr>
                <a:srgbClr val="2FB36B"/>
              </a:buClr>
              <a:buSzPts val="735"/>
              <a:buFont typeface="Arial"/>
              <a:buChar char="●"/>
            </a:pPr>
            <a:r>
              <a:rPr sz="1050">
                <a:solidFill>
                  <a:srgbClr val="5B6070"/>
                </a:solidFill>
                <a:latin typeface="Roboto"/>
              </a:rPr>
              <a:t>Não exige decisão de arquitetura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15"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16"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17"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18"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19" name="TextBox 1018"/>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Por que a correção barata vem primeiro</a:t>
            </a:r>
          </a:p>
        </p:txBody>
      </p:sp>
      <p:sp>
        <p:nvSpPr>
          <p:cNvPr id="1020" name="Rounded Rectangle 1019"/>
          <p:cNvSpPr/>
          <p:nvPr/>
        </p:nvSpPr>
        <p:spPr>
          <a:xfrm>
            <a:off x="571500" y="1442476"/>
            <a:ext cx="2497666" cy="3160247"/>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21" name="Rectangle 1020"/>
          <p:cNvSpPr/>
          <p:nvPr/>
        </p:nvSpPr>
        <p:spPr>
          <a:xfrm>
            <a:off x="571500" y="1442476"/>
            <a:ext cx="2497666"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22" name="TextBox 1021"/>
          <p:cNvSpPr txBox="1"/>
          <p:nvPr/>
        </p:nvSpPr>
        <p:spPr>
          <a:xfrm>
            <a:off x="774700" y="1671076"/>
            <a:ext cx="2091266" cy="177800"/>
          </a:xfrm>
          <a:prstGeom prst="rect">
            <a:avLst/>
          </a:prstGeom>
          <a:noFill/>
        </p:spPr>
        <p:txBody>
          <a:bodyPr wrap="square" lIns="0" tIns="0" rIns="0" bIns="0" anchor="ctr">
            <a:spAutoFit/>
          </a:bodyPr>
          <a:lstStyle/>
          <a:p>
            <a:pPr algn="ctr">
              <a:lnSpc>
                <a:spcPct val="100000"/>
              </a:lnSpc>
            </a:pPr>
            <a:r>
              <a:rPr sz="1100" b="1" cap="all">
                <a:solidFill>
                  <a:srgbClr val="2FB36B"/>
                </a:solidFill>
                <a:latin typeface="Encode Sans"/>
              </a:rPr>
              <a:t>Custo</a:t>
            </a:r>
          </a:p>
        </p:txBody>
      </p:sp>
      <p:sp>
        <p:nvSpPr>
          <p:cNvPr id="1023" name="TextBox 1022"/>
          <p:cNvSpPr txBox="1"/>
          <p:nvPr/>
        </p:nvSpPr>
        <p:spPr>
          <a:xfrm>
            <a:off x="774700" y="1950476"/>
            <a:ext cx="2091266" cy="587835"/>
          </a:xfrm>
          <a:prstGeom prst="rect">
            <a:avLst/>
          </a:prstGeom>
          <a:noFill/>
        </p:spPr>
        <p:txBody>
          <a:bodyPr wrap="square" lIns="0" tIns="0" rIns="0" bIns="0" anchor="ctr">
            <a:spAutoFit/>
          </a:bodyPr>
          <a:lstStyle/>
          <a:p>
            <a:pPr algn="ctr">
              <a:lnSpc>
                <a:spcPct val="110000"/>
              </a:lnSpc>
            </a:pPr>
            <a:r>
              <a:rPr sz="1700">
                <a:solidFill>
                  <a:srgbClr val="14161B"/>
                </a:solidFill>
                <a:latin typeface="Encode Sans SemiBold"/>
              </a:rPr>
              <a:t>Dizer "não sei"</a:t>
            </a:r>
          </a:p>
          <a:p>
            <a:pPr algn="ctr">
              <a:lnSpc>
                <a:spcPct val="110000"/>
              </a:lnSpc>
            </a:pPr>
            <a:r>
              <a:rPr sz="1700">
                <a:solidFill>
                  <a:srgbClr val="14161B"/>
                </a:solidFill>
                <a:latin typeface="Encode Sans SemiBold"/>
              </a:rPr>
              <a:t>é barato</a:t>
            </a:r>
          </a:p>
        </p:txBody>
      </p:sp>
      <p:sp>
        <p:nvSpPr>
          <p:cNvPr id="1024" name="TextBox 1023"/>
          <p:cNvSpPr txBox="1"/>
          <p:nvPr/>
        </p:nvSpPr>
        <p:spPr>
          <a:xfrm>
            <a:off x="774700" y="2690711"/>
            <a:ext cx="2091266" cy="1329234"/>
          </a:xfrm>
          <a:prstGeom prst="rect">
            <a:avLst/>
          </a:prstGeom>
          <a:noFill/>
        </p:spPr>
        <p:txBody>
          <a:bodyPr wrap="square" lIns="0" tIns="0" rIns="0" bIns="0" anchor="t">
            <a:spAutoFit/>
          </a:bodyPr>
          <a:lstStyle/>
          <a:p>
            <a:pPr marL="182880" indent="-182880" algn="l">
              <a:lnSpc>
                <a:spcPct val="115000"/>
              </a:lnSpc>
              <a:spcAft>
                <a:spcPts val="500"/>
              </a:spcAft>
              <a:buClr>
                <a:srgbClr val="2FB36B"/>
              </a:buClr>
              <a:buSzPts val="735"/>
              <a:buFont typeface="Arial"/>
              <a:buChar char="●"/>
            </a:pPr>
            <a:r>
              <a:rPr sz="1050">
                <a:solidFill>
                  <a:srgbClr val="5B6070"/>
                </a:solidFill>
                <a:latin typeface="Roboto"/>
              </a:rPr>
              <a:t>Uma checagem de tipo e um texto de resposta</a:t>
            </a:r>
          </a:p>
          <a:p>
            <a:pPr marL="182880" indent="-182880" algn="l">
              <a:lnSpc>
                <a:spcPct val="115000"/>
              </a:lnSpc>
              <a:spcAft>
                <a:spcPts val="500"/>
              </a:spcAft>
              <a:buClr>
                <a:srgbClr val="2FB36B"/>
              </a:buClr>
              <a:buSzPts val="735"/>
              <a:buFont typeface="Arial"/>
              <a:buChar char="●"/>
            </a:pPr>
            <a:r>
              <a:rPr sz="1050">
                <a:solidFill>
                  <a:srgbClr val="5B6070"/>
                </a:solidFill>
                <a:latin typeface="Roboto"/>
              </a:rPr>
              <a:t>Fecha o pior sintoma no mesmo dia</a:t>
            </a:r>
          </a:p>
          <a:p>
            <a:pPr marL="182880" indent="-182880" algn="l">
              <a:lnSpc>
                <a:spcPct val="115000"/>
              </a:lnSpc>
              <a:spcAft>
                <a:spcPts val="500"/>
              </a:spcAft>
              <a:buClr>
                <a:srgbClr val="2FB36B"/>
              </a:buClr>
              <a:buSzPts val="735"/>
              <a:buFont typeface="Arial"/>
              <a:buChar char="●"/>
            </a:pPr>
            <a:r>
              <a:rPr sz="1050">
                <a:solidFill>
                  <a:srgbClr val="5B6070"/>
                </a:solidFill>
                <a:latin typeface="Roboto"/>
              </a:rPr>
              <a:t>Não exige decisão de arquitetura</a:t>
            </a:r>
          </a:p>
        </p:txBody>
      </p:sp>
      <p:sp>
        <p:nvSpPr>
          <p:cNvPr id="1025" name="Rounded Rectangle 1024"/>
          <p:cNvSpPr/>
          <p:nvPr/>
        </p:nvSpPr>
        <p:spPr>
          <a:xfrm>
            <a:off x="3323166" y="1442476"/>
            <a:ext cx="2497666" cy="3160247"/>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26" name="Rectangle 1025"/>
          <p:cNvSpPr/>
          <p:nvPr/>
        </p:nvSpPr>
        <p:spPr>
          <a:xfrm>
            <a:off x="3323166" y="1442476"/>
            <a:ext cx="2497666"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27" name="TextBox 1026"/>
          <p:cNvSpPr txBox="1"/>
          <p:nvPr/>
        </p:nvSpPr>
        <p:spPr>
          <a:xfrm>
            <a:off x="3526366" y="1671076"/>
            <a:ext cx="2091266" cy="177800"/>
          </a:xfrm>
          <a:prstGeom prst="rect">
            <a:avLst/>
          </a:prstGeom>
          <a:noFill/>
        </p:spPr>
        <p:txBody>
          <a:bodyPr wrap="square" lIns="0" tIns="0" rIns="0" bIns="0" anchor="ctr">
            <a:spAutoFit/>
          </a:bodyPr>
          <a:lstStyle/>
          <a:p>
            <a:pPr algn="ctr">
              <a:lnSpc>
                <a:spcPct val="100000"/>
              </a:lnSpc>
            </a:pPr>
            <a:r>
              <a:rPr sz="1100" b="1" cap="all">
                <a:solidFill>
                  <a:srgbClr val="052FD3"/>
                </a:solidFill>
                <a:latin typeface="Encode Sans"/>
              </a:rPr>
              <a:t>Ordem</a:t>
            </a:r>
          </a:p>
        </p:txBody>
      </p:sp>
      <p:sp>
        <p:nvSpPr>
          <p:cNvPr id="1028" name="TextBox 1027"/>
          <p:cNvSpPr txBox="1"/>
          <p:nvPr/>
        </p:nvSpPr>
        <p:spPr>
          <a:xfrm>
            <a:off x="3526366" y="1950476"/>
            <a:ext cx="2091266" cy="587835"/>
          </a:xfrm>
          <a:prstGeom prst="rect">
            <a:avLst/>
          </a:prstGeom>
          <a:noFill/>
        </p:spPr>
        <p:txBody>
          <a:bodyPr wrap="square" lIns="0" tIns="0" rIns="0" bIns="0" anchor="ctr">
            <a:spAutoFit/>
          </a:bodyPr>
          <a:lstStyle/>
          <a:p>
            <a:pPr algn="ctr">
              <a:lnSpc>
                <a:spcPct val="110000"/>
              </a:lnSpc>
            </a:pPr>
            <a:r>
              <a:rPr sz="1700">
                <a:solidFill>
                  <a:srgbClr val="14161B"/>
                </a:solidFill>
                <a:latin typeface="Encode Sans SemiBold"/>
              </a:rPr>
              <a:t>Capacidade nova</a:t>
            </a:r>
          </a:p>
          <a:p>
            <a:pPr algn="ctr">
              <a:lnSpc>
                <a:spcPct val="110000"/>
              </a:lnSpc>
            </a:pPr>
            <a:r>
              <a:rPr sz="1700">
                <a:solidFill>
                  <a:srgbClr val="14161B"/>
                </a:solidFill>
                <a:latin typeface="Encode Sans SemiBold"/>
              </a:rPr>
              <a:t>é cara</a:t>
            </a:r>
          </a:p>
        </p:txBody>
      </p:sp>
      <p:sp>
        <p:nvSpPr>
          <p:cNvPr id="1029" name="TextBox 1028"/>
          <p:cNvSpPr txBox="1"/>
          <p:nvPr/>
        </p:nvSpPr>
        <p:spPr>
          <a:xfrm>
            <a:off x="3526366" y="2690711"/>
            <a:ext cx="2091266" cy="1519023"/>
          </a:xfrm>
          <a:prstGeom prst="rect">
            <a:avLst/>
          </a:prstGeom>
          <a:noFill/>
        </p:spPr>
        <p:txBody>
          <a:bodyPr wrap="square" lIns="0" tIns="0" rIns="0" bIns="0" anchor="t">
            <a:spAutoFit/>
          </a:bodyPr>
          <a:lstStyle/>
          <a:p>
            <a:pPr marL="182880" indent="-182880" algn="l">
              <a:lnSpc>
                <a:spcPct val="115000"/>
              </a:lnSpc>
              <a:spcAft>
                <a:spcPts val="500"/>
              </a:spcAft>
              <a:buClr>
                <a:srgbClr val="052FD3"/>
              </a:buClr>
              <a:buSzPts val="735"/>
              <a:buFont typeface="Arial"/>
              <a:buChar char="●"/>
            </a:pPr>
            <a:r>
              <a:rPr sz="1050">
                <a:solidFill>
                  <a:srgbClr val="5B6070"/>
                </a:solidFill>
                <a:latin typeface="Roboto"/>
              </a:rPr>
              <a:t>Ler a foto de verdade veio depois, no 4.3</a:t>
            </a:r>
          </a:p>
          <a:p>
            <a:pPr marL="182880" indent="-182880" algn="l">
              <a:lnSpc>
                <a:spcPct val="115000"/>
              </a:lnSpc>
              <a:spcAft>
                <a:spcPts val="500"/>
              </a:spcAft>
              <a:buClr>
                <a:srgbClr val="052FD3"/>
              </a:buClr>
              <a:buSzPts val="735"/>
              <a:buFont typeface="Arial"/>
              <a:buChar char="●"/>
            </a:pPr>
            <a:r>
              <a:rPr sz="1050">
                <a:solidFill>
                  <a:srgbClr val="5B6070"/>
                </a:solidFill>
                <a:latin typeface="Roboto"/>
              </a:rPr>
              <a:t>Exigiu integração com a SEFAZ</a:t>
            </a:r>
          </a:p>
          <a:p>
            <a:pPr marL="182880" indent="-182880" algn="l">
              <a:lnSpc>
                <a:spcPct val="115000"/>
              </a:lnSpc>
              <a:spcAft>
                <a:spcPts val="500"/>
              </a:spcAft>
              <a:buClr>
                <a:srgbClr val="052FD3"/>
              </a:buClr>
              <a:buSzPts val="735"/>
              <a:buFont typeface="Arial"/>
              <a:buChar char="●"/>
            </a:pPr>
            <a:r>
              <a:rPr sz="1050">
                <a:solidFill>
                  <a:srgbClr val="5B6070"/>
                </a:solidFill>
                <a:latin typeface="Roboto"/>
              </a:rPr>
              <a:t>Um desenho que eu tentei e não funcionou antes de achar o que funcionava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20"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21"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22"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23"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24" name="TextBox 1023"/>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Por que a correção barata vem primeiro</a:t>
            </a:r>
          </a:p>
        </p:txBody>
      </p:sp>
      <p:sp>
        <p:nvSpPr>
          <p:cNvPr id="1025" name="Rounded Rectangle 1024"/>
          <p:cNvSpPr/>
          <p:nvPr/>
        </p:nvSpPr>
        <p:spPr>
          <a:xfrm>
            <a:off x="571500" y="1442476"/>
            <a:ext cx="2497666" cy="3160247"/>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26" name="Rectangle 1025"/>
          <p:cNvSpPr/>
          <p:nvPr/>
        </p:nvSpPr>
        <p:spPr>
          <a:xfrm>
            <a:off x="571500" y="1442476"/>
            <a:ext cx="2497666"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27" name="TextBox 1026"/>
          <p:cNvSpPr txBox="1"/>
          <p:nvPr/>
        </p:nvSpPr>
        <p:spPr>
          <a:xfrm>
            <a:off x="774700" y="1671076"/>
            <a:ext cx="2091266" cy="177800"/>
          </a:xfrm>
          <a:prstGeom prst="rect">
            <a:avLst/>
          </a:prstGeom>
          <a:noFill/>
        </p:spPr>
        <p:txBody>
          <a:bodyPr wrap="square" lIns="0" tIns="0" rIns="0" bIns="0" anchor="ctr">
            <a:spAutoFit/>
          </a:bodyPr>
          <a:lstStyle/>
          <a:p>
            <a:pPr algn="ctr">
              <a:lnSpc>
                <a:spcPct val="100000"/>
              </a:lnSpc>
            </a:pPr>
            <a:r>
              <a:rPr sz="1100" b="1" cap="all">
                <a:solidFill>
                  <a:srgbClr val="2FB36B"/>
                </a:solidFill>
                <a:latin typeface="Encode Sans"/>
              </a:rPr>
              <a:t>Custo</a:t>
            </a:r>
          </a:p>
        </p:txBody>
      </p:sp>
      <p:sp>
        <p:nvSpPr>
          <p:cNvPr id="1028" name="TextBox 1027"/>
          <p:cNvSpPr txBox="1"/>
          <p:nvPr/>
        </p:nvSpPr>
        <p:spPr>
          <a:xfrm>
            <a:off x="774700" y="1950476"/>
            <a:ext cx="2091266" cy="587835"/>
          </a:xfrm>
          <a:prstGeom prst="rect">
            <a:avLst/>
          </a:prstGeom>
          <a:noFill/>
        </p:spPr>
        <p:txBody>
          <a:bodyPr wrap="square" lIns="0" tIns="0" rIns="0" bIns="0" anchor="ctr">
            <a:spAutoFit/>
          </a:bodyPr>
          <a:lstStyle/>
          <a:p>
            <a:pPr algn="ctr">
              <a:lnSpc>
                <a:spcPct val="110000"/>
              </a:lnSpc>
            </a:pPr>
            <a:r>
              <a:rPr sz="1700">
                <a:solidFill>
                  <a:srgbClr val="14161B"/>
                </a:solidFill>
                <a:latin typeface="Encode Sans SemiBold"/>
              </a:rPr>
              <a:t>Dizer "não sei"</a:t>
            </a:r>
          </a:p>
          <a:p>
            <a:pPr algn="ctr">
              <a:lnSpc>
                <a:spcPct val="110000"/>
              </a:lnSpc>
            </a:pPr>
            <a:r>
              <a:rPr sz="1700">
                <a:solidFill>
                  <a:srgbClr val="14161B"/>
                </a:solidFill>
                <a:latin typeface="Encode Sans SemiBold"/>
              </a:rPr>
              <a:t>é barato</a:t>
            </a:r>
          </a:p>
        </p:txBody>
      </p:sp>
      <p:sp>
        <p:nvSpPr>
          <p:cNvPr id="1029" name="TextBox 1028"/>
          <p:cNvSpPr txBox="1"/>
          <p:nvPr/>
        </p:nvSpPr>
        <p:spPr>
          <a:xfrm>
            <a:off x="774700" y="2690711"/>
            <a:ext cx="2091266" cy="1329234"/>
          </a:xfrm>
          <a:prstGeom prst="rect">
            <a:avLst/>
          </a:prstGeom>
          <a:noFill/>
        </p:spPr>
        <p:txBody>
          <a:bodyPr wrap="square" lIns="0" tIns="0" rIns="0" bIns="0" anchor="t">
            <a:spAutoFit/>
          </a:bodyPr>
          <a:lstStyle/>
          <a:p>
            <a:pPr marL="182880" indent="-182880" algn="l">
              <a:lnSpc>
                <a:spcPct val="115000"/>
              </a:lnSpc>
              <a:spcAft>
                <a:spcPts val="500"/>
              </a:spcAft>
              <a:buClr>
                <a:srgbClr val="2FB36B"/>
              </a:buClr>
              <a:buSzPts val="735"/>
              <a:buFont typeface="Arial"/>
              <a:buChar char="●"/>
            </a:pPr>
            <a:r>
              <a:rPr sz="1050">
                <a:solidFill>
                  <a:srgbClr val="5B6070"/>
                </a:solidFill>
                <a:latin typeface="Roboto"/>
              </a:rPr>
              <a:t>Uma checagem de tipo e um texto de resposta</a:t>
            </a:r>
          </a:p>
          <a:p>
            <a:pPr marL="182880" indent="-182880" algn="l">
              <a:lnSpc>
                <a:spcPct val="115000"/>
              </a:lnSpc>
              <a:spcAft>
                <a:spcPts val="500"/>
              </a:spcAft>
              <a:buClr>
                <a:srgbClr val="2FB36B"/>
              </a:buClr>
              <a:buSzPts val="735"/>
              <a:buFont typeface="Arial"/>
              <a:buChar char="●"/>
            </a:pPr>
            <a:r>
              <a:rPr sz="1050">
                <a:solidFill>
                  <a:srgbClr val="5B6070"/>
                </a:solidFill>
                <a:latin typeface="Roboto"/>
              </a:rPr>
              <a:t>Fecha o pior sintoma no mesmo dia</a:t>
            </a:r>
          </a:p>
          <a:p>
            <a:pPr marL="182880" indent="-182880" algn="l">
              <a:lnSpc>
                <a:spcPct val="115000"/>
              </a:lnSpc>
              <a:spcAft>
                <a:spcPts val="500"/>
              </a:spcAft>
              <a:buClr>
                <a:srgbClr val="2FB36B"/>
              </a:buClr>
              <a:buSzPts val="735"/>
              <a:buFont typeface="Arial"/>
              <a:buChar char="●"/>
            </a:pPr>
            <a:r>
              <a:rPr sz="1050">
                <a:solidFill>
                  <a:srgbClr val="5B6070"/>
                </a:solidFill>
                <a:latin typeface="Roboto"/>
              </a:rPr>
              <a:t>Não exige decisão de arquitetura</a:t>
            </a:r>
          </a:p>
        </p:txBody>
      </p:sp>
      <p:sp>
        <p:nvSpPr>
          <p:cNvPr id="1030" name="Rounded Rectangle 1029"/>
          <p:cNvSpPr/>
          <p:nvPr/>
        </p:nvSpPr>
        <p:spPr>
          <a:xfrm>
            <a:off x="3323166" y="1442476"/>
            <a:ext cx="2497666" cy="3160247"/>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31" name="Rectangle 1030"/>
          <p:cNvSpPr/>
          <p:nvPr/>
        </p:nvSpPr>
        <p:spPr>
          <a:xfrm>
            <a:off x="3323166" y="1442476"/>
            <a:ext cx="2497666"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32" name="TextBox 1031"/>
          <p:cNvSpPr txBox="1"/>
          <p:nvPr/>
        </p:nvSpPr>
        <p:spPr>
          <a:xfrm>
            <a:off x="3526366" y="1671076"/>
            <a:ext cx="2091266" cy="177800"/>
          </a:xfrm>
          <a:prstGeom prst="rect">
            <a:avLst/>
          </a:prstGeom>
          <a:noFill/>
        </p:spPr>
        <p:txBody>
          <a:bodyPr wrap="square" lIns="0" tIns="0" rIns="0" bIns="0" anchor="ctr">
            <a:spAutoFit/>
          </a:bodyPr>
          <a:lstStyle/>
          <a:p>
            <a:pPr algn="ctr">
              <a:lnSpc>
                <a:spcPct val="100000"/>
              </a:lnSpc>
            </a:pPr>
            <a:r>
              <a:rPr sz="1100" b="1" cap="all">
                <a:solidFill>
                  <a:srgbClr val="052FD3"/>
                </a:solidFill>
                <a:latin typeface="Encode Sans"/>
              </a:rPr>
              <a:t>Ordem</a:t>
            </a:r>
          </a:p>
        </p:txBody>
      </p:sp>
      <p:sp>
        <p:nvSpPr>
          <p:cNvPr id="1033" name="TextBox 1032"/>
          <p:cNvSpPr txBox="1"/>
          <p:nvPr/>
        </p:nvSpPr>
        <p:spPr>
          <a:xfrm>
            <a:off x="3526366" y="1950476"/>
            <a:ext cx="2091266" cy="587835"/>
          </a:xfrm>
          <a:prstGeom prst="rect">
            <a:avLst/>
          </a:prstGeom>
          <a:noFill/>
        </p:spPr>
        <p:txBody>
          <a:bodyPr wrap="square" lIns="0" tIns="0" rIns="0" bIns="0" anchor="ctr">
            <a:spAutoFit/>
          </a:bodyPr>
          <a:lstStyle/>
          <a:p>
            <a:pPr algn="ctr">
              <a:lnSpc>
                <a:spcPct val="110000"/>
              </a:lnSpc>
            </a:pPr>
            <a:r>
              <a:rPr sz="1700">
                <a:solidFill>
                  <a:srgbClr val="14161B"/>
                </a:solidFill>
                <a:latin typeface="Encode Sans SemiBold"/>
              </a:rPr>
              <a:t>Capacidade nova</a:t>
            </a:r>
          </a:p>
          <a:p>
            <a:pPr algn="ctr">
              <a:lnSpc>
                <a:spcPct val="110000"/>
              </a:lnSpc>
            </a:pPr>
            <a:r>
              <a:rPr sz="1700">
                <a:solidFill>
                  <a:srgbClr val="14161B"/>
                </a:solidFill>
                <a:latin typeface="Encode Sans SemiBold"/>
              </a:rPr>
              <a:t>é cara</a:t>
            </a:r>
          </a:p>
        </p:txBody>
      </p:sp>
      <p:sp>
        <p:nvSpPr>
          <p:cNvPr id="1034" name="TextBox 1033"/>
          <p:cNvSpPr txBox="1"/>
          <p:nvPr/>
        </p:nvSpPr>
        <p:spPr>
          <a:xfrm>
            <a:off x="3526366" y="2690711"/>
            <a:ext cx="2091266" cy="1519023"/>
          </a:xfrm>
          <a:prstGeom prst="rect">
            <a:avLst/>
          </a:prstGeom>
          <a:noFill/>
        </p:spPr>
        <p:txBody>
          <a:bodyPr wrap="square" lIns="0" tIns="0" rIns="0" bIns="0" anchor="t">
            <a:spAutoFit/>
          </a:bodyPr>
          <a:lstStyle/>
          <a:p>
            <a:pPr marL="182880" indent="-182880" algn="l">
              <a:lnSpc>
                <a:spcPct val="115000"/>
              </a:lnSpc>
              <a:spcAft>
                <a:spcPts val="500"/>
              </a:spcAft>
              <a:buClr>
                <a:srgbClr val="052FD3"/>
              </a:buClr>
              <a:buSzPts val="735"/>
              <a:buFont typeface="Arial"/>
              <a:buChar char="●"/>
            </a:pPr>
            <a:r>
              <a:rPr sz="1050">
                <a:solidFill>
                  <a:srgbClr val="5B6070"/>
                </a:solidFill>
                <a:latin typeface="Roboto"/>
              </a:rPr>
              <a:t>Ler a foto de verdade veio depois, no 4.3</a:t>
            </a:r>
          </a:p>
          <a:p>
            <a:pPr marL="182880" indent="-182880" algn="l">
              <a:lnSpc>
                <a:spcPct val="115000"/>
              </a:lnSpc>
              <a:spcAft>
                <a:spcPts val="500"/>
              </a:spcAft>
              <a:buClr>
                <a:srgbClr val="052FD3"/>
              </a:buClr>
              <a:buSzPts val="735"/>
              <a:buFont typeface="Arial"/>
              <a:buChar char="●"/>
            </a:pPr>
            <a:r>
              <a:rPr sz="1050">
                <a:solidFill>
                  <a:srgbClr val="5B6070"/>
                </a:solidFill>
                <a:latin typeface="Roboto"/>
              </a:rPr>
              <a:t>Exigiu integração com a SEFAZ</a:t>
            </a:r>
          </a:p>
          <a:p>
            <a:pPr marL="182880" indent="-182880" algn="l">
              <a:lnSpc>
                <a:spcPct val="115000"/>
              </a:lnSpc>
              <a:spcAft>
                <a:spcPts val="500"/>
              </a:spcAft>
              <a:buClr>
                <a:srgbClr val="052FD3"/>
              </a:buClr>
              <a:buSzPts val="735"/>
              <a:buFont typeface="Arial"/>
              <a:buChar char="●"/>
            </a:pPr>
            <a:r>
              <a:rPr sz="1050">
                <a:solidFill>
                  <a:srgbClr val="5B6070"/>
                </a:solidFill>
                <a:latin typeface="Roboto"/>
              </a:rPr>
              <a:t>Um desenho que eu tentei e não funcionou antes de achar o que funcionava</a:t>
            </a:r>
          </a:p>
        </p:txBody>
      </p:sp>
      <p:sp>
        <p:nvSpPr>
          <p:cNvPr id="1035" name="Rounded Rectangle 1034"/>
          <p:cNvSpPr/>
          <p:nvPr/>
        </p:nvSpPr>
        <p:spPr>
          <a:xfrm>
            <a:off x="6074833" y="1442476"/>
            <a:ext cx="2497666" cy="3160247"/>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36" name="Rectangle 1035"/>
          <p:cNvSpPr/>
          <p:nvPr/>
        </p:nvSpPr>
        <p:spPr>
          <a:xfrm>
            <a:off x="6074833" y="1442476"/>
            <a:ext cx="2497666" cy="50800"/>
          </a:xfrm>
          <a:prstGeom prst="rect">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37" name="TextBox 1036"/>
          <p:cNvSpPr txBox="1"/>
          <p:nvPr/>
        </p:nvSpPr>
        <p:spPr>
          <a:xfrm>
            <a:off x="6278033" y="1671076"/>
            <a:ext cx="2091266" cy="177800"/>
          </a:xfrm>
          <a:prstGeom prst="rect">
            <a:avLst/>
          </a:prstGeom>
          <a:noFill/>
        </p:spPr>
        <p:txBody>
          <a:bodyPr wrap="square" lIns="0" tIns="0" rIns="0" bIns="0" anchor="ctr">
            <a:spAutoFit/>
          </a:bodyPr>
          <a:lstStyle/>
          <a:p>
            <a:pPr algn="ctr">
              <a:lnSpc>
                <a:spcPct val="100000"/>
              </a:lnSpc>
            </a:pPr>
            <a:r>
              <a:rPr sz="1100" b="1" cap="all">
                <a:solidFill>
                  <a:srgbClr val="7C5CD6"/>
                </a:solidFill>
                <a:latin typeface="Encode Sans"/>
              </a:rPr>
              <a:t>Dano evitado</a:t>
            </a:r>
          </a:p>
        </p:txBody>
      </p:sp>
      <p:sp>
        <p:nvSpPr>
          <p:cNvPr id="1038" name="TextBox 1037"/>
          <p:cNvSpPr txBox="1"/>
          <p:nvPr/>
        </p:nvSpPr>
        <p:spPr>
          <a:xfrm>
            <a:off x="6278033" y="1950476"/>
            <a:ext cx="2091266" cy="587835"/>
          </a:xfrm>
          <a:prstGeom prst="rect">
            <a:avLst/>
          </a:prstGeom>
          <a:noFill/>
        </p:spPr>
        <p:txBody>
          <a:bodyPr wrap="square" lIns="0" tIns="0" rIns="0" bIns="0" anchor="ctr">
            <a:spAutoFit/>
          </a:bodyPr>
          <a:lstStyle/>
          <a:p>
            <a:pPr algn="ctr">
              <a:lnSpc>
                <a:spcPct val="110000"/>
              </a:lnSpc>
            </a:pPr>
            <a:r>
              <a:rPr sz="1700">
                <a:solidFill>
                  <a:srgbClr val="14161B"/>
                </a:solidFill>
                <a:latin typeface="Encode Sans SemiBold"/>
              </a:rPr>
              <a:t>Silêncio também</a:t>
            </a:r>
          </a:p>
          <a:p>
            <a:pPr algn="ctr">
              <a:lnSpc>
                <a:spcPct val="110000"/>
              </a:lnSpc>
            </a:pPr>
            <a:r>
              <a:rPr sz="1700">
                <a:solidFill>
                  <a:srgbClr val="14161B"/>
                </a:solidFill>
                <a:latin typeface="Encode Sans SemiBold"/>
              </a:rPr>
              <a:t>é um dano</a:t>
            </a:r>
          </a:p>
        </p:txBody>
      </p:sp>
      <p:sp>
        <p:nvSpPr>
          <p:cNvPr id="1039" name="TextBox 1038"/>
          <p:cNvSpPr txBox="1"/>
          <p:nvPr/>
        </p:nvSpPr>
        <p:spPr>
          <a:xfrm>
            <a:off x="6278033" y="2690711"/>
            <a:ext cx="2091266" cy="1708812"/>
          </a:xfrm>
          <a:prstGeom prst="rect">
            <a:avLst/>
          </a:prstGeom>
          <a:noFill/>
        </p:spPr>
        <p:txBody>
          <a:bodyPr wrap="square" lIns="0" tIns="0" rIns="0" bIns="0" anchor="t">
            <a:spAutoFit/>
          </a:bodyPr>
          <a:lstStyle/>
          <a:p>
            <a:pPr marL="182880" indent="-182880" algn="l">
              <a:lnSpc>
                <a:spcPct val="115000"/>
              </a:lnSpc>
              <a:spcAft>
                <a:spcPts val="500"/>
              </a:spcAft>
              <a:buClr>
                <a:srgbClr val="7C5CD6"/>
              </a:buClr>
              <a:buSzPts val="735"/>
              <a:buFont typeface="Arial"/>
              <a:buChar char="●"/>
            </a:pPr>
            <a:r>
              <a:rPr sz="1050">
                <a:solidFill>
                  <a:srgbClr val="5B6070"/>
                </a:solidFill>
                <a:latin typeface="Roboto"/>
              </a:rPr>
              <a:t>Não impede ação perigosa — impede outro tipo de dano</a:t>
            </a:r>
          </a:p>
          <a:p>
            <a:pPr marL="182880" indent="-182880" algn="l">
              <a:lnSpc>
                <a:spcPct val="115000"/>
              </a:lnSpc>
              <a:spcAft>
                <a:spcPts val="500"/>
              </a:spcAft>
              <a:buClr>
                <a:srgbClr val="7C5CD6"/>
              </a:buClr>
              <a:buSzPts val="735"/>
              <a:buFont typeface="Arial"/>
              <a:buChar char="●"/>
            </a:pPr>
            <a:r>
              <a:rPr sz="1050">
                <a:solidFill>
                  <a:srgbClr val="5B6070"/>
                </a:solidFill>
                <a:latin typeface="Roboto"/>
              </a:rPr>
              <a:t>O de deixar alguém confiando numa resposta que nunca existiu</a:t>
            </a:r>
          </a:p>
          <a:p>
            <a:pPr marL="182880" indent="-182880" algn="l">
              <a:lnSpc>
                <a:spcPct val="115000"/>
              </a:lnSpc>
              <a:spcAft>
                <a:spcPts val="500"/>
              </a:spcAft>
              <a:buClr>
                <a:srgbClr val="7C5CD6"/>
              </a:buClr>
              <a:buSzPts val="735"/>
              <a:buFont typeface="Arial"/>
              <a:buChar char="●"/>
            </a:pPr>
            <a:r>
              <a:rPr sz="1050">
                <a:solidFill>
                  <a:srgbClr val="5B6070"/>
                </a:solidFill>
                <a:latin typeface="Roboto"/>
              </a:rPr>
              <a:t>Transparência e guardrail protegem a mesma coisa: a confiança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 name="Google Shape;321;p48"/>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025"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26" name="Google Shape;323;p48" descr=" "/>
          <p:cNvPicPr preferRelativeResize="0"/>
          <p:nvPr/>
        </p:nvPicPr>
        <p:blipFill rotWithShape="1">
          <a:blip r:embed="rId3">
            <a:alphaModFix/>
          </a:blip>
          <a:srcRect/>
          <a:stretch/>
        </p:blipFill>
        <p:spPr>
          <a:xfrm>
            <a:off x="8786283" y="152400"/>
            <a:ext cx="178830" cy="222353"/>
          </a:xfrm>
          <a:prstGeom prst="rect">
            <a:avLst/>
          </a:prstGeom>
          <a:noFill/>
          <a:ln>
            <a:noFill/>
          </a:ln>
        </p:spPr>
      </p:pic>
      <p:pic>
        <p:nvPicPr>
          <p:cNvPr id="1027" name="Google Shape;325;p48" descr="Ícone&#10;&#10;O conteúdo gerado por IA pode estar incorreto."/>
          <p:cNvPicPr preferRelativeResize="0"/>
          <p:nvPr/>
        </p:nvPicPr>
        <p:blipFill rotWithShape="1">
          <a:blip r:embed="rId4">
            <a:alphaModFix/>
          </a:blip>
          <a:srcRect/>
          <a:stretch/>
        </p:blipFill>
        <p:spPr>
          <a:xfrm>
            <a:off x="9426430" y="-54316"/>
            <a:ext cx="588048" cy="3753281"/>
          </a:xfrm>
          <a:prstGeom prst="rect">
            <a:avLst/>
          </a:prstGeom>
          <a:noFill/>
          <a:ln>
            <a:noFill/>
          </a:ln>
        </p:spPr>
      </p:pic>
      <p:sp>
        <p:nvSpPr>
          <p:cNvPr id="1028" name="TextBox 1027"/>
          <p:cNvSpPr txBox="1"/>
          <p:nvPr/>
        </p:nvSpPr>
        <p:spPr>
          <a:xfrm>
            <a:off x="2235200" y="1778000"/>
            <a:ext cx="4673600" cy="1739900"/>
          </a:xfrm>
          <a:prstGeom prst="rect">
            <a:avLst/>
          </a:prstGeom>
          <a:noFill/>
        </p:spPr>
        <p:txBody>
          <a:bodyPr wrap="square" lIns="0" tIns="0" rIns="0" bIns="0" anchor="ctr">
            <a:spAutoFit/>
          </a:bodyPr>
          <a:lstStyle/>
          <a:p>
            <a:pPr algn="ctr">
              <a:lnSpc>
                <a:spcPct val="112000"/>
              </a:lnSpc>
            </a:pPr>
            <a:r>
              <a:rPr sz="3800">
                <a:solidFill>
                  <a:srgbClr val="FFFFFF"/>
                </a:solidFill>
                <a:latin typeface="Encode Sans"/>
              </a:rPr>
              <a:t>6.3 LGPD na</a:t>
            </a:r>
          </a:p>
          <a:p>
            <a:pPr algn="ctr">
              <a:lnSpc>
                <a:spcPct val="112000"/>
              </a:lnSpc>
            </a:pPr>
            <a:r>
              <a:rPr sz="3800">
                <a:solidFill>
                  <a:srgbClr val="FFFFFF"/>
                </a:solidFill>
                <a:latin typeface="Encode Sans"/>
              </a:rPr>
              <a:t>prática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Google Shape;331;p49" descr="art\malha.png"/>
          <p:cNvPicPr preferRelativeResize="0"/>
          <p:nvPr/>
        </p:nvPicPr>
        <p:blipFill rotWithShape="1">
          <a:blip r:embed="rId3">
            <a:alphaModFix/>
          </a:blip>
          <a:srcRect/>
          <a:stretch/>
        </p:blipFill>
        <p:spPr>
          <a:xfrm>
            <a:off x="0" y="0"/>
            <a:ext cx="9143952" cy="5142830"/>
          </a:xfrm>
          <a:prstGeom prst="rect">
            <a:avLst/>
          </a:prstGeom>
          <a:noFill/>
          <a:ln>
            <a:noFill/>
          </a:ln>
        </p:spPr>
      </p:pic>
      <p:pic>
        <p:nvPicPr>
          <p:cNvPr id="1029" name="Google Shape;332;p49" descr="art\capa.png"/>
          <p:cNvPicPr preferRelativeResize="0"/>
          <p:nvPr/>
        </p:nvPicPr>
        <p:blipFill rotWithShape="1">
          <a:blip r:embed="rId4">
            <a:alphaModFix/>
          </a:blip>
          <a:srcRect/>
          <a:stretch/>
        </p:blipFill>
        <p:spPr>
          <a:xfrm>
            <a:off x="3034270" y="0"/>
            <a:ext cx="6109682" cy="5142830"/>
          </a:xfrm>
          <a:prstGeom prst="rect">
            <a:avLst/>
          </a:prstGeom>
          <a:noFill/>
          <a:ln>
            <a:noFill/>
          </a:ln>
        </p:spPr>
      </p:pic>
      <p:pic>
        <p:nvPicPr>
          <p:cNvPr id="1030" name="Google Shape;333;p49" descr="art\logo.png"/>
          <p:cNvPicPr preferRelativeResize="0"/>
          <p:nvPr/>
        </p:nvPicPr>
        <p:blipFill rotWithShape="1">
          <a:blip r:embed="rId5">
            <a:alphaModFix/>
          </a:blip>
          <a:srcRect/>
          <a:stretch/>
        </p:blipFill>
        <p:spPr>
          <a:xfrm>
            <a:off x="8787383" y="150876"/>
            <a:ext cx="178285" cy="222856"/>
          </a:xfrm>
          <a:prstGeom prst="rect">
            <a:avLst/>
          </a:prstGeom>
          <a:noFill/>
          <a:ln>
            <a:noFill/>
          </a:ln>
        </p:spPr>
      </p:pic>
      <p:sp>
        <p:nvSpPr>
          <p:cNvPr id="1031" name="TextBox 1030"/>
          <p:cNvSpPr txBox="1"/>
          <p:nvPr/>
        </p:nvSpPr>
        <p:spPr>
          <a:xfrm>
            <a:off x="914400" y="698500"/>
            <a:ext cx="4965700" cy="241300"/>
          </a:xfrm>
          <a:prstGeom prst="rect">
            <a:avLst/>
          </a:prstGeom>
          <a:noFill/>
        </p:spPr>
        <p:txBody>
          <a:bodyPr wrap="square" lIns="0" tIns="0" rIns="0" bIns="0" anchor="t">
            <a:spAutoFit/>
          </a:bodyPr>
          <a:lstStyle/>
          <a:p>
            <a:pPr algn="l">
              <a:lnSpc>
                <a:spcPct val="100000"/>
              </a:lnSpc>
            </a:pPr>
            <a:r>
              <a:rPr sz="800" b="1">
                <a:solidFill>
                  <a:srgbClr val="1F53E5"/>
                </a:solidFill>
                <a:latin typeface="Encode Sans"/>
              </a:rPr>
              <a:t>EVALS, OBSERVABILIDADE E CONFORMIDADE</a:t>
            </a:r>
          </a:p>
        </p:txBody>
      </p:sp>
      <p:sp>
        <p:nvSpPr>
          <p:cNvPr id="1032" name="TextBox 1031"/>
          <p:cNvSpPr txBox="1"/>
          <p:nvPr/>
        </p:nvSpPr>
        <p:spPr>
          <a:xfrm>
            <a:off x="914400" y="1651000"/>
            <a:ext cx="5080000" cy="1524000"/>
          </a:xfrm>
          <a:prstGeom prst="rect">
            <a:avLst/>
          </a:prstGeom>
          <a:noFill/>
        </p:spPr>
        <p:txBody>
          <a:bodyPr wrap="square" lIns="0" tIns="0" rIns="0" bIns="0" anchor="t">
            <a:spAutoFit/>
          </a:bodyPr>
          <a:lstStyle/>
          <a:p>
            <a:pPr algn="l">
              <a:lnSpc>
                <a:spcPct val="115000"/>
              </a:lnSpc>
            </a:pPr>
            <a:r>
              <a:rPr sz="3600">
                <a:solidFill>
                  <a:srgbClr val="FFFFFF"/>
                </a:solidFill>
                <a:latin typeface="Encode Sans"/>
              </a:rPr>
              <a:t>Aula 6</a:t>
            </a:r>
          </a:p>
          <a:p>
            <a:pPr algn="l">
              <a:lnSpc>
                <a:spcPct val="115000"/>
              </a:lnSpc>
            </a:pPr>
            <a:r>
              <a:rPr sz="3600">
                <a:solidFill>
                  <a:srgbClr val="FFFFFF"/>
                </a:solidFill>
                <a:latin typeface="Encode Sans"/>
              </a:rPr>
              <a:t>LGPD na prática</a:t>
            </a:r>
          </a:p>
        </p:txBody>
      </p:sp>
      <p:sp>
        <p:nvSpPr>
          <p:cNvPr id="1033" name="TextBox 1032"/>
          <p:cNvSpPr txBox="1"/>
          <p:nvPr/>
        </p:nvSpPr>
        <p:spPr>
          <a:xfrm>
            <a:off x="914400" y="3276600"/>
            <a:ext cx="5105400" cy="647700"/>
          </a:xfrm>
          <a:prstGeom prst="rect">
            <a:avLst/>
          </a:prstGeom>
          <a:noFill/>
        </p:spPr>
        <p:txBody>
          <a:bodyPr wrap="square" lIns="0" tIns="0" rIns="0" bIns="0" anchor="t">
            <a:spAutoFit/>
          </a:bodyPr>
          <a:lstStyle/>
          <a:p>
            <a:pPr algn="l">
              <a:lnSpc>
                <a:spcPct val="120000"/>
              </a:lnSpc>
            </a:pPr>
            <a:r>
              <a:rPr sz="1500">
                <a:solidFill>
                  <a:srgbClr val="FFFFFF"/>
                </a:solidFill>
                <a:latin typeface="Roboto"/>
              </a:rPr>
              <a:t>Guardrails em código, transparência como design e LGPD na prática</a:t>
            </a:r>
          </a:p>
        </p:txBody>
      </p:sp>
      <p:sp>
        <p:nvSpPr>
          <p:cNvPr id="1034" name="TextBox 1033"/>
          <p:cNvSpPr txBox="1"/>
          <p:nvPr/>
        </p:nvSpPr>
        <p:spPr>
          <a:xfrm>
            <a:off x="914400" y="4025900"/>
            <a:ext cx="5207000" cy="279400"/>
          </a:xfrm>
          <a:prstGeom prst="rect">
            <a:avLst/>
          </a:prstGeom>
          <a:noFill/>
        </p:spPr>
        <p:txBody>
          <a:bodyPr wrap="square" lIns="0" tIns="0" rIns="0" bIns="0" anchor="t">
            <a:spAutoFit/>
          </a:bodyPr>
          <a:lstStyle/>
          <a:p>
            <a:pPr algn="l">
              <a:lnSpc>
                <a:spcPct val="100000"/>
              </a:lnSpc>
            </a:pPr>
            <a:r>
              <a:rPr sz="1200">
                <a:solidFill>
                  <a:srgbClr val="4A9BE8"/>
                </a:solidFill>
                <a:latin typeface="Roboto"/>
              </a:rPr>
              <a:t>Lançar é o começo. O run é a grande responsabilidade.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32"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1033"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1034"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035"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36"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1037"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1038" name="TextBox 1037"/>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4900">
                <a:solidFill>
                  <a:srgbClr val="BDBFC7"/>
                </a:solidFill>
                <a:latin typeface="Encode Sans"/>
              </a:rPr>
              <a:t>Dado</a:t>
            </a:r>
          </a:p>
          <a:p>
            <a:pPr algn="ctr">
              <a:lnSpc>
                <a:spcPct val="112000"/>
              </a:lnSpc>
            </a:pPr>
            <a:r>
              <a:rPr sz="4900">
                <a:solidFill>
                  <a:srgbClr val="BDBFC7"/>
                </a:solidFill>
                <a:latin typeface="Encode Sans"/>
              </a:rPr>
              <a:t>sensível não</a:t>
            </a:r>
          </a:p>
          <a:p>
            <a:pPr algn="ctr">
              <a:lnSpc>
                <a:spcPct val="112000"/>
              </a:lnSpc>
            </a:pPr>
            <a:r>
              <a:rPr sz="4900">
                <a:solidFill>
                  <a:srgbClr val="BDBFC7"/>
                </a:solidFill>
                <a:latin typeface="Encode Sans"/>
              </a:rPr>
              <a:t>é só CPF.</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39"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40"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41"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42"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43" name="TextBox 1042"/>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que a lei chama de dado pessoal</a:t>
            </a:r>
          </a:p>
        </p:txBody>
      </p:sp>
      <p:sp>
        <p:nvSpPr>
          <p:cNvPr id="1044" name="Rectangle 1043"/>
          <p:cNvSpPr/>
          <p:nvPr/>
        </p:nvSpPr>
        <p:spPr>
          <a:xfrm>
            <a:off x="571500" y="2026978"/>
            <a:ext cx="63500" cy="1280042"/>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45" name="TextBox 1044"/>
          <p:cNvSpPr txBox="1"/>
          <p:nvPr/>
        </p:nvSpPr>
        <p:spPr>
          <a:xfrm>
            <a:off x="952500" y="2026978"/>
            <a:ext cx="7416800" cy="899042"/>
          </a:xfrm>
          <a:prstGeom prst="rect">
            <a:avLst/>
          </a:prstGeom>
          <a:noFill/>
        </p:spPr>
        <p:txBody>
          <a:bodyPr wrap="square" lIns="0" tIns="0" rIns="0" bIns="0" anchor="t">
            <a:spAutoFit/>
          </a:bodyPr>
          <a:lstStyle/>
          <a:p>
            <a:pPr algn="l">
              <a:lnSpc>
                <a:spcPct val="130000"/>
              </a:lnSpc>
            </a:pPr>
            <a:r>
              <a:rPr sz="2200">
                <a:solidFill>
                  <a:srgbClr val="14161B"/>
                </a:solidFill>
                <a:latin typeface="Encode Sans SemiBold"/>
              </a:rPr>
              <a:t>Qualquer informação relacionada a pessoa</a:t>
            </a:r>
          </a:p>
          <a:p>
            <a:pPr algn="l">
              <a:lnSpc>
                <a:spcPct val="130000"/>
              </a:lnSpc>
            </a:pPr>
            <a:r>
              <a:rPr sz="2200">
                <a:solidFill>
                  <a:srgbClr val="14161B"/>
                </a:solidFill>
                <a:latin typeface="Encode Sans SemiBold"/>
              </a:rPr>
              <a:t>natural identificada ou identificável.</a:t>
            </a:r>
          </a:p>
        </p:txBody>
      </p:sp>
      <p:sp>
        <p:nvSpPr>
          <p:cNvPr id="1046" name="TextBox 1045"/>
          <p:cNvSpPr txBox="1"/>
          <p:nvPr/>
        </p:nvSpPr>
        <p:spPr>
          <a:xfrm>
            <a:off x="952500" y="3053021"/>
            <a:ext cx="7416800" cy="203200"/>
          </a:xfrm>
          <a:prstGeom prst="rect">
            <a:avLst/>
          </a:prstGeom>
          <a:noFill/>
        </p:spPr>
        <p:txBody>
          <a:bodyPr wrap="square" lIns="0" tIns="0" rIns="0" bIns="0" anchor="t">
            <a:spAutoFit/>
          </a:bodyPr>
          <a:lstStyle/>
          <a:p>
            <a:pPr algn="l">
              <a:lnSpc>
                <a:spcPct val="100000"/>
              </a:lnSpc>
            </a:pPr>
            <a:r>
              <a:rPr sz="1100" cap="all">
                <a:solidFill>
                  <a:srgbClr val="8A8FA0"/>
                </a:solidFill>
                <a:latin typeface="Roboto"/>
              </a:rPr>
              <a:t>LGPD, art. 5º, inciso 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44"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45"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46"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47"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48" name="TextBox 1047"/>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que a lei chama de dado pessoal</a:t>
            </a:r>
          </a:p>
        </p:txBody>
      </p:sp>
      <p:sp>
        <p:nvSpPr>
          <p:cNvPr id="1049" name="Rectangle 1048"/>
          <p:cNvSpPr/>
          <p:nvPr/>
        </p:nvSpPr>
        <p:spPr>
          <a:xfrm>
            <a:off x="571500" y="2026978"/>
            <a:ext cx="63500" cy="1280042"/>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0" name="TextBox 1049"/>
          <p:cNvSpPr txBox="1"/>
          <p:nvPr/>
        </p:nvSpPr>
        <p:spPr>
          <a:xfrm>
            <a:off x="952500" y="2026978"/>
            <a:ext cx="7416800" cy="899042"/>
          </a:xfrm>
          <a:prstGeom prst="rect">
            <a:avLst/>
          </a:prstGeom>
          <a:noFill/>
        </p:spPr>
        <p:txBody>
          <a:bodyPr wrap="square" lIns="0" tIns="0" rIns="0" bIns="0" anchor="t">
            <a:spAutoFit/>
          </a:bodyPr>
          <a:lstStyle/>
          <a:p>
            <a:pPr algn="l">
              <a:lnSpc>
                <a:spcPct val="130000"/>
              </a:lnSpc>
            </a:pPr>
            <a:r>
              <a:rPr sz="2200">
                <a:solidFill>
                  <a:srgbClr val="14161B"/>
                </a:solidFill>
                <a:latin typeface="Encode Sans SemiBold"/>
              </a:rPr>
              <a:t>Qualquer informação relacionada a pessoa</a:t>
            </a:r>
          </a:p>
          <a:p>
            <a:pPr algn="l">
              <a:lnSpc>
                <a:spcPct val="130000"/>
              </a:lnSpc>
            </a:pPr>
            <a:r>
              <a:rPr sz="2200">
                <a:solidFill>
                  <a:srgbClr val="14161B"/>
                </a:solidFill>
                <a:latin typeface="Encode Sans SemiBold"/>
              </a:rPr>
              <a:t>natural identificada ou identificável.</a:t>
            </a:r>
          </a:p>
        </p:txBody>
      </p:sp>
      <p:sp>
        <p:nvSpPr>
          <p:cNvPr id="1051" name="TextBox 1050"/>
          <p:cNvSpPr txBox="1"/>
          <p:nvPr/>
        </p:nvSpPr>
        <p:spPr>
          <a:xfrm>
            <a:off x="952500" y="3053021"/>
            <a:ext cx="7416800" cy="203200"/>
          </a:xfrm>
          <a:prstGeom prst="rect">
            <a:avLst/>
          </a:prstGeom>
          <a:noFill/>
        </p:spPr>
        <p:txBody>
          <a:bodyPr wrap="square" lIns="0" tIns="0" rIns="0" bIns="0" anchor="t">
            <a:spAutoFit/>
          </a:bodyPr>
          <a:lstStyle/>
          <a:p>
            <a:pPr algn="l">
              <a:lnSpc>
                <a:spcPct val="100000"/>
              </a:lnSpc>
            </a:pPr>
            <a:r>
              <a:rPr sz="1100" cap="all">
                <a:solidFill>
                  <a:srgbClr val="8A8FA0"/>
                </a:solidFill>
                <a:latin typeface="Roboto"/>
              </a:rPr>
              <a:t>LGPD, art. 5º, inciso I</a:t>
            </a:r>
          </a:p>
        </p:txBody>
      </p:sp>
      <p:sp>
        <p:nvSpPr>
          <p:cNvPr id="1052" name="Rounded Rectangle 1051"/>
          <p:cNvSpPr/>
          <p:nvPr/>
        </p:nvSpPr>
        <p:spPr>
          <a:xfrm>
            <a:off x="571500" y="3611821"/>
            <a:ext cx="2548466" cy="406400"/>
          </a:xfrm>
          <a:prstGeom prst="roundRect">
            <a:avLst>
              <a:gd name="adj" fmla="val 30000"/>
            </a:avLst>
          </a:prstGeom>
          <a:solidFill>
            <a:srgbClr val="FFFFFF"/>
          </a:solidFill>
          <a:ln w="17780">
            <a:solidFill>
              <a:srgbClr val="052F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3" name="TextBox 1052"/>
          <p:cNvSpPr txBox="1"/>
          <p:nvPr/>
        </p:nvSpPr>
        <p:spPr>
          <a:xfrm>
            <a:off x="698500" y="3611821"/>
            <a:ext cx="2294466" cy="406400"/>
          </a:xfrm>
          <a:prstGeom prst="rect">
            <a:avLst/>
          </a:prstGeom>
          <a:noFill/>
        </p:spPr>
        <p:txBody>
          <a:bodyPr wrap="square" lIns="0" tIns="0" rIns="0" bIns="0" anchor="ctr">
            <a:spAutoFit/>
          </a:bodyPr>
          <a:lstStyle/>
          <a:p>
            <a:pPr algn="ctr">
              <a:lnSpc>
                <a:spcPct val="100000"/>
              </a:lnSpc>
            </a:pPr>
            <a:r>
              <a:rPr sz="1150">
                <a:solidFill>
                  <a:srgbClr val="14161B"/>
                </a:solidFill>
                <a:latin typeface="Encode Sans SemiBold"/>
              </a:rPr>
              <a:t>Identificada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49"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50"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51"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52"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53" name="TextBox 1052"/>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que a lei chama de dado pessoal</a:t>
            </a:r>
          </a:p>
        </p:txBody>
      </p:sp>
      <p:sp>
        <p:nvSpPr>
          <p:cNvPr id="1054" name="Rectangle 1053"/>
          <p:cNvSpPr/>
          <p:nvPr/>
        </p:nvSpPr>
        <p:spPr>
          <a:xfrm>
            <a:off x="571500" y="2026978"/>
            <a:ext cx="63500" cy="1280042"/>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5" name="TextBox 1054"/>
          <p:cNvSpPr txBox="1"/>
          <p:nvPr/>
        </p:nvSpPr>
        <p:spPr>
          <a:xfrm>
            <a:off x="952500" y="2026978"/>
            <a:ext cx="7416800" cy="899042"/>
          </a:xfrm>
          <a:prstGeom prst="rect">
            <a:avLst/>
          </a:prstGeom>
          <a:noFill/>
        </p:spPr>
        <p:txBody>
          <a:bodyPr wrap="square" lIns="0" tIns="0" rIns="0" bIns="0" anchor="t">
            <a:spAutoFit/>
          </a:bodyPr>
          <a:lstStyle/>
          <a:p>
            <a:pPr algn="l">
              <a:lnSpc>
                <a:spcPct val="130000"/>
              </a:lnSpc>
            </a:pPr>
            <a:r>
              <a:rPr sz="2200">
                <a:solidFill>
                  <a:srgbClr val="14161B"/>
                </a:solidFill>
                <a:latin typeface="Encode Sans SemiBold"/>
              </a:rPr>
              <a:t>Qualquer informação relacionada a pessoa</a:t>
            </a:r>
          </a:p>
          <a:p>
            <a:pPr algn="l">
              <a:lnSpc>
                <a:spcPct val="130000"/>
              </a:lnSpc>
            </a:pPr>
            <a:r>
              <a:rPr sz="2200">
                <a:solidFill>
                  <a:srgbClr val="14161B"/>
                </a:solidFill>
                <a:latin typeface="Encode Sans SemiBold"/>
              </a:rPr>
              <a:t>natural identificada ou identificável.</a:t>
            </a:r>
          </a:p>
        </p:txBody>
      </p:sp>
      <p:sp>
        <p:nvSpPr>
          <p:cNvPr id="1056" name="TextBox 1055"/>
          <p:cNvSpPr txBox="1"/>
          <p:nvPr/>
        </p:nvSpPr>
        <p:spPr>
          <a:xfrm>
            <a:off x="952500" y="3053021"/>
            <a:ext cx="7416800" cy="203200"/>
          </a:xfrm>
          <a:prstGeom prst="rect">
            <a:avLst/>
          </a:prstGeom>
          <a:noFill/>
        </p:spPr>
        <p:txBody>
          <a:bodyPr wrap="square" lIns="0" tIns="0" rIns="0" bIns="0" anchor="t">
            <a:spAutoFit/>
          </a:bodyPr>
          <a:lstStyle/>
          <a:p>
            <a:pPr algn="l">
              <a:lnSpc>
                <a:spcPct val="100000"/>
              </a:lnSpc>
            </a:pPr>
            <a:r>
              <a:rPr sz="1100" cap="all">
                <a:solidFill>
                  <a:srgbClr val="8A8FA0"/>
                </a:solidFill>
                <a:latin typeface="Roboto"/>
              </a:rPr>
              <a:t>LGPD, art. 5º, inciso I</a:t>
            </a:r>
          </a:p>
        </p:txBody>
      </p:sp>
      <p:sp>
        <p:nvSpPr>
          <p:cNvPr id="1057" name="Rounded Rectangle 1056"/>
          <p:cNvSpPr/>
          <p:nvPr/>
        </p:nvSpPr>
        <p:spPr>
          <a:xfrm>
            <a:off x="571500" y="3611821"/>
            <a:ext cx="2548466" cy="406400"/>
          </a:xfrm>
          <a:prstGeom prst="roundRect">
            <a:avLst>
              <a:gd name="adj" fmla="val 30000"/>
            </a:avLst>
          </a:prstGeom>
          <a:solidFill>
            <a:srgbClr val="FFFFFF"/>
          </a:solidFill>
          <a:ln w="17780">
            <a:solidFill>
              <a:srgbClr val="052F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8" name="TextBox 1057"/>
          <p:cNvSpPr txBox="1"/>
          <p:nvPr/>
        </p:nvSpPr>
        <p:spPr>
          <a:xfrm>
            <a:off x="698500" y="3611821"/>
            <a:ext cx="2294466" cy="406400"/>
          </a:xfrm>
          <a:prstGeom prst="rect">
            <a:avLst/>
          </a:prstGeom>
          <a:noFill/>
        </p:spPr>
        <p:txBody>
          <a:bodyPr wrap="square" lIns="0" tIns="0" rIns="0" bIns="0" anchor="ctr">
            <a:spAutoFit/>
          </a:bodyPr>
          <a:lstStyle/>
          <a:p>
            <a:pPr algn="ctr">
              <a:lnSpc>
                <a:spcPct val="100000"/>
              </a:lnSpc>
            </a:pPr>
            <a:r>
              <a:rPr sz="1150">
                <a:solidFill>
                  <a:srgbClr val="14161B"/>
                </a:solidFill>
                <a:latin typeface="Encode Sans SemiBold"/>
              </a:rPr>
              <a:t>Identificada</a:t>
            </a:r>
          </a:p>
        </p:txBody>
      </p:sp>
      <p:sp>
        <p:nvSpPr>
          <p:cNvPr id="1059" name="Rounded Rectangle 1058"/>
          <p:cNvSpPr/>
          <p:nvPr/>
        </p:nvSpPr>
        <p:spPr>
          <a:xfrm>
            <a:off x="3297766" y="3611821"/>
            <a:ext cx="2548466" cy="406400"/>
          </a:xfrm>
          <a:prstGeom prst="roundRect">
            <a:avLst>
              <a:gd name="adj" fmla="val 30000"/>
            </a:avLst>
          </a:prstGeom>
          <a:solidFill>
            <a:srgbClr val="FFFFFF"/>
          </a:solidFill>
          <a:ln w="17780">
            <a:solidFill>
              <a:srgbClr val="4A86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0" name="TextBox 1059"/>
          <p:cNvSpPr txBox="1"/>
          <p:nvPr/>
        </p:nvSpPr>
        <p:spPr>
          <a:xfrm>
            <a:off x="3424766" y="3611821"/>
            <a:ext cx="2294466" cy="406400"/>
          </a:xfrm>
          <a:prstGeom prst="rect">
            <a:avLst/>
          </a:prstGeom>
          <a:noFill/>
        </p:spPr>
        <p:txBody>
          <a:bodyPr wrap="square" lIns="0" tIns="0" rIns="0" bIns="0" anchor="ctr">
            <a:spAutoFit/>
          </a:bodyPr>
          <a:lstStyle/>
          <a:p>
            <a:pPr algn="ctr">
              <a:lnSpc>
                <a:spcPct val="100000"/>
              </a:lnSpc>
            </a:pPr>
            <a:r>
              <a:rPr sz="1150">
                <a:solidFill>
                  <a:srgbClr val="14161B"/>
                </a:solidFill>
                <a:latin typeface="Encode Sans SemiBold"/>
              </a:rPr>
              <a:t>Identificável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54"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55"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56"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57"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58" name="TextBox 1057"/>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que a lei chama de dado pessoal</a:t>
            </a:r>
          </a:p>
        </p:txBody>
      </p:sp>
      <p:sp>
        <p:nvSpPr>
          <p:cNvPr id="1059" name="Rectangle 1058"/>
          <p:cNvSpPr/>
          <p:nvPr/>
        </p:nvSpPr>
        <p:spPr>
          <a:xfrm>
            <a:off x="571500" y="2026978"/>
            <a:ext cx="63500" cy="1280042"/>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0" name="TextBox 1059"/>
          <p:cNvSpPr txBox="1"/>
          <p:nvPr/>
        </p:nvSpPr>
        <p:spPr>
          <a:xfrm>
            <a:off x="952500" y="2026978"/>
            <a:ext cx="7416800" cy="899042"/>
          </a:xfrm>
          <a:prstGeom prst="rect">
            <a:avLst/>
          </a:prstGeom>
          <a:noFill/>
        </p:spPr>
        <p:txBody>
          <a:bodyPr wrap="square" lIns="0" tIns="0" rIns="0" bIns="0" anchor="t">
            <a:spAutoFit/>
          </a:bodyPr>
          <a:lstStyle/>
          <a:p>
            <a:pPr algn="l">
              <a:lnSpc>
                <a:spcPct val="130000"/>
              </a:lnSpc>
            </a:pPr>
            <a:r>
              <a:rPr sz="2200">
                <a:solidFill>
                  <a:srgbClr val="14161B"/>
                </a:solidFill>
                <a:latin typeface="Encode Sans SemiBold"/>
              </a:rPr>
              <a:t>Qualquer informação relacionada a pessoa</a:t>
            </a:r>
          </a:p>
          <a:p>
            <a:pPr algn="l">
              <a:lnSpc>
                <a:spcPct val="130000"/>
              </a:lnSpc>
            </a:pPr>
            <a:r>
              <a:rPr sz="2200">
                <a:solidFill>
                  <a:srgbClr val="14161B"/>
                </a:solidFill>
                <a:latin typeface="Encode Sans SemiBold"/>
              </a:rPr>
              <a:t>natural identificada ou identificável.</a:t>
            </a:r>
          </a:p>
        </p:txBody>
      </p:sp>
      <p:sp>
        <p:nvSpPr>
          <p:cNvPr id="1061" name="TextBox 1060"/>
          <p:cNvSpPr txBox="1"/>
          <p:nvPr/>
        </p:nvSpPr>
        <p:spPr>
          <a:xfrm>
            <a:off x="952500" y="3053021"/>
            <a:ext cx="7416800" cy="203200"/>
          </a:xfrm>
          <a:prstGeom prst="rect">
            <a:avLst/>
          </a:prstGeom>
          <a:noFill/>
        </p:spPr>
        <p:txBody>
          <a:bodyPr wrap="square" lIns="0" tIns="0" rIns="0" bIns="0" anchor="t">
            <a:spAutoFit/>
          </a:bodyPr>
          <a:lstStyle/>
          <a:p>
            <a:pPr algn="l">
              <a:lnSpc>
                <a:spcPct val="100000"/>
              </a:lnSpc>
            </a:pPr>
            <a:r>
              <a:rPr sz="1100" cap="all">
                <a:solidFill>
                  <a:srgbClr val="8A8FA0"/>
                </a:solidFill>
                <a:latin typeface="Roboto"/>
              </a:rPr>
              <a:t>LGPD, art. 5º, inciso I</a:t>
            </a:r>
          </a:p>
        </p:txBody>
      </p:sp>
      <p:sp>
        <p:nvSpPr>
          <p:cNvPr id="1062" name="Rounded Rectangle 1061"/>
          <p:cNvSpPr/>
          <p:nvPr/>
        </p:nvSpPr>
        <p:spPr>
          <a:xfrm>
            <a:off x="571500" y="3611821"/>
            <a:ext cx="2548466" cy="406400"/>
          </a:xfrm>
          <a:prstGeom prst="roundRect">
            <a:avLst>
              <a:gd name="adj" fmla="val 30000"/>
            </a:avLst>
          </a:prstGeom>
          <a:solidFill>
            <a:srgbClr val="FFFFFF"/>
          </a:solidFill>
          <a:ln w="17780">
            <a:solidFill>
              <a:srgbClr val="052F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3" name="TextBox 1062"/>
          <p:cNvSpPr txBox="1"/>
          <p:nvPr/>
        </p:nvSpPr>
        <p:spPr>
          <a:xfrm>
            <a:off x="698500" y="3611821"/>
            <a:ext cx="2294466" cy="406400"/>
          </a:xfrm>
          <a:prstGeom prst="rect">
            <a:avLst/>
          </a:prstGeom>
          <a:noFill/>
        </p:spPr>
        <p:txBody>
          <a:bodyPr wrap="square" lIns="0" tIns="0" rIns="0" bIns="0" anchor="ctr">
            <a:spAutoFit/>
          </a:bodyPr>
          <a:lstStyle/>
          <a:p>
            <a:pPr algn="ctr">
              <a:lnSpc>
                <a:spcPct val="100000"/>
              </a:lnSpc>
            </a:pPr>
            <a:r>
              <a:rPr sz="1150">
                <a:solidFill>
                  <a:srgbClr val="14161B"/>
                </a:solidFill>
                <a:latin typeface="Encode Sans SemiBold"/>
              </a:rPr>
              <a:t>Identificada</a:t>
            </a:r>
          </a:p>
        </p:txBody>
      </p:sp>
      <p:sp>
        <p:nvSpPr>
          <p:cNvPr id="1064" name="Rounded Rectangle 1063"/>
          <p:cNvSpPr/>
          <p:nvPr/>
        </p:nvSpPr>
        <p:spPr>
          <a:xfrm>
            <a:off x="3297766" y="3611821"/>
            <a:ext cx="2548466" cy="406400"/>
          </a:xfrm>
          <a:prstGeom prst="roundRect">
            <a:avLst>
              <a:gd name="adj" fmla="val 30000"/>
            </a:avLst>
          </a:prstGeom>
          <a:solidFill>
            <a:srgbClr val="FFFFFF"/>
          </a:solidFill>
          <a:ln w="17780">
            <a:solidFill>
              <a:srgbClr val="4A86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5" name="TextBox 1064"/>
          <p:cNvSpPr txBox="1"/>
          <p:nvPr/>
        </p:nvSpPr>
        <p:spPr>
          <a:xfrm>
            <a:off x="3424766" y="3611821"/>
            <a:ext cx="2294466" cy="406400"/>
          </a:xfrm>
          <a:prstGeom prst="rect">
            <a:avLst/>
          </a:prstGeom>
          <a:noFill/>
        </p:spPr>
        <p:txBody>
          <a:bodyPr wrap="square" lIns="0" tIns="0" rIns="0" bIns="0" anchor="ctr">
            <a:spAutoFit/>
          </a:bodyPr>
          <a:lstStyle/>
          <a:p>
            <a:pPr algn="ctr">
              <a:lnSpc>
                <a:spcPct val="100000"/>
              </a:lnSpc>
            </a:pPr>
            <a:r>
              <a:rPr sz="1150">
                <a:solidFill>
                  <a:srgbClr val="14161B"/>
                </a:solidFill>
                <a:latin typeface="Encode Sans SemiBold"/>
              </a:rPr>
              <a:t>Identificável</a:t>
            </a:r>
          </a:p>
        </p:txBody>
      </p:sp>
      <p:sp>
        <p:nvSpPr>
          <p:cNvPr id="1066" name="Rounded Rectangle 1065"/>
          <p:cNvSpPr/>
          <p:nvPr/>
        </p:nvSpPr>
        <p:spPr>
          <a:xfrm>
            <a:off x="6024033" y="3611821"/>
            <a:ext cx="2548466" cy="406400"/>
          </a:xfrm>
          <a:prstGeom prst="roundRect">
            <a:avLst>
              <a:gd name="adj" fmla="val 30000"/>
            </a:avLst>
          </a:prstGeom>
          <a:solidFill>
            <a:srgbClr val="FFFFFF"/>
          </a:solidFill>
          <a:ln w="17780">
            <a:solidFill>
              <a:srgbClr val="7C5C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7" name="TextBox 1066"/>
          <p:cNvSpPr txBox="1"/>
          <p:nvPr/>
        </p:nvSpPr>
        <p:spPr>
          <a:xfrm>
            <a:off x="6151033" y="3611821"/>
            <a:ext cx="2294466" cy="406400"/>
          </a:xfrm>
          <a:prstGeom prst="rect">
            <a:avLst/>
          </a:prstGeom>
          <a:noFill/>
        </p:spPr>
        <p:txBody>
          <a:bodyPr wrap="square" lIns="0" tIns="0" rIns="0" bIns="0" anchor="ctr">
            <a:spAutoFit/>
          </a:bodyPr>
          <a:lstStyle/>
          <a:p>
            <a:pPr algn="ctr">
              <a:lnSpc>
                <a:spcPct val="100000"/>
              </a:lnSpc>
            </a:pPr>
            <a:r>
              <a:rPr sz="1150">
                <a:solidFill>
                  <a:srgbClr val="14161B"/>
                </a:solidFill>
                <a:latin typeface="Encode Sans SemiBold"/>
              </a:rPr>
              <a:t>Padrão de comportamento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8"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059"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060" name="TextBox 1059"/>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que o Musa Balance coleta</a:t>
            </a:r>
          </a:p>
        </p:txBody>
      </p:sp>
      <p:sp>
        <p:nvSpPr>
          <p:cNvPr id="1061" name="TextBox 1060"/>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Nenhum é telemetria escondida — os três são dado funcional</a:t>
            </a:r>
          </a:p>
        </p:txBody>
      </p:sp>
      <p:sp>
        <p:nvSpPr>
          <p:cNvPr id="1062" name="Rounded Rectangle 1061"/>
          <p:cNvSpPr/>
          <p:nvPr/>
        </p:nvSpPr>
        <p:spPr>
          <a:xfrm>
            <a:off x="571500" y="1834568"/>
            <a:ext cx="8001000" cy="796254"/>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3" name="Rectangle 1062"/>
          <p:cNvSpPr/>
          <p:nvPr/>
        </p:nvSpPr>
        <p:spPr>
          <a:xfrm>
            <a:off x="571500" y="1834568"/>
            <a:ext cx="50800" cy="796254"/>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4" name="Rounded Rectangle 1063"/>
          <p:cNvSpPr/>
          <p:nvPr/>
        </p:nvSpPr>
        <p:spPr>
          <a:xfrm>
            <a:off x="774700" y="2080295"/>
            <a:ext cx="482600" cy="304800"/>
          </a:xfrm>
          <a:prstGeom prst="roundRect">
            <a:avLst>
              <a:gd name="adj" fmla="val 22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5" name="TextBox 1064"/>
          <p:cNvSpPr txBox="1"/>
          <p:nvPr/>
        </p:nvSpPr>
        <p:spPr>
          <a:xfrm>
            <a:off x="774700" y="2080295"/>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ID</a:t>
            </a:r>
          </a:p>
        </p:txBody>
      </p:sp>
      <p:sp>
        <p:nvSpPr>
          <p:cNvPr id="1066" name="TextBox 1065"/>
          <p:cNvSpPr txBox="1"/>
          <p:nvPr/>
        </p:nvSpPr>
        <p:spPr>
          <a:xfrm>
            <a:off x="1422400" y="1834568"/>
            <a:ext cx="2641600" cy="796254"/>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telegram_chat_id e</a:t>
            </a:r>
          </a:p>
          <a:p>
            <a:pPr algn="l">
              <a:lnSpc>
                <a:spcPct val="115000"/>
              </a:lnSpc>
            </a:pPr>
            <a:r>
              <a:rPr sz="1500">
                <a:solidFill>
                  <a:srgbClr val="FFFFFF"/>
                </a:solidFill>
                <a:latin typeface="Encode Sans SemiBold"/>
              </a:rPr>
              <a:t>telegram_user_id</a:t>
            </a:r>
          </a:p>
        </p:txBody>
      </p:sp>
      <p:sp>
        <p:nvSpPr>
          <p:cNvPr id="1067" name="TextBox 1066"/>
          <p:cNvSpPr txBox="1"/>
          <p:nvPr/>
        </p:nvSpPr>
        <p:spPr>
          <a:xfrm>
            <a:off x="4267200" y="1834568"/>
            <a:ext cx="4064000" cy="796254"/>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Identificam pessoas reais numa conversa real, ligados</a:t>
            </a:r>
          </a:p>
          <a:p>
            <a:pPr algn="l">
              <a:lnSpc>
                <a:spcPct val="125000"/>
              </a:lnSpc>
            </a:pPr>
            <a:r>
              <a:rPr sz="1100">
                <a:solidFill>
                  <a:srgbClr val="A8ADBD"/>
                </a:solidFill>
                <a:latin typeface="Roboto"/>
              </a:rPr>
              <a:t>à tabela de atores da casa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0"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061"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062" name="TextBox 1061"/>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que o Musa Balance coleta</a:t>
            </a:r>
          </a:p>
        </p:txBody>
      </p:sp>
      <p:sp>
        <p:nvSpPr>
          <p:cNvPr id="1063" name="TextBox 1062"/>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Nenhum é telemetria escondida — os três são dado funcional</a:t>
            </a:r>
          </a:p>
        </p:txBody>
      </p:sp>
      <p:sp>
        <p:nvSpPr>
          <p:cNvPr id="1064" name="Rounded Rectangle 1063"/>
          <p:cNvSpPr/>
          <p:nvPr/>
        </p:nvSpPr>
        <p:spPr>
          <a:xfrm>
            <a:off x="571500" y="1834568"/>
            <a:ext cx="8001000" cy="796254"/>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5" name="Rectangle 1064"/>
          <p:cNvSpPr/>
          <p:nvPr/>
        </p:nvSpPr>
        <p:spPr>
          <a:xfrm>
            <a:off x="571500" y="1834568"/>
            <a:ext cx="50800" cy="796254"/>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6" name="Rounded Rectangle 1065"/>
          <p:cNvSpPr/>
          <p:nvPr/>
        </p:nvSpPr>
        <p:spPr>
          <a:xfrm>
            <a:off x="774700" y="2080295"/>
            <a:ext cx="482600" cy="304800"/>
          </a:xfrm>
          <a:prstGeom prst="roundRect">
            <a:avLst>
              <a:gd name="adj" fmla="val 22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7" name="TextBox 1066"/>
          <p:cNvSpPr txBox="1"/>
          <p:nvPr/>
        </p:nvSpPr>
        <p:spPr>
          <a:xfrm>
            <a:off x="774700" y="2080295"/>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ID</a:t>
            </a:r>
          </a:p>
        </p:txBody>
      </p:sp>
      <p:sp>
        <p:nvSpPr>
          <p:cNvPr id="1068" name="TextBox 1067"/>
          <p:cNvSpPr txBox="1"/>
          <p:nvPr/>
        </p:nvSpPr>
        <p:spPr>
          <a:xfrm>
            <a:off x="1422400" y="1834568"/>
            <a:ext cx="2641600" cy="796254"/>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telegram_chat_id e</a:t>
            </a:r>
          </a:p>
          <a:p>
            <a:pPr algn="l">
              <a:lnSpc>
                <a:spcPct val="115000"/>
              </a:lnSpc>
            </a:pPr>
            <a:r>
              <a:rPr sz="1500">
                <a:solidFill>
                  <a:srgbClr val="FFFFFF"/>
                </a:solidFill>
                <a:latin typeface="Encode Sans SemiBold"/>
              </a:rPr>
              <a:t>telegram_user_id</a:t>
            </a:r>
          </a:p>
        </p:txBody>
      </p:sp>
      <p:sp>
        <p:nvSpPr>
          <p:cNvPr id="1069" name="TextBox 1068"/>
          <p:cNvSpPr txBox="1"/>
          <p:nvPr/>
        </p:nvSpPr>
        <p:spPr>
          <a:xfrm>
            <a:off x="4267200" y="1834568"/>
            <a:ext cx="4064000" cy="796254"/>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Identificam pessoas reais numa conversa real, ligados</a:t>
            </a:r>
          </a:p>
          <a:p>
            <a:pPr algn="l">
              <a:lnSpc>
                <a:spcPct val="125000"/>
              </a:lnSpc>
            </a:pPr>
            <a:r>
              <a:rPr sz="1100">
                <a:solidFill>
                  <a:srgbClr val="A8ADBD"/>
                </a:solidFill>
                <a:latin typeface="Roboto"/>
              </a:rPr>
              <a:t>à tabela de atores da casa</a:t>
            </a:r>
          </a:p>
        </p:txBody>
      </p:sp>
      <p:sp>
        <p:nvSpPr>
          <p:cNvPr id="1070" name="Rounded Rectangle 1069"/>
          <p:cNvSpPr/>
          <p:nvPr/>
        </p:nvSpPr>
        <p:spPr>
          <a:xfrm>
            <a:off x="571500" y="2745122"/>
            <a:ext cx="8001000" cy="796254"/>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1" name="Rectangle 1070"/>
          <p:cNvSpPr/>
          <p:nvPr/>
        </p:nvSpPr>
        <p:spPr>
          <a:xfrm>
            <a:off x="571500" y="2745122"/>
            <a:ext cx="50800" cy="796254"/>
          </a:xfrm>
          <a:prstGeom prst="rect">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2" name="Rounded Rectangle 1071"/>
          <p:cNvSpPr/>
          <p:nvPr/>
        </p:nvSpPr>
        <p:spPr>
          <a:xfrm>
            <a:off x="774700" y="2990850"/>
            <a:ext cx="482600" cy="304800"/>
          </a:xfrm>
          <a:prstGeom prst="roundRect">
            <a:avLst>
              <a:gd name="adj" fmla="val 22000"/>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3" name="TextBox 1072"/>
          <p:cNvSpPr txBox="1"/>
          <p:nvPr/>
        </p:nvSpPr>
        <p:spPr>
          <a:xfrm>
            <a:off x="774700" y="299085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LOG</a:t>
            </a:r>
          </a:p>
        </p:txBody>
      </p:sp>
      <p:sp>
        <p:nvSpPr>
          <p:cNvPr id="1074" name="TextBox 1073"/>
          <p:cNvSpPr txBox="1"/>
          <p:nvPr/>
        </p:nvSpPr>
        <p:spPr>
          <a:xfrm>
            <a:off x="1422400" y="2745122"/>
            <a:ext cx="2641600" cy="796254"/>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pensamentos</a:t>
            </a:r>
          </a:p>
        </p:txBody>
      </p:sp>
      <p:sp>
        <p:nvSpPr>
          <p:cNvPr id="1075" name="TextBox 1074"/>
          <p:cNvSpPr txBox="1"/>
          <p:nvPr/>
        </p:nvSpPr>
        <p:spPr>
          <a:xfrm>
            <a:off x="4267200" y="2745122"/>
            <a:ext cx="4064000" cy="796254"/>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O log cru de tudo que os dois atores conversam sobre</a:t>
            </a:r>
          </a:p>
          <a:p>
            <a:pPr algn="l">
              <a:lnSpc>
                <a:spcPct val="125000"/>
              </a:lnSpc>
            </a:pPr>
            <a:r>
              <a:rPr sz="1100">
                <a:solidFill>
                  <a:srgbClr val="A8ADBD"/>
                </a:solidFill>
                <a:latin typeface="Roboto"/>
              </a:rPr>
              <a:t>comida: o que comeram, o que desejam, quanto gastaram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2"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063"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064" name="TextBox 1063"/>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que o Musa Balance coleta</a:t>
            </a:r>
          </a:p>
        </p:txBody>
      </p:sp>
      <p:sp>
        <p:nvSpPr>
          <p:cNvPr id="1065" name="TextBox 1064"/>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Nenhum é telemetria escondida — os três são dado funcional</a:t>
            </a:r>
          </a:p>
        </p:txBody>
      </p:sp>
      <p:sp>
        <p:nvSpPr>
          <p:cNvPr id="1066" name="Rounded Rectangle 1065"/>
          <p:cNvSpPr/>
          <p:nvPr/>
        </p:nvSpPr>
        <p:spPr>
          <a:xfrm>
            <a:off x="571500" y="1834568"/>
            <a:ext cx="8001000" cy="796254"/>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7" name="Rectangle 1066"/>
          <p:cNvSpPr/>
          <p:nvPr/>
        </p:nvSpPr>
        <p:spPr>
          <a:xfrm>
            <a:off x="571500" y="1834568"/>
            <a:ext cx="50800" cy="796254"/>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8" name="Rounded Rectangle 1067"/>
          <p:cNvSpPr/>
          <p:nvPr/>
        </p:nvSpPr>
        <p:spPr>
          <a:xfrm>
            <a:off x="774700" y="2080295"/>
            <a:ext cx="482600" cy="304800"/>
          </a:xfrm>
          <a:prstGeom prst="roundRect">
            <a:avLst>
              <a:gd name="adj" fmla="val 22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9" name="TextBox 1068"/>
          <p:cNvSpPr txBox="1"/>
          <p:nvPr/>
        </p:nvSpPr>
        <p:spPr>
          <a:xfrm>
            <a:off x="774700" y="2080295"/>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ID</a:t>
            </a:r>
          </a:p>
        </p:txBody>
      </p:sp>
      <p:sp>
        <p:nvSpPr>
          <p:cNvPr id="1070" name="TextBox 1069"/>
          <p:cNvSpPr txBox="1"/>
          <p:nvPr/>
        </p:nvSpPr>
        <p:spPr>
          <a:xfrm>
            <a:off x="1422400" y="1834568"/>
            <a:ext cx="2641600" cy="796254"/>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telegram_chat_id e</a:t>
            </a:r>
          </a:p>
          <a:p>
            <a:pPr algn="l">
              <a:lnSpc>
                <a:spcPct val="115000"/>
              </a:lnSpc>
            </a:pPr>
            <a:r>
              <a:rPr sz="1500">
                <a:solidFill>
                  <a:srgbClr val="FFFFFF"/>
                </a:solidFill>
                <a:latin typeface="Encode Sans SemiBold"/>
              </a:rPr>
              <a:t>telegram_user_id</a:t>
            </a:r>
          </a:p>
        </p:txBody>
      </p:sp>
      <p:sp>
        <p:nvSpPr>
          <p:cNvPr id="1071" name="TextBox 1070"/>
          <p:cNvSpPr txBox="1"/>
          <p:nvPr/>
        </p:nvSpPr>
        <p:spPr>
          <a:xfrm>
            <a:off x="4267200" y="1834568"/>
            <a:ext cx="4064000" cy="796254"/>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Identificam pessoas reais numa conversa real, ligados</a:t>
            </a:r>
          </a:p>
          <a:p>
            <a:pPr algn="l">
              <a:lnSpc>
                <a:spcPct val="125000"/>
              </a:lnSpc>
            </a:pPr>
            <a:r>
              <a:rPr sz="1100">
                <a:solidFill>
                  <a:srgbClr val="A8ADBD"/>
                </a:solidFill>
                <a:latin typeface="Roboto"/>
              </a:rPr>
              <a:t>à tabela de atores da casa</a:t>
            </a:r>
          </a:p>
        </p:txBody>
      </p:sp>
      <p:sp>
        <p:nvSpPr>
          <p:cNvPr id="1072" name="Rounded Rectangle 1071"/>
          <p:cNvSpPr/>
          <p:nvPr/>
        </p:nvSpPr>
        <p:spPr>
          <a:xfrm>
            <a:off x="571500" y="2745122"/>
            <a:ext cx="8001000" cy="796254"/>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3" name="Rectangle 1072"/>
          <p:cNvSpPr/>
          <p:nvPr/>
        </p:nvSpPr>
        <p:spPr>
          <a:xfrm>
            <a:off x="571500" y="2745122"/>
            <a:ext cx="50800" cy="796254"/>
          </a:xfrm>
          <a:prstGeom prst="rect">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4" name="Rounded Rectangle 1073"/>
          <p:cNvSpPr/>
          <p:nvPr/>
        </p:nvSpPr>
        <p:spPr>
          <a:xfrm>
            <a:off x="774700" y="2990850"/>
            <a:ext cx="482600" cy="304800"/>
          </a:xfrm>
          <a:prstGeom prst="roundRect">
            <a:avLst>
              <a:gd name="adj" fmla="val 22000"/>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5" name="TextBox 1074"/>
          <p:cNvSpPr txBox="1"/>
          <p:nvPr/>
        </p:nvSpPr>
        <p:spPr>
          <a:xfrm>
            <a:off x="774700" y="299085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LOG</a:t>
            </a:r>
          </a:p>
        </p:txBody>
      </p:sp>
      <p:sp>
        <p:nvSpPr>
          <p:cNvPr id="1076" name="TextBox 1075"/>
          <p:cNvSpPr txBox="1"/>
          <p:nvPr/>
        </p:nvSpPr>
        <p:spPr>
          <a:xfrm>
            <a:off x="1422400" y="2745122"/>
            <a:ext cx="2641600" cy="796254"/>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pensamentos</a:t>
            </a:r>
          </a:p>
        </p:txBody>
      </p:sp>
      <p:sp>
        <p:nvSpPr>
          <p:cNvPr id="1077" name="TextBox 1076"/>
          <p:cNvSpPr txBox="1"/>
          <p:nvPr/>
        </p:nvSpPr>
        <p:spPr>
          <a:xfrm>
            <a:off x="4267200" y="2745122"/>
            <a:ext cx="4064000" cy="796254"/>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O log cru de tudo que os dois atores conversam sobre</a:t>
            </a:r>
          </a:p>
          <a:p>
            <a:pPr algn="l">
              <a:lnSpc>
                <a:spcPct val="125000"/>
              </a:lnSpc>
            </a:pPr>
            <a:r>
              <a:rPr sz="1100">
                <a:solidFill>
                  <a:srgbClr val="A8ADBD"/>
                </a:solidFill>
                <a:latin typeface="Roboto"/>
              </a:rPr>
              <a:t>comida: o que comeram, o que desejam, quanto gastaram</a:t>
            </a:r>
          </a:p>
        </p:txBody>
      </p:sp>
      <p:sp>
        <p:nvSpPr>
          <p:cNvPr id="1078" name="Rounded Rectangle 1077"/>
          <p:cNvSpPr/>
          <p:nvPr/>
        </p:nvSpPr>
        <p:spPr>
          <a:xfrm>
            <a:off x="571500" y="3655677"/>
            <a:ext cx="8001000" cy="796254"/>
          </a:xfrm>
          <a:prstGeom prst="roundRect">
            <a:avLst>
              <a:gd name="adj" fmla="val 12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9" name="Rectangle 1078"/>
          <p:cNvSpPr/>
          <p:nvPr/>
        </p:nvSpPr>
        <p:spPr>
          <a:xfrm>
            <a:off x="571500" y="3655677"/>
            <a:ext cx="50800" cy="796254"/>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0" name="Rounded Rectangle 1079"/>
          <p:cNvSpPr/>
          <p:nvPr/>
        </p:nvSpPr>
        <p:spPr>
          <a:xfrm>
            <a:off x="774700" y="3901404"/>
            <a:ext cx="482600" cy="304800"/>
          </a:xfrm>
          <a:prstGeom prst="roundRect">
            <a:avLst>
              <a:gd name="adj" fmla="val 22000"/>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1" name="TextBox 1080"/>
          <p:cNvSpPr txBox="1"/>
          <p:nvPr/>
        </p:nvSpPr>
        <p:spPr>
          <a:xfrm>
            <a:off x="774700" y="3901404"/>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EST</a:t>
            </a:r>
          </a:p>
        </p:txBody>
      </p:sp>
      <p:sp>
        <p:nvSpPr>
          <p:cNvPr id="1082" name="TextBox 1081"/>
          <p:cNvSpPr txBox="1"/>
          <p:nvPr/>
        </p:nvSpPr>
        <p:spPr>
          <a:xfrm>
            <a:off x="1422400" y="3655677"/>
            <a:ext cx="2641600" cy="796254"/>
          </a:xfrm>
          <a:prstGeom prst="rect">
            <a:avLst/>
          </a:prstGeom>
          <a:noFill/>
        </p:spPr>
        <p:txBody>
          <a:bodyPr wrap="square" lIns="0" tIns="0" rIns="0" bIns="0" anchor="ctr">
            <a:spAutoFit/>
          </a:bodyPr>
          <a:lstStyle/>
          <a:p>
            <a:pPr algn="l">
              <a:lnSpc>
                <a:spcPct val="115000"/>
              </a:lnSpc>
            </a:pPr>
            <a:r>
              <a:rPr sz="1500">
                <a:solidFill>
                  <a:srgbClr val="FFFFFF"/>
                </a:solidFill>
                <a:latin typeface="Encode Sans SemiBold"/>
              </a:rPr>
              <a:t>Itens de estoque ligados</a:t>
            </a:r>
          </a:p>
          <a:p>
            <a:pPr algn="l">
              <a:lnSpc>
                <a:spcPct val="115000"/>
              </a:lnSpc>
            </a:pPr>
            <a:r>
              <a:rPr sz="1500">
                <a:solidFill>
                  <a:srgbClr val="FFFFFF"/>
                </a:solidFill>
                <a:latin typeface="Encode Sans SemiBold"/>
              </a:rPr>
              <a:t>à casa</a:t>
            </a:r>
          </a:p>
        </p:txBody>
      </p:sp>
      <p:sp>
        <p:nvSpPr>
          <p:cNvPr id="1083" name="TextBox 1082"/>
          <p:cNvSpPr txBox="1"/>
          <p:nvPr/>
        </p:nvSpPr>
        <p:spPr>
          <a:xfrm>
            <a:off x="4267200" y="3655677"/>
            <a:ext cx="4064000" cy="796254"/>
          </a:xfrm>
          <a:prstGeom prst="rect">
            <a:avLst/>
          </a:prstGeom>
          <a:noFill/>
        </p:spPr>
        <p:txBody>
          <a:bodyPr wrap="square" lIns="0" tIns="0" rIns="0" bIns="0" anchor="ctr">
            <a:spAutoFit/>
          </a:bodyPr>
          <a:lstStyle/>
          <a:p>
            <a:pPr algn="l">
              <a:lnSpc>
                <a:spcPct val="125000"/>
              </a:lnSpc>
            </a:pPr>
            <a:r>
              <a:rPr sz="1100">
                <a:solidFill>
                  <a:srgbClr val="A8ADBD"/>
                </a:solidFill>
                <a:latin typeface="Roboto"/>
              </a:rPr>
              <a:t>O que tem na geladeira, quanto sobrou, quando vence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65"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66"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67"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68"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69" name="TextBox 1068"/>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Dado funcional × telemetria escondida</a:t>
            </a:r>
          </a:p>
        </p:txBody>
      </p:sp>
      <p:sp>
        <p:nvSpPr>
          <p:cNvPr id="1070" name="TextBox 1069"/>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A distinção que muda como eu penso em risco</a:t>
            </a:r>
          </a:p>
        </p:txBody>
      </p:sp>
      <p:sp>
        <p:nvSpPr>
          <p:cNvPr id="1071" name="Rounded Rectangle 1070"/>
          <p:cNvSpPr/>
          <p:nvPr/>
        </p:nvSpPr>
        <p:spPr>
          <a:xfrm>
            <a:off x="571500" y="1763476"/>
            <a:ext cx="3784600" cy="2759546"/>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2" name="Rectangle 1071"/>
          <p:cNvSpPr/>
          <p:nvPr/>
        </p:nvSpPr>
        <p:spPr>
          <a:xfrm>
            <a:off x="571500" y="1763476"/>
            <a:ext cx="3784600" cy="381000"/>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3" name="TextBox 1072"/>
          <p:cNvSpPr txBox="1"/>
          <p:nvPr/>
        </p:nvSpPr>
        <p:spPr>
          <a:xfrm>
            <a:off x="571500" y="1763476"/>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Telemetria escondida</a:t>
            </a:r>
          </a:p>
        </p:txBody>
      </p:sp>
      <p:sp>
        <p:nvSpPr>
          <p:cNvPr id="1074" name="TextBox 1073"/>
          <p:cNvSpPr txBox="1"/>
          <p:nvPr/>
        </p:nvSpPr>
        <p:spPr>
          <a:xfrm>
            <a:off x="774700" y="2347676"/>
            <a:ext cx="3378200" cy="622413"/>
          </a:xfrm>
          <a:prstGeom prst="rect">
            <a:avLst/>
          </a:prstGeom>
          <a:noFill/>
        </p:spPr>
        <p:txBody>
          <a:bodyPr wrap="square" lIns="0" tIns="0" rIns="0" bIns="0" anchor="ctr">
            <a:spAutoFit/>
          </a:bodyPr>
          <a:lstStyle/>
          <a:p>
            <a:pPr algn="ctr">
              <a:lnSpc>
                <a:spcPct val="110000"/>
              </a:lnSpc>
            </a:pPr>
            <a:r>
              <a:rPr sz="1800">
                <a:solidFill>
                  <a:srgbClr val="14161B"/>
                </a:solidFill>
                <a:latin typeface="Encode Sans SemiBold"/>
              </a:rPr>
              <a:t>O produto funciona sem</a:t>
            </a:r>
          </a:p>
          <a:p>
            <a:pPr algn="ctr">
              <a:lnSpc>
                <a:spcPct val="110000"/>
              </a:lnSpc>
            </a:pPr>
            <a:r>
              <a:rPr sz="1800">
                <a:solidFill>
                  <a:srgbClr val="14161B"/>
                </a:solidFill>
                <a:latin typeface="Encode Sans SemiBold"/>
              </a:rPr>
              <a:t>ela</a:t>
            </a:r>
          </a:p>
        </p:txBody>
      </p:sp>
      <p:sp>
        <p:nvSpPr>
          <p:cNvPr id="1075" name="TextBox 1074"/>
          <p:cNvSpPr txBox="1"/>
          <p:nvPr/>
        </p:nvSpPr>
        <p:spPr>
          <a:xfrm>
            <a:off x="774700" y="3122490"/>
            <a:ext cx="3378200" cy="1222733"/>
          </a:xfrm>
          <a:prstGeom prst="rect">
            <a:avLst/>
          </a:prstGeom>
          <a:noFill/>
        </p:spPr>
        <p:txBody>
          <a:bodyPr wrap="square" lIns="0" tIns="0" rIns="0" bIns="0" anchor="t">
            <a:spAutoFit/>
          </a:bodyPr>
          <a:lstStyle/>
          <a:p>
            <a:pPr marL="182880" indent="-182880" algn="l">
              <a:lnSpc>
                <a:spcPct val="115000"/>
              </a:lnSpc>
              <a:spcAft>
                <a:spcPts val="600"/>
              </a:spcAft>
              <a:buClr>
                <a:srgbClr val="8A8FA0"/>
              </a:buClr>
              <a:buSzPts val="770"/>
              <a:buFont typeface="Arial"/>
              <a:buChar char="●"/>
            </a:pPr>
            <a:r>
              <a:rPr sz="1100">
                <a:solidFill>
                  <a:srgbClr val="5B6070"/>
                </a:solidFill>
                <a:latin typeface="Roboto"/>
              </a:rPr>
              <a:t>Analytics de clique, por exemplo</a:t>
            </a:r>
          </a:p>
          <a:p>
            <a:pPr marL="182880" indent="-182880" algn="l">
              <a:lnSpc>
                <a:spcPct val="115000"/>
              </a:lnSpc>
              <a:spcAft>
                <a:spcPts val="600"/>
              </a:spcAft>
              <a:buClr>
                <a:srgbClr val="8A8FA0"/>
              </a:buClr>
              <a:buSzPts val="770"/>
              <a:buFont typeface="Arial"/>
              <a:buChar char="●"/>
            </a:pPr>
            <a:r>
              <a:rPr sz="1100">
                <a:solidFill>
                  <a:srgbClr val="5B6070"/>
                </a:solidFill>
                <a:latin typeface="Roboto"/>
              </a:rPr>
              <a:t>Dá pra parar de coletar e reduzir risco na hora</a:t>
            </a:r>
          </a:p>
          <a:p>
            <a:pPr marL="182880" indent="-182880" algn="l">
              <a:lnSpc>
                <a:spcPct val="115000"/>
              </a:lnSpc>
              <a:spcAft>
                <a:spcPts val="600"/>
              </a:spcAft>
              <a:buClr>
                <a:srgbClr val="8A8FA0"/>
              </a:buClr>
              <a:buSzPts val="770"/>
              <a:buFont typeface="Arial"/>
              <a:buChar char="●"/>
            </a:pPr>
            <a:r>
              <a:rPr sz="1100">
                <a:solidFill>
                  <a:srgbClr val="5B6070"/>
                </a:solidFill>
                <a:latin typeface="Roboto"/>
              </a:rPr>
              <a:t>A pergunta certa é "por que estou guardando isso?"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70"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71"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72"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73"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74" name="TextBox 1073"/>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Dado funcional × telemetria escondida</a:t>
            </a:r>
          </a:p>
        </p:txBody>
      </p:sp>
      <p:sp>
        <p:nvSpPr>
          <p:cNvPr id="1075" name="TextBox 1074"/>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A distinção que muda como eu penso em risco</a:t>
            </a:r>
          </a:p>
        </p:txBody>
      </p:sp>
      <p:sp>
        <p:nvSpPr>
          <p:cNvPr id="1076" name="Rounded Rectangle 1075"/>
          <p:cNvSpPr/>
          <p:nvPr/>
        </p:nvSpPr>
        <p:spPr>
          <a:xfrm>
            <a:off x="571500" y="1763476"/>
            <a:ext cx="3784600" cy="2759546"/>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7" name="Rectangle 1076"/>
          <p:cNvSpPr/>
          <p:nvPr/>
        </p:nvSpPr>
        <p:spPr>
          <a:xfrm>
            <a:off x="571500" y="1763476"/>
            <a:ext cx="3784600" cy="381000"/>
          </a:xfrm>
          <a:prstGeom prst="rect">
            <a:avLst/>
          </a:prstGeom>
          <a:solidFill>
            <a:srgbClr val="8A8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8" name="TextBox 1077"/>
          <p:cNvSpPr txBox="1"/>
          <p:nvPr/>
        </p:nvSpPr>
        <p:spPr>
          <a:xfrm>
            <a:off x="571500" y="1763476"/>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Telemetria escondida</a:t>
            </a:r>
          </a:p>
        </p:txBody>
      </p:sp>
      <p:sp>
        <p:nvSpPr>
          <p:cNvPr id="1079" name="TextBox 1078"/>
          <p:cNvSpPr txBox="1"/>
          <p:nvPr/>
        </p:nvSpPr>
        <p:spPr>
          <a:xfrm>
            <a:off x="774700" y="2347676"/>
            <a:ext cx="3378200" cy="622413"/>
          </a:xfrm>
          <a:prstGeom prst="rect">
            <a:avLst/>
          </a:prstGeom>
          <a:noFill/>
        </p:spPr>
        <p:txBody>
          <a:bodyPr wrap="square" lIns="0" tIns="0" rIns="0" bIns="0" anchor="ctr">
            <a:spAutoFit/>
          </a:bodyPr>
          <a:lstStyle/>
          <a:p>
            <a:pPr algn="ctr">
              <a:lnSpc>
                <a:spcPct val="110000"/>
              </a:lnSpc>
            </a:pPr>
            <a:r>
              <a:rPr sz="1800">
                <a:solidFill>
                  <a:srgbClr val="14161B"/>
                </a:solidFill>
                <a:latin typeface="Encode Sans SemiBold"/>
              </a:rPr>
              <a:t>O produto funciona sem</a:t>
            </a:r>
          </a:p>
          <a:p>
            <a:pPr algn="ctr">
              <a:lnSpc>
                <a:spcPct val="110000"/>
              </a:lnSpc>
            </a:pPr>
            <a:r>
              <a:rPr sz="1800">
                <a:solidFill>
                  <a:srgbClr val="14161B"/>
                </a:solidFill>
                <a:latin typeface="Encode Sans SemiBold"/>
              </a:rPr>
              <a:t>ela</a:t>
            </a:r>
          </a:p>
        </p:txBody>
      </p:sp>
      <p:sp>
        <p:nvSpPr>
          <p:cNvPr id="1080" name="TextBox 1079"/>
          <p:cNvSpPr txBox="1"/>
          <p:nvPr/>
        </p:nvSpPr>
        <p:spPr>
          <a:xfrm>
            <a:off x="774700" y="3122490"/>
            <a:ext cx="3378200" cy="1222733"/>
          </a:xfrm>
          <a:prstGeom prst="rect">
            <a:avLst/>
          </a:prstGeom>
          <a:noFill/>
        </p:spPr>
        <p:txBody>
          <a:bodyPr wrap="square" lIns="0" tIns="0" rIns="0" bIns="0" anchor="t">
            <a:spAutoFit/>
          </a:bodyPr>
          <a:lstStyle/>
          <a:p>
            <a:pPr marL="182880" indent="-182880" algn="l">
              <a:lnSpc>
                <a:spcPct val="115000"/>
              </a:lnSpc>
              <a:spcAft>
                <a:spcPts val="600"/>
              </a:spcAft>
              <a:buClr>
                <a:srgbClr val="8A8FA0"/>
              </a:buClr>
              <a:buSzPts val="770"/>
              <a:buFont typeface="Arial"/>
              <a:buChar char="●"/>
            </a:pPr>
            <a:r>
              <a:rPr sz="1100">
                <a:solidFill>
                  <a:srgbClr val="5B6070"/>
                </a:solidFill>
                <a:latin typeface="Roboto"/>
              </a:rPr>
              <a:t>Analytics de clique, por exemplo</a:t>
            </a:r>
          </a:p>
          <a:p>
            <a:pPr marL="182880" indent="-182880" algn="l">
              <a:lnSpc>
                <a:spcPct val="115000"/>
              </a:lnSpc>
              <a:spcAft>
                <a:spcPts val="600"/>
              </a:spcAft>
              <a:buClr>
                <a:srgbClr val="8A8FA0"/>
              </a:buClr>
              <a:buSzPts val="770"/>
              <a:buFont typeface="Arial"/>
              <a:buChar char="●"/>
            </a:pPr>
            <a:r>
              <a:rPr sz="1100">
                <a:solidFill>
                  <a:srgbClr val="5B6070"/>
                </a:solidFill>
                <a:latin typeface="Roboto"/>
              </a:rPr>
              <a:t>Dá pra parar de coletar e reduzir risco na hora</a:t>
            </a:r>
          </a:p>
          <a:p>
            <a:pPr marL="182880" indent="-182880" algn="l">
              <a:lnSpc>
                <a:spcPct val="115000"/>
              </a:lnSpc>
              <a:spcAft>
                <a:spcPts val="600"/>
              </a:spcAft>
              <a:buClr>
                <a:srgbClr val="8A8FA0"/>
              </a:buClr>
              <a:buSzPts val="770"/>
              <a:buFont typeface="Arial"/>
              <a:buChar char="●"/>
            </a:pPr>
            <a:r>
              <a:rPr sz="1100">
                <a:solidFill>
                  <a:srgbClr val="5B6070"/>
                </a:solidFill>
                <a:latin typeface="Roboto"/>
              </a:rPr>
              <a:t>A pergunta certa é "por que estou guardando isso?"</a:t>
            </a:r>
          </a:p>
        </p:txBody>
      </p:sp>
      <p:sp>
        <p:nvSpPr>
          <p:cNvPr id="1081" name="Rounded Rectangle 1080"/>
          <p:cNvSpPr/>
          <p:nvPr/>
        </p:nvSpPr>
        <p:spPr>
          <a:xfrm>
            <a:off x="4787900" y="1763476"/>
            <a:ext cx="3784600" cy="2759546"/>
          </a:xfrm>
          <a:prstGeom prst="roundRect">
            <a:avLst>
              <a:gd name="adj" fmla="val 5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2" name="Rectangle 1081"/>
          <p:cNvSpPr/>
          <p:nvPr/>
        </p:nvSpPr>
        <p:spPr>
          <a:xfrm>
            <a:off x="4787900" y="1763476"/>
            <a:ext cx="3784600" cy="3810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3" name="TextBox 1082"/>
          <p:cNvSpPr txBox="1"/>
          <p:nvPr/>
        </p:nvSpPr>
        <p:spPr>
          <a:xfrm>
            <a:off x="4787900" y="1763476"/>
            <a:ext cx="3784600" cy="381000"/>
          </a:xfrm>
          <a:prstGeom prst="rect">
            <a:avLst/>
          </a:prstGeom>
          <a:noFill/>
        </p:spPr>
        <p:txBody>
          <a:bodyPr wrap="square" lIns="0" tIns="0" rIns="0" bIns="0" anchor="ctr">
            <a:spAutoFit/>
          </a:bodyPr>
          <a:lstStyle/>
          <a:p>
            <a:pPr algn="ctr">
              <a:lnSpc>
                <a:spcPct val="100000"/>
              </a:lnSpc>
            </a:pPr>
            <a:r>
              <a:rPr sz="1100" b="1" cap="all">
                <a:solidFill>
                  <a:srgbClr val="FFFFFF"/>
                </a:solidFill>
                <a:latin typeface="Encode Sans"/>
              </a:rPr>
              <a:t>Dado funcional</a:t>
            </a:r>
          </a:p>
        </p:txBody>
      </p:sp>
      <p:sp>
        <p:nvSpPr>
          <p:cNvPr id="1084" name="TextBox 1083"/>
          <p:cNvSpPr txBox="1"/>
          <p:nvPr/>
        </p:nvSpPr>
        <p:spPr>
          <a:xfrm>
            <a:off x="4991100" y="2347676"/>
            <a:ext cx="3378200" cy="311206"/>
          </a:xfrm>
          <a:prstGeom prst="rect">
            <a:avLst/>
          </a:prstGeom>
          <a:noFill/>
        </p:spPr>
        <p:txBody>
          <a:bodyPr wrap="square" lIns="0" tIns="0" rIns="0" bIns="0" anchor="ctr">
            <a:spAutoFit/>
          </a:bodyPr>
          <a:lstStyle/>
          <a:p>
            <a:pPr algn="ctr">
              <a:lnSpc>
                <a:spcPct val="110000"/>
              </a:lnSpc>
            </a:pPr>
            <a:r>
              <a:rPr sz="1800">
                <a:solidFill>
                  <a:srgbClr val="14161B"/>
                </a:solidFill>
                <a:latin typeface="Encode Sans SemiBold"/>
              </a:rPr>
              <a:t>O dado é o produto</a:t>
            </a:r>
          </a:p>
        </p:txBody>
      </p:sp>
      <p:sp>
        <p:nvSpPr>
          <p:cNvPr id="1085" name="TextBox 1084"/>
          <p:cNvSpPr txBox="1"/>
          <p:nvPr/>
        </p:nvSpPr>
        <p:spPr>
          <a:xfrm>
            <a:off x="4991100" y="2811283"/>
            <a:ext cx="3378200" cy="1421559"/>
          </a:xfrm>
          <a:prstGeom prst="rect">
            <a:avLst/>
          </a:prstGeom>
          <a:noFill/>
        </p:spPr>
        <p:txBody>
          <a:bodyPr wrap="square" lIns="0" tIns="0" rIns="0" bIns="0" anchor="t">
            <a:spAutoFit/>
          </a:bodyPr>
          <a:lstStyle/>
          <a:p>
            <a:pPr marL="182880" indent="-182880" algn="l">
              <a:lnSpc>
                <a:spcPct val="115000"/>
              </a:lnSpc>
              <a:spcAft>
                <a:spcPts val="600"/>
              </a:spcAft>
              <a:buClr>
                <a:srgbClr val="052FD3"/>
              </a:buClr>
              <a:buSzPts val="770"/>
              <a:buFont typeface="Arial"/>
              <a:buChar char="●"/>
            </a:pPr>
            <a:r>
              <a:rPr sz="1100">
                <a:solidFill>
                  <a:srgbClr val="5B6070"/>
                </a:solidFill>
                <a:latin typeface="Roboto"/>
              </a:rPr>
              <a:t>Se eu apagasse pensamentos agora, tudo para de funcionar</a:t>
            </a:r>
          </a:p>
          <a:p>
            <a:pPr marL="182880" indent="-182880" algn="l">
              <a:lnSpc>
                <a:spcPct val="115000"/>
              </a:lnSpc>
              <a:spcAft>
                <a:spcPts val="600"/>
              </a:spcAft>
              <a:buClr>
                <a:srgbClr val="052FD3"/>
              </a:buClr>
              <a:buSzPts val="770"/>
              <a:buFont typeface="Arial"/>
              <a:buChar char="●"/>
            </a:pPr>
            <a:r>
              <a:rPr sz="1100">
                <a:solidFill>
                  <a:srgbClr val="5B6070"/>
                </a:solidFill>
                <a:latin typeface="Roboto"/>
              </a:rPr>
              <a:t>É literalmente o feed que o resto do sistema lê</a:t>
            </a:r>
          </a:p>
          <a:p>
            <a:pPr marL="182880" indent="-182880" algn="l">
              <a:lnSpc>
                <a:spcPct val="115000"/>
              </a:lnSpc>
              <a:spcAft>
                <a:spcPts val="600"/>
              </a:spcAft>
              <a:buClr>
                <a:srgbClr val="052FD3"/>
              </a:buClr>
              <a:buSzPts val="770"/>
              <a:buFont typeface="Arial"/>
              <a:buChar char="●"/>
            </a:pPr>
            <a:r>
              <a:rPr sz="1100">
                <a:solidFill>
                  <a:srgbClr val="5B6070"/>
                </a:solidFill>
                <a:latin typeface="Roboto"/>
              </a:rPr>
              <a:t>Não dá pra coletar menos — o trabalho é proteger melhor</a:t>
            </a:r>
          </a:p>
        </p:txBody>
      </p:sp>
      <p:sp>
        <p:nvSpPr>
          <p:cNvPr id="1086" name="Oval 1085"/>
          <p:cNvSpPr/>
          <p:nvPr/>
        </p:nvSpPr>
        <p:spPr>
          <a:xfrm>
            <a:off x="4381500" y="2952750"/>
            <a:ext cx="381000" cy="381000"/>
          </a:xfrm>
          <a:prstGeom prst="ellipse">
            <a:avLst/>
          </a:prstGeom>
          <a:solidFill>
            <a:srgbClr val="EEEFF1"/>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7" name="TextBox 1086"/>
          <p:cNvSpPr txBox="1"/>
          <p:nvPr/>
        </p:nvSpPr>
        <p:spPr>
          <a:xfrm>
            <a:off x="4381500" y="2952750"/>
            <a:ext cx="381000" cy="381000"/>
          </a:xfrm>
          <a:prstGeom prst="rect">
            <a:avLst/>
          </a:prstGeom>
          <a:noFill/>
        </p:spPr>
        <p:txBody>
          <a:bodyPr wrap="square" lIns="0" tIns="0" rIns="0" bIns="0" anchor="ctr">
            <a:spAutoFit/>
          </a:bodyPr>
          <a:lstStyle/>
          <a:p>
            <a:pPr algn="ctr">
              <a:lnSpc>
                <a:spcPct val="100000"/>
              </a:lnSpc>
            </a:pPr>
            <a:r>
              <a:rPr sz="1200" b="1">
                <a:solidFill>
                  <a:srgbClr val="8A8FA0"/>
                </a:solidFill>
                <a:latin typeface="Encode Sans"/>
              </a:rPr>
              <a:t>vs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75"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76"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77"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78"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79" name="TextBox 1078"/>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Onde a proteção está — e onde não está</a:t>
            </a:r>
          </a:p>
        </p:txBody>
      </p:sp>
      <p:sp>
        <p:nvSpPr>
          <p:cNvPr id="1080" name="TextBox 1079"/>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Honestidade sobre uma escolha real do projeto</a:t>
            </a:r>
          </a:p>
        </p:txBody>
      </p:sp>
      <p:sp>
        <p:nvSpPr>
          <p:cNvPr id="1081" name="Rounded Rectangle 1080"/>
          <p:cNvSpPr/>
          <p:nvPr/>
        </p:nvSpPr>
        <p:spPr>
          <a:xfrm>
            <a:off x="571500" y="1676400"/>
            <a:ext cx="2497666" cy="3018790"/>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2" name="Rectangle 1081"/>
          <p:cNvSpPr/>
          <p:nvPr/>
        </p:nvSpPr>
        <p:spPr>
          <a:xfrm>
            <a:off x="571500" y="1676400"/>
            <a:ext cx="2497666" cy="50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3" name="TextBox 1082"/>
          <p:cNvSpPr txBox="1"/>
          <p:nvPr/>
        </p:nvSpPr>
        <p:spPr>
          <a:xfrm>
            <a:off x="774700" y="1905000"/>
            <a:ext cx="2091266" cy="177800"/>
          </a:xfrm>
          <a:prstGeom prst="rect">
            <a:avLst/>
          </a:prstGeom>
          <a:noFill/>
        </p:spPr>
        <p:txBody>
          <a:bodyPr wrap="square" lIns="0" tIns="0" rIns="0" bIns="0" anchor="ctr">
            <a:spAutoFit/>
          </a:bodyPr>
          <a:lstStyle/>
          <a:p>
            <a:pPr algn="ctr">
              <a:lnSpc>
                <a:spcPct val="100000"/>
              </a:lnSpc>
            </a:pPr>
            <a:r>
              <a:rPr sz="1100" b="1" cap="all">
                <a:solidFill>
                  <a:srgbClr val="C0392B"/>
                </a:solidFill>
                <a:latin typeface="Encode Sans"/>
              </a:rPr>
              <a:t>RLS — desligado</a:t>
            </a:r>
          </a:p>
        </p:txBody>
      </p:sp>
      <p:sp>
        <p:nvSpPr>
          <p:cNvPr id="1084" name="TextBox 1083"/>
          <p:cNvSpPr txBox="1"/>
          <p:nvPr/>
        </p:nvSpPr>
        <p:spPr>
          <a:xfrm>
            <a:off x="774700" y="21844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De propósito, e</a:t>
            </a:r>
          </a:p>
          <a:p>
            <a:pPr algn="ctr">
              <a:lnSpc>
                <a:spcPct val="110000"/>
              </a:lnSpc>
            </a:pPr>
            <a:r>
              <a:rPr sz="1500">
                <a:solidFill>
                  <a:srgbClr val="14161B"/>
                </a:solidFill>
                <a:latin typeface="Encode Sans SemiBold"/>
              </a:rPr>
              <a:t>documentado</a:t>
            </a:r>
          </a:p>
        </p:txBody>
      </p:sp>
      <p:sp>
        <p:nvSpPr>
          <p:cNvPr id="1085" name="TextBox 1084"/>
          <p:cNvSpPr txBox="1"/>
          <p:nvPr/>
        </p:nvSpPr>
        <p:spPr>
          <a:xfrm>
            <a:off x="774700" y="2855478"/>
            <a:ext cx="2091266" cy="1636511"/>
          </a:xfrm>
          <a:prstGeom prst="rect">
            <a:avLst/>
          </a:prstGeom>
          <a:noFill/>
        </p:spPr>
        <p:txBody>
          <a:bodyPr wrap="square" lIns="0" tIns="0" rIns="0" bIns="0" anchor="t">
            <a:spAutoFit/>
          </a:bodyPr>
          <a:lstStyle/>
          <a:p>
            <a:pPr marL="182880" indent="-182880" algn="l">
              <a:lnSpc>
                <a:spcPct val="115000"/>
              </a:lnSpc>
              <a:spcAft>
                <a:spcPts val="500"/>
              </a:spcAft>
              <a:buClr>
                <a:srgbClr val="C0392B"/>
              </a:buClr>
              <a:buSzPts val="700"/>
              <a:buFont typeface="Arial"/>
              <a:buChar char="●"/>
            </a:pPr>
            <a:r>
              <a:rPr sz="1000">
                <a:solidFill>
                  <a:srgbClr val="5B6070"/>
                </a:solidFill>
                <a:latin typeface="Roboto"/>
              </a:rPr>
              <a:t>Household único: não existe outro tenant pra vazar dado</a:t>
            </a:r>
          </a:p>
          <a:p>
            <a:pPr marL="182880" indent="-182880" algn="l">
              <a:lnSpc>
                <a:spcPct val="115000"/>
              </a:lnSpc>
              <a:spcAft>
                <a:spcPts val="500"/>
              </a:spcAft>
              <a:buClr>
                <a:srgbClr val="C0392B"/>
              </a:buClr>
              <a:buSzPts val="700"/>
              <a:buFont typeface="Arial"/>
              <a:buChar char="●"/>
            </a:pPr>
            <a:r>
              <a:rPr sz="1000">
                <a:solidFill>
                  <a:srgbClr val="5B6070"/>
                </a:solidFill>
                <a:latin typeface="Roboto"/>
              </a:rPr>
              <a:t>Se virasse multi-tenant, deixaria de ser aceitável na hora</a:t>
            </a:r>
          </a:p>
          <a:p>
            <a:pPr marL="182880" indent="-182880" algn="l">
              <a:lnSpc>
                <a:spcPct val="115000"/>
              </a:lnSpc>
              <a:spcAft>
                <a:spcPts val="500"/>
              </a:spcAft>
              <a:buClr>
                <a:srgbClr val="C0392B"/>
              </a:buClr>
              <a:buSzPts val="700"/>
              <a:buFont typeface="Arial"/>
              <a:buChar char="●"/>
            </a:pPr>
            <a:r>
              <a:rPr sz="1000">
                <a:solidFill>
                  <a:srgbClr val="5B6070"/>
                </a:solidFill>
                <a:latin typeface="Roboto"/>
              </a:rPr>
              <a:t>Documentado no SDD §13.8 — o registro é o que garante revisão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80"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81"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82"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83"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84" name="TextBox 1083"/>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Onde a proteção está — e onde não está</a:t>
            </a:r>
          </a:p>
        </p:txBody>
      </p:sp>
      <p:sp>
        <p:nvSpPr>
          <p:cNvPr id="1085" name="TextBox 1084"/>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Honestidade sobre uma escolha real do projeto</a:t>
            </a:r>
          </a:p>
        </p:txBody>
      </p:sp>
      <p:sp>
        <p:nvSpPr>
          <p:cNvPr id="1086" name="Rounded Rectangle 1085"/>
          <p:cNvSpPr/>
          <p:nvPr/>
        </p:nvSpPr>
        <p:spPr>
          <a:xfrm>
            <a:off x="571500" y="1676400"/>
            <a:ext cx="2497666" cy="3018790"/>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7" name="Rectangle 1086"/>
          <p:cNvSpPr/>
          <p:nvPr/>
        </p:nvSpPr>
        <p:spPr>
          <a:xfrm>
            <a:off x="571500" y="1676400"/>
            <a:ext cx="2497666" cy="50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88" name="TextBox 1087"/>
          <p:cNvSpPr txBox="1"/>
          <p:nvPr/>
        </p:nvSpPr>
        <p:spPr>
          <a:xfrm>
            <a:off x="774700" y="1905000"/>
            <a:ext cx="2091266" cy="177800"/>
          </a:xfrm>
          <a:prstGeom prst="rect">
            <a:avLst/>
          </a:prstGeom>
          <a:noFill/>
        </p:spPr>
        <p:txBody>
          <a:bodyPr wrap="square" lIns="0" tIns="0" rIns="0" bIns="0" anchor="ctr">
            <a:spAutoFit/>
          </a:bodyPr>
          <a:lstStyle/>
          <a:p>
            <a:pPr algn="ctr">
              <a:lnSpc>
                <a:spcPct val="100000"/>
              </a:lnSpc>
            </a:pPr>
            <a:r>
              <a:rPr sz="1100" b="1" cap="all">
                <a:solidFill>
                  <a:srgbClr val="C0392B"/>
                </a:solidFill>
                <a:latin typeface="Encode Sans"/>
              </a:rPr>
              <a:t>RLS — desligado</a:t>
            </a:r>
          </a:p>
        </p:txBody>
      </p:sp>
      <p:sp>
        <p:nvSpPr>
          <p:cNvPr id="1089" name="TextBox 1088"/>
          <p:cNvSpPr txBox="1"/>
          <p:nvPr/>
        </p:nvSpPr>
        <p:spPr>
          <a:xfrm>
            <a:off x="774700" y="21844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De propósito, e</a:t>
            </a:r>
          </a:p>
          <a:p>
            <a:pPr algn="ctr">
              <a:lnSpc>
                <a:spcPct val="110000"/>
              </a:lnSpc>
            </a:pPr>
            <a:r>
              <a:rPr sz="1500">
                <a:solidFill>
                  <a:srgbClr val="14161B"/>
                </a:solidFill>
                <a:latin typeface="Encode Sans SemiBold"/>
              </a:rPr>
              <a:t>documentado</a:t>
            </a:r>
          </a:p>
        </p:txBody>
      </p:sp>
      <p:sp>
        <p:nvSpPr>
          <p:cNvPr id="1090" name="TextBox 1089"/>
          <p:cNvSpPr txBox="1"/>
          <p:nvPr/>
        </p:nvSpPr>
        <p:spPr>
          <a:xfrm>
            <a:off x="774700" y="2855478"/>
            <a:ext cx="2091266" cy="1636511"/>
          </a:xfrm>
          <a:prstGeom prst="rect">
            <a:avLst/>
          </a:prstGeom>
          <a:noFill/>
        </p:spPr>
        <p:txBody>
          <a:bodyPr wrap="square" lIns="0" tIns="0" rIns="0" bIns="0" anchor="t">
            <a:spAutoFit/>
          </a:bodyPr>
          <a:lstStyle/>
          <a:p>
            <a:pPr marL="182880" indent="-182880" algn="l">
              <a:lnSpc>
                <a:spcPct val="115000"/>
              </a:lnSpc>
              <a:spcAft>
                <a:spcPts val="500"/>
              </a:spcAft>
              <a:buClr>
                <a:srgbClr val="C0392B"/>
              </a:buClr>
              <a:buSzPts val="700"/>
              <a:buFont typeface="Arial"/>
              <a:buChar char="●"/>
            </a:pPr>
            <a:r>
              <a:rPr sz="1000">
                <a:solidFill>
                  <a:srgbClr val="5B6070"/>
                </a:solidFill>
                <a:latin typeface="Roboto"/>
              </a:rPr>
              <a:t>Household único: não existe outro tenant pra vazar dado</a:t>
            </a:r>
          </a:p>
          <a:p>
            <a:pPr marL="182880" indent="-182880" algn="l">
              <a:lnSpc>
                <a:spcPct val="115000"/>
              </a:lnSpc>
              <a:spcAft>
                <a:spcPts val="500"/>
              </a:spcAft>
              <a:buClr>
                <a:srgbClr val="C0392B"/>
              </a:buClr>
              <a:buSzPts val="700"/>
              <a:buFont typeface="Arial"/>
              <a:buChar char="●"/>
            </a:pPr>
            <a:r>
              <a:rPr sz="1000">
                <a:solidFill>
                  <a:srgbClr val="5B6070"/>
                </a:solidFill>
                <a:latin typeface="Roboto"/>
              </a:rPr>
              <a:t>Se virasse multi-tenant, deixaria de ser aceitável na hora</a:t>
            </a:r>
          </a:p>
          <a:p>
            <a:pPr marL="182880" indent="-182880" algn="l">
              <a:lnSpc>
                <a:spcPct val="115000"/>
              </a:lnSpc>
              <a:spcAft>
                <a:spcPts val="500"/>
              </a:spcAft>
              <a:buClr>
                <a:srgbClr val="C0392B"/>
              </a:buClr>
              <a:buSzPts val="700"/>
              <a:buFont typeface="Arial"/>
              <a:buChar char="●"/>
            </a:pPr>
            <a:r>
              <a:rPr sz="1000">
                <a:solidFill>
                  <a:srgbClr val="5B6070"/>
                </a:solidFill>
                <a:latin typeface="Roboto"/>
              </a:rPr>
              <a:t>Documentado no SDD §13.8 — o registro é o que garante revisão</a:t>
            </a:r>
          </a:p>
        </p:txBody>
      </p:sp>
      <p:sp>
        <p:nvSpPr>
          <p:cNvPr id="1091" name="Rounded Rectangle 1090"/>
          <p:cNvSpPr/>
          <p:nvPr/>
        </p:nvSpPr>
        <p:spPr>
          <a:xfrm>
            <a:off x="3323166" y="1676400"/>
            <a:ext cx="2497666" cy="3018790"/>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92" name="Rectangle 1091"/>
          <p:cNvSpPr/>
          <p:nvPr/>
        </p:nvSpPr>
        <p:spPr>
          <a:xfrm>
            <a:off x="3323166" y="1676400"/>
            <a:ext cx="2497666"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93" name="TextBox 1092"/>
          <p:cNvSpPr txBox="1"/>
          <p:nvPr/>
        </p:nvSpPr>
        <p:spPr>
          <a:xfrm>
            <a:off x="3526366" y="1905000"/>
            <a:ext cx="2091266" cy="177800"/>
          </a:xfrm>
          <a:prstGeom prst="rect">
            <a:avLst/>
          </a:prstGeom>
          <a:noFill/>
        </p:spPr>
        <p:txBody>
          <a:bodyPr wrap="square" lIns="0" tIns="0" rIns="0" bIns="0" anchor="ctr">
            <a:spAutoFit/>
          </a:bodyPr>
          <a:lstStyle/>
          <a:p>
            <a:pPr algn="ctr">
              <a:lnSpc>
                <a:spcPct val="100000"/>
              </a:lnSpc>
            </a:pPr>
            <a:r>
              <a:rPr sz="1100" b="1" cap="all">
                <a:solidFill>
                  <a:srgbClr val="2FB36B"/>
                </a:solidFill>
                <a:latin typeface="Encode Sans"/>
              </a:rPr>
              <a:t>Service role key</a:t>
            </a:r>
          </a:p>
        </p:txBody>
      </p:sp>
      <p:sp>
        <p:nvSpPr>
          <p:cNvPr id="1094" name="TextBox 1093"/>
          <p:cNvSpPr txBox="1"/>
          <p:nvPr/>
        </p:nvSpPr>
        <p:spPr>
          <a:xfrm>
            <a:off x="3526366" y="21844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A proteção de fato,</a:t>
            </a:r>
          </a:p>
          <a:p>
            <a:pPr algn="ctr">
              <a:lnSpc>
                <a:spcPct val="110000"/>
              </a:lnSpc>
            </a:pPr>
            <a:r>
              <a:rPr sz="1500">
                <a:solidFill>
                  <a:srgbClr val="14161B"/>
                </a:solidFill>
                <a:latin typeface="Encode Sans SemiBold"/>
              </a:rPr>
              <a:t>hoje</a:t>
            </a:r>
          </a:p>
        </p:txBody>
      </p:sp>
      <p:sp>
        <p:nvSpPr>
          <p:cNvPr id="1095" name="TextBox 1094"/>
          <p:cNvSpPr txBox="1"/>
          <p:nvPr/>
        </p:nvSpPr>
        <p:spPr>
          <a:xfrm>
            <a:off x="3526366" y="2855478"/>
            <a:ext cx="2091266" cy="1094257"/>
          </a:xfrm>
          <a:prstGeom prst="rect">
            <a:avLst/>
          </a:prstGeom>
          <a:noFill/>
        </p:spPr>
        <p:txBody>
          <a:bodyPr wrap="square" lIns="0" tIns="0" rIns="0" bIns="0" anchor="t">
            <a:spAutoFit/>
          </a:bodyPr>
          <a:lstStyle/>
          <a:p>
            <a:pPr marL="182880" indent="-182880" algn="l">
              <a:lnSpc>
                <a:spcPct val="115000"/>
              </a:lnSpc>
              <a:spcAft>
                <a:spcPts val="500"/>
              </a:spcAft>
              <a:buClr>
                <a:srgbClr val="2FB36B"/>
              </a:buClr>
              <a:buSzPts val="700"/>
              <a:buFont typeface="Arial"/>
              <a:buChar char="●"/>
            </a:pPr>
            <a:r>
              <a:rPr sz="1000">
                <a:solidFill>
                  <a:srgbClr val="5B6070"/>
                </a:solidFill>
                <a:latin typeface="Roboto"/>
              </a:rPr>
              <a:t>Nunca chega ao navegador</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Só o backend toca as tabelas sensíveis</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Cobre o risco que existe hoje: acesso direto de fora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85"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086"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87"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088"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089" name="TextBox 1088"/>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Onde a proteção está — e onde não está</a:t>
            </a:r>
          </a:p>
        </p:txBody>
      </p:sp>
      <p:sp>
        <p:nvSpPr>
          <p:cNvPr id="1090" name="TextBox 1089"/>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Honestidade sobre uma escolha real do projeto</a:t>
            </a:r>
          </a:p>
        </p:txBody>
      </p:sp>
      <p:sp>
        <p:nvSpPr>
          <p:cNvPr id="1091" name="Rounded Rectangle 1090"/>
          <p:cNvSpPr/>
          <p:nvPr/>
        </p:nvSpPr>
        <p:spPr>
          <a:xfrm>
            <a:off x="571500" y="1676400"/>
            <a:ext cx="2497666" cy="3018790"/>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92" name="Rectangle 1091"/>
          <p:cNvSpPr/>
          <p:nvPr/>
        </p:nvSpPr>
        <p:spPr>
          <a:xfrm>
            <a:off x="571500" y="1676400"/>
            <a:ext cx="2497666" cy="50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93" name="TextBox 1092"/>
          <p:cNvSpPr txBox="1"/>
          <p:nvPr/>
        </p:nvSpPr>
        <p:spPr>
          <a:xfrm>
            <a:off x="774700" y="1905000"/>
            <a:ext cx="2091266" cy="177800"/>
          </a:xfrm>
          <a:prstGeom prst="rect">
            <a:avLst/>
          </a:prstGeom>
          <a:noFill/>
        </p:spPr>
        <p:txBody>
          <a:bodyPr wrap="square" lIns="0" tIns="0" rIns="0" bIns="0" anchor="ctr">
            <a:spAutoFit/>
          </a:bodyPr>
          <a:lstStyle/>
          <a:p>
            <a:pPr algn="ctr">
              <a:lnSpc>
                <a:spcPct val="100000"/>
              </a:lnSpc>
            </a:pPr>
            <a:r>
              <a:rPr sz="1100" b="1" cap="all">
                <a:solidFill>
                  <a:srgbClr val="C0392B"/>
                </a:solidFill>
                <a:latin typeface="Encode Sans"/>
              </a:rPr>
              <a:t>RLS — desligado</a:t>
            </a:r>
          </a:p>
        </p:txBody>
      </p:sp>
      <p:sp>
        <p:nvSpPr>
          <p:cNvPr id="1094" name="TextBox 1093"/>
          <p:cNvSpPr txBox="1"/>
          <p:nvPr/>
        </p:nvSpPr>
        <p:spPr>
          <a:xfrm>
            <a:off x="774700" y="21844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De propósito, e</a:t>
            </a:r>
          </a:p>
          <a:p>
            <a:pPr algn="ctr">
              <a:lnSpc>
                <a:spcPct val="110000"/>
              </a:lnSpc>
            </a:pPr>
            <a:r>
              <a:rPr sz="1500">
                <a:solidFill>
                  <a:srgbClr val="14161B"/>
                </a:solidFill>
                <a:latin typeface="Encode Sans SemiBold"/>
              </a:rPr>
              <a:t>documentado</a:t>
            </a:r>
          </a:p>
        </p:txBody>
      </p:sp>
      <p:sp>
        <p:nvSpPr>
          <p:cNvPr id="1095" name="TextBox 1094"/>
          <p:cNvSpPr txBox="1"/>
          <p:nvPr/>
        </p:nvSpPr>
        <p:spPr>
          <a:xfrm>
            <a:off x="774700" y="2855478"/>
            <a:ext cx="2091266" cy="1636511"/>
          </a:xfrm>
          <a:prstGeom prst="rect">
            <a:avLst/>
          </a:prstGeom>
          <a:noFill/>
        </p:spPr>
        <p:txBody>
          <a:bodyPr wrap="square" lIns="0" tIns="0" rIns="0" bIns="0" anchor="t">
            <a:spAutoFit/>
          </a:bodyPr>
          <a:lstStyle/>
          <a:p>
            <a:pPr marL="182880" indent="-182880" algn="l">
              <a:lnSpc>
                <a:spcPct val="115000"/>
              </a:lnSpc>
              <a:spcAft>
                <a:spcPts val="500"/>
              </a:spcAft>
              <a:buClr>
                <a:srgbClr val="C0392B"/>
              </a:buClr>
              <a:buSzPts val="700"/>
              <a:buFont typeface="Arial"/>
              <a:buChar char="●"/>
            </a:pPr>
            <a:r>
              <a:rPr sz="1000">
                <a:solidFill>
                  <a:srgbClr val="5B6070"/>
                </a:solidFill>
                <a:latin typeface="Roboto"/>
              </a:rPr>
              <a:t>Household único: não existe outro tenant pra vazar dado</a:t>
            </a:r>
          </a:p>
          <a:p>
            <a:pPr marL="182880" indent="-182880" algn="l">
              <a:lnSpc>
                <a:spcPct val="115000"/>
              </a:lnSpc>
              <a:spcAft>
                <a:spcPts val="500"/>
              </a:spcAft>
              <a:buClr>
                <a:srgbClr val="C0392B"/>
              </a:buClr>
              <a:buSzPts val="700"/>
              <a:buFont typeface="Arial"/>
              <a:buChar char="●"/>
            </a:pPr>
            <a:r>
              <a:rPr sz="1000">
                <a:solidFill>
                  <a:srgbClr val="5B6070"/>
                </a:solidFill>
                <a:latin typeface="Roboto"/>
              </a:rPr>
              <a:t>Se virasse multi-tenant, deixaria de ser aceitável na hora</a:t>
            </a:r>
          </a:p>
          <a:p>
            <a:pPr marL="182880" indent="-182880" algn="l">
              <a:lnSpc>
                <a:spcPct val="115000"/>
              </a:lnSpc>
              <a:spcAft>
                <a:spcPts val="500"/>
              </a:spcAft>
              <a:buClr>
                <a:srgbClr val="C0392B"/>
              </a:buClr>
              <a:buSzPts val="700"/>
              <a:buFont typeface="Arial"/>
              <a:buChar char="●"/>
            </a:pPr>
            <a:r>
              <a:rPr sz="1000">
                <a:solidFill>
                  <a:srgbClr val="5B6070"/>
                </a:solidFill>
                <a:latin typeface="Roboto"/>
              </a:rPr>
              <a:t>Documentado no SDD §13.8 — o registro é o que garante revisão</a:t>
            </a:r>
          </a:p>
        </p:txBody>
      </p:sp>
      <p:sp>
        <p:nvSpPr>
          <p:cNvPr id="1096" name="Rounded Rectangle 1095"/>
          <p:cNvSpPr/>
          <p:nvPr/>
        </p:nvSpPr>
        <p:spPr>
          <a:xfrm>
            <a:off x="3323166" y="1676400"/>
            <a:ext cx="2497666" cy="3018790"/>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97" name="Rectangle 1096"/>
          <p:cNvSpPr/>
          <p:nvPr/>
        </p:nvSpPr>
        <p:spPr>
          <a:xfrm>
            <a:off x="3323166" y="1676400"/>
            <a:ext cx="2497666"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98" name="TextBox 1097"/>
          <p:cNvSpPr txBox="1"/>
          <p:nvPr/>
        </p:nvSpPr>
        <p:spPr>
          <a:xfrm>
            <a:off x="3526366" y="1905000"/>
            <a:ext cx="2091266" cy="177800"/>
          </a:xfrm>
          <a:prstGeom prst="rect">
            <a:avLst/>
          </a:prstGeom>
          <a:noFill/>
        </p:spPr>
        <p:txBody>
          <a:bodyPr wrap="square" lIns="0" tIns="0" rIns="0" bIns="0" anchor="ctr">
            <a:spAutoFit/>
          </a:bodyPr>
          <a:lstStyle/>
          <a:p>
            <a:pPr algn="ctr">
              <a:lnSpc>
                <a:spcPct val="100000"/>
              </a:lnSpc>
            </a:pPr>
            <a:r>
              <a:rPr sz="1100" b="1" cap="all">
                <a:solidFill>
                  <a:srgbClr val="2FB36B"/>
                </a:solidFill>
                <a:latin typeface="Encode Sans"/>
              </a:rPr>
              <a:t>Service role key</a:t>
            </a:r>
          </a:p>
        </p:txBody>
      </p:sp>
      <p:sp>
        <p:nvSpPr>
          <p:cNvPr id="1099" name="TextBox 1098"/>
          <p:cNvSpPr txBox="1"/>
          <p:nvPr/>
        </p:nvSpPr>
        <p:spPr>
          <a:xfrm>
            <a:off x="3526366" y="21844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A proteção de fato,</a:t>
            </a:r>
          </a:p>
          <a:p>
            <a:pPr algn="ctr">
              <a:lnSpc>
                <a:spcPct val="110000"/>
              </a:lnSpc>
            </a:pPr>
            <a:r>
              <a:rPr sz="1500">
                <a:solidFill>
                  <a:srgbClr val="14161B"/>
                </a:solidFill>
                <a:latin typeface="Encode Sans SemiBold"/>
              </a:rPr>
              <a:t>hoje</a:t>
            </a:r>
          </a:p>
        </p:txBody>
      </p:sp>
      <p:sp>
        <p:nvSpPr>
          <p:cNvPr id="1100" name="TextBox 1099"/>
          <p:cNvSpPr txBox="1"/>
          <p:nvPr/>
        </p:nvSpPr>
        <p:spPr>
          <a:xfrm>
            <a:off x="3526366" y="2855478"/>
            <a:ext cx="2091266" cy="1094257"/>
          </a:xfrm>
          <a:prstGeom prst="rect">
            <a:avLst/>
          </a:prstGeom>
          <a:noFill/>
        </p:spPr>
        <p:txBody>
          <a:bodyPr wrap="square" lIns="0" tIns="0" rIns="0" bIns="0" anchor="t">
            <a:spAutoFit/>
          </a:bodyPr>
          <a:lstStyle/>
          <a:p>
            <a:pPr marL="182880" indent="-182880" algn="l">
              <a:lnSpc>
                <a:spcPct val="115000"/>
              </a:lnSpc>
              <a:spcAft>
                <a:spcPts val="500"/>
              </a:spcAft>
              <a:buClr>
                <a:srgbClr val="2FB36B"/>
              </a:buClr>
              <a:buSzPts val="700"/>
              <a:buFont typeface="Arial"/>
              <a:buChar char="●"/>
            </a:pPr>
            <a:r>
              <a:rPr sz="1000">
                <a:solidFill>
                  <a:srgbClr val="5B6070"/>
                </a:solidFill>
                <a:latin typeface="Roboto"/>
              </a:rPr>
              <a:t>Nunca chega ao navegador</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Só o backend toca as tabelas sensíveis</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Cobre o risco que existe hoje: acesso direto de fora</a:t>
            </a:r>
          </a:p>
        </p:txBody>
      </p:sp>
      <p:sp>
        <p:nvSpPr>
          <p:cNvPr id="1101" name="Rounded Rectangle 1100"/>
          <p:cNvSpPr/>
          <p:nvPr/>
        </p:nvSpPr>
        <p:spPr>
          <a:xfrm>
            <a:off x="6074833" y="1676400"/>
            <a:ext cx="2497666" cy="3018790"/>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02" name="Rectangle 1101"/>
          <p:cNvSpPr/>
          <p:nvPr/>
        </p:nvSpPr>
        <p:spPr>
          <a:xfrm>
            <a:off x="6074833" y="1676400"/>
            <a:ext cx="2497666" cy="508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03" name="TextBox 1102"/>
          <p:cNvSpPr txBox="1"/>
          <p:nvPr/>
        </p:nvSpPr>
        <p:spPr>
          <a:xfrm>
            <a:off x="6278033" y="1905000"/>
            <a:ext cx="2091266" cy="177800"/>
          </a:xfrm>
          <a:prstGeom prst="rect">
            <a:avLst/>
          </a:prstGeom>
          <a:noFill/>
        </p:spPr>
        <p:txBody>
          <a:bodyPr wrap="square" lIns="0" tIns="0" rIns="0" bIns="0" anchor="ctr">
            <a:spAutoFit/>
          </a:bodyPr>
          <a:lstStyle/>
          <a:p>
            <a:pPr algn="ctr">
              <a:lnSpc>
                <a:spcPct val="100000"/>
              </a:lnSpc>
            </a:pPr>
            <a:r>
              <a:rPr sz="1100" b="1" cap="all">
                <a:solidFill>
                  <a:srgbClr val="D98C1F"/>
                </a:solidFill>
                <a:latin typeface="Encode Sans"/>
              </a:rPr>
              <a:t>Basic Auth</a:t>
            </a:r>
          </a:p>
        </p:txBody>
      </p:sp>
      <p:sp>
        <p:nvSpPr>
          <p:cNvPr id="1104" name="TextBox 1103"/>
          <p:cNvSpPr txBox="1"/>
          <p:nvPr/>
        </p:nvSpPr>
        <p:spPr>
          <a:xfrm>
            <a:off x="6278033" y="2184400"/>
            <a:ext cx="2091266" cy="518678"/>
          </a:xfrm>
          <a:prstGeom prst="rect">
            <a:avLst/>
          </a:prstGeom>
          <a:noFill/>
        </p:spPr>
        <p:txBody>
          <a:bodyPr wrap="square" lIns="0" tIns="0" rIns="0" bIns="0" anchor="ctr">
            <a:spAutoFit/>
          </a:bodyPr>
          <a:lstStyle/>
          <a:p>
            <a:pPr algn="ctr">
              <a:lnSpc>
                <a:spcPct val="110000"/>
              </a:lnSpc>
            </a:pPr>
            <a:r>
              <a:rPr sz="1500">
                <a:solidFill>
                  <a:srgbClr val="14161B"/>
                </a:solidFill>
                <a:latin typeface="Encode Sans SemiBold"/>
              </a:rPr>
              <a:t>Gate de acesso, não</a:t>
            </a:r>
          </a:p>
          <a:p>
            <a:pPr algn="ctr">
              <a:lnSpc>
                <a:spcPct val="110000"/>
              </a:lnSpc>
            </a:pPr>
            <a:r>
              <a:rPr sz="1500">
                <a:solidFill>
                  <a:srgbClr val="14161B"/>
                </a:solidFill>
                <a:latin typeface="Encode Sans SemiBold"/>
              </a:rPr>
              <a:t>de LGPD</a:t>
            </a:r>
          </a:p>
        </p:txBody>
      </p:sp>
      <p:sp>
        <p:nvSpPr>
          <p:cNvPr id="1105" name="TextBox 1104"/>
          <p:cNvSpPr txBox="1"/>
          <p:nvPr/>
        </p:nvSpPr>
        <p:spPr>
          <a:xfrm>
            <a:off x="6278033" y="2855478"/>
            <a:ext cx="2091266" cy="1275008"/>
          </a:xfrm>
          <a:prstGeom prst="rect">
            <a:avLst/>
          </a:prstGeom>
          <a:noFill/>
        </p:spPr>
        <p:txBody>
          <a:bodyPr wrap="square" lIns="0" tIns="0" rIns="0" bIns="0" anchor="t">
            <a:spAutoFit/>
          </a:bodyPr>
          <a:lstStyle/>
          <a:p>
            <a:pPr marL="182880" indent="-182880" algn="l">
              <a:lnSpc>
                <a:spcPct val="115000"/>
              </a:lnSpc>
              <a:spcAft>
                <a:spcPts val="500"/>
              </a:spcAft>
              <a:buClr>
                <a:srgbClr val="D98C1F"/>
              </a:buClr>
              <a:buSzPts val="700"/>
              <a:buFont typeface="Arial"/>
              <a:buChar char="●"/>
            </a:pPr>
            <a:r>
              <a:rPr sz="1000">
                <a:solidFill>
                  <a:srgbClr val="5B6070"/>
                </a:solidFill>
                <a:latin typeface="Roboto"/>
              </a:rPr>
              <a:t>Única barreira entre o dado real e quem descobrir a URL</a:t>
            </a:r>
          </a:p>
          <a:p>
            <a:pPr marL="182880" indent="-182880" algn="l">
              <a:lnSpc>
                <a:spcPct val="115000"/>
              </a:lnSpc>
              <a:spcAft>
                <a:spcPts val="500"/>
              </a:spcAft>
              <a:buClr>
                <a:srgbClr val="D98C1F"/>
              </a:buClr>
              <a:buSzPts val="700"/>
              <a:buFont typeface="Arial"/>
              <a:buChar char="●"/>
            </a:pPr>
            <a:r>
              <a:rPr sz="1000">
                <a:solidFill>
                  <a:srgbClr val="5B6070"/>
                </a:solidFill>
                <a:latin typeface="Roboto"/>
              </a:rPr>
              <a:t>Não tem limite de uso depois de autenticado</a:t>
            </a:r>
          </a:p>
          <a:p>
            <a:pPr marL="182880" indent="-182880" algn="l">
              <a:lnSpc>
                <a:spcPct val="115000"/>
              </a:lnSpc>
              <a:spcAft>
                <a:spcPts val="500"/>
              </a:spcAft>
              <a:buClr>
                <a:srgbClr val="D98C1F"/>
              </a:buClr>
              <a:buSzPts val="700"/>
              <a:buFont typeface="Arial"/>
              <a:buChar char="●"/>
            </a:pPr>
            <a:r>
              <a:rPr sz="1000">
                <a:solidFill>
                  <a:srgbClr val="5B6070"/>
                </a:solidFill>
                <a:latin typeface="Roboto"/>
              </a:rPr>
              <a:t>Requisito documentado no SDD §8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090"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1091"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1092"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093"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94"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1095"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1096" name="TextBox 1095"/>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3600">
                <a:solidFill>
                  <a:srgbClr val="BDBFC7"/>
                </a:solidFill>
                <a:latin typeface="Encode Sans"/>
              </a:rPr>
              <a:t>Quem tem direito</a:t>
            </a:r>
          </a:p>
          <a:p>
            <a:pPr algn="ctr">
              <a:lnSpc>
                <a:spcPct val="112000"/>
              </a:lnSpc>
            </a:pPr>
            <a:r>
              <a:rPr sz="3600">
                <a:solidFill>
                  <a:srgbClr val="BDBFC7"/>
                </a:solidFill>
                <a:latin typeface="Encode Sans"/>
              </a:rPr>
              <a:t>de pedir a</a:t>
            </a:r>
          </a:p>
          <a:p>
            <a:pPr algn="ctr">
              <a:lnSpc>
                <a:spcPct val="112000"/>
              </a:lnSpc>
            </a:pPr>
            <a:r>
              <a:rPr sz="3600">
                <a:solidFill>
                  <a:srgbClr val="BDBFC7"/>
                </a:solidFill>
                <a:latin typeface="Encode Sans"/>
              </a:rPr>
              <a:t>exclusão? O</a:t>
            </a:r>
          </a:p>
          <a:p>
            <a:pPr algn="ctr">
              <a:lnSpc>
                <a:spcPct val="112000"/>
              </a:lnSpc>
            </a:pPr>
            <a:r>
              <a:rPr sz="3600">
                <a:solidFill>
                  <a:srgbClr val="BDBFC7"/>
                </a:solidFill>
                <a:latin typeface="Encode Sans"/>
              </a:rPr>
              <a:t>produto sabe</a:t>
            </a:r>
          </a:p>
          <a:p>
            <a:pPr algn="ctr">
              <a:lnSpc>
                <a:spcPct val="112000"/>
              </a:lnSpc>
            </a:pPr>
            <a:r>
              <a:rPr sz="3600">
                <a:solidFill>
                  <a:srgbClr val="BDBFC7"/>
                </a:solidFill>
                <a:latin typeface="Encode Sans"/>
              </a:rPr>
              <a:t>atender?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Google Shape;321;p48"/>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097"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098" name="Google Shape;323;p48" descr=" "/>
          <p:cNvPicPr preferRelativeResize="0"/>
          <p:nvPr/>
        </p:nvPicPr>
        <p:blipFill rotWithShape="1">
          <a:blip r:embed="rId3">
            <a:alphaModFix/>
          </a:blip>
          <a:srcRect/>
          <a:stretch/>
        </p:blipFill>
        <p:spPr>
          <a:xfrm>
            <a:off x="8786283" y="152400"/>
            <a:ext cx="178830" cy="222353"/>
          </a:xfrm>
          <a:prstGeom prst="rect">
            <a:avLst/>
          </a:prstGeom>
          <a:noFill/>
          <a:ln>
            <a:noFill/>
          </a:ln>
        </p:spPr>
      </p:pic>
      <p:pic>
        <p:nvPicPr>
          <p:cNvPr id="1099" name="Google Shape;325;p48" descr="Ícone&#10;&#10;O conteúdo gerado por IA pode estar incorreto."/>
          <p:cNvPicPr preferRelativeResize="0"/>
          <p:nvPr/>
        </p:nvPicPr>
        <p:blipFill rotWithShape="1">
          <a:blip r:embed="rId4">
            <a:alphaModFix/>
          </a:blip>
          <a:srcRect/>
          <a:stretch/>
        </p:blipFill>
        <p:spPr>
          <a:xfrm>
            <a:off x="9426430" y="-54316"/>
            <a:ext cx="588048" cy="3753281"/>
          </a:xfrm>
          <a:prstGeom prst="rect">
            <a:avLst/>
          </a:prstGeom>
          <a:noFill/>
          <a:ln>
            <a:noFill/>
          </a:ln>
        </p:spPr>
      </p:pic>
      <p:sp>
        <p:nvSpPr>
          <p:cNvPr id="1100" name="TextBox 1099"/>
          <p:cNvSpPr txBox="1"/>
          <p:nvPr/>
        </p:nvSpPr>
        <p:spPr>
          <a:xfrm>
            <a:off x="2235200" y="1778000"/>
            <a:ext cx="4673600" cy="1739900"/>
          </a:xfrm>
          <a:prstGeom prst="rect">
            <a:avLst/>
          </a:prstGeom>
          <a:noFill/>
        </p:spPr>
        <p:txBody>
          <a:bodyPr wrap="square" lIns="0" tIns="0" rIns="0" bIns="0" anchor="ctr">
            <a:spAutoFit/>
          </a:bodyPr>
          <a:lstStyle/>
          <a:p>
            <a:pPr algn="ctr">
              <a:lnSpc>
                <a:spcPct val="112000"/>
              </a:lnSpc>
            </a:pPr>
            <a:r>
              <a:rPr sz="3800">
                <a:solidFill>
                  <a:srgbClr val="FFFFFF"/>
                </a:solidFill>
                <a:latin typeface="Encode Sans"/>
              </a:rPr>
              <a:t>6.4 Checklist de</a:t>
            </a:r>
          </a:p>
          <a:p>
            <a:pPr algn="ctr">
              <a:lnSpc>
                <a:spcPct val="112000"/>
              </a:lnSpc>
            </a:pPr>
            <a:r>
              <a:rPr sz="3800">
                <a:solidFill>
                  <a:srgbClr val="FFFFFF"/>
                </a:solidFill>
                <a:latin typeface="Encode Sans"/>
              </a:rPr>
              <a:t>conformidade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0" name="Google Shape;331;p49" descr="art\malha.png"/>
          <p:cNvPicPr preferRelativeResize="0"/>
          <p:nvPr/>
        </p:nvPicPr>
        <p:blipFill rotWithShape="1">
          <a:blip r:embed="rId3">
            <a:alphaModFix/>
          </a:blip>
          <a:srcRect/>
          <a:stretch/>
        </p:blipFill>
        <p:spPr>
          <a:xfrm>
            <a:off x="0" y="0"/>
            <a:ext cx="9143952" cy="5142830"/>
          </a:xfrm>
          <a:prstGeom prst="rect">
            <a:avLst/>
          </a:prstGeom>
          <a:noFill/>
          <a:ln>
            <a:noFill/>
          </a:ln>
        </p:spPr>
      </p:pic>
      <p:pic>
        <p:nvPicPr>
          <p:cNvPr id="1101" name="Google Shape;332;p49" descr="art\capa.png"/>
          <p:cNvPicPr preferRelativeResize="0"/>
          <p:nvPr/>
        </p:nvPicPr>
        <p:blipFill rotWithShape="1">
          <a:blip r:embed="rId4">
            <a:alphaModFix/>
          </a:blip>
          <a:srcRect/>
          <a:stretch/>
        </p:blipFill>
        <p:spPr>
          <a:xfrm>
            <a:off x="3034270" y="0"/>
            <a:ext cx="6109682" cy="5142830"/>
          </a:xfrm>
          <a:prstGeom prst="rect">
            <a:avLst/>
          </a:prstGeom>
          <a:noFill/>
          <a:ln>
            <a:noFill/>
          </a:ln>
        </p:spPr>
      </p:pic>
      <p:pic>
        <p:nvPicPr>
          <p:cNvPr id="1102" name="Google Shape;333;p49" descr="art\logo.png"/>
          <p:cNvPicPr preferRelativeResize="0"/>
          <p:nvPr/>
        </p:nvPicPr>
        <p:blipFill rotWithShape="1">
          <a:blip r:embed="rId5">
            <a:alphaModFix/>
          </a:blip>
          <a:srcRect/>
          <a:stretch/>
        </p:blipFill>
        <p:spPr>
          <a:xfrm>
            <a:off x="8787383" y="150876"/>
            <a:ext cx="178285" cy="222856"/>
          </a:xfrm>
          <a:prstGeom prst="rect">
            <a:avLst/>
          </a:prstGeom>
          <a:noFill/>
          <a:ln>
            <a:noFill/>
          </a:ln>
        </p:spPr>
      </p:pic>
      <p:sp>
        <p:nvSpPr>
          <p:cNvPr id="1103" name="TextBox 1102"/>
          <p:cNvSpPr txBox="1"/>
          <p:nvPr/>
        </p:nvSpPr>
        <p:spPr>
          <a:xfrm>
            <a:off x="914400" y="698500"/>
            <a:ext cx="4965700" cy="241300"/>
          </a:xfrm>
          <a:prstGeom prst="rect">
            <a:avLst/>
          </a:prstGeom>
          <a:noFill/>
        </p:spPr>
        <p:txBody>
          <a:bodyPr wrap="square" lIns="0" tIns="0" rIns="0" bIns="0" anchor="t">
            <a:spAutoFit/>
          </a:bodyPr>
          <a:lstStyle/>
          <a:p>
            <a:pPr algn="l">
              <a:lnSpc>
                <a:spcPct val="100000"/>
              </a:lnSpc>
            </a:pPr>
            <a:r>
              <a:rPr sz="800" b="1">
                <a:solidFill>
                  <a:srgbClr val="1F53E5"/>
                </a:solidFill>
                <a:latin typeface="Encode Sans"/>
              </a:rPr>
              <a:t>EVALS, OBSERVABILIDADE E CONFORMIDADE</a:t>
            </a:r>
          </a:p>
        </p:txBody>
      </p:sp>
      <p:sp>
        <p:nvSpPr>
          <p:cNvPr id="1104" name="TextBox 1103"/>
          <p:cNvSpPr txBox="1"/>
          <p:nvPr/>
        </p:nvSpPr>
        <p:spPr>
          <a:xfrm>
            <a:off x="914400" y="1651000"/>
            <a:ext cx="5080000" cy="1524000"/>
          </a:xfrm>
          <a:prstGeom prst="rect">
            <a:avLst/>
          </a:prstGeom>
          <a:noFill/>
        </p:spPr>
        <p:txBody>
          <a:bodyPr wrap="square" lIns="0" tIns="0" rIns="0" bIns="0" anchor="t">
            <a:spAutoFit/>
          </a:bodyPr>
          <a:lstStyle/>
          <a:p>
            <a:pPr algn="l">
              <a:lnSpc>
                <a:spcPct val="115000"/>
              </a:lnSpc>
            </a:pPr>
            <a:r>
              <a:rPr sz="3600">
                <a:solidFill>
                  <a:srgbClr val="FFFFFF"/>
                </a:solidFill>
                <a:latin typeface="Encode Sans"/>
              </a:rPr>
              <a:t>Aula 6</a:t>
            </a:r>
          </a:p>
          <a:p>
            <a:pPr algn="l">
              <a:lnSpc>
                <a:spcPct val="115000"/>
              </a:lnSpc>
            </a:pPr>
            <a:r>
              <a:rPr sz="3600">
                <a:solidFill>
                  <a:srgbClr val="FFFFFF"/>
                </a:solidFill>
                <a:latin typeface="Encode Sans"/>
              </a:rPr>
              <a:t>Checklist</a:t>
            </a:r>
          </a:p>
        </p:txBody>
      </p:sp>
      <p:sp>
        <p:nvSpPr>
          <p:cNvPr id="1105" name="TextBox 1104"/>
          <p:cNvSpPr txBox="1"/>
          <p:nvPr/>
        </p:nvSpPr>
        <p:spPr>
          <a:xfrm>
            <a:off x="914400" y="3276600"/>
            <a:ext cx="5105400" cy="647700"/>
          </a:xfrm>
          <a:prstGeom prst="rect">
            <a:avLst/>
          </a:prstGeom>
          <a:noFill/>
        </p:spPr>
        <p:txBody>
          <a:bodyPr wrap="square" lIns="0" tIns="0" rIns="0" bIns="0" anchor="t">
            <a:spAutoFit/>
          </a:bodyPr>
          <a:lstStyle/>
          <a:p>
            <a:pPr algn="l">
              <a:lnSpc>
                <a:spcPct val="120000"/>
              </a:lnSpc>
            </a:pPr>
            <a:r>
              <a:rPr sz="1500">
                <a:solidFill>
                  <a:srgbClr val="FFFFFF"/>
                </a:solidFill>
                <a:latin typeface="Roboto"/>
              </a:rPr>
              <a:t>Guardrails em código, transparência como design e LGPD na prática</a:t>
            </a:r>
          </a:p>
        </p:txBody>
      </p:sp>
      <p:sp>
        <p:nvSpPr>
          <p:cNvPr id="1106" name="TextBox 1105"/>
          <p:cNvSpPr txBox="1"/>
          <p:nvPr/>
        </p:nvSpPr>
        <p:spPr>
          <a:xfrm>
            <a:off x="914400" y="4025900"/>
            <a:ext cx="5207000" cy="279400"/>
          </a:xfrm>
          <a:prstGeom prst="rect">
            <a:avLst/>
          </a:prstGeom>
          <a:noFill/>
        </p:spPr>
        <p:txBody>
          <a:bodyPr wrap="square" lIns="0" tIns="0" rIns="0" bIns="0" anchor="t">
            <a:spAutoFit/>
          </a:bodyPr>
          <a:lstStyle/>
          <a:p>
            <a:pPr algn="l">
              <a:lnSpc>
                <a:spcPct val="100000"/>
              </a:lnSpc>
            </a:pPr>
            <a:r>
              <a:rPr sz="1200">
                <a:solidFill>
                  <a:srgbClr val="4A9BE8"/>
                </a:solidFill>
                <a:latin typeface="Roboto"/>
              </a:rPr>
              <a:t>Lançar é o começo. O run é a grande responsabilidade.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04"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1105"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1106"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107"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08"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1109"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1110" name="TextBox 1109"/>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4900">
                <a:solidFill>
                  <a:srgbClr val="BDBFC7"/>
                </a:solidFill>
                <a:latin typeface="Encode Sans"/>
              </a:rPr>
              <a:t>Não é uma</a:t>
            </a:r>
          </a:p>
          <a:p>
            <a:pPr algn="ctr">
              <a:lnSpc>
                <a:spcPct val="112000"/>
              </a:lnSpc>
            </a:pPr>
            <a:r>
              <a:rPr sz="4900">
                <a:solidFill>
                  <a:srgbClr val="BDBFC7"/>
                </a:solidFill>
                <a:latin typeface="Encode Sans"/>
              </a:rPr>
              <a:t>lista de</a:t>
            </a:r>
          </a:p>
          <a:p>
            <a:pPr algn="ctr">
              <a:lnSpc>
                <a:spcPct val="112000"/>
              </a:lnSpc>
            </a:pPr>
            <a:r>
              <a:rPr sz="4900">
                <a:solidFill>
                  <a:srgbClr val="BDBFC7"/>
                </a:solidFill>
                <a:latin typeface="Encode Sans"/>
              </a:rPr>
              <a:t>"está tudo</a:t>
            </a:r>
          </a:p>
          <a:p>
            <a:pPr algn="ctr">
              <a:lnSpc>
                <a:spcPct val="112000"/>
              </a:lnSpc>
            </a:pPr>
            <a:r>
              <a:rPr sz="4900">
                <a:solidFill>
                  <a:srgbClr val="BDBFC7"/>
                </a:solidFill>
                <a:latin typeface="Encode Sans"/>
              </a:rPr>
              <a:t>certo".</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0"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111"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112" name="TextBox 1111"/>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checklist, resumido</a:t>
            </a:r>
          </a:p>
        </p:txBody>
      </p:sp>
      <p:sp>
        <p:nvSpPr>
          <p:cNvPr id="1113" name="TextBox 1112"/>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Uma resposta por item, específica, que alguém de fora confere depois</a:t>
            </a:r>
          </a:p>
        </p:txBody>
      </p:sp>
      <p:sp>
        <p:nvSpPr>
          <p:cNvPr id="1114" name="Rounded Rectangle 1113"/>
          <p:cNvSpPr/>
          <p:nvPr/>
        </p:nvSpPr>
        <p:spPr>
          <a:xfrm>
            <a:off x="2032000" y="1676400"/>
            <a:ext cx="2087033" cy="330200"/>
          </a:xfrm>
          <a:prstGeom prst="roundRect">
            <a:avLst>
              <a:gd name="adj" fmla="val 20000"/>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15" name="TextBox 1114"/>
          <p:cNvSpPr txBox="1"/>
          <p:nvPr/>
        </p:nvSpPr>
        <p:spPr>
          <a:xfrm>
            <a:off x="2032000"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Sim</a:t>
            </a:r>
          </a:p>
        </p:txBody>
      </p:sp>
      <p:sp>
        <p:nvSpPr>
          <p:cNvPr id="1116" name="Rounded Rectangle 1115"/>
          <p:cNvSpPr/>
          <p:nvPr/>
        </p:nvSpPr>
        <p:spPr>
          <a:xfrm>
            <a:off x="4258733" y="1676400"/>
            <a:ext cx="2087033" cy="330200"/>
          </a:xfrm>
          <a:prstGeom prst="roundRect">
            <a:avLst>
              <a:gd name="adj" fmla="val 20000"/>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17" name="TextBox 1116"/>
          <p:cNvSpPr txBox="1"/>
          <p:nvPr/>
        </p:nvSpPr>
        <p:spPr>
          <a:xfrm>
            <a:off x="4258733"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Parcial</a:t>
            </a:r>
          </a:p>
        </p:txBody>
      </p:sp>
      <p:sp>
        <p:nvSpPr>
          <p:cNvPr id="1118" name="Rounded Rectangle 1117"/>
          <p:cNvSpPr/>
          <p:nvPr/>
        </p:nvSpPr>
        <p:spPr>
          <a:xfrm>
            <a:off x="6485466" y="1676400"/>
            <a:ext cx="2087033" cy="330200"/>
          </a:xfrm>
          <a:prstGeom prst="roundRect">
            <a:avLst>
              <a:gd name="adj" fmla="val 2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19" name="TextBox 1118"/>
          <p:cNvSpPr txBox="1"/>
          <p:nvPr/>
        </p:nvSpPr>
        <p:spPr>
          <a:xfrm>
            <a:off x="6485466"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Não / em falta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2"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113"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114" name="TextBox 1113"/>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checklist, resumido</a:t>
            </a:r>
          </a:p>
        </p:txBody>
      </p:sp>
      <p:sp>
        <p:nvSpPr>
          <p:cNvPr id="1115" name="TextBox 1114"/>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Uma resposta por item, específica, que alguém de fora confere depois</a:t>
            </a:r>
          </a:p>
        </p:txBody>
      </p:sp>
      <p:sp>
        <p:nvSpPr>
          <p:cNvPr id="1116" name="Rounded Rectangle 1115"/>
          <p:cNvSpPr/>
          <p:nvPr/>
        </p:nvSpPr>
        <p:spPr>
          <a:xfrm>
            <a:off x="2032000" y="1676400"/>
            <a:ext cx="2087033" cy="330200"/>
          </a:xfrm>
          <a:prstGeom prst="roundRect">
            <a:avLst>
              <a:gd name="adj" fmla="val 20000"/>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17" name="TextBox 1116"/>
          <p:cNvSpPr txBox="1"/>
          <p:nvPr/>
        </p:nvSpPr>
        <p:spPr>
          <a:xfrm>
            <a:off x="2032000"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Sim</a:t>
            </a:r>
          </a:p>
        </p:txBody>
      </p:sp>
      <p:sp>
        <p:nvSpPr>
          <p:cNvPr id="1118" name="Rounded Rectangle 1117"/>
          <p:cNvSpPr/>
          <p:nvPr/>
        </p:nvSpPr>
        <p:spPr>
          <a:xfrm>
            <a:off x="4258733" y="1676400"/>
            <a:ext cx="2087033" cy="330200"/>
          </a:xfrm>
          <a:prstGeom prst="roundRect">
            <a:avLst>
              <a:gd name="adj" fmla="val 20000"/>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19" name="TextBox 1118"/>
          <p:cNvSpPr txBox="1"/>
          <p:nvPr/>
        </p:nvSpPr>
        <p:spPr>
          <a:xfrm>
            <a:off x="4258733"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Parcial</a:t>
            </a:r>
          </a:p>
        </p:txBody>
      </p:sp>
      <p:sp>
        <p:nvSpPr>
          <p:cNvPr id="1120" name="Rounded Rectangle 1119"/>
          <p:cNvSpPr/>
          <p:nvPr/>
        </p:nvSpPr>
        <p:spPr>
          <a:xfrm>
            <a:off x="6485466" y="1676400"/>
            <a:ext cx="2087033" cy="330200"/>
          </a:xfrm>
          <a:prstGeom prst="roundRect">
            <a:avLst>
              <a:gd name="adj" fmla="val 2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1" name="TextBox 1120"/>
          <p:cNvSpPr txBox="1"/>
          <p:nvPr/>
        </p:nvSpPr>
        <p:spPr>
          <a:xfrm>
            <a:off x="6485466"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Não / em falta</a:t>
            </a:r>
          </a:p>
        </p:txBody>
      </p:sp>
      <p:sp>
        <p:nvSpPr>
          <p:cNvPr id="1122" name="TextBox 1121"/>
          <p:cNvSpPr txBox="1"/>
          <p:nvPr/>
        </p:nvSpPr>
        <p:spPr>
          <a:xfrm>
            <a:off x="571500" y="2133600"/>
            <a:ext cx="1320800" cy="794430"/>
          </a:xfrm>
          <a:prstGeom prst="rect">
            <a:avLst/>
          </a:prstGeom>
          <a:noFill/>
        </p:spPr>
        <p:txBody>
          <a:bodyPr wrap="square" lIns="0" tIns="0" rIns="0" bIns="0" anchor="ctr">
            <a:spAutoFit/>
          </a:bodyPr>
          <a:lstStyle/>
          <a:p>
            <a:pPr algn="r">
              <a:lnSpc>
                <a:spcPct val="110000"/>
              </a:lnSpc>
            </a:pPr>
            <a:r>
              <a:rPr sz="1300">
                <a:solidFill>
                  <a:srgbClr val="FFFFFF"/>
                </a:solidFill>
                <a:latin typeface="Encode Sans SemiBold"/>
              </a:rPr>
              <a:t>Guardrails</a:t>
            </a:r>
          </a:p>
        </p:txBody>
      </p:sp>
      <p:sp>
        <p:nvSpPr>
          <p:cNvPr id="1123" name="Rounded Rectangle 1122"/>
          <p:cNvSpPr/>
          <p:nvPr/>
        </p:nvSpPr>
        <p:spPr>
          <a:xfrm>
            <a:off x="2032000" y="2133600"/>
            <a:ext cx="2087033" cy="794430"/>
          </a:xfrm>
          <a:prstGeom prst="roundRect">
            <a:avLst>
              <a:gd name="adj" fmla="val 10000"/>
            </a:avLst>
          </a:prstGeom>
          <a:solidFill>
            <a:srgbClr val="171A21"/>
          </a:solidFill>
          <a:ln w="13970">
            <a:solidFill>
              <a:srgbClr val="2FB36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4" name="TextBox 1123"/>
          <p:cNvSpPr txBox="1"/>
          <p:nvPr/>
        </p:nvSpPr>
        <p:spPr>
          <a:xfrm>
            <a:off x="2146300"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tool_choice forçado,</a:t>
            </a:r>
          </a:p>
          <a:p>
            <a:pPr algn="ctr">
              <a:lnSpc>
                <a:spcPct val="120000"/>
              </a:lnSpc>
            </a:pPr>
            <a:r>
              <a:rPr sz="1000">
                <a:solidFill>
                  <a:srgbClr val="A8ADBD"/>
                </a:solidFill>
                <a:latin typeface="Roboto"/>
              </a:rPr>
              <a:t>validação de domínio,</a:t>
            </a:r>
          </a:p>
          <a:p>
            <a:pPr algn="ctr">
              <a:lnSpc>
                <a:spcPct val="120000"/>
              </a:lnSpc>
            </a:pPr>
            <a:r>
              <a:rPr sz="1000">
                <a:solidFill>
                  <a:srgbClr val="A8ADBD"/>
                </a:solidFill>
                <a:latin typeface="Roboto"/>
              </a:rPr>
              <a:t>pergunta em vez de estima</a:t>
            </a:r>
          </a:p>
        </p:txBody>
      </p:sp>
      <p:sp>
        <p:nvSpPr>
          <p:cNvPr id="1125" name="Rounded Rectangle 1124"/>
          <p:cNvSpPr/>
          <p:nvPr/>
        </p:nvSpPr>
        <p:spPr>
          <a:xfrm>
            <a:off x="4258733" y="2133600"/>
            <a:ext cx="2087033" cy="794430"/>
          </a:xfrm>
          <a:prstGeom prst="roundRect">
            <a:avLst>
              <a:gd name="adj" fmla="val 10000"/>
            </a:avLst>
          </a:prstGeom>
          <a:solidFill>
            <a:srgbClr val="171A21"/>
          </a:solidFill>
          <a:ln w="13970">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6" name="TextBox 1125"/>
          <p:cNvSpPr txBox="1"/>
          <p:nvPr/>
        </p:nvSpPr>
        <p:spPr>
          <a:xfrm>
            <a:off x="4373033"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Basic Auth sem limite de</a:t>
            </a:r>
          </a:p>
          <a:p>
            <a:pPr algn="ctr">
              <a:lnSpc>
                <a:spcPct val="120000"/>
              </a:lnSpc>
            </a:pPr>
            <a:r>
              <a:rPr sz="1000">
                <a:solidFill>
                  <a:srgbClr val="A8ADBD"/>
                </a:solidFill>
                <a:latin typeface="Roboto"/>
              </a:rPr>
              <a:t>uso por usuário</a:t>
            </a:r>
          </a:p>
        </p:txBody>
      </p:sp>
      <p:sp>
        <p:nvSpPr>
          <p:cNvPr id="1127" name="Rounded Rectangle 1126"/>
          <p:cNvSpPr/>
          <p:nvPr/>
        </p:nvSpPr>
        <p:spPr>
          <a:xfrm>
            <a:off x="6485466" y="2133600"/>
            <a:ext cx="2087033" cy="794430"/>
          </a:xfrm>
          <a:prstGeom prst="roundRect">
            <a:avLst>
              <a:gd name="adj" fmla="val 10000"/>
            </a:avLst>
          </a:prstGeom>
          <a:solidFill>
            <a:srgbClr val="171A21"/>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8" name="TextBox 1127"/>
          <p:cNvSpPr txBox="1"/>
          <p:nvPr/>
        </p:nvSpPr>
        <p:spPr>
          <a:xfrm>
            <a:off x="6599766"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4"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115"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116" name="TextBox 1115"/>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checklist, resumido</a:t>
            </a:r>
          </a:p>
        </p:txBody>
      </p:sp>
      <p:sp>
        <p:nvSpPr>
          <p:cNvPr id="1117" name="TextBox 1116"/>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Uma resposta por item, específica, que alguém de fora confere depois</a:t>
            </a:r>
          </a:p>
        </p:txBody>
      </p:sp>
      <p:sp>
        <p:nvSpPr>
          <p:cNvPr id="1118" name="Rounded Rectangle 1117"/>
          <p:cNvSpPr/>
          <p:nvPr/>
        </p:nvSpPr>
        <p:spPr>
          <a:xfrm>
            <a:off x="2032000" y="1676400"/>
            <a:ext cx="2087033" cy="330200"/>
          </a:xfrm>
          <a:prstGeom prst="roundRect">
            <a:avLst>
              <a:gd name="adj" fmla="val 20000"/>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19" name="TextBox 1118"/>
          <p:cNvSpPr txBox="1"/>
          <p:nvPr/>
        </p:nvSpPr>
        <p:spPr>
          <a:xfrm>
            <a:off x="2032000"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Sim</a:t>
            </a:r>
          </a:p>
        </p:txBody>
      </p:sp>
      <p:sp>
        <p:nvSpPr>
          <p:cNvPr id="1120" name="Rounded Rectangle 1119"/>
          <p:cNvSpPr/>
          <p:nvPr/>
        </p:nvSpPr>
        <p:spPr>
          <a:xfrm>
            <a:off x="4258733" y="1676400"/>
            <a:ext cx="2087033" cy="330200"/>
          </a:xfrm>
          <a:prstGeom prst="roundRect">
            <a:avLst>
              <a:gd name="adj" fmla="val 20000"/>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1" name="TextBox 1120"/>
          <p:cNvSpPr txBox="1"/>
          <p:nvPr/>
        </p:nvSpPr>
        <p:spPr>
          <a:xfrm>
            <a:off x="4258733"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Parcial</a:t>
            </a:r>
          </a:p>
        </p:txBody>
      </p:sp>
      <p:sp>
        <p:nvSpPr>
          <p:cNvPr id="1122" name="Rounded Rectangle 1121"/>
          <p:cNvSpPr/>
          <p:nvPr/>
        </p:nvSpPr>
        <p:spPr>
          <a:xfrm>
            <a:off x="6485466" y="1676400"/>
            <a:ext cx="2087033" cy="330200"/>
          </a:xfrm>
          <a:prstGeom prst="roundRect">
            <a:avLst>
              <a:gd name="adj" fmla="val 2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3" name="TextBox 1122"/>
          <p:cNvSpPr txBox="1"/>
          <p:nvPr/>
        </p:nvSpPr>
        <p:spPr>
          <a:xfrm>
            <a:off x="6485466"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Não / em falta</a:t>
            </a:r>
          </a:p>
        </p:txBody>
      </p:sp>
      <p:sp>
        <p:nvSpPr>
          <p:cNvPr id="1124" name="TextBox 1123"/>
          <p:cNvSpPr txBox="1"/>
          <p:nvPr/>
        </p:nvSpPr>
        <p:spPr>
          <a:xfrm>
            <a:off x="571500" y="2133600"/>
            <a:ext cx="1320800" cy="794430"/>
          </a:xfrm>
          <a:prstGeom prst="rect">
            <a:avLst/>
          </a:prstGeom>
          <a:noFill/>
        </p:spPr>
        <p:txBody>
          <a:bodyPr wrap="square" lIns="0" tIns="0" rIns="0" bIns="0" anchor="ctr">
            <a:spAutoFit/>
          </a:bodyPr>
          <a:lstStyle/>
          <a:p>
            <a:pPr algn="r">
              <a:lnSpc>
                <a:spcPct val="110000"/>
              </a:lnSpc>
            </a:pPr>
            <a:r>
              <a:rPr sz="1300">
                <a:solidFill>
                  <a:srgbClr val="FFFFFF"/>
                </a:solidFill>
                <a:latin typeface="Encode Sans SemiBold"/>
              </a:rPr>
              <a:t>Guardrails</a:t>
            </a:r>
          </a:p>
        </p:txBody>
      </p:sp>
      <p:sp>
        <p:nvSpPr>
          <p:cNvPr id="1125" name="Rounded Rectangle 1124"/>
          <p:cNvSpPr/>
          <p:nvPr/>
        </p:nvSpPr>
        <p:spPr>
          <a:xfrm>
            <a:off x="2032000" y="2133600"/>
            <a:ext cx="2087033" cy="794430"/>
          </a:xfrm>
          <a:prstGeom prst="roundRect">
            <a:avLst>
              <a:gd name="adj" fmla="val 10000"/>
            </a:avLst>
          </a:prstGeom>
          <a:solidFill>
            <a:srgbClr val="171A21"/>
          </a:solidFill>
          <a:ln w="13970">
            <a:solidFill>
              <a:srgbClr val="2FB36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6" name="TextBox 1125"/>
          <p:cNvSpPr txBox="1"/>
          <p:nvPr/>
        </p:nvSpPr>
        <p:spPr>
          <a:xfrm>
            <a:off x="2146300"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tool_choice forçado,</a:t>
            </a:r>
          </a:p>
          <a:p>
            <a:pPr algn="ctr">
              <a:lnSpc>
                <a:spcPct val="120000"/>
              </a:lnSpc>
            </a:pPr>
            <a:r>
              <a:rPr sz="1000">
                <a:solidFill>
                  <a:srgbClr val="A8ADBD"/>
                </a:solidFill>
                <a:latin typeface="Roboto"/>
              </a:rPr>
              <a:t>validação de domínio,</a:t>
            </a:r>
          </a:p>
          <a:p>
            <a:pPr algn="ctr">
              <a:lnSpc>
                <a:spcPct val="120000"/>
              </a:lnSpc>
            </a:pPr>
            <a:r>
              <a:rPr sz="1000">
                <a:solidFill>
                  <a:srgbClr val="A8ADBD"/>
                </a:solidFill>
                <a:latin typeface="Roboto"/>
              </a:rPr>
              <a:t>pergunta em vez de estima</a:t>
            </a:r>
          </a:p>
        </p:txBody>
      </p:sp>
      <p:sp>
        <p:nvSpPr>
          <p:cNvPr id="1127" name="Rounded Rectangle 1126"/>
          <p:cNvSpPr/>
          <p:nvPr/>
        </p:nvSpPr>
        <p:spPr>
          <a:xfrm>
            <a:off x="4258733" y="2133600"/>
            <a:ext cx="2087033" cy="794430"/>
          </a:xfrm>
          <a:prstGeom prst="roundRect">
            <a:avLst>
              <a:gd name="adj" fmla="val 10000"/>
            </a:avLst>
          </a:prstGeom>
          <a:solidFill>
            <a:srgbClr val="171A21"/>
          </a:solidFill>
          <a:ln w="13970">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8" name="TextBox 1127"/>
          <p:cNvSpPr txBox="1"/>
          <p:nvPr/>
        </p:nvSpPr>
        <p:spPr>
          <a:xfrm>
            <a:off x="4373033"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Basic Auth sem limite de</a:t>
            </a:r>
          </a:p>
          <a:p>
            <a:pPr algn="ctr">
              <a:lnSpc>
                <a:spcPct val="120000"/>
              </a:lnSpc>
            </a:pPr>
            <a:r>
              <a:rPr sz="1000">
                <a:solidFill>
                  <a:srgbClr val="A8ADBD"/>
                </a:solidFill>
                <a:latin typeface="Roboto"/>
              </a:rPr>
              <a:t>uso por usuário</a:t>
            </a:r>
          </a:p>
        </p:txBody>
      </p:sp>
      <p:sp>
        <p:nvSpPr>
          <p:cNvPr id="1129" name="Rounded Rectangle 1128"/>
          <p:cNvSpPr/>
          <p:nvPr/>
        </p:nvSpPr>
        <p:spPr>
          <a:xfrm>
            <a:off x="6485466" y="2133600"/>
            <a:ext cx="2087033" cy="794430"/>
          </a:xfrm>
          <a:prstGeom prst="roundRect">
            <a:avLst>
              <a:gd name="adj" fmla="val 10000"/>
            </a:avLst>
          </a:prstGeom>
          <a:solidFill>
            <a:srgbClr val="171A21"/>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0" name="TextBox 1129"/>
          <p:cNvSpPr txBox="1"/>
          <p:nvPr/>
        </p:nvSpPr>
        <p:spPr>
          <a:xfrm>
            <a:off x="6599766"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a:t>
            </a:r>
          </a:p>
        </p:txBody>
      </p:sp>
      <p:sp>
        <p:nvSpPr>
          <p:cNvPr id="1131" name="TextBox 1130"/>
          <p:cNvSpPr txBox="1"/>
          <p:nvPr/>
        </p:nvSpPr>
        <p:spPr>
          <a:xfrm>
            <a:off x="571500" y="3029630"/>
            <a:ext cx="1320800" cy="794430"/>
          </a:xfrm>
          <a:prstGeom prst="rect">
            <a:avLst/>
          </a:prstGeom>
          <a:noFill/>
        </p:spPr>
        <p:txBody>
          <a:bodyPr wrap="square" lIns="0" tIns="0" rIns="0" bIns="0" anchor="ctr">
            <a:spAutoFit/>
          </a:bodyPr>
          <a:lstStyle/>
          <a:p>
            <a:pPr algn="r">
              <a:lnSpc>
                <a:spcPct val="110000"/>
              </a:lnSpc>
            </a:pPr>
            <a:r>
              <a:rPr sz="1300">
                <a:solidFill>
                  <a:srgbClr val="FFFFFF"/>
                </a:solidFill>
                <a:latin typeface="Encode Sans SemiBold"/>
              </a:rPr>
              <a:t>Transparência</a:t>
            </a:r>
          </a:p>
        </p:txBody>
      </p:sp>
      <p:sp>
        <p:nvSpPr>
          <p:cNvPr id="1132" name="Rounded Rectangle 1131"/>
          <p:cNvSpPr/>
          <p:nvPr/>
        </p:nvSpPr>
        <p:spPr>
          <a:xfrm>
            <a:off x="2032000" y="3029630"/>
            <a:ext cx="2087033" cy="794430"/>
          </a:xfrm>
          <a:prstGeom prst="roundRect">
            <a:avLst>
              <a:gd name="adj" fmla="val 10000"/>
            </a:avLst>
          </a:prstGeom>
          <a:solidFill>
            <a:srgbClr val="171A21"/>
          </a:solidFill>
          <a:ln w="13970">
            <a:solidFill>
              <a:srgbClr val="2FB36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3" name="TextBox 1132"/>
          <p:cNvSpPr txBox="1"/>
          <p:nvPr/>
        </p:nvSpPr>
        <p:spPr>
          <a:xfrm>
            <a:off x="2146300" y="302963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Nenhum caminho termina em</a:t>
            </a:r>
          </a:p>
          <a:p>
            <a:pPr algn="ctr">
              <a:lnSpc>
                <a:spcPct val="120000"/>
              </a:lnSpc>
            </a:pPr>
            <a:r>
              <a:rPr sz="1000">
                <a:solidFill>
                  <a:srgbClr val="A8ADBD"/>
                </a:solidFill>
                <a:latin typeface="Roboto"/>
              </a:rPr>
              <a:t>silêncio no Telegram</a:t>
            </a:r>
          </a:p>
        </p:txBody>
      </p:sp>
      <p:sp>
        <p:nvSpPr>
          <p:cNvPr id="1134" name="Rounded Rectangle 1133"/>
          <p:cNvSpPr/>
          <p:nvPr/>
        </p:nvSpPr>
        <p:spPr>
          <a:xfrm>
            <a:off x="4258733" y="3029630"/>
            <a:ext cx="2087033" cy="794430"/>
          </a:xfrm>
          <a:prstGeom prst="roundRect">
            <a:avLst>
              <a:gd name="adj" fmla="val 10000"/>
            </a:avLst>
          </a:prstGeom>
          <a:solidFill>
            <a:srgbClr val="171A21"/>
          </a:solidFill>
          <a:ln w="13970">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5" name="TextBox 1134"/>
          <p:cNvSpPr txBox="1"/>
          <p:nvPr/>
        </p:nvSpPr>
        <p:spPr>
          <a:xfrm>
            <a:off x="4373033" y="302963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A convenção semSilencio é</a:t>
            </a:r>
          </a:p>
          <a:p>
            <a:pPr algn="ctr">
              <a:lnSpc>
                <a:spcPct val="120000"/>
              </a:lnSpc>
            </a:pPr>
            <a:r>
              <a:rPr sz="1000">
                <a:solidFill>
                  <a:srgbClr val="A8ADBD"/>
                </a:solidFill>
                <a:latin typeface="Roboto"/>
              </a:rPr>
              <a:t>caso a caso, não automática</a:t>
            </a:r>
          </a:p>
        </p:txBody>
      </p:sp>
      <p:sp>
        <p:nvSpPr>
          <p:cNvPr id="1136" name="Rounded Rectangle 1135"/>
          <p:cNvSpPr/>
          <p:nvPr/>
        </p:nvSpPr>
        <p:spPr>
          <a:xfrm>
            <a:off x="6485466" y="3029630"/>
            <a:ext cx="2087033" cy="794430"/>
          </a:xfrm>
          <a:prstGeom prst="roundRect">
            <a:avLst>
              <a:gd name="adj" fmla="val 10000"/>
            </a:avLst>
          </a:prstGeom>
          <a:solidFill>
            <a:srgbClr val="171A21"/>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7" name="TextBox 1136"/>
          <p:cNvSpPr txBox="1"/>
          <p:nvPr/>
        </p:nvSpPr>
        <p:spPr>
          <a:xfrm>
            <a:off x="6599766" y="302963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Falha silenciosa de estado</a:t>
            </a:r>
          </a:p>
          <a:p>
            <a:pPr algn="ctr">
              <a:lnSpc>
                <a:spcPct val="120000"/>
              </a:lnSpc>
            </a:pPr>
            <a:r>
              <a:rPr sz="1000">
                <a:solidFill>
                  <a:srgbClr val="A8ADBD"/>
                </a:solidFill>
                <a:latin typeface="Roboto"/>
              </a:rPr>
              <a:t>segue sem monitoramento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117"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118" name="TextBox 1117"/>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 checklist, resumido</a:t>
            </a:r>
          </a:p>
        </p:txBody>
      </p:sp>
      <p:sp>
        <p:nvSpPr>
          <p:cNvPr id="1119" name="TextBox 1118"/>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Uma resposta por item, específica, que alguém de fora confere depois</a:t>
            </a:r>
          </a:p>
        </p:txBody>
      </p:sp>
      <p:sp>
        <p:nvSpPr>
          <p:cNvPr id="1120" name="Rounded Rectangle 1119"/>
          <p:cNvSpPr/>
          <p:nvPr/>
        </p:nvSpPr>
        <p:spPr>
          <a:xfrm>
            <a:off x="2032000" y="1676400"/>
            <a:ext cx="2087033" cy="330200"/>
          </a:xfrm>
          <a:prstGeom prst="roundRect">
            <a:avLst>
              <a:gd name="adj" fmla="val 20000"/>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1" name="TextBox 1120"/>
          <p:cNvSpPr txBox="1"/>
          <p:nvPr/>
        </p:nvSpPr>
        <p:spPr>
          <a:xfrm>
            <a:off x="2032000"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Sim</a:t>
            </a:r>
          </a:p>
        </p:txBody>
      </p:sp>
      <p:sp>
        <p:nvSpPr>
          <p:cNvPr id="1122" name="Rounded Rectangle 1121"/>
          <p:cNvSpPr/>
          <p:nvPr/>
        </p:nvSpPr>
        <p:spPr>
          <a:xfrm>
            <a:off x="4258733" y="1676400"/>
            <a:ext cx="2087033" cy="330200"/>
          </a:xfrm>
          <a:prstGeom prst="roundRect">
            <a:avLst>
              <a:gd name="adj" fmla="val 20000"/>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3" name="TextBox 1122"/>
          <p:cNvSpPr txBox="1"/>
          <p:nvPr/>
        </p:nvSpPr>
        <p:spPr>
          <a:xfrm>
            <a:off x="4258733"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Parcial</a:t>
            </a:r>
          </a:p>
        </p:txBody>
      </p:sp>
      <p:sp>
        <p:nvSpPr>
          <p:cNvPr id="1124" name="Rounded Rectangle 1123"/>
          <p:cNvSpPr/>
          <p:nvPr/>
        </p:nvSpPr>
        <p:spPr>
          <a:xfrm>
            <a:off x="6485466" y="1676400"/>
            <a:ext cx="2087033" cy="330200"/>
          </a:xfrm>
          <a:prstGeom prst="roundRect">
            <a:avLst>
              <a:gd name="adj" fmla="val 2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5" name="TextBox 1124"/>
          <p:cNvSpPr txBox="1"/>
          <p:nvPr/>
        </p:nvSpPr>
        <p:spPr>
          <a:xfrm>
            <a:off x="6485466" y="1676400"/>
            <a:ext cx="2087033" cy="330200"/>
          </a:xfrm>
          <a:prstGeom prst="rect">
            <a:avLst/>
          </a:prstGeom>
          <a:noFill/>
        </p:spPr>
        <p:txBody>
          <a:bodyPr wrap="square" lIns="0" tIns="0" rIns="0" bIns="0" anchor="ctr">
            <a:spAutoFit/>
          </a:bodyPr>
          <a:lstStyle/>
          <a:p>
            <a:pPr algn="ctr">
              <a:lnSpc>
                <a:spcPct val="100000"/>
              </a:lnSpc>
            </a:pPr>
            <a:r>
              <a:rPr sz="1050" b="1" cap="all">
                <a:solidFill>
                  <a:srgbClr val="FFFFFF"/>
                </a:solidFill>
                <a:latin typeface="Encode Sans"/>
              </a:rPr>
              <a:t>Não / em falta</a:t>
            </a:r>
          </a:p>
        </p:txBody>
      </p:sp>
      <p:sp>
        <p:nvSpPr>
          <p:cNvPr id="1126" name="TextBox 1125"/>
          <p:cNvSpPr txBox="1"/>
          <p:nvPr/>
        </p:nvSpPr>
        <p:spPr>
          <a:xfrm>
            <a:off x="571500" y="2133600"/>
            <a:ext cx="1320800" cy="794430"/>
          </a:xfrm>
          <a:prstGeom prst="rect">
            <a:avLst/>
          </a:prstGeom>
          <a:noFill/>
        </p:spPr>
        <p:txBody>
          <a:bodyPr wrap="square" lIns="0" tIns="0" rIns="0" bIns="0" anchor="ctr">
            <a:spAutoFit/>
          </a:bodyPr>
          <a:lstStyle/>
          <a:p>
            <a:pPr algn="r">
              <a:lnSpc>
                <a:spcPct val="110000"/>
              </a:lnSpc>
            </a:pPr>
            <a:r>
              <a:rPr sz="1300">
                <a:solidFill>
                  <a:srgbClr val="FFFFFF"/>
                </a:solidFill>
                <a:latin typeface="Encode Sans SemiBold"/>
              </a:rPr>
              <a:t>Guardrails</a:t>
            </a:r>
          </a:p>
        </p:txBody>
      </p:sp>
      <p:sp>
        <p:nvSpPr>
          <p:cNvPr id="1127" name="Rounded Rectangle 1126"/>
          <p:cNvSpPr/>
          <p:nvPr/>
        </p:nvSpPr>
        <p:spPr>
          <a:xfrm>
            <a:off x="2032000" y="2133600"/>
            <a:ext cx="2087033" cy="794430"/>
          </a:xfrm>
          <a:prstGeom prst="roundRect">
            <a:avLst>
              <a:gd name="adj" fmla="val 10000"/>
            </a:avLst>
          </a:prstGeom>
          <a:solidFill>
            <a:srgbClr val="171A21"/>
          </a:solidFill>
          <a:ln w="13970">
            <a:solidFill>
              <a:srgbClr val="2FB36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8" name="TextBox 1127"/>
          <p:cNvSpPr txBox="1"/>
          <p:nvPr/>
        </p:nvSpPr>
        <p:spPr>
          <a:xfrm>
            <a:off x="2146300"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tool_choice forçado,</a:t>
            </a:r>
          </a:p>
          <a:p>
            <a:pPr algn="ctr">
              <a:lnSpc>
                <a:spcPct val="120000"/>
              </a:lnSpc>
            </a:pPr>
            <a:r>
              <a:rPr sz="1000">
                <a:solidFill>
                  <a:srgbClr val="A8ADBD"/>
                </a:solidFill>
                <a:latin typeface="Roboto"/>
              </a:rPr>
              <a:t>validação de domínio,</a:t>
            </a:r>
          </a:p>
          <a:p>
            <a:pPr algn="ctr">
              <a:lnSpc>
                <a:spcPct val="120000"/>
              </a:lnSpc>
            </a:pPr>
            <a:r>
              <a:rPr sz="1000">
                <a:solidFill>
                  <a:srgbClr val="A8ADBD"/>
                </a:solidFill>
                <a:latin typeface="Roboto"/>
              </a:rPr>
              <a:t>pergunta em vez de estima</a:t>
            </a:r>
          </a:p>
        </p:txBody>
      </p:sp>
      <p:sp>
        <p:nvSpPr>
          <p:cNvPr id="1129" name="Rounded Rectangle 1128"/>
          <p:cNvSpPr/>
          <p:nvPr/>
        </p:nvSpPr>
        <p:spPr>
          <a:xfrm>
            <a:off x="4258733" y="2133600"/>
            <a:ext cx="2087033" cy="794430"/>
          </a:xfrm>
          <a:prstGeom prst="roundRect">
            <a:avLst>
              <a:gd name="adj" fmla="val 10000"/>
            </a:avLst>
          </a:prstGeom>
          <a:solidFill>
            <a:srgbClr val="171A21"/>
          </a:solidFill>
          <a:ln w="13970">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0" name="TextBox 1129"/>
          <p:cNvSpPr txBox="1"/>
          <p:nvPr/>
        </p:nvSpPr>
        <p:spPr>
          <a:xfrm>
            <a:off x="4373033"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Basic Auth sem limite de</a:t>
            </a:r>
          </a:p>
          <a:p>
            <a:pPr algn="ctr">
              <a:lnSpc>
                <a:spcPct val="120000"/>
              </a:lnSpc>
            </a:pPr>
            <a:r>
              <a:rPr sz="1000">
                <a:solidFill>
                  <a:srgbClr val="A8ADBD"/>
                </a:solidFill>
                <a:latin typeface="Roboto"/>
              </a:rPr>
              <a:t>uso por usuário</a:t>
            </a:r>
          </a:p>
        </p:txBody>
      </p:sp>
      <p:sp>
        <p:nvSpPr>
          <p:cNvPr id="1131" name="Rounded Rectangle 1130"/>
          <p:cNvSpPr/>
          <p:nvPr/>
        </p:nvSpPr>
        <p:spPr>
          <a:xfrm>
            <a:off x="6485466" y="2133600"/>
            <a:ext cx="2087033" cy="794430"/>
          </a:xfrm>
          <a:prstGeom prst="roundRect">
            <a:avLst>
              <a:gd name="adj" fmla="val 10000"/>
            </a:avLst>
          </a:prstGeom>
          <a:solidFill>
            <a:srgbClr val="171A21"/>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2" name="TextBox 1131"/>
          <p:cNvSpPr txBox="1"/>
          <p:nvPr/>
        </p:nvSpPr>
        <p:spPr>
          <a:xfrm>
            <a:off x="6599766" y="213360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a:t>
            </a:r>
          </a:p>
        </p:txBody>
      </p:sp>
      <p:sp>
        <p:nvSpPr>
          <p:cNvPr id="1133" name="TextBox 1132"/>
          <p:cNvSpPr txBox="1"/>
          <p:nvPr/>
        </p:nvSpPr>
        <p:spPr>
          <a:xfrm>
            <a:off x="571500" y="3029630"/>
            <a:ext cx="1320800" cy="794430"/>
          </a:xfrm>
          <a:prstGeom prst="rect">
            <a:avLst/>
          </a:prstGeom>
          <a:noFill/>
        </p:spPr>
        <p:txBody>
          <a:bodyPr wrap="square" lIns="0" tIns="0" rIns="0" bIns="0" anchor="ctr">
            <a:spAutoFit/>
          </a:bodyPr>
          <a:lstStyle/>
          <a:p>
            <a:pPr algn="r">
              <a:lnSpc>
                <a:spcPct val="110000"/>
              </a:lnSpc>
            </a:pPr>
            <a:r>
              <a:rPr sz="1300">
                <a:solidFill>
                  <a:srgbClr val="FFFFFF"/>
                </a:solidFill>
                <a:latin typeface="Encode Sans SemiBold"/>
              </a:rPr>
              <a:t>Transparência</a:t>
            </a:r>
          </a:p>
        </p:txBody>
      </p:sp>
      <p:sp>
        <p:nvSpPr>
          <p:cNvPr id="1134" name="Rounded Rectangle 1133"/>
          <p:cNvSpPr/>
          <p:nvPr/>
        </p:nvSpPr>
        <p:spPr>
          <a:xfrm>
            <a:off x="2032000" y="3029630"/>
            <a:ext cx="2087033" cy="794430"/>
          </a:xfrm>
          <a:prstGeom prst="roundRect">
            <a:avLst>
              <a:gd name="adj" fmla="val 10000"/>
            </a:avLst>
          </a:prstGeom>
          <a:solidFill>
            <a:srgbClr val="171A21"/>
          </a:solidFill>
          <a:ln w="13970">
            <a:solidFill>
              <a:srgbClr val="2FB36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5" name="TextBox 1134"/>
          <p:cNvSpPr txBox="1"/>
          <p:nvPr/>
        </p:nvSpPr>
        <p:spPr>
          <a:xfrm>
            <a:off x="2146300" y="302963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Nenhum caminho termina em</a:t>
            </a:r>
          </a:p>
          <a:p>
            <a:pPr algn="ctr">
              <a:lnSpc>
                <a:spcPct val="120000"/>
              </a:lnSpc>
            </a:pPr>
            <a:r>
              <a:rPr sz="1000">
                <a:solidFill>
                  <a:srgbClr val="A8ADBD"/>
                </a:solidFill>
                <a:latin typeface="Roboto"/>
              </a:rPr>
              <a:t>silêncio no Telegram</a:t>
            </a:r>
          </a:p>
        </p:txBody>
      </p:sp>
      <p:sp>
        <p:nvSpPr>
          <p:cNvPr id="1136" name="Rounded Rectangle 1135"/>
          <p:cNvSpPr/>
          <p:nvPr/>
        </p:nvSpPr>
        <p:spPr>
          <a:xfrm>
            <a:off x="4258733" y="3029630"/>
            <a:ext cx="2087033" cy="794430"/>
          </a:xfrm>
          <a:prstGeom prst="roundRect">
            <a:avLst>
              <a:gd name="adj" fmla="val 10000"/>
            </a:avLst>
          </a:prstGeom>
          <a:solidFill>
            <a:srgbClr val="171A21"/>
          </a:solidFill>
          <a:ln w="13970">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7" name="TextBox 1136"/>
          <p:cNvSpPr txBox="1"/>
          <p:nvPr/>
        </p:nvSpPr>
        <p:spPr>
          <a:xfrm>
            <a:off x="4373033" y="302963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A convenção semSilencio é</a:t>
            </a:r>
          </a:p>
          <a:p>
            <a:pPr algn="ctr">
              <a:lnSpc>
                <a:spcPct val="120000"/>
              </a:lnSpc>
            </a:pPr>
            <a:r>
              <a:rPr sz="1000">
                <a:solidFill>
                  <a:srgbClr val="A8ADBD"/>
                </a:solidFill>
                <a:latin typeface="Roboto"/>
              </a:rPr>
              <a:t>caso a caso, não automática</a:t>
            </a:r>
          </a:p>
        </p:txBody>
      </p:sp>
      <p:sp>
        <p:nvSpPr>
          <p:cNvPr id="1138" name="Rounded Rectangle 1137"/>
          <p:cNvSpPr/>
          <p:nvPr/>
        </p:nvSpPr>
        <p:spPr>
          <a:xfrm>
            <a:off x="6485466" y="3029630"/>
            <a:ext cx="2087033" cy="794430"/>
          </a:xfrm>
          <a:prstGeom prst="roundRect">
            <a:avLst>
              <a:gd name="adj" fmla="val 10000"/>
            </a:avLst>
          </a:prstGeom>
          <a:solidFill>
            <a:srgbClr val="171A21"/>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9" name="TextBox 1138"/>
          <p:cNvSpPr txBox="1"/>
          <p:nvPr/>
        </p:nvSpPr>
        <p:spPr>
          <a:xfrm>
            <a:off x="6599766" y="3029630"/>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Falha silenciosa de estado</a:t>
            </a:r>
          </a:p>
          <a:p>
            <a:pPr algn="ctr">
              <a:lnSpc>
                <a:spcPct val="120000"/>
              </a:lnSpc>
            </a:pPr>
            <a:r>
              <a:rPr sz="1000">
                <a:solidFill>
                  <a:srgbClr val="A8ADBD"/>
                </a:solidFill>
                <a:latin typeface="Roboto"/>
              </a:rPr>
              <a:t>segue sem monitoramento</a:t>
            </a:r>
          </a:p>
        </p:txBody>
      </p:sp>
      <p:sp>
        <p:nvSpPr>
          <p:cNvPr id="1140" name="TextBox 1139"/>
          <p:cNvSpPr txBox="1"/>
          <p:nvPr/>
        </p:nvSpPr>
        <p:spPr>
          <a:xfrm>
            <a:off x="571500" y="3925661"/>
            <a:ext cx="1320800" cy="794430"/>
          </a:xfrm>
          <a:prstGeom prst="rect">
            <a:avLst/>
          </a:prstGeom>
          <a:noFill/>
        </p:spPr>
        <p:txBody>
          <a:bodyPr wrap="square" lIns="0" tIns="0" rIns="0" bIns="0" anchor="ctr">
            <a:spAutoFit/>
          </a:bodyPr>
          <a:lstStyle/>
          <a:p>
            <a:pPr algn="r">
              <a:lnSpc>
                <a:spcPct val="110000"/>
              </a:lnSpc>
            </a:pPr>
            <a:r>
              <a:rPr sz="1300">
                <a:solidFill>
                  <a:srgbClr val="FFFFFF"/>
                </a:solidFill>
                <a:latin typeface="Encode Sans SemiBold"/>
              </a:rPr>
              <a:t>LGPD</a:t>
            </a:r>
          </a:p>
        </p:txBody>
      </p:sp>
      <p:sp>
        <p:nvSpPr>
          <p:cNvPr id="1141" name="Rounded Rectangle 1140"/>
          <p:cNvSpPr/>
          <p:nvPr/>
        </p:nvSpPr>
        <p:spPr>
          <a:xfrm>
            <a:off x="2032000" y="3925661"/>
            <a:ext cx="2087033" cy="794430"/>
          </a:xfrm>
          <a:prstGeom prst="roundRect">
            <a:avLst>
              <a:gd name="adj" fmla="val 10000"/>
            </a:avLst>
          </a:prstGeom>
          <a:solidFill>
            <a:srgbClr val="171A21"/>
          </a:solidFill>
          <a:ln w="13970">
            <a:solidFill>
              <a:srgbClr val="2FB36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2" name="TextBox 1141"/>
          <p:cNvSpPr txBox="1"/>
          <p:nvPr/>
        </p:nvSpPr>
        <p:spPr>
          <a:xfrm>
            <a:off x="2146300" y="3925661"/>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Dado pessoal mapeado;</a:t>
            </a:r>
          </a:p>
          <a:p>
            <a:pPr algn="ctr">
              <a:lnSpc>
                <a:spcPct val="120000"/>
              </a:lnSpc>
            </a:pPr>
            <a:r>
              <a:rPr sz="1000">
                <a:solidFill>
                  <a:srgbClr val="A8ADBD"/>
                </a:solidFill>
                <a:latin typeface="Roboto"/>
              </a:rPr>
              <a:t>segredos fora do</a:t>
            </a:r>
          </a:p>
          <a:p>
            <a:pPr algn="ctr">
              <a:lnSpc>
                <a:spcPct val="120000"/>
              </a:lnSpc>
            </a:pPr>
            <a:r>
              <a:rPr sz="1000">
                <a:solidFill>
                  <a:srgbClr val="A8ADBD"/>
                </a:solidFill>
                <a:latin typeface="Roboto"/>
              </a:rPr>
              <a:t>versionamento</a:t>
            </a:r>
          </a:p>
        </p:txBody>
      </p:sp>
      <p:sp>
        <p:nvSpPr>
          <p:cNvPr id="1143" name="Rounded Rectangle 1142"/>
          <p:cNvSpPr/>
          <p:nvPr/>
        </p:nvSpPr>
        <p:spPr>
          <a:xfrm>
            <a:off x="4258733" y="3925661"/>
            <a:ext cx="2087033" cy="794430"/>
          </a:xfrm>
          <a:prstGeom prst="roundRect">
            <a:avLst>
              <a:gd name="adj" fmla="val 10000"/>
            </a:avLst>
          </a:prstGeom>
          <a:solidFill>
            <a:srgbClr val="171A21"/>
          </a:solidFill>
          <a:ln w="13970">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4" name="TextBox 1143"/>
          <p:cNvSpPr txBox="1"/>
          <p:nvPr/>
        </p:nvSpPr>
        <p:spPr>
          <a:xfrm>
            <a:off x="4373033" y="3925661"/>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Minimização: pensamentos é</a:t>
            </a:r>
          </a:p>
          <a:p>
            <a:pPr algn="ctr">
              <a:lnSpc>
                <a:spcPct val="120000"/>
              </a:lnSpc>
            </a:pPr>
            <a:r>
              <a:rPr sz="1000">
                <a:solidFill>
                  <a:srgbClr val="A8ADBD"/>
                </a:solidFill>
                <a:latin typeface="Roboto"/>
              </a:rPr>
              <a:t>funcional e é o mais</a:t>
            </a:r>
          </a:p>
          <a:p>
            <a:pPr algn="ctr">
              <a:lnSpc>
                <a:spcPct val="120000"/>
              </a:lnSpc>
            </a:pPr>
            <a:r>
              <a:rPr sz="1000">
                <a:solidFill>
                  <a:srgbClr val="A8ADBD"/>
                </a:solidFill>
                <a:latin typeface="Roboto"/>
              </a:rPr>
              <a:t>sensível</a:t>
            </a:r>
          </a:p>
        </p:txBody>
      </p:sp>
      <p:sp>
        <p:nvSpPr>
          <p:cNvPr id="1145" name="Rounded Rectangle 1144"/>
          <p:cNvSpPr/>
          <p:nvPr/>
        </p:nvSpPr>
        <p:spPr>
          <a:xfrm>
            <a:off x="6485466" y="3925661"/>
            <a:ext cx="2087033" cy="794430"/>
          </a:xfrm>
          <a:prstGeom prst="roundRect">
            <a:avLst>
              <a:gd name="adj" fmla="val 10000"/>
            </a:avLst>
          </a:prstGeom>
          <a:solidFill>
            <a:srgbClr val="171A21"/>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6" name="TextBox 1145"/>
          <p:cNvSpPr txBox="1"/>
          <p:nvPr/>
        </p:nvSpPr>
        <p:spPr>
          <a:xfrm>
            <a:off x="6599766" y="3925661"/>
            <a:ext cx="1858433" cy="794430"/>
          </a:xfrm>
          <a:prstGeom prst="rect">
            <a:avLst/>
          </a:prstGeom>
          <a:noFill/>
        </p:spPr>
        <p:txBody>
          <a:bodyPr wrap="square" lIns="0" tIns="0" rIns="0" bIns="0" anchor="ctr">
            <a:spAutoFit/>
          </a:bodyPr>
          <a:lstStyle/>
          <a:p>
            <a:pPr algn="ctr">
              <a:lnSpc>
                <a:spcPct val="120000"/>
              </a:lnSpc>
            </a:pPr>
            <a:r>
              <a:rPr sz="1000">
                <a:solidFill>
                  <a:srgbClr val="A8ADBD"/>
                </a:solidFill>
                <a:latin typeface="Roboto"/>
              </a:rPr>
              <a:t>RLS desligado; sem retenção</a:t>
            </a:r>
          </a:p>
          <a:p>
            <a:pPr algn="ctr">
              <a:lnSpc>
                <a:spcPct val="120000"/>
              </a:lnSpc>
            </a:pPr>
            <a:r>
              <a:rPr sz="1000">
                <a:solidFill>
                  <a:srgbClr val="A8ADBD"/>
                </a:solidFill>
                <a:latin typeface="Roboto"/>
              </a:rPr>
              <a:t>nem exclusão</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19"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120"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21"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122"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123" name="TextBox 1122"/>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que está em falta, sem rodeio</a:t>
            </a:r>
          </a:p>
        </p:txBody>
      </p:sp>
      <p:sp>
        <p:nvSpPr>
          <p:cNvPr id="1124" name="TextBox 1123"/>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Três pendências, cada uma com decisão registrada</a:t>
            </a:r>
          </a:p>
        </p:txBody>
      </p:sp>
      <p:sp>
        <p:nvSpPr>
          <p:cNvPr id="1125" name="Rounded Rectangle 1124"/>
          <p:cNvSpPr/>
          <p:nvPr/>
        </p:nvSpPr>
        <p:spPr>
          <a:xfrm>
            <a:off x="571500" y="1834568"/>
            <a:ext cx="8001000" cy="796254"/>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6" name="Rectangle 1125"/>
          <p:cNvSpPr/>
          <p:nvPr/>
        </p:nvSpPr>
        <p:spPr>
          <a:xfrm>
            <a:off x="571500" y="1834568"/>
            <a:ext cx="50800" cy="79625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7" name="Rounded Rectangle 1126"/>
          <p:cNvSpPr/>
          <p:nvPr/>
        </p:nvSpPr>
        <p:spPr>
          <a:xfrm>
            <a:off x="774700" y="2080295"/>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28" name="TextBox 1127"/>
          <p:cNvSpPr txBox="1"/>
          <p:nvPr/>
        </p:nvSpPr>
        <p:spPr>
          <a:xfrm>
            <a:off x="774700" y="2080295"/>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1</a:t>
            </a:r>
          </a:p>
        </p:txBody>
      </p:sp>
      <p:sp>
        <p:nvSpPr>
          <p:cNvPr id="1129" name="TextBox 1128"/>
          <p:cNvSpPr txBox="1"/>
          <p:nvPr/>
        </p:nvSpPr>
        <p:spPr>
          <a:xfrm>
            <a:off x="1422400" y="1834568"/>
            <a:ext cx="2641600" cy="796254"/>
          </a:xfrm>
          <a:prstGeom prst="rect">
            <a:avLst/>
          </a:prstGeom>
          <a:noFill/>
        </p:spPr>
        <p:txBody>
          <a:bodyPr wrap="square" lIns="0" tIns="0" rIns="0" bIns="0" anchor="ctr">
            <a:spAutoFit/>
          </a:bodyPr>
          <a:lstStyle/>
          <a:p>
            <a:pPr algn="l">
              <a:lnSpc>
                <a:spcPct val="115000"/>
              </a:lnSpc>
            </a:pPr>
            <a:r>
              <a:rPr sz="1500">
                <a:solidFill>
                  <a:srgbClr val="14161B"/>
                </a:solidFill>
                <a:latin typeface="Encode Sans SemiBold"/>
              </a:rPr>
              <a:t>Falha silenciosa de</a:t>
            </a:r>
          </a:p>
          <a:p>
            <a:pPr algn="l">
              <a:lnSpc>
                <a:spcPct val="115000"/>
              </a:lnSpc>
            </a:pPr>
            <a:r>
              <a:rPr sz="1500">
                <a:solidFill>
                  <a:srgbClr val="14161B"/>
                </a:solidFill>
                <a:latin typeface="Encode Sans SemiBold"/>
              </a:rPr>
              <a:t>estado</a:t>
            </a:r>
          </a:p>
        </p:txBody>
      </p:sp>
      <p:sp>
        <p:nvSpPr>
          <p:cNvPr id="1130" name="TextBox 1129"/>
          <p:cNvSpPr txBox="1"/>
          <p:nvPr/>
        </p:nvSpPr>
        <p:spPr>
          <a:xfrm>
            <a:off x="4267200" y="1834568"/>
            <a:ext cx="4064000" cy="796254"/>
          </a:xfrm>
          <a:prstGeom prst="rect">
            <a:avLst/>
          </a:prstGeom>
          <a:noFill/>
        </p:spPr>
        <p:txBody>
          <a:bodyPr wrap="square" lIns="0" tIns="0" rIns="0" bIns="0" anchor="ctr">
            <a:spAutoFit/>
          </a:bodyPr>
          <a:lstStyle/>
          <a:p>
            <a:pPr algn="l">
              <a:lnSpc>
                <a:spcPct val="125000"/>
              </a:lnSpc>
            </a:pPr>
            <a:r>
              <a:rPr sz="1100">
                <a:solidFill>
                  <a:srgbClr val="5B6070"/>
                </a:solidFill>
                <a:latin typeface="Roboto"/>
              </a:rPr>
              <a:t>O caso da lasanha continua sem monitoramento. Risco</a:t>
            </a:r>
          </a:p>
          <a:p>
            <a:pPr algn="l">
              <a:lnSpc>
                <a:spcPct val="125000"/>
              </a:lnSpc>
            </a:pPr>
            <a:r>
              <a:rPr sz="1100">
                <a:solidFill>
                  <a:srgbClr val="5B6070"/>
                </a:solidFill>
                <a:latin typeface="Roboto"/>
              </a:rPr>
              <a:t>aceito e registrado na Aula 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24"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125"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26"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127"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128" name="TextBox 1127"/>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que está em falta, sem rodeio</a:t>
            </a:r>
          </a:p>
        </p:txBody>
      </p:sp>
      <p:sp>
        <p:nvSpPr>
          <p:cNvPr id="1129" name="TextBox 1128"/>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Três pendências, cada uma com decisão registrada</a:t>
            </a:r>
          </a:p>
        </p:txBody>
      </p:sp>
      <p:sp>
        <p:nvSpPr>
          <p:cNvPr id="1130" name="Rounded Rectangle 1129"/>
          <p:cNvSpPr/>
          <p:nvPr/>
        </p:nvSpPr>
        <p:spPr>
          <a:xfrm>
            <a:off x="571500" y="1834568"/>
            <a:ext cx="8001000" cy="796254"/>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1" name="Rectangle 1130"/>
          <p:cNvSpPr/>
          <p:nvPr/>
        </p:nvSpPr>
        <p:spPr>
          <a:xfrm>
            <a:off x="571500" y="1834568"/>
            <a:ext cx="50800" cy="79625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2" name="Rounded Rectangle 1131"/>
          <p:cNvSpPr/>
          <p:nvPr/>
        </p:nvSpPr>
        <p:spPr>
          <a:xfrm>
            <a:off x="774700" y="2080295"/>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3" name="TextBox 1132"/>
          <p:cNvSpPr txBox="1"/>
          <p:nvPr/>
        </p:nvSpPr>
        <p:spPr>
          <a:xfrm>
            <a:off x="774700" y="2080295"/>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1</a:t>
            </a:r>
          </a:p>
        </p:txBody>
      </p:sp>
      <p:sp>
        <p:nvSpPr>
          <p:cNvPr id="1134" name="TextBox 1133"/>
          <p:cNvSpPr txBox="1"/>
          <p:nvPr/>
        </p:nvSpPr>
        <p:spPr>
          <a:xfrm>
            <a:off x="1422400" y="1834568"/>
            <a:ext cx="2641600" cy="796254"/>
          </a:xfrm>
          <a:prstGeom prst="rect">
            <a:avLst/>
          </a:prstGeom>
          <a:noFill/>
        </p:spPr>
        <p:txBody>
          <a:bodyPr wrap="square" lIns="0" tIns="0" rIns="0" bIns="0" anchor="ctr">
            <a:spAutoFit/>
          </a:bodyPr>
          <a:lstStyle/>
          <a:p>
            <a:pPr algn="l">
              <a:lnSpc>
                <a:spcPct val="115000"/>
              </a:lnSpc>
            </a:pPr>
            <a:r>
              <a:rPr sz="1500">
                <a:solidFill>
                  <a:srgbClr val="14161B"/>
                </a:solidFill>
                <a:latin typeface="Encode Sans SemiBold"/>
              </a:rPr>
              <a:t>Falha silenciosa de</a:t>
            </a:r>
          </a:p>
          <a:p>
            <a:pPr algn="l">
              <a:lnSpc>
                <a:spcPct val="115000"/>
              </a:lnSpc>
            </a:pPr>
            <a:r>
              <a:rPr sz="1500">
                <a:solidFill>
                  <a:srgbClr val="14161B"/>
                </a:solidFill>
                <a:latin typeface="Encode Sans SemiBold"/>
              </a:rPr>
              <a:t>estado</a:t>
            </a:r>
          </a:p>
        </p:txBody>
      </p:sp>
      <p:sp>
        <p:nvSpPr>
          <p:cNvPr id="1135" name="TextBox 1134"/>
          <p:cNvSpPr txBox="1"/>
          <p:nvPr/>
        </p:nvSpPr>
        <p:spPr>
          <a:xfrm>
            <a:off x="4267200" y="1834568"/>
            <a:ext cx="4064000" cy="796254"/>
          </a:xfrm>
          <a:prstGeom prst="rect">
            <a:avLst/>
          </a:prstGeom>
          <a:noFill/>
        </p:spPr>
        <p:txBody>
          <a:bodyPr wrap="square" lIns="0" tIns="0" rIns="0" bIns="0" anchor="ctr">
            <a:spAutoFit/>
          </a:bodyPr>
          <a:lstStyle/>
          <a:p>
            <a:pPr algn="l">
              <a:lnSpc>
                <a:spcPct val="125000"/>
              </a:lnSpc>
            </a:pPr>
            <a:r>
              <a:rPr sz="1100">
                <a:solidFill>
                  <a:srgbClr val="5B6070"/>
                </a:solidFill>
                <a:latin typeface="Roboto"/>
              </a:rPr>
              <a:t>O caso da lasanha continua sem monitoramento. Risco</a:t>
            </a:r>
          </a:p>
          <a:p>
            <a:pPr algn="l">
              <a:lnSpc>
                <a:spcPct val="125000"/>
              </a:lnSpc>
            </a:pPr>
            <a:r>
              <a:rPr sz="1100">
                <a:solidFill>
                  <a:srgbClr val="5B6070"/>
                </a:solidFill>
                <a:latin typeface="Roboto"/>
              </a:rPr>
              <a:t>aceito e registrado na Aula 4</a:t>
            </a:r>
          </a:p>
        </p:txBody>
      </p:sp>
      <p:sp>
        <p:nvSpPr>
          <p:cNvPr id="1136" name="Rounded Rectangle 1135"/>
          <p:cNvSpPr/>
          <p:nvPr/>
        </p:nvSpPr>
        <p:spPr>
          <a:xfrm>
            <a:off x="571500" y="2745122"/>
            <a:ext cx="8001000" cy="796254"/>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7" name="Rectangle 1136"/>
          <p:cNvSpPr/>
          <p:nvPr/>
        </p:nvSpPr>
        <p:spPr>
          <a:xfrm>
            <a:off x="571500" y="2745122"/>
            <a:ext cx="50800" cy="79625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8" name="Rounded Rectangle 1137"/>
          <p:cNvSpPr/>
          <p:nvPr/>
        </p:nvSpPr>
        <p:spPr>
          <a:xfrm>
            <a:off x="774700" y="2990850"/>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9" name="TextBox 1138"/>
          <p:cNvSpPr txBox="1"/>
          <p:nvPr/>
        </p:nvSpPr>
        <p:spPr>
          <a:xfrm>
            <a:off x="774700" y="299085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2</a:t>
            </a:r>
          </a:p>
        </p:txBody>
      </p:sp>
      <p:sp>
        <p:nvSpPr>
          <p:cNvPr id="1140" name="TextBox 1139"/>
          <p:cNvSpPr txBox="1"/>
          <p:nvPr/>
        </p:nvSpPr>
        <p:spPr>
          <a:xfrm>
            <a:off x="1422400" y="2745122"/>
            <a:ext cx="2641600" cy="796254"/>
          </a:xfrm>
          <a:prstGeom prst="rect">
            <a:avLst/>
          </a:prstGeom>
          <a:noFill/>
        </p:spPr>
        <p:txBody>
          <a:bodyPr wrap="square" lIns="0" tIns="0" rIns="0" bIns="0" anchor="ctr">
            <a:spAutoFit/>
          </a:bodyPr>
          <a:lstStyle/>
          <a:p>
            <a:pPr algn="l">
              <a:lnSpc>
                <a:spcPct val="115000"/>
              </a:lnSpc>
            </a:pPr>
            <a:r>
              <a:rPr sz="1500">
                <a:solidFill>
                  <a:srgbClr val="14161B"/>
                </a:solidFill>
                <a:latin typeface="Encode Sans SemiBold"/>
              </a:rPr>
              <a:t>RLS desligado</a:t>
            </a:r>
          </a:p>
        </p:txBody>
      </p:sp>
      <p:sp>
        <p:nvSpPr>
          <p:cNvPr id="1141" name="TextBox 1140"/>
          <p:cNvSpPr txBox="1"/>
          <p:nvPr/>
        </p:nvSpPr>
        <p:spPr>
          <a:xfrm>
            <a:off x="4267200" y="2745122"/>
            <a:ext cx="4064000" cy="796254"/>
          </a:xfrm>
          <a:prstGeom prst="rect">
            <a:avLst/>
          </a:prstGeom>
          <a:noFill/>
        </p:spPr>
        <p:txBody>
          <a:bodyPr wrap="square" lIns="0" tIns="0" rIns="0" bIns="0" anchor="ctr">
            <a:spAutoFit/>
          </a:bodyPr>
          <a:lstStyle/>
          <a:p>
            <a:pPr algn="l">
              <a:lnSpc>
                <a:spcPct val="125000"/>
              </a:lnSpc>
            </a:pPr>
            <a:r>
              <a:rPr sz="1100">
                <a:solidFill>
                  <a:srgbClr val="5B6070"/>
                </a:solidFill>
                <a:latin typeface="Roboto"/>
              </a:rPr>
              <a:t>Aceitável no escopo de uma casa. Revisar no dia em que</a:t>
            </a:r>
          </a:p>
          <a:p>
            <a:pPr algn="l">
              <a:lnSpc>
                <a:spcPct val="125000"/>
              </a:lnSpc>
            </a:pPr>
            <a:r>
              <a:rPr sz="1100">
                <a:solidFill>
                  <a:srgbClr val="5B6070"/>
                </a:solidFill>
                <a:latin typeface="Roboto"/>
              </a:rPr>
              <a:t>existir uma segunda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29"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130"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31"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132"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133" name="TextBox 1132"/>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O que está em falta, sem rodeio</a:t>
            </a:r>
          </a:p>
        </p:txBody>
      </p:sp>
      <p:sp>
        <p:nvSpPr>
          <p:cNvPr id="1134" name="TextBox 1133"/>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Três pendências, cada uma com decisão registrada</a:t>
            </a:r>
          </a:p>
        </p:txBody>
      </p:sp>
      <p:sp>
        <p:nvSpPr>
          <p:cNvPr id="1135" name="Rounded Rectangle 1134"/>
          <p:cNvSpPr/>
          <p:nvPr/>
        </p:nvSpPr>
        <p:spPr>
          <a:xfrm>
            <a:off x="571500" y="1834568"/>
            <a:ext cx="8001000" cy="796254"/>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6" name="Rectangle 1135"/>
          <p:cNvSpPr/>
          <p:nvPr/>
        </p:nvSpPr>
        <p:spPr>
          <a:xfrm>
            <a:off x="571500" y="1834568"/>
            <a:ext cx="50800" cy="79625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7" name="Rounded Rectangle 1136"/>
          <p:cNvSpPr/>
          <p:nvPr/>
        </p:nvSpPr>
        <p:spPr>
          <a:xfrm>
            <a:off x="774700" y="2080295"/>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8" name="TextBox 1137"/>
          <p:cNvSpPr txBox="1"/>
          <p:nvPr/>
        </p:nvSpPr>
        <p:spPr>
          <a:xfrm>
            <a:off x="774700" y="2080295"/>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1</a:t>
            </a:r>
          </a:p>
        </p:txBody>
      </p:sp>
      <p:sp>
        <p:nvSpPr>
          <p:cNvPr id="1139" name="TextBox 1138"/>
          <p:cNvSpPr txBox="1"/>
          <p:nvPr/>
        </p:nvSpPr>
        <p:spPr>
          <a:xfrm>
            <a:off x="1422400" y="1834568"/>
            <a:ext cx="2641600" cy="796254"/>
          </a:xfrm>
          <a:prstGeom prst="rect">
            <a:avLst/>
          </a:prstGeom>
          <a:noFill/>
        </p:spPr>
        <p:txBody>
          <a:bodyPr wrap="square" lIns="0" tIns="0" rIns="0" bIns="0" anchor="ctr">
            <a:spAutoFit/>
          </a:bodyPr>
          <a:lstStyle/>
          <a:p>
            <a:pPr algn="l">
              <a:lnSpc>
                <a:spcPct val="115000"/>
              </a:lnSpc>
            </a:pPr>
            <a:r>
              <a:rPr sz="1500">
                <a:solidFill>
                  <a:srgbClr val="14161B"/>
                </a:solidFill>
                <a:latin typeface="Encode Sans SemiBold"/>
              </a:rPr>
              <a:t>Falha silenciosa de</a:t>
            </a:r>
          </a:p>
          <a:p>
            <a:pPr algn="l">
              <a:lnSpc>
                <a:spcPct val="115000"/>
              </a:lnSpc>
            </a:pPr>
            <a:r>
              <a:rPr sz="1500">
                <a:solidFill>
                  <a:srgbClr val="14161B"/>
                </a:solidFill>
                <a:latin typeface="Encode Sans SemiBold"/>
              </a:rPr>
              <a:t>estado</a:t>
            </a:r>
          </a:p>
        </p:txBody>
      </p:sp>
      <p:sp>
        <p:nvSpPr>
          <p:cNvPr id="1140" name="TextBox 1139"/>
          <p:cNvSpPr txBox="1"/>
          <p:nvPr/>
        </p:nvSpPr>
        <p:spPr>
          <a:xfrm>
            <a:off x="4267200" y="1834568"/>
            <a:ext cx="4064000" cy="796254"/>
          </a:xfrm>
          <a:prstGeom prst="rect">
            <a:avLst/>
          </a:prstGeom>
          <a:noFill/>
        </p:spPr>
        <p:txBody>
          <a:bodyPr wrap="square" lIns="0" tIns="0" rIns="0" bIns="0" anchor="ctr">
            <a:spAutoFit/>
          </a:bodyPr>
          <a:lstStyle/>
          <a:p>
            <a:pPr algn="l">
              <a:lnSpc>
                <a:spcPct val="125000"/>
              </a:lnSpc>
            </a:pPr>
            <a:r>
              <a:rPr sz="1100">
                <a:solidFill>
                  <a:srgbClr val="5B6070"/>
                </a:solidFill>
                <a:latin typeface="Roboto"/>
              </a:rPr>
              <a:t>O caso da lasanha continua sem monitoramento. Risco</a:t>
            </a:r>
          </a:p>
          <a:p>
            <a:pPr algn="l">
              <a:lnSpc>
                <a:spcPct val="125000"/>
              </a:lnSpc>
            </a:pPr>
            <a:r>
              <a:rPr sz="1100">
                <a:solidFill>
                  <a:srgbClr val="5B6070"/>
                </a:solidFill>
                <a:latin typeface="Roboto"/>
              </a:rPr>
              <a:t>aceito e registrado na Aula 4</a:t>
            </a:r>
          </a:p>
        </p:txBody>
      </p:sp>
      <p:sp>
        <p:nvSpPr>
          <p:cNvPr id="1141" name="Rounded Rectangle 1140"/>
          <p:cNvSpPr/>
          <p:nvPr/>
        </p:nvSpPr>
        <p:spPr>
          <a:xfrm>
            <a:off x="571500" y="2745122"/>
            <a:ext cx="8001000" cy="796254"/>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2" name="Rectangle 1141"/>
          <p:cNvSpPr/>
          <p:nvPr/>
        </p:nvSpPr>
        <p:spPr>
          <a:xfrm>
            <a:off x="571500" y="2745122"/>
            <a:ext cx="50800" cy="79625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3" name="Rounded Rectangle 1142"/>
          <p:cNvSpPr/>
          <p:nvPr/>
        </p:nvSpPr>
        <p:spPr>
          <a:xfrm>
            <a:off x="774700" y="2990850"/>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4" name="TextBox 1143"/>
          <p:cNvSpPr txBox="1"/>
          <p:nvPr/>
        </p:nvSpPr>
        <p:spPr>
          <a:xfrm>
            <a:off x="774700" y="299085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2</a:t>
            </a:r>
          </a:p>
        </p:txBody>
      </p:sp>
      <p:sp>
        <p:nvSpPr>
          <p:cNvPr id="1145" name="TextBox 1144"/>
          <p:cNvSpPr txBox="1"/>
          <p:nvPr/>
        </p:nvSpPr>
        <p:spPr>
          <a:xfrm>
            <a:off x="1422400" y="2745122"/>
            <a:ext cx="2641600" cy="796254"/>
          </a:xfrm>
          <a:prstGeom prst="rect">
            <a:avLst/>
          </a:prstGeom>
          <a:noFill/>
        </p:spPr>
        <p:txBody>
          <a:bodyPr wrap="square" lIns="0" tIns="0" rIns="0" bIns="0" anchor="ctr">
            <a:spAutoFit/>
          </a:bodyPr>
          <a:lstStyle/>
          <a:p>
            <a:pPr algn="l">
              <a:lnSpc>
                <a:spcPct val="115000"/>
              </a:lnSpc>
            </a:pPr>
            <a:r>
              <a:rPr sz="1500">
                <a:solidFill>
                  <a:srgbClr val="14161B"/>
                </a:solidFill>
                <a:latin typeface="Encode Sans SemiBold"/>
              </a:rPr>
              <a:t>RLS desligado</a:t>
            </a:r>
          </a:p>
        </p:txBody>
      </p:sp>
      <p:sp>
        <p:nvSpPr>
          <p:cNvPr id="1146" name="TextBox 1145"/>
          <p:cNvSpPr txBox="1"/>
          <p:nvPr/>
        </p:nvSpPr>
        <p:spPr>
          <a:xfrm>
            <a:off x="4267200" y="2745122"/>
            <a:ext cx="4064000" cy="796254"/>
          </a:xfrm>
          <a:prstGeom prst="rect">
            <a:avLst/>
          </a:prstGeom>
          <a:noFill/>
        </p:spPr>
        <p:txBody>
          <a:bodyPr wrap="square" lIns="0" tIns="0" rIns="0" bIns="0" anchor="ctr">
            <a:spAutoFit/>
          </a:bodyPr>
          <a:lstStyle/>
          <a:p>
            <a:pPr algn="l">
              <a:lnSpc>
                <a:spcPct val="125000"/>
              </a:lnSpc>
            </a:pPr>
            <a:r>
              <a:rPr sz="1100">
                <a:solidFill>
                  <a:srgbClr val="5B6070"/>
                </a:solidFill>
                <a:latin typeface="Roboto"/>
              </a:rPr>
              <a:t>Aceitável no escopo de uma casa. Revisar no dia em que</a:t>
            </a:r>
          </a:p>
          <a:p>
            <a:pPr algn="l">
              <a:lnSpc>
                <a:spcPct val="125000"/>
              </a:lnSpc>
            </a:pPr>
            <a:r>
              <a:rPr sz="1100">
                <a:solidFill>
                  <a:srgbClr val="5B6070"/>
                </a:solidFill>
                <a:latin typeface="Roboto"/>
              </a:rPr>
              <a:t>existir uma segunda</a:t>
            </a:r>
          </a:p>
        </p:txBody>
      </p:sp>
      <p:sp>
        <p:nvSpPr>
          <p:cNvPr id="1147" name="Rounded Rectangle 1146"/>
          <p:cNvSpPr/>
          <p:nvPr/>
        </p:nvSpPr>
        <p:spPr>
          <a:xfrm>
            <a:off x="571500" y="3655677"/>
            <a:ext cx="8001000" cy="796254"/>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8" name="Rectangle 1147"/>
          <p:cNvSpPr/>
          <p:nvPr/>
        </p:nvSpPr>
        <p:spPr>
          <a:xfrm>
            <a:off x="571500" y="3655677"/>
            <a:ext cx="50800" cy="79625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9" name="Rounded Rectangle 1148"/>
          <p:cNvSpPr/>
          <p:nvPr/>
        </p:nvSpPr>
        <p:spPr>
          <a:xfrm>
            <a:off x="774700" y="3901404"/>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50" name="TextBox 1149"/>
          <p:cNvSpPr txBox="1"/>
          <p:nvPr/>
        </p:nvSpPr>
        <p:spPr>
          <a:xfrm>
            <a:off x="774700" y="3901404"/>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3</a:t>
            </a:r>
          </a:p>
        </p:txBody>
      </p:sp>
      <p:sp>
        <p:nvSpPr>
          <p:cNvPr id="1151" name="TextBox 1150"/>
          <p:cNvSpPr txBox="1"/>
          <p:nvPr/>
        </p:nvSpPr>
        <p:spPr>
          <a:xfrm>
            <a:off x="1422400" y="3655677"/>
            <a:ext cx="2641600" cy="796254"/>
          </a:xfrm>
          <a:prstGeom prst="rect">
            <a:avLst/>
          </a:prstGeom>
          <a:noFill/>
        </p:spPr>
        <p:txBody>
          <a:bodyPr wrap="square" lIns="0" tIns="0" rIns="0" bIns="0" anchor="ctr">
            <a:spAutoFit/>
          </a:bodyPr>
          <a:lstStyle/>
          <a:p>
            <a:pPr algn="l">
              <a:lnSpc>
                <a:spcPct val="115000"/>
              </a:lnSpc>
            </a:pPr>
            <a:r>
              <a:rPr sz="1500">
                <a:solidFill>
                  <a:srgbClr val="14161B"/>
                </a:solidFill>
                <a:latin typeface="Encode Sans SemiBold"/>
              </a:rPr>
              <a:t>Sem retenção nem</a:t>
            </a:r>
          </a:p>
          <a:p>
            <a:pPr algn="l">
              <a:lnSpc>
                <a:spcPct val="115000"/>
              </a:lnSpc>
            </a:pPr>
            <a:r>
              <a:rPr sz="1500">
                <a:solidFill>
                  <a:srgbClr val="14161B"/>
                </a:solidFill>
                <a:latin typeface="Encode Sans SemiBold"/>
              </a:rPr>
              <a:t>exclusão</a:t>
            </a:r>
          </a:p>
        </p:txBody>
      </p:sp>
      <p:sp>
        <p:nvSpPr>
          <p:cNvPr id="1152" name="TextBox 1151"/>
          <p:cNvSpPr txBox="1"/>
          <p:nvPr/>
        </p:nvSpPr>
        <p:spPr>
          <a:xfrm>
            <a:off x="4267200" y="3655677"/>
            <a:ext cx="4064000" cy="796254"/>
          </a:xfrm>
          <a:prstGeom prst="rect">
            <a:avLst/>
          </a:prstGeom>
          <a:noFill/>
        </p:spPr>
        <p:txBody>
          <a:bodyPr wrap="square" lIns="0" tIns="0" rIns="0" bIns="0" anchor="ctr">
            <a:spAutoFit/>
          </a:bodyPr>
          <a:lstStyle/>
          <a:p>
            <a:pPr algn="l">
              <a:lnSpc>
                <a:spcPct val="125000"/>
              </a:lnSpc>
            </a:pPr>
            <a:r>
              <a:rPr sz="1100">
                <a:solidFill>
                  <a:srgbClr val="5B6070"/>
                </a:solidFill>
                <a:latin typeface="Roboto"/>
              </a:rPr>
              <a:t>Não existe rota nem prazo. Hoje a resposta honesta é</a:t>
            </a:r>
          </a:p>
          <a:p>
            <a:pPr algn="l">
              <a:lnSpc>
                <a:spcPct val="125000"/>
              </a:lnSpc>
            </a:pPr>
            <a:r>
              <a:rPr sz="1100">
                <a:solidFill>
                  <a:srgbClr val="5B6070"/>
                </a:solidFill>
                <a:latin typeface="Roboto"/>
              </a:rPr>
              <a:t>"manualmente, sem processo formal"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34"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1135"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1136"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137"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38"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1139"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1140" name="TextBox 1139"/>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4000">
                <a:solidFill>
                  <a:srgbClr val="BDBFC7"/>
                </a:solidFill>
                <a:latin typeface="Encode Sans"/>
              </a:rPr>
              <a:t>O problema não</a:t>
            </a:r>
          </a:p>
          <a:p>
            <a:pPr algn="ctr">
              <a:lnSpc>
                <a:spcPct val="112000"/>
              </a:lnSpc>
            </a:pPr>
            <a:r>
              <a:rPr sz="4000">
                <a:solidFill>
                  <a:srgbClr val="BDBFC7"/>
                </a:solidFill>
                <a:latin typeface="Encode Sans"/>
              </a:rPr>
              <a:t>é ter</a:t>
            </a:r>
          </a:p>
          <a:p>
            <a:pPr algn="ctr">
              <a:lnSpc>
                <a:spcPct val="112000"/>
              </a:lnSpc>
            </a:pPr>
            <a:r>
              <a:rPr sz="4000">
                <a:solidFill>
                  <a:srgbClr val="BDBFC7"/>
                </a:solidFill>
                <a:latin typeface="Encode Sans"/>
              </a:rPr>
              <a:t>pendência. É</a:t>
            </a:r>
          </a:p>
          <a:p>
            <a:pPr algn="ctr">
              <a:lnSpc>
                <a:spcPct val="112000"/>
              </a:lnSpc>
            </a:pPr>
            <a:r>
              <a:rPr sz="4000">
                <a:solidFill>
                  <a:srgbClr val="BDBFC7"/>
                </a:solidFill>
                <a:latin typeface="Encode Sans"/>
              </a:rPr>
              <a:t>pendência sem</a:t>
            </a:r>
          </a:p>
          <a:p>
            <a:pPr algn="ctr">
              <a:lnSpc>
                <a:spcPct val="112000"/>
              </a:lnSpc>
            </a:pPr>
            <a:r>
              <a:rPr sz="4000">
                <a:solidFill>
                  <a:srgbClr val="BDBFC7"/>
                </a:solidFill>
                <a:latin typeface="Encode Sans"/>
              </a:rPr>
              <a:t>dono.</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0" name="Google Shape;321;p48"/>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141"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42" name="Google Shape;323;p48" descr=" "/>
          <p:cNvPicPr preferRelativeResize="0"/>
          <p:nvPr/>
        </p:nvPicPr>
        <p:blipFill rotWithShape="1">
          <a:blip r:embed="rId3">
            <a:alphaModFix/>
          </a:blip>
          <a:srcRect/>
          <a:stretch/>
        </p:blipFill>
        <p:spPr>
          <a:xfrm>
            <a:off x="8786283" y="152400"/>
            <a:ext cx="178830" cy="222353"/>
          </a:xfrm>
          <a:prstGeom prst="rect">
            <a:avLst/>
          </a:prstGeom>
          <a:noFill/>
          <a:ln>
            <a:noFill/>
          </a:ln>
        </p:spPr>
      </p:pic>
      <p:pic>
        <p:nvPicPr>
          <p:cNvPr id="1143" name="Google Shape;325;p48" descr="Ícone&#10;&#10;O conteúdo gerado por IA pode estar incorreto."/>
          <p:cNvPicPr preferRelativeResize="0"/>
          <p:nvPr/>
        </p:nvPicPr>
        <p:blipFill rotWithShape="1">
          <a:blip r:embed="rId4">
            <a:alphaModFix/>
          </a:blip>
          <a:srcRect/>
          <a:stretch/>
        </p:blipFill>
        <p:spPr>
          <a:xfrm>
            <a:off x="9426430" y="-54316"/>
            <a:ext cx="588048" cy="3753281"/>
          </a:xfrm>
          <a:prstGeom prst="rect">
            <a:avLst/>
          </a:prstGeom>
          <a:noFill/>
          <a:ln>
            <a:noFill/>
          </a:ln>
        </p:spPr>
      </p:pic>
      <p:sp>
        <p:nvSpPr>
          <p:cNvPr id="1144" name="TextBox 1143"/>
          <p:cNvSpPr txBox="1"/>
          <p:nvPr/>
        </p:nvSpPr>
        <p:spPr>
          <a:xfrm>
            <a:off x="2235200" y="1778000"/>
            <a:ext cx="4673600" cy="1739900"/>
          </a:xfrm>
          <a:prstGeom prst="rect">
            <a:avLst/>
          </a:prstGeom>
          <a:noFill/>
        </p:spPr>
        <p:txBody>
          <a:bodyPr wrap="square" lIns="0" tIns="0" rIns="0" bIns="0" anchor="ctr">
            <a:spAutoFit/>
          </a:bodyPr>
          <a:lstStyle/>
          <a:p>
            <a:pPr algn="ctr">
              <a:lnSpc>
                <a:spcPct val="112000"/>
              </a:lnSpc>
            </a:pPr>
            <a:r>
              <a:rPr sz="3800">
                <a:solidFill>
                  <a:srgbClr val="FFFFFF"/>
                </a:solidFill>
                <a:latin typeface="Encode Sans"/>
              </a:rPr>
              <a:t>6.5 O que</a:t>
            </a:r>
          </a:p>
          <a:p>
            <a:pPr algn="ctr">
              <a:lnSpc>
                <a:spcPct val="112000"/>
              </a:lnSpc>
            </a:pPr>
            <a:r>
              <a:rPr sz="3800">
                <a:solidFill>
                  <a:srgbClr val="FFFFFF"/>
                </a:solidFill>
                <a:latin typeface="Encode Sans"/>
              </a:rPr>
              <a:t>aprendemos?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4" name="Google Shape;331;p49" descr="art\malha.png"/>
          <p:cNvPicPr preferRelativeResize="0"/>
          <p:nvPr/>
        </p:nvPicPr>
        <p:blipFill rotWithShape="1">
          <a:blip r:embed="rId3">
            <a:alphaModFix/>
          </a:blip>
          <a:srcRect/>
          <a:stretch/>
        </p:blipFill>
        <p:spPr>
          <a:xfrm>
            <a:off x="0" y="0"/>
            <a:ext cx="9143952" cy="5142830"/>
          </a:xfrm>
          <a:prstGeom prst="rect">
            <a:avLst/>
          </a:prstGeom>
          <a:noFill/>
          <a:ln>
            <a:noFill/>
          </a:ln>
        </p:spPr>
      </p:pic>
      <p:pic>
        <p:nvPicPr>
          <p:cNvPr id="1145" name="Google Shape;332;p49" descr="art\capa.png"/>
          <p:cNvPicPr preferRelativeResize="0"/>
          <p:nvPr/>
        </p:nvPicPr>
        <p:blipFill rotWithShape="1">
          <a:blip r:embed="rId4">
            <a:alphaModFix/>
          </a:blip>
          <a:srcRect/>
          <a:stretch/>
        </p:blipFill>
        <p:spPr>
          <a:xfrm>
            <a:off x="3034270" y="0"/>
            <a:ext cx="6109682" cy="5142830"/>
          </a:xfrm>
          <a:prstGeom prst="rect">
            <a:avLst/>
          </a:prstGeom>
          <a:noFill/>
          <a:ln>
            <a:noFill/>
          </a:ln>
        </p:spPr>
      </p:pic>
      <p:pic>
        <p:nvPicPr>
          <p:cNvPr id="1146" name="Google Shape;333;p49" descr="art\logo.png"/>
          <p:cNvPicPr preferRelativeResize="0"/>
          <p:nvPr/>
        </p:nvPicPr>
        <p:blipFill rotWithShape="1">
          <a:blip r:embed="rId5">
            <a:alphaModFix/>
          </a:blip>
          <a:srcRect/>
          <a:stretch/>
        </p:blipFill>
        <p:spPr>
          <a:xfrm>
            <a:off x="8787383" y="150876"/>
            <a:ext cx="178285" cy="222856"/>
          </a:xfrm>
          <a:prstGeom prst="rect">
            <a:avLst/>
          </a:prstGeom>
          <a:noFill/>
          <a:ln>
            <a:noFill/>
          </a:ln>
        </p:spPr>
      </p:pic>
      <p:sp>
        <p:nvSpPr>
          <p:cNvPr id="1147" name="TextBox 1146"/>
          <p:cNvSpPr txBox="1"/>
          <p:nvPr/>
        </p:nvSpPr>
        <p:spPr>
          <a:xfrm>
            <a:off x="914400" y="698500"/>
            <a:ext cx="4965700" cy="241300"/>
          </a:xfrm>
          <a:prstGeom prst="rect">
            <a:avLst/>
          </a:prstGeom>
          <a:noFill/>
        </p:spPr>
        <p:txBody>
          <a:bodyPr wrap="square" lIns="0" tIns="0" rIns="0" bIns="0" anchor="t">
            <a:spAutoFit/>
          </a:bodyPr>
          <a:lstStyle/>
          <a:p>
            <a:pPr algn="l">
              <a:lnSpc>
                <a:spcPct val="100000"/>
              </a:lnSpc>
            </a:pPr>
            <a:r>
              <a:rPr sz="800" b="1">
                <a:solidFill>
                  <a:srgbClr val="1F53E5"/>
                </a:solidFill>
                <a:latin typeface="Encode Sans"/>
              </a:rPr>
              <a:t>EVALS, OBSERVABILIDADE E CONFORMIDADE</a:t>
            </a:r>
          </a:p>
        </p:txBody>
      </p:sp>
      <p:sp>
        <p:nvSpPr>
          <p:cNvPr id="1148" name="TextBox 1147"/>
          <p:cNvSpPr txBox="1"/>
          <p:nvPr/>
        </p:nvSpPr>
        <p:spPr>
          <a:xfrm>
            <a:off x="914400" y="1651000"/>
            <a:ext cx="5080000" cy="1524000"/>
          </a:xfrm>
          <a:prstGeom prst="rect">
            <a:avLst/>
          </a:prstGeom>
          <a:noFill/>
        </p:spPr>
        <p:txBody>
          <a:bodyPr wrap="square" lIns="0" tIns="0" rIns="0" bIns="0" anchor="t">
            <a:spAutoFit/>
          </a:bodyPr>
          <a:lstStyle/>
          <a:p>
            <a:pPr algn="l">
              <a:lnSpc>
                <a:spcPct val="115000"/>
              </a:lnSpc>
            </a:pPr>
            <a:r>
              <a:rPr sz="3600">
                <a:solidFill>
                  <a:srgbClr val="FFFFFF"/>
                </a:solidFill>
                <a:latin typeface="Encode Sans"/>
              </a:rPr>
              <a:t>Aula 6</a:t>
            </a:r>
          </a:p>
          <a:p>
            <a:pPr algn="l">
              <a:lnSpc>
                <a:spcPct val="115000"/>
              </a:lnSpc>
            </a:pPr>
            <a:r>
              <a:rPr sz="3600">
                <a:solidFill>
                  <a:srgbClr val="FFFFFF"/>
                </a:solidFill>
                <a:latin typeface="Encode Sans"/>
              </a:rPr>
              <a:t>O que aprendemos</a:t>
            </a:r>
          </a:p>
        </p:txBody>
      </p:sp>
      <p:sp>
        <p:nvSpPr>
          <p:cNvPr id="1149" name="TextBox 1148"/>
          <p:cNvSpPr txBox="1"/>
          <p:nvPr/>
        </p:nvSpPr>
        <p:spPr>
          <a:xfrm>
            <a:off x="914400" y="3276600"/>
            <a:ext cx="5105400" cy="647700"/>
          </a:xfrm>
          <a:prstGeom prst="rect">
            <a:avLst/>
          </a:prstGeom>
          <a:noFill/>
        </p:spPr>
        <p:txBody>
          <a:bodyPr wrap="square" lIns="0" tIns="0" rIns="0" bIns="0" anchor="t">
            <a:spAutoFit/>
          </a:bodyPr>
          <a:lstStyle/>
          <a:p>
            <a:pPr algn="l">
              <a:lnSpc>
                <a:spcPct val="120000"/>
              </a:lnSpc>
            </a:pPr>
            <a:r>
              <a:rPr sz="1500">
                <a:solidFill>
                  <a:srgbClr val="FFFFFF"/>
                </a:solidFill>
                <a:latin typeface="Roboto"/>
              </a:rPr>
              <a:t>Guardrails em código, transparência como design e LGPD na prática</a:t>
            </a:r>
          </a:p>
        </p:txBody>
      </p:sp>
      <p:sp>
        <p:nvSpPr>
          <p:cNvPr id="1150" name="TextBox 1149"/>
          <p:cNvSpPr txBox="1"/>
          <p:nvPr/>
        </p:nvSpPr>
        <p:spPr>
          <a:xfrm>
            <a:off x="914400" y="4025900"/>
            <a:ext cx="5207000" cy="279400"/>
          </a:xfrm>
          <a:prstGeom prst="rect">
            <a:avLst/>
          </a:prstGeom>
          <a:noFill/>
        </p:spPr>
        <p:txBody>
          <a:bodyPr wrap="square" lIns="0" tIns="0" rIns="0" bIns="0" anchor="t">
            <a:spAutoFit/>
          </a:bodyPr>
          <a:lstStyle/>
          <a:p>
            <a:pPr algn="l">
              <a:lnSpc>
                <a:spcPct val="100000"/>
              </a:lnSpc>
            </a:pPr>
            <a:r>
              <a:rPr sz="1200">
                <a:solidFill>
                  <a:srgbClr val="4A9BE8"/>
                </a:solidFill>
                <a:latin typeface="Roboto"/>
              </a:rPr>
              <a:t>Lançar é o começo. O run é a grande responsabilidade.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48"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149"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50"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151"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152" name="TextBox 1151"/>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Três lições, uma por pilar</a:t>
            </a:r>
          </a:p>
        </p:txBody>
      </p:sp>
      <p:sp>
        <p:nvSpPr>
          <p:cNvPr id="1153" name="Rounded Rectangle 1152"/>
          <p:cNvSpPr/>
          <p:nvPr/>
        </p:nvSpPr>
        <p:spPr>
          <a:xfrm>
            <a:off x="571500" y="1628728"/>
            <a:ext cx="2497666" cy="278774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54" name="Rectangle 1153"/>
          <p:cNvSpPr/>
          <p:nvPr/>
        </p:nvSpPr>
        <p:spPr>
          <a:xfrm>
            <a:off x="571500" y="1628728"/>
            <a:ext cx="2497666"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55" name="TextBox 1154"/>
          <p:cNvSpPr txBox="1"/>
          <p:nvPr/>
        </p:nvSpPr>
        <p:spPr>
          <a:xfrm>
            <a:off x="774700" y="1857328"/>
            <a:ext cx="2091266" cy="177800"/>
          </a:xfrm>
          <a:prstGeom prst="rect">
            <a:avLst/>
          </a:prstGeom>
          <a:noFill/>
        </p:spPr>
        <p:txBody>
          <a:bodyPr wrap="square" lIns="0" tIns="0" rIns="0" bIns="0" anchor="ctr">
            <a:spAutoFit/>
          </a:bodyPr>
          <a:lstStyle/>
          <a:p>
            <a:pPr algn="ctr">
              <a:lnSpc>
                <a:spcPct val="100000"/>
              </a:lnSpc>
            </a:pPr>
            <a:r>
              <a:rPr sz="1100" b="1" cap="all">
                <a:solidFill>
                  <a:srgbClr val="052FD3"/>
                </a:solidFill>
                <a:latin typeface="Encode Sans"/>
              </a:rPr>
              <a:t>Guardrail</a:t>
            </a:r>
          </a:p>
        </p:txBody>
      </p:sp>
      <p:sp>
        <p:nvSpPr>
          <p:cNvPr id="1156" name="TextBox 1155"/>
          <p:cNvSpPr txBox="1"/>
          <p:nvPr/>
        </p:nvSpPr>
        <p:spPr>
          <a:xfrm>
            <a:off x="774700" y="2136728"/>
            <a:ext cx="2091266" cy="829885"/>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Limite em código,</a:t>
            </a:r>
          </a:p>
          <a:p>
            <a:pPr algn="ctr">
              <a:lnSpc>
                <a:spcPct val="110000"/>
              </a:lnSpc>
            </a:pPr>
            <a:r>
              <a:rPr sz="1600">
                <a:solidFill>
                  <a:srgbClr val="14161B"/>
                </a:solidFill>
                <a:latin typeface="Encode Sans SemiBold"/>
              </a:rPr>
              <a:t>não intenção em</a:t>
            </a:r>
          </a:p>
          <a:p>
            <a:pPr algn="ctr">
              <a:lnSpc>
                <a:spcPct val="110000"/>
              </a:lnSpc>
            </a:pPr>
            <a:r>
              <a:rPr sz="1600">
                <a:solidFill>
                  <a:srgbClr val="14161B"/>
                </a:solidFill>
                <a:latin typeface="Encode Sans SemiBold"/>
              </a:rPr>
              <a:t>prompt</a:t>
            </a:r>
          </a:p>
        </p:txBody>
      </p:sp>
      <p:sp>
        <p:nvSpPr>
          <p:cNvPr id="1157" name="TextBox 1156"/>
          <p:cNvSpPr txBox="1"/>
          <p:nvPr/>
        </p:nvSpPr>
        <p:spPr>
          <a:xfrm>
            <a:off x="774700" y="3119013"/>
            <a:ext cx="2091266" cy="1094257"/>
          </a:xfrm>
          <a:prstGeom prst="rect">
            <a:avLst/>
          </a:prstGeom>
          <a:noFill/>
        </p:spPr>
        <p:txBody>
          <a:bodyPr wrap="square" lIns="0" tIns="0" rIns="0" bIns="0" anchor="t">
            <a:spAutoFit/>
          </a:bodyPr>
          <a:lstStyle/>
          <a:p>
            <a:pPr marL="182880" indent="-182880" algn="l">
              <a:lnSpc>
                <a:spcPct val="115000"/>
              </a:lnSpc>
              <a:spcAft>
                <a:spcPts val="500"/>
              </a:spcAft>
              <a:buClr>
                <a:srgbClr val="052FD3"/>
              </a:buClr>
              <a:buSzPts val="700"/>
              <a:buFont typeface="Arial"/>
              <a:buChar char="●"/>
            </a:pPr>
            <a:r>
              <a:rPr sz="1000">
                <a:solidFill>
                  <a:srgbClr val="5B6070"/>
                </a:solidFill>
                <a:latin typeface="Roboto"/>
              </a:rPr>
              <a:t>Os cinco guardrails reais seguem o mesmo padrão</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Nunca confiar só em pedir</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Prompt não é garantia estrutural</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2"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53"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154"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55"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156"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157" name="TextBox 1156"/>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Três lições, uma por pilar</a:t>
            </a:r>
          </a:p>
        </p:txBody>
      </p:sp>
      <p:sp>
        <p:nvSpPr>
          <p:cNvPr id="1158" name="Rounded Rectangle 1157"/>
          <p:cNvSpPr/>
          <p:nvPr/>
        </p:nvSpPr>
        <p:spPr>
          <a:xfrm>
            <a:off x="571500" y="1628728"/>
            <a:ext cx="2497666" cy="278774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59" name="Rectangle 1158"/>
          <p:cNvSpPr/>
          <p:nvPr/>
        </p:nvSpPr>
        <p:spPr>
          <a:xfrm>
            <a:off x="571500" y="1628728"/>
            <a:ext cx="2497666"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60" name="TextBox 1159"/>
          <p:cNvSpPr txBox="1"/>
          <p:nvPr/>
        </p:nvSpPr>
        <p:spPr>
          <a:xfrm>
            <a:off x="774700" y="1857328"/>
            <a:ext cx="2091266" cy="177800"/>
          </a:xfrm>
          <a:prstGeom prst="rect">
            <a:avLst/>
          </a:prstGeom>
          <a:noFill/>
        </p:spPr>
        <p:txBody>
          <a:bodyPr wrap="square" lIns="0" tIns="0" rIns="0" bIns="0" anchor="ctr">
            <a:spAutoFit/>
          </a:bodyPr>
          <a:lstStyle/>
          <a:p>
            <a:pPr algn="ctr">
              <a:lnSpc>
                <a:spcPct val="100000"/>
              </a:lnSpc>
            </a:pPr>
            <a:r>
              <a:rPr sz="1100" b="1" cap="all">
                <a:solidFill>
                  <a:srgbClr val="052FD3"/>
                </a:solidFill>
                <a:latin typeface="Encode Sans"/>
              </a:rPr>
              <a:t>Guardrail</a:t>
            </a:r>
          </a:p>
        </p:txBody>
      </p:sp>
      <p:sp>
        <p:nvSpPr>
          <p:cNvPr id="1161" name="TextBox 1160"/>
          <p:cNvSpPr txBox="1"/>
          <p:nvPr/>
        </p:nvSpPr>
        <p:spPr>
          <a:xfrm>
            <a:off x="774700" y="2136728"/>
            <a:ext cx="2091266" cy="829885"/>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Limite em código,</a:t>
            </a:r>
          </a:p>
          <a:p>
            <a:pPr algn="ctr">
              <a:lnSpc>
                <a:spcPct val="110000"/>
              </a:lnSpc>
            </a:pPr>
            <a:r>
              <a:rPr sz="1600">
                <a:solidFill>
                  <a:srgbClr val="14161B"/>
                </a:solidFill>
                <a:latin typeface="Encode Sans SemiBold"/>
              </a:rPr>
              <a:t>não intenção em</a:t>
            </a:r>
          </a:p>
          <a:p>
            <a:pPr algn="ctr">
              <a:lnSpc>
                <a:spcPct val="110000"/>
              </a:lnSpc>
            </a:pPr>
            <a:r>
              <a:rPr sz="1600">
                <a:solidFill>
                  <a:srgbClr val="14161B"/>
                </a:solidFill>
                <a:latin typeface="Encode Sans SemiBold"/>
              </a:rPr>
              <a:t>prompt</a:t>
            </a:r>
          </a:p>
        </p:txBody>
      </p:sp>
      <p:sp>
        <p:nvSpPr>
          <p:cNvPr id="1162" name="TextBox 1161"/>
          <p:cNvSpPr txBox="1"/>
          <p:nvPr/>
        </p:nvSpPr>
        <p:spPr>
          <a:xfrm>
            <a:off x="774700" y="3119013"/>
            <a:ext cx="2091266" cy="1094257"/>
          </a:xfrm>
          <a:prstGeom prst="rect">
            <a:avLst/>
          </a:prstGeom>
          <a:noFill/>
        </p:spPr>
        <p:txBody>
          <a:bodyPr wrap="square" lIns="0" tIns="0" rIns="0" bIns="0" anchor="t">
            <a:spAutoFit/>
          </a:bodyPr>
          <a:lstStyle/>
          <a:p>
            <a:pPr marL="182880" indent="-182880" algn="l">
              <a:lnSpc>
                <a:spcPct val="115000"/>
              </a:lnSpc>
              <a:spcAft>
                <a:spcPts val="500"/>
              </a:spcAft>
              <a:buClr>
                <a:srgbClr val="052FD3"/>
              </a:buClr>
              <a:buSzPts val="700"/>
              <a:buFont typeface="Arial"/>
              <a:buChar char="●"/>
            </a:pPr>
            <a:r>
              <a:rPr sz="1000">
                <a:solidFill>
                  <a:srgbClr val="5B6070"/>
                </a:solidFill>
                <a:latin typeface="Roboto"/>
              </a:rPr>
              <a:t>Os cinco guardrails reais seguem o mesmo padrão</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Nunca confiar só em pedir</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Prompt não é garantia estrutural</a:t>
            </a:r>
          </a:p>
        </p:txBody>
      </p:sp>
      <p:sp>
        <p:nvSpPr>
          <p:cNvPr id="1163" name="Rounded Rectangle 1162"/>
          <p:cNvSpPr/>
          <p:nvPr/>
        </p:nvSpPr>
        <p:spPr>
          <a:xfrm>
            <a:off x="3323166" y="1628728"/>
            <a:ext cx="2497666" cy="278774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64" name="Rectangle 1163"/>
          <p:cNvSpPr/>
          <p:nvPr/>
        </p:nvSpPr>
        <p:spPr>
          <a:xfrm>
            <a:off x="3323166" y="1628728"/>
            <a:ext cx="2497666"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65" name="TextBox 1164"/>
          <p:cNvSpPr txBox="1"/>
          <p:nvPr/>
        </p:nvSpPr>
        <p:spPr>
          <a:xfrm>
            <a:off x="3526366" y="1857328"/>
            <a:ext cx="2091266" cy="177800"/>
          </a:xfrm>
          <a:prstGeom prst="rect">
            <a:avLst/>
          </a:prstGeom>
          <a:noFill/>
        </p:spPr>
        <p:txBody>
          <a:bodyPr wrap="square" lIns="0" tIns="0" rIns="0" bIns="0" anchor="ctr">
            <a:spAutoFit/>
          </a:bodyPr>
          <a:lstStyle/>
          <a:p>
            <a:pPr algn="ctr">
              <a:lnSpc>
                <a:spcPct val="100000"/>
              </a:lnSpc>
            </a:pPr>
            <a:r>
              <a:rPr sz="1100" b="1" cap="all">
                <a:solidFill>
                  <a:srgbClr val="2FB36B"/>
                </a:solidFill>
                <a:latin typeface="Encode Sans"/>
              </a:rPr>
              <a:t>Transparência</a:t>
            </a:r>
          </a:p>
        </p:txBody>
      </p:sp>
      <p:sp>
        <p:nvSpPr>
          <p:cNvPr id="1166" name="TextBox 1165"/>
          <p:cNvSpPr txBox="1"/>
          <p:nvPr/>
        </p:nvSpPr>
        <p:spPr>
          <a:xfrm>
            <a:off x="3526366" y="2136728"/>
            <a:ext cx="2091266" cy="829885"/>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Dizer, no momento</a:t>
            </a:r>
          </a:p>
          <a:p>
            <a:pPr algn="ctr">
              <a:lnSpc>
                <a:spcPct val="110000"/>
              </a:lnSpc>
            </a:pPr>
            <a:r>
              <a:rPr sz="1600">
                <a:solidFill>
                  <a:srgbClr val="14161B"/>
                </a:solidFill>
                <a:latin typeface="Encode Sans SemiBold"/>
              </a:rPr>
              <a:t>certo, o que não</a:t>
            </a:r>
          </a:p>
          <a:p>
            <a:pPr algn="ctr">
              <a:lnSpc>
                <a:spcPct val="110000"/>
              </a:lnSpc>
            </a:pPr>
            <a:r>
              <a:rPr sz="1600">
                <a:solidFill>
                  <a:srgbClr val="14161B"/>
                </a:solidFill>
                <a:latin typeface="Encode Sans SemiBold"/>
              </a:rPr>
              <a:t>sabe fazer</a:t>
            </a:r>
          </a:p>
        </p:txBody>
      </p:sp>
      <p:sp>
        <p:nvSpPr>
          <p:cNvPr id="1167" name="TextBox 1166"/>
          <p:cNvSpPr txBox="1"/>
          <p:nvPr/>
        </p:nvSpPr>
        <p:spPr>
          <a:xfrm>
            <a:off x="3526366" y="3119013"/>
            <a:ext cx="2091266" cy="1094257"/>
          </a:xfrm>
          <a:prstGeom prst="rect">
            <a:avLst/>
          </a:prstGeom>
          <a:noFill/>
        </p:spPr>
        <p:txBody>
          <a:bodyPr wrap="square" lIns="0" tIns="0" rIns="0" bIns="0" anchor="t">
            <a:spAutoFit/>
          </a:bodyPr>
          <a:lstStyle/>
          <a:p>
            <a:pPr marL="182880" indent="-182880" algn="l">
              <a:lnSpc>
                <a:spcPct val="115000"/>
              </a:lnSpc>
              <a:spcAft>
                <a:spcPts val="500"/>
              </a:spcAft>
              <a:buClr>
                <a:srgbClr val="2FB36B"/>
              </a:buClr>
              <a:buSzPts val="700"/>
              <a:buFont typeface="Arial"/>
              <a:buChar char="●"/>
            </a:pPr>
            <a:r>
              <a:rPr sz="1000">
                <a:solidFill>
                  <a:srgbClr val="5B6070"/>
                </a:solidFill>
                <a:latin typeface="Roboto"/>
              </a:rPr>
              <a:t>"Admitir já é corrigir"</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Mais barato de construir que fingir que processou</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Nenhum caminho termina em silêncio</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58"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159"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60"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161"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162" name="TextBox 1161"/>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Três lições, uma por pilar</a:t>
            </a:r>
          </a:p>
        </p:txBody>
      </p:sp>
      <p:sp>
        <p:nvSpPr>
          <p:cNvPr id="1163" name="Rounded Rectangle 1162"/>
          <p:cNvSpPr/>
          <p:nvPr/>
        </p:nvSpPr>
        <p:spPr>
          <a:xfrm>
            <a:off x="571500" y="1628728"/>
            <a:ext cx="2497666" cy="278774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64" name="Rectangle 1163"/>
          <p:cNvSpPr/>
          <p:nvPr/>
        </p:nvSpPr>
        <p:spPr>
          <a:xfrm>
            <a:off x="571500" y="1628728"/>
            <a:ext cx="2497666"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65" name="TextBox 1164"/>
          <p:cNvSpPr txBox="1"/>
          <p:nvPr/>
        </p:nvSpPr>
        <p:spPr>
          <a:xfrm>
            <a:off x="774700" y="1857328"/>
            <a:ext cx="2091266" cy="177800"/>
          </a:xfrm>
          <a:prstGeom prst="rect">
            <a:avLst/>
          </a:prstGeom>
          <a:noFill/>
        </p:spPr>
        <p:txBody>
          <a:bodyPr wrap="square" lIns="0" tIns="0" rIns="0" bIns="0" anchor="ctr">
            <a:spAutoFit/>
          </a:bodyPr>
          <a:lstStyle/>
          <a:p>
            <a:pPr algn="ctr">
              <a:lnSpc>
                <a:spcPct val="100000"/>
              </a:lnSpc>
            </a:pPr>
            <a:r>
              <a:rPr sz="1100" b="1" cap="all">
                <a:solidFill>
                  <a:srgbClr val="052FD3"/>
                </a:solidFill>
                <a:latin typeface="Encode Sans"/>
              </a:rPr>
              <a:t>Guardrail</a:t>
            </a:r>
          </a:p>
        </p:txBody>
      </p:sp>
      <p:sp>
        <p:nvSpPr>
          <p:cNvPr id="1166" name="TextBox 1165"/>
          <p:cNvSpPr txBox="1"/>
          <p:nvPr/>
        </p:nvSpPr>
        <p:spPr>
          <a:xfrm>
            <a:off x="774700" y="2136728"/>
            <a:ext cx="2091266" cy="829885"/>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Limite em código,</a:t>
            </a:r>
          </a:p>
          <a:p>
            <a:pPr algn="ctr">
              <a:lnSpc>
                <a:spcPct val="110000"/>
              </a:lnSpc>
            </a:pPr>
            <a:r>
              <a:rPr sz="1600">
                <a:solidFill>
                  <a:srgbClr val="14161B"/>
                </a:solidFill>
                <a:latin typeface="Encode Sans SemiBold"/>
              </a:rPr>
              <a:t>não intenção em</a:t>
            </a:r>
          </a:p>
          <a:p>
            <a:pPr algn="ctr">
              <a:lnSpc>
                <a:spcPct val="110000"/>
              </a:lnSpc>
            </a:pPr>
            <a:r>
              <a:rPr sz="1600">
                <a:solidFill>
                  <a:srgbClr val="14161B"/>
                </a:solidFill>
                <a:latin typeface="Encode Sans SemiBold"/>
              </a:rPr>
              <a:t>prompt</a:t>
            </a:r>
          </a:p>
        </p:txBody>
      </p:sp>
      <p:sp>
        <p:nvSpPr>
          <p:cNvPr id="1167" name="TextBox 1166"/>
          <p:cNvSpPr txBox="1"/>
          <p:nvPr/>
        </p:nvSpPr>
        <p:spPr>
          <a:xfrm>
            <a:off x="774700" y="3119013"/>
            <a:ext cx="2091266" cy="1094257"/>
          </a:xfrm>
          <a:prstGeom prst="rect">
            <a:avLst/>
          </a:prstGeom>
          <a:noFill/>
        </p:spPr>
        <p:txBody>
          <a:bodyPr wrap="square" lIns="0" tIns="0" rIns="0" bIns="0" anchor="t">
            <a:spAutoFit/>
          </a:bodyPr>
          <a:lstStyle/>
          <a:p>
            <a:pPr marL="182880" indent="-182880" algn="l">
              <a:lnSpc>
                <a:spcPct val="115000"/>
              </a:lnSpc>
              <a:spcAft>
                <a:spcPts val="500"/>
              </a:spcAft>
              <a:buClr>
                <a:srgbClr val="052FD3"/>
              </a:buClr>
              <a:buSzPts val="700"/>
              <a:buFont typeface="Arial"/>
              <a:buChar char="●"/>
            </a:pPr>
            <a:r>
              <a:rPr sz="1000">
                <a:solidFill>
                  <a:srgbClr val="5B6070"/>
                </a:solidFill>
                <a:latin typeface="Roboto"/>
              </a:rPr>
              <a:t>Os cinco guardrails reais seguem o mesmo padrão</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Nunca confiar só em pedir</a:t>
            </a:r>
          </a:p>
          <a:p>
            <a:pPr marL="182880" indent="-182880" algn="l">
              <a:lnSpc>
                <a:spcPct val="115000"/>
              </a:lnSpc>
              <a:spcAft>
                <a:spcPts val="500"/>
              </a:spcAft>
              <a:buClr>
                <a:srgbClr val="052FD3"/>
              </a:buClr>
              <a:buSzPts val="700"/>
              <a:buFont typeface="Arial"/>
              <a:buChar char="●"/>
            </a:pPr>
            <a:r>
              <a:rPr sz="1000">
                <a:solidFill>
                  <a:srgbClr val="5B6070"/>
                </a:solidFill>
                <a:latin typeface="Roboto"/>
              </a:rPr>
              <a:t>Prompt não é garantia estrutural</a:t>
            </a:r>
          </a:p>
        </p:txBody>
      </p:sp>
      <p:sp>
        <p:nvSpPr>
          <p:cNvPr id="1168" name="Rounded Rectangle 1167"/>
          <p:cNvSpPr/>
          <p:nvPr/>
        </p:nvSpPr>
        <p:spPr>
          <a:xfrm>
            <a:off x="3323166" y="1628728"/>
            <a:ext cx="2497666" cy="278774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69" name="Rectangle 1168"/>
          <p:cNvSpPr/>
          <p:nvPr/>
        </p:nvSpPr>
        <p:spPr>
          <a:xfrm>
            <a:off x="3323166" y="1628728"/>
            <a:ext cx="2497666"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70" name="TextBox 1169"/>
          <p:cNvSpPr txBox="1"/>
          <p:nvPr/>
        </p:nvSpPr>
        <p:spPr>
          <a:xfrm>
            <a:off x="3526366" y="1857328"/>
            <a:ext cx="2091266" cy="177800"/>
          </a:xfrm>
          <a:prstGeom prst="rect">
            <a:avLst/>
          </a:prstGeom>
          <a:noFill/>
        </p:spPr>
        <p:txBody>
          <a:bodyPr wrap="square" lIns="0" tIns="0" rIns="0" bIns="0" anchor="ctr">
            <a:spAutoFit/>
          </a:bodyPr>
          <a:lstStyle/>
          <a:p>
            <a:pPr algn="ctr">
              <a:lnSpc>
                <a:spcPct val="100000"/>
              </a:lnSpc>
            </a:pPr>
            <a:r>
              <a:rPr sz="1100" b="1" cap="all">
                <a:solidFill>
                  <a:srgbClr val="2FB36B"/>
                </a:solidFill>
                <a:latin typeface="Encode Sans"/>
              </a:rPr>
              <a:t>Transparência</a:t>
            </a:r>
          </a:p>
        </p:txBody>
      </p:sp>
      <p:sp>
        <p:nvSpPr>
          <p:cNvPr id="1171" name="TextBox 1170"/>
          <p:cNvSpPr txBox="1"/>
          <p:nvPr/>
        </p:nvSpPr>
        <p:spPr>
          <a:xfrm>
            <a:off x="3526366" y="2136728"/>
            <a:ext cx="2091266" cy="829885"/>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Dizer, no momento</a:t>
            </a:r>
          </a:p>
          <a:p>
            <a:pPr algn="ctr">
              <a:lnSpc>
                <a:spcPct val="110000"/>
              </a:lnSpc>
            </a:pPr>
            <a:r>
              <a:rPr sz="1600">
                <a:solidFill>
                  <a:srgbClr val="14161B"/>
                </a:solidFill>
                <a:latin typeface="Encode Sans SemiBold"/>
              </a:rPr>
              <a:t>certo, o que não</a:t>
            </a:r>
          </a:p>
          <a:p>
            <a:pPr algn="ctr">
              <a:lnSpc>
                <a:spcPct val="110000"/>
              </a:lnSpc>
            </a:pPr>
            <a:r>
              <a:rPr sz="1600">
                <a:solidFill>
                  <a:srgbClr val="14161B"/>
                </a:solidFill>
                <a:latin typeface="Encode Sans SemiBold"/>
              </a:rPr>
              <a:t>sabe fazer</a:t>
            </a:r>
          </a:p>
        </p:txBody>
      </p:sp>
      <p:sp>
        <p:nvSpPr>
          <p:cNvPr id="1172" name="TextBox 1171"/>
          <p:cNvSpPr txBox="1"/>
          <p:nvPr/>
        </p:nvSpPr>
        <p:spPr>
          <a:xfrm>
            <a:off x="3526366" y="3119013"/>
            <a:ext cx="2091266" cy="1094257"/>
          </a:xfrm>
          <a:prstGeom prst="rect">
            <a:avLst/>
          </a:prstGeom>
          <a:noFill/>
        </p:spPr>
        <p:txBody>
          <a:bodyPr wrap="square" lIns="0" tIns="0" rIns="0" bIns="0" anchor="t">
            <a:spAutoFit/>
          </a:bodyPr>
          <a:lstStyle/>
          <a:p>
            <a:pPr marL="182880" indent="-182880" algn="l">
              <a:lnSpc>
                <a:spcPct val="115000"/>
              </a:lnSpc>
              <a:spcAft>
                <a:spcPts val="500"/>
              </a:spcAft>
              <a:buClr>
                <a:srgbClr val="2FB36B"/>
              </a:buClr>
              <a:buSzPts val="700"/>
              <a:buFont typeface="Arial"/>
              <a:buChar char="●"/>
            </a:pPr>
            <a:r>
              <a:rPr sz="1000">
                <a:solidFill>
                  <a:srgbClr val="5B6070"/>
                </a:solidFill>
                <a:latin typeface="Roboto"/>
              </a:rPr>
              <a:t>"Admitir já é corrigir"</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Mais barato de construir que fingir que processou</a:t>
            </a:r>
          </a:p>
          <a:p>
            <a:pPr marL="182880" indent="-182880" algn="l">
              <a:lnSpc>
                <a:spcPct val="115000"/>
              </a:lnSpc>
              <a:spcAft>
                <a:spcPts val="500"/>
              </a:spcAft>
              <a:buClr>
                <a:srgbClr val="2FB36B"/>
              </a:buClr>
              <a:buSzPts val="700"/>
              <a:buFont typeface="Arial"/>
              <a:buChar char="●"/>
            </a:pPr>
            <a:r>
              <a:rPr sz="1000">
                <a:solidFill>
                  <a:srgbClr val="5B6070"/>
                </a:solidFill>
                <a:latin typeface="Roboto"/>
              </a:rPr>
              <a:t>Nenhum caminho termina em silêncio</a:t>
            </a:r>
          </a:p>
        </p:txBody>
      </p:sp>
      <p:sp>
        <p:nvSpPr>
          <p:cNvPr id="1173" name="Rounded Rectangle 1172"/>
          <p:cNvSpPr/>
          <p:nvPr/>
        </p:nvSpPr>
        <p:spPr>
          <a:xfrm>
            <a:off x="6074833" y="1628728"/>
            <a:ext cx="2497666" cy="2787742"/>
          </a:xfrm>
          <a:prstGeom prst="roundRect">
            <a:avLst>
              <a:gd name="adj" fmla="val 6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74" name="Rectangle 1173"/>
          <p:cNvSpPr/>
          <p:nvPr/>
        </p:nvSpPr>
        <p:spPr>
          <a:xfrm>
            <a:off x="6074833" y="1628728"/>
            <a:ext cx="2497666" cy="50800"/>
          </a:xfrm>
          <a:prstGeom prst="rect">
            <a:avLst/>
          </a:prstGeom>
          <a:solidFill>
            <a:srgbClr val="7C5C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75" name="TextBox 1174"/>
          <p:cNvSpPr txBox="1"/>
          <p:nvPr/>
        </p:nvSpPr>
        <p:spPr>
          <a:xfrm>
            <a:off x="6278033" y="1857328"/>
            <a:ext cx="2091266" cy="177800"/>
          </a:xfrm>
          <a:prstGeom prst="rect">
            <a:avLst/>
          </a:prstGeom>
          <a:noFill/>
        </p:spPr>
        <p:txBody>
          <a:bodyPr wrap="square" lIns="0" tIns="0" rIns="0" bIns="0" anchor="ctr">
            <a:spAutoFit/>
          </a:bodyPr>
          <a:lstStyle/>
          <a:p>
            <a:pPr algn="ctr">
              <a:lnSpc>
                <a:spcPct val="100000"/>
              </a:lnSpc>
            </a:pPr>
            <a:r>
              <a:rPr sz="1100" b="1" cap="all">
                <a:solidFill>
                  <a:srgbClr val="7C5CD6"/>
                </a:solidFill>
                <a:latin typeface="Encode Sans"/>
              </a:rPr>
              <a:t>LGPD</a:t>
            </a:r>
          </a:p>
        </p:txBody>
      </p:sp>
      <p:sp>
        <p:nvSpPr>
          <p:cNvPr id="1176" name="TextBox 1175"/>
          <p:cNvSpPr txBox="1"/>
          <p:nvPr/>
        </p:nvSpPr>
        <p:spPr>
          <a:xfrm>
            <a:off x="6278033" y="2136728"/>
            <a:ext cx="2091266" cy="553256"/>
          </a:xfrm>
          <a:prstGeom prst="rect">
            <a:avLst/>
          </a:prstGeom>
          <a:noFill/>
        </p:spPr>
        <p:txBody>
          <a:bodyPr wrap="square" lIns="0" tIns="0" rIns="0" bIns="0" anchor="ctr">
            <a:spAutoFit/>
          </a:bodyPr>
          <a:lstStyle/>
          <a:p>
            <a:pPr algn="ctr">
              <a:lnSpc>
                <a:spcPct val="110000"/>
              </a:lnSpc>
            </a:pPr>
            <a:r>
              <a:rPr sz="1600">
                <a:solidFill>
                  <a:srgbClr val="14161B"/>
                </a:solidFill>
                <a:latin typeface="Encode Sans SemiBold"/>
              </a:rPr>
              <a:t>Rotina também é</a:t>
            </a:r>
          </a:p>
          <a:p>
            <a:pPr algn="ctr">
              <a:lnSpc>
                <a:spcPct val="110000"/>
              </a:lnSpc>
            </a:pPr>
            <a:r>
              <a:rPr sz="1600">
                <a:solidFill>
                  <a:srgbClr val="14161B"/>
                </a:solidFill>
                <a:latin typeface="Encode Sans SemiBold"/>
              </a:rPr>
              <a:t>dado pessoal</a:t>
            </a:r>
          </a:p>
        </p:txBody>
      </p:sp>
      <p:sp>
        <p:nvSpPr>
          <p:cNvPr id="1177" name="TextBox 1176"/>
          <p:cNvSpPr txBox="1"/>
          <p:nvPr/>
        </p:nvSpPr>
        <p:spPr>
          <a:xfrm>
            <a:off x="6278033" y="2842385"/>
            <a:ext cx="2091266" cy="1094257"/>
          </a:xfrm>
          <a:prstGeom prst="rect">
            <a:avLst/>
          </a:prstGeom>
          <a:noFill/>
        </p:spPr>
        <p:txBody>
          <a:bodyPr wrap="square" lIns="0" tIns="0" rIns="0" bIns="0" anchor="t">
            <a:spAutoFit/>
          </a:bodyPr>
          <a:lstStyle/>
          <a:p>
            <a:pPr marL="182880" indent="-182880" algn="l">
              <a:lnSpc>
                <a:spcPct val="115000"/>
              </a:lnSpc>
              <a:spcAft>
                <a:spcPts val="500"/>
              </a:spcAft>
              <a:buClr>
                <a:srgbClr val="7C5CD6"/>
              </a:buClr>
              <a:buSzPts val="700"/>
              <a:buFont typeface="Arial"/>
              <a:buChar char="●"/>
            </a:pPr>
            <a:r>
              <a:rPr sz="1000">
                <a:solidFill>
                  <a:srgbClr val="5B6070"/>
                </a:solidFill>
                <a:latin typeface="Roboto"/>
              </a:rPr>
              <a:t>Reconhecer antes de proteger</a:t>
            </a:r>
          </a:p>
          <a:p>
            <a:pPr marL="182880" indent="-182880" algn="l">
              <a:lnSpc>
                <a:spcPct val="115000"/>
              </a:lnSpc>
              <a:spcAft>
                <a:spcPts val="500"/>
              </a:spcAft>
              <a:buClr>
                <a:srgbClr val="7C5CD6"/>
              </a:buClr>
              <a:buSzPts val="700"/>
              <a:buFont typeface="Arial"/>
              <a:buChar char="●"/>
            </a:pPr>
            <a:r>
              <a:rPr sz="1000">
                <a:solidFill>
                  <a:srgbClr val="5B6070"/>
                </a:solidFill>
                <a:latin typeface="Roboto"/>
              </a:rPr>
              <a:t>Documentar onde a proteção existe e onde não existe</a:t>
            </a:r>
          </a:p>
          <a:p>
            <a:pPr marL="182880" indent="-182880" algn="l">
              <a:lnSpc>
                <a:spcPct val="115000"/>
              </a:lnSpc>
              <a:spcAft>
                <a:spcPts val="500"/>
              </a:spcAft>
              <a:buClr>
                <a:srgbClr val="7C5CD6"/>
              </a:buClr>
              <a:buSzPts val="700"/>
              <a:buFont typeface="Arial"/>
              <a:buChar char="●"/>
            </a:pPr>
            <a:r>
              <a:rPr sz="1000">
                <a:solidFill>
                  <a:srgbClr val="5B6070"/>
                </a:solidFill>
                <a:latin typeface="Roboto"/>
              </a:rPr>
              <a:t>O checklist formaliza os três pra qualquer produto</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2"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63"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1164"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1165"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166"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67"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1168"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1169" name="TextBox 1168"/>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3600">
                <a:solidFill>
                  <a:srgbClr val="BDBFC7"/>
                </a:solidFill>
                <a:latin typeface="Encode Sans"/>
              </a:rPr>
              <a:t>Eu construo pra</a:t>
            </a:r>
          </a:p>
          <a:p>
            <a:pPr algn="ctr">
              <a:lnSpc>
                <a:spcPct val="112000"/>
              </a:lnSpc>
            </a:pPr>
            <a:r>
              <a:rPr sz="3600">
                <a:solidFill>
                  <a:srgbClr val="BDBFC7"/>
                </a:solidFill>
                <a:latin typeface="Encode Sans"/>
              </a:rPr>
              <a:t>que dar errado</a:t>
            </a:r>
          </a:p>
          <a:p>
            <a:pPr algn="ctr">
              <a:lnSpc>
                <a:spcPct val="112000"/>
              </a:lnSpc>
            </a:pPr>
            <a:r>
              <a:rPr sz="3600">
                <a:solidFill>
                  <a:srgbClr val="BDBFC7"/>
                </a:solidFill>
                <a:latin typeface="Encode Sans"/>
              </a:rPr>
              <a:t>seja visível,</a:t>
            </a:r>
          </a:p>
          <a:p>
            <a:pPr algn="ctr">
              <a:lnSpc>
                <a:spcPct val="112000"/>
              </a:lnSpc>
            </a:pPr>
            <a:r>
              <a:rPr sz="3600">
                <a:solidFill>
                  <a:srgbClr val="BDBFC7"/>
                </a:solidFill>
                <a:latin typeface="Encode Sans"/>
              </a:rPr>
              <a:t>contido e</a:t>
            </a:r>
          </a:p>
          <a:p>
            <a:pPr algn="ctr">
              <a:lnSpc>
                <a:spcPct val="112000"/>
              </a:lnSpc>
            </a:pPr>
            <a:r>
              <a:rPr sz="3600">
                <a:solidFill>
                  <a:srgbClr val="BDBFC7"/>
                </a:solidFill>
                <a:latin typeface="Encode Sans"/>
              </a:rPr>
              <a:t>registrado.</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9" name="Google Shape;321;p48"/>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170"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71" name="Google Shape;323;p48" descr=" "/>
          <p:cNvPicPr preferRelativeResize="0"/>
          <p:nvPr/>
        </p:nvPicPr>
        <p:blipFill rotWithShape="1">
          <a:blip r:embed="rId3">
            <a:alphaModFix/>
          </a:blip>
          <a:srcRect/>
          <a:stretch/>
        </p:blipFill>
        <p:spPr>
          <a:xfrm>
            <a:off x="8786283" y="152400"/>
            <a:ext cx="178830" cy="222353"/>
          </a:xfrm>
          <a:prstGeom prst="rect">
            <a:avLst/>
          </a:prstGeom>
          <a:noFill/>
          <a:ln>
            <a:noFill/>
          </a:ln>
        </p:spPr>
      </p:pic>
      <p:pic>
        <p:nvPicPr>
          <p:cNvPr id="1172" name="Google Shape;325;p48" descr="Ícone&#10;&#10;O conteúdo gerado por IA pode estar incorreto."/>
          <p:cNvPicPr preferRelativeResize="0"/>
          <p:nvPr/>
        </p:nvPicPr>
        <p:blipFill rotWithShape="1">
          <a:blip r:embed="rId4">
            <a:alphaModFix/>
          </a:blip>
          <a:srcRect/>
          <a:stretch/>
        </p:blipFill>
        <p:spPr>
          <a:xfrm>
            <a:off x="9426430" y="-54316"/>
            <a:ext cx="588048" cy="3753281"/>
          </a:xfrm>
          <a:prstGeom prst="rect">
            <a:avLst/>
          </a:prstGeom>
          <a:noFill/>
          <a:ln>
            <a:noFill/>
          </a:ln>
        </p:spPr>
      </p:pic>
      <p:sp>
        <p:nvSpPr>
          <p:cNvPr id="1173" name="TextBox 1172"/>
          <p:cNvSpPr txBox="1"/>
          <p:nvPr/>
        </p:nvSpPr>
        <p:spPr>
          <a:xfrm>
            <a:off x="2235200" y="1778000"/>
            <a:ext cx="4673600" cy="1739900"/>
          </a:xfrm>
          <a:prstGeom prst="rect">
            <a:avLst/>
          </a:prstGeom>
          <a:noFill/>
        </p:spPr>
        <p:txBody>
          <a:bodyPr wrap="square" lIns="0" tIns="0" rIns="0" bIns="0" anchor="ctr">
            <a:spAutoFit/>
          </a:bodyPr>
          <a:lstStyle/>
          <a:p>
            <a:pPr algn="ctr">
              <a:lnSpc>
                <a:spcPct val="112000"/>
              </a:lnSpc>
            </a:pPr>
            <a:r>
              <a:rPr sz="3800">
                <a:solidFill>
                  <a:srgbClr val="FFFFFF"/>
                </a:solidFill>
                <a:latin typeface="Encode Sans"/>
              </a:rPr>
              <a:t>6.6 Conclusão</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3" name="Google Shape;331;p49" descr="art\malha.png"/>
          <p:cNvPicPr preferRelativeResize="0"/>
          <p:nvPr/>
        </p:nvPicPr>
        <p:blipFill rotWithShape="1">
          <a:blip r:embed="rId3">
            <a:alphaModFix/>
          </a:blip>
          <a:srcRect/>
          <a:stretch/>
        </p:blipFill>
        <p:spPr>
          <a:xfrm>
            <a:off x="0" y="0"/>
            <a:ext cx="9143952" cy="5142830"/>
          </a:xfrm>
          <a:prstGeom prst="rect">
            <a:avLst/>
          </a:prstGeom>
          <a:noFill/>
          <a:ln>
            <a:noFill/>
          </a:ln>
        </p:spPr>
      </p:pic>
      <p:pic>
        <p:nvPicPr>
          <p:cNvPr id="1174" name="Google Shape;332;p49" descr="art\capa.png"/>
          <p:cNvPicPr preferRelativeResize="0"/>
          <p:nvPr/>
        </p:nvPicPr>
        <p:blipFill rotWithShape="1">
          <a:blip r:embed="rId4">
            <a:alphaModFix/>
          </a:blip>
          <a:srcRect/>
          <a:stretch/>
        </p:blipFill>
        <p:spPr>
          <a:xfrm>
            <a:off x="3034270" y="0"/>
            <a:ext cx="6109682" cy="5142830"/>
          </a:xfrm>
          <a:prstGeom prst="rect">
            <a:avLst/>
          </a:prstGeom>
          <a:noFill/>
          <a:ln>
            <a:noFill/>
          </a:ln>
        </p:spPr>
      </p:pic>
      <p:pic>
        <p:nvPicPr>
          <p:cNvPr id="1175" name="Google Shape;333;p49" descr="art\logo.png"/>
          <p:cNvPicPr preferRelativeResize="0"/>
          <p:nvPr/>
        </p:nvPicPr>
        <p:blipFill rotWithShape="1">
          <a:blip r:embed="rId5">
            <a:alphaModFix/>
          </a:blip>
          <a:srcRect/>
          <a:stretch/>
        </p:blipFill>
        <p:spPr>
          <a:xfrm>
            <a:off x="8787383" y="150876"/>
            <a:ext cx="178285" cy="222856"/>
          </a:xfrm>
          <a:prstGeom prst="rect">
            <a:avLst/>
          </a:prstGeom>
          <a:noFill/>
          <a:ln>
            <a:noFill/>
          </a:ln>
        </p:spPr>
      </p:pic>
      <p:sp>
        <p:nvSpPr>
          <p:cNvPr id="1176" name="TextBox 1175"/>
          <p:cNvSpPr txBox="1"/>
          <p:nvPr/>
        </p:nvSpPr>
        <p:spPr>
          <a:xfrm>
            <a:off x="914400" y="698500"/>
            <a:ext cx="4965700" cy="241300"/>
          </a:xfrm>
          <a:prstGeom prst="rect">
            <a:avLst/>
          </a:prstGeom>
          <a:noFill/>
        </p:spPr>
        <p:txBody>
          <a:bodyPr wrap="square" lIns="0" tIns="0" rIns="0" bIns="0" anchor="t">
            <a:spAutoFit/>
          </a:bodyPr>
          <a:lstStyle/>
          <a:p>
            <a:pPr algn="l">
              <a:lnSpc>
                <a:spcPct val="100000"/>
              </a:lnSpc>
            </a:pPr>
            <a:r>
              <a:rPr sz="800" b="1">
                <a:solidFill>
                  <a:srgbClr val="1F53E5"/>
                </a:solidFill>
                <a:latin typeface="Encode Sans"/>
              </a:rPr>
              <a:t>EVALS, OBSERVABILIDADE E CONFORMIDADE</a:t>
            </a:r>
          </a:p>
        </p:txBody>
      </p:sp>
      <p:sp>
        <p:nvSpPr>
          <p:cNvPr id="1177" name="TextBox 1176"/>
          <p:cNvSpPr txBox="1"/>
          <p:nvPr/>
        </p:nvSpPr>
        <p:spPr>
          <a:xfrm>
            <a:off x="914400" y="1651000"/>
            <a:ext cx="5080000" cy="1524000"/>
          </a:xfrm>
          <a:prstGeom prst="rect">
            <a:avLst/>
          </a:prstGeom>
          <a:noFill/>
        </p:spPr>
        <p:txBody>
          <a:bodyPr wrap="square" lIns="0" tIns="0" rIns="0" bIns="0" anchor="t">
            <a:spAutoFit/>
          </a:bodyPr>
          <a:lstStyle/>
          <a:p>
            <a:pPr algn="l">
              <a:lnSpc>
                <a:spcPct val="115000"/>
              </a:lnSpc>
            </a:pPr>
            <a:r>
              <a:rPr sz="3600">
                <a:solidFill>
                  <a:srgbClr val="FFFFFF"/>
                </a:solidFill>
                <a:latin typeface="Encode Sans"/>
              </a:rPr>
              <a:t>Aula 6</a:t>
            </a:r>
          </a:p>
          <a:p>
            <a:pPr algn="l">
              <a:lnSpc>
                <a:spcPct val="115000"/>
              </a:lnSpc>
            </a:pPr>
            <a:r>
              <a:rPr sz="3600">
                <a:solidFill>
                  <a:srgbClr val="FFFFFF"/>
                </a:solidFill>
                <a:latin typeface="Encode Sans"/>
              </a:rPr>
              <a:t>Conclusão</a:t>
            </a:r>
          </a:p>
        </p:txBody>
      </p:sp>
      <p:sp>
        <p:nvSpPr>
          <p:cNvPr id="1178" name="TextBox 1177"/>
          <p:cNvSpPr txBox="1"/>
          <p:nvPr/>
        </p:nvSpPr>
        <p:spPr>
          <a:xfrm>
            <a:off x="914400" y="3276600"/>
            <a:ext cx="5105400" cy="647700"/>
          </a:xfrm>
          <a:prstGeom prst="rect">
            <a:avLst/>
          </a:prstGeom>
          <a:noFill/>
        </p:spPr>
        <p:txBody>
          <a:bodyPr wrap="square" lIns="0" tIns="0" rIns="0" bIns="0" anchor="t">
            <a:spAutoFit/>
          </a:bodyPr>
          <a:lstStyle/>
          <a:p>
            <a:pPr algn="l">
              <a:lnSpc>
                <a:spcPct val="120000"/>
              </a:lnSpc>
            </a:pPr>
            <a:r>
              <a:rPr sz="1500">
                <a:solidFill>
                  <a:srgbClr val="FFFFFF"/>
                </a:solidFill>
                <a:latin typeface="Roboto"/>
              </a:rPr>
              <a:t>Guardrails em código, transparência como design e LGPD na prática</a:t>
            </a:r>
          </a:p>
        </p:txBody>
      </p:sp>
      <p:sp>
        <p:nvSpPr>
          <p:cNvPr id="1179" name="TextBox 1178"/>
          <p:cNvSpPr txBox="1"/>
          <p:nvPr/>
        </p:nvSpPr>
        <p:spPr>
          <a:xfrm>
            <a:off x="914400" y="4025900"/>
            <a:ext cx="5207000" cy="279400"/>
          </a:xfrm>
          <a:prstGeom prst="rect">
            <a:avLst/>
          </a:prstGeom>
          <a:noFill/>
        </p:spPr>
        <p:txBody>
          <a:bodyPr wrap="square" lIns="0" tIns="0" rIns="0" bIns="0" anchor="t">
            <a:spAutoFit/>
          </a:bodyPr>
          <a:lstStyle/>
          <a:p>
            <a:pPr algn="l">
              <a:lnSpc>
                <a:spcPct val="100000"/>
              </a:lnSpc>
            </a:pPr>
            <a:r>
              <a:rPr sz="1200">
                <a:solidFill>
                  <a:srgbClr val="4A9BE8"/>
                </a:solidFill>
                <a:latin typeface="Roboto"/>
              </a:rPr>
              <a:t>Lançar é o começo. O run é a grande responsabilidade.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6"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177"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178" name="TextBox 1177"/>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três pilares, com conteúdo real</a:t>
            </a:r>
          </a:p>
        </p:txBody>
      </p:sp>
      <p:sp>
        <p:nvSpPr>
          <p:cNvPr id="1179" name="Rounded Rectangle 1178"/>
          <p:cNvSpPr/>
          <p:nvPr/>
        </p:nvSpPr>
        <p:spPr>
          <a:xfrm>
            <a:off x="5715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0" name="Rectangle 1179"/>
          <p:cNvSpPr/>
          <p:nvPr/>
        </p:nvSpPr>
        <p:spPr>
          <a:xfrm>
            <a:off x="571500" y="1447782"/>
            <a:ext cx="2514600"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1" name="TextBox 1180"/>
          <p:cNvSpPr txBox="1"/>
          <p:nvPr/>
        </p:nvSpPr>
        <p:spPr>
          <a:xfrm>
            <a:off x="749300" y="1625582"/>
            <a:ext cx="2159000" cy="304800"/>
          </a:xfrm>
          <a:prstGeom prst="rect">
            <a:avLst/>
          </a:prstGeom>
          <a:noFill/>
        </p:spPr>
        <p:txBody>
          <a:bodyPr wrap="square" lIns="0" tIns="0" rIns="0" bIns="0" anchor="ctr">
            <a:spAutoFit/>
          </a:bodyPr>
          <a:lstStyle/>
          <a:p>
            <a:pPr algn="l">
              <a:lnSpc>
                <a:spcPct val="100000"/>
              </a:lnSpc>
            </a:pPr>
            <a:r>
              <a:rPr sz="2000">
                <a:solidFill>
                  <a:srgbClr val="052FD3"/>
                </a:solidFill>
                <a:latin typeface="Encode Sans SemiBold"/>
              </a:rPr>
              <a:t>01</a:t>
            </a:r>
          </a:p>
        </p:txBody>
      </p:sp>
      <p:sp>
        <p:nvSpPr>
          <p:cNvPr id="1182" name="TextBox 1181"/>
          <p:cNvSpPr txBox="1"/>
          <p:nvPr/>
        </p:nvSpPr>
        <p:spPr>
          <a:xfrm>
            <a:off x="749300" y="2031982"/>
            <a:ext cx="2159000" cy="259339"/>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Evals</a:t>
            </a:r>
          </a:p>
        </p:txBody>
      </p:sp>
      <p:sp>
        <p:nvSpPr>
          <p:cNvPr id="1183" name="TextBox 1182"/>
          <p:cNvSpPr txBox="1"/>
          <p:nvPr/>
        </p:nvSpPr>
        <p:spPr>
          <a:xfrm>
            <a:off x="749300" y="2418321"/>
            <a:ext cx="2159000" cy="1132357"/>
          </a:xfrm>
          <a:prstGeom prst="rect">
            <a:avLst/>
          </a:prstGeom>
          <a:noFill/>
        </p:spPr>
        <p:txBody>
          <a:bodyPr wrap="square" lIns="0" tIns="0" rIns="0" bIns="0" anchor="t">
            <a:spAutoFit/>
          </a:bodyPr>
          <a:lstStyle/>
          <a:p>
            <a:pPr marL="182880" indent="-182880" algn="l">
              <a:lnSpc>
                <a:spcPct val="115000"/>
              </a:lnSpc>
              <a:spcAft>
                <a:spcPts val="600"/>
              </a:spcAft>
              <a:buClr>
                <a:srgbClr val="052FD3"/>
              </a:buClr>
              <a:buSzPts val="700"/>
              <a:buFont typeface="Arial"/>
              <a:buChar char="●"/>
            </a:pPr>
            <a:r>
              <a:rPr sz="1000">
                <a:solidFill>
                  <a:srgbClr val="A8ADBD"/>
                </a:solidFill>
                <a:latin typeface="Roboto"/>
              </a:rPr>
              <a:t>Critério mensurável + juiz com saída forçada</a:t>
            </a:r>
          </a:p>
          <a:p>
            <a:pPr marL="182880" indent="-182880" algn="l">
              <a:lnSpc>
                <a:spcPct val="115000"/>
              </a:lnSpc>
              <a:spcAft>
                <a:spcPts val="600"/>
              </a:spcAft>
              <a:buClr>
                <a:srgbClr val="052FD3"/>
              </a:buClr>
              <a:buSzPts val="700"/>
              <a:buFont typeface="Arial"/>
              <a:buChar char="●"/>
            </a:pPr>
            <a:r>
              <a:rPr sz="1000">
                <a:solidFill>
                  <a:srgbClr val="A8ADBD"/>
                </a:solidFill>
                <a:latin typeface="Roboto"/>
              </a:rPr>
              <a:t>Resultado gravado como Score no Langfuse</a:t>
            </a:r>
          </a:p>
          <a:p>
            <a:pPr marL="182880" indent="-182880" algn="l">
              <a:lnSpc>
                <a:spcPct val="115000"/>
              </a:lnSpc>
              <a:spcAft>
                <a:spcPts val="600"/>
              </a:spcAft>
              <a:buClr>
                <a:srgbClr val="052FD3"/>
              </a:buClr>
              <a:buSzPts val="700"/>
              <a:buFont typeface="Arial"/>
              <a:buChar char="●"/>
            </a:pPr>
            <a:r>
              <a:rPr sz="1000">
                <a:solidFill>
                  <a:srgbClr val="A8ADBD"/>
                </a:solidFill>
                <a:latin typeface="Roboto"/>
              </a:rPr>
              <a:t>Define o que é bom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8"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179"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180" name="TextBox 1179"/>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três pilares, com conteúdo real</a:t>
            </a:r>
          </a:p>
        </p:txBody>
      </p:sp>
      <p:sp>
        <p:nvSpPr>
          <p:cNvPr id="1181" name="Rounded Rectangle 1180"/>
          <p:cNvSpPr/>
          <p:nvPr/>
        </p:nvSpPr>
        <p:spPr>
          <a:xfrm>
            <a:off x="5715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2" name="Rectangle 1181"/>
          <p:cNvSpPr/>
          <p:nvPr/>
        </p:nvSpPr>
        <p:spPr>
          <a:xfrm>
            <a:off x="571500" y="1447782"/>
            <a:ext cx="2514600"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3" name="TextBox 1182"/>
          <p:cNvSpPr txBox="1"/>
          <p:nvPr/>
        </p:nvSpPr>
        <p:spPr>
          <a:xfrm>
            <a:off x="749300" y="1625582"/>
            <a:ext cx="2159000" cy="304800"/>
          </a:xfrm>
          <a:prstGeom prst="rect">
            <a:avLst/>
          </a:prstGeom>
          <a:noFill/>
        </p:spPr>
        <p:txBody>
          <a:bodyPr wrap="square" lIns="0" tIns="0" rIns="0" bIns="0" anchor="ctr">
            <a:spAutoFit/>
          </a:bodyPr>
          <a:lstStyle/>
          <a:p>
            <a:pPr algn="l">
              <a:lnSpc>
                <a:spcPct val="100000"/>
              </a:lnSpc>
            </a:pPr>
            <a:r>
              <a:rPr sz="2000">
                <a:solidFill>
                  <a:srgbClr val="052FD3"/>
                </a:solidFill>
                <a:latin typeface="Encode Sans SemiBold"/>
              </a:rPr>
              <a:t>01</a:t>
            </a:r>
          </a:p>
        </p:txBody>
      </p:sp>
      <p:sp>
        <p:nvSpPr>
          <p:cNvPr id="1184" name="TextBox 1183"/>
          <p:cNvSpPr txBox="1"/>
          <p:nvPr/>
        </p:nvSpPr>
        <p:spPr>
          <a:xfrm>
            <a:off x="749300" y="2031982"/>
            <a:ext cx="2159000" cy="259339"/>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Evals</a:t>
            </a:r>
          </a:p>
        </p:txBody>
      </p:sp>
      <p:sp>
        <p:nvSpPr>
          <p:cNvPr id="1185" name="TextBox 1184"/>
          <p:cNvSpPr txBox="1"/>
          <p:nvPr/>
        </p:nvSpPr>
        <p:spPr>
          <a:xfrm>
            <a:off x="749300" y="2418321"/>
            <a:ext cx="2159000" cy="1132357"/>
          </a:xfrm>
          <a:prstGeom prst="rect">
            <a:avLst/>
          </a:prstGeom>
          <a:noFill/>
        </p:spPr>
        <p:txBody>
          <a:bodyPr wrap="square" lIns="0" tIns="0" rIns="0" bIns="0" anchor="t">
            <a:spAutoFit/>
          </a:bodyPr>
          <a:lstStyle/>
          <a:p>
            <a:pPr marL="182880" indent="-182880" algn="l">
              <a:lnSpc>
                <a:spcPct val="115000"/>
              </a:lnSpc>
              <a:spcAft>
                <a:spcPts val="600"/>
              </a:spcAft>
              <a:buClr>
                <a:srgbClr val="052FD3"/>
              </a:buClr>
              <a:buSzPts val="700"/>
              <a:buFont typeface="Arial"/>
              <a:buChar char="●"/>
            </a:pPr>
            <a:r>
              <a:rPr sz="1000">
                <a:solidFill>
                  <a:srgbClr val="A8ADBD"/>
                </a:solidFill>
                <a:latin typeface="Roboto"/>
              </a:rPr>
              <a:t>Critério mensurável + juiz com saída forçada</a:t>
            </a:r>
          </a:p>
          <a:p>
            <a:pPr marL="182880" indent="-182880" algn="l">
              <a:lnSpc>
                <a:spcPct val="115000"/>
              </a:lnSpc>
              <a:spcAft>
                <a:spcPts val="600"/>
              </a:spcAft>
              <a:buClr>
                <a:srgbClr val="052FD3"/>
              </a:buClr>
              <a:buSzPts val="700"/>
              <a:buFont typeface="Arial"/>
              <a:buChar char="●"/>
            </a:pPr>
            <a:r>
              <a:rPr sz="1000">
                <a:solidFill>
                  <a:srgbClr val="A8ADBD"/>
                </a:solidFill>
                <a:latin typeface="Roboto"/>
              </a:rPr>
              <a:t>Resultado gravado como Score no Langfuse</a:t>
            </a:r>
          </a:p>
          <a:p>
            <a:pPr marL="182880" indent="-182880" algn="l">
              <a:lnSpc>
                <a:spcPct val="115000"/>
              </a:lnSpc>
              <a:spcAft>
                <a:spcPts val="600"/>
              </a:spcAft>
              <a:buClr>
                <a:srgbClr val="052FD3"/>
              </a:buClr>
              <a:buSzPts val="700"/>
              <a:buFont typeface="Arial"/>
              <a:buChar char="●"/>
            </a:pPr>
            <a:r>
              <a:rPr sz="1000">
                <a:solidFill>
                  <a:srgbClr val="A8ADBD"/>
                </a:solidFill>
                <a:latin typeface="Roboto"/>
              </a:rPr>
              <a:t>Define o que é bom</a:t>
            </a:r>
          </a:p>
        </p:txBody>
      </p:sp>
      <p:sp>
        <p:nvSpPr>
          <p:cNvPr id="1186" name="Rounded Rectangle 1185"/>
          <p:cNvSpPr/>
          <p:nvPr/>
        </p:nvSpPr>
        <p:spPr>
          <a:xfrm>
            <a:off x="33147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7" name="Rectangle 1186"/>
          <p:cNvSpPr/>
          <p:nvPr/>
        </p:nvSpPr>
        <p:spPr>
          <a:xfrm>
            <a:off x="3314700" y="1447782"/>
            <a:ext cx="2514600" cy="50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8" name="TextBox 1187"/>
          <p:cNvSpPr txBox="1"/>
          <p:nvPr/>
        </p:nvSpPr>
        <p:spPr>
          <a:xfrm>
            <a:off x="3492500" y="1625582"/>
            <a:ext cx="2159000" cy="304800"/>
          </a:xfrm>
          <a:prstGeom prst="rect">
            <a:avLst/>
          </a:prstGeom>
          <a:noFill/>
        </p:spPr>
        <p:txBody>
          <a:bodyPr wrap="square" lIns="0" tIns="0" rIns="0" bIns="0" anchor="ctr">
            <a:spAutoFit/>
          </a:bodyPr>
          <a:lstStyle/>
          <a:p>
            <a:pPr algn="l">
              <a:lnSpc>
                <a:spcPct val="100000"/>
              </a:lnSpc>
            </a:pPr>
            <a:r>
              <a:rPr sz="2000">
                <a:solidFill>
                  <a:srgbClr val="4A86E8"/>
                </a:solidFill>
                <a:latin typeface="Encode Sans SemiBold"/>
              </a:rPr>
              <a:t>02</a:t>
            </a:r>
          </a:p>
        </p:txBody>
      </p:sp>
      <p:sp>
        <p:nvSpPr>
          <p:cNvPr id="1189" name="TextBox 1188"/>
          <p:cNvSpPr txBox="1"/>
          <p:nvPr/>
        </p:nvSpPr>
        <p:spPr>
          <a:xfrm>
            <a:off x="3492500" y="2031982"/>
            <a:ext cx="2159000" cy="259339"/>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Observabilidade</a:t>
            </a:r>
          </a:p>
        </p:txBody>
      </p:sp>
      <p:sp>
        <p:nvSpPr>
          <p:cNvPr id="1190" name="TextBox 1189"/>
          <p:cNvSpPr txBox="1"/>
          <p:nvPr/>
        </p:nvSpPr>
        <p:spPr>
          <a:xfrm>
            <a:off x="3492500" y="2418321"/>
            <a:ext cx="2159000" cy="1313108"/>
          </a:xfrm>
          <a:prstGeom prst="rect">
            <a:avLst/>
          </a:prstGeom>
          <a:noFill/>
        </p:spPr>
        <p:txBody>
          <a:bodyPr wrap="square" lIns="0" tIns="0" rIns="0" bIns="0" anchor="t">
            <a:spAutoFit/>
          </a:bodyPr>
          <a:lstStyle/>
          <a:p>
            <a:pPr marL="182880" indent="-182880" algn="l">
              <a:lnSpc>
                <a:spcPct val="115000"/>
              </a:lnSpc>
              <a:spcAft>
                <a:spcPts val="600"/>
              </a:spcAft>
              <a:buClr>
                <a:srgbClr val="4A86E8"/>
              </a:buClr>
              <a:buSzPts val="700"/>
              <a:buFont typeface="Arial"/>
              <a:buChar char="●"/>
            </a:pPr>
            <a:r>
              <a:rPr sz="1000">
                <a:solidFill>
                  <a:srgbClr val="A8ADBD"/>
                </a:solidFill>
                <a:latin typeface="Roboto"/>
              </a:rPr>
              <a:t>Trace e custo reais: US$ 1,54 num mês</a:t>
            </a:r>
          </a:p>
          <a:p>
            <a:pPr marL="182880" indent="-182880" algn="l">
              <a:lnSpc>
                <a:spcPct val="115000"/>
              </a:lnSpc>
              <a:spcAft>
                <a:spcPts val="600"/>
              </a:spcAft>
              <a:buClr>
                <a:srgbClr val="4A86E8"/>
              </a:buClr>
              <a:buSzPts val="700"/>
              <a:buFont typeface="Arial"/>
              <a:buChar char="●"/>
            </a:pPr>
            <a:r>
              <a:rPr sz="1000">
                <a:solidFill>
                  <a:srgbClr val="A8ADBD"/>
                </a:solidFill>
                <a:latin typeface="Roboto"/>
              </a:rPr>
              <a:t>Quatro padrões de falha detectados</a:t>
            </a:r>
          </a:p>
          <a:p>
            <a:pPr marL="182880" indent="-182880" algn="l">
              <a:lnSpc>
                <a:spcPct val="115000"/>
              </a:lnSpc>
              <a:spcAft>
                <a:spcPts val="600"/>
              </a:spcAft>
              <a:buClr>
                <a:srgbClr val="4A86E8"/>
              </a:buClr>
              <a:buSzPts val="700"/>
              <a:buFont typeface="Arial"/>
              <a:buChar char="●"/>
            </a:pPr>
            <a:r>
              <a:rPr sz="1000">
                <a:solidFill>
                  <a:srgbClr val="A8ADBD"/>
                </a:solidFill>
                <a:latin typeface="Roboto"/>
              </a:rPr>
              <a:t>Duas corrigidas, dois riscos aceitos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0"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181"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182" name="TextBox 1181"/>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três pilares, com conteúdo real</a:t>
            </a:r>
          </a:p>
        </p:txBody>
      </p:sp>
      <p:sp>
        <p:nvSpPr>
          <p:cNvPr id="1183" name="Rounded Rectangle 1182"/>
          <p:cNvSpPr/>
          <p:nvPr/>
        </p:nvSpPr>
        <p:spPr>
          <a:xfrm>
            <a:off x="5715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4" name="Rectangle 1183"/>
          <p:cNvSpPr/>
          <p:nvPr/>
        </p:nvSpPr>
        <p:spPr>
          <a:xfrm>
            <a:off x="571500" y="1447782"/>
            <a:ext cx="2514600"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5" name="TextBox 1184"/>
          <p:cNvSpPr txBox="1"/>
          <p:nvPr/>
        </p:nvSpPr>
        <p:spPr>
          <a:xfrm>
            <a:off x="749300" y="1625582"/>
            <a:ext cx="2159000" cy="304800"/>
          </a:xfrm>
          <a:prstGeom prst="rect">
            <a:avLst/>
          </a:prstGeom>
          <a:noFill/>
        </p:spPr>
        <p:txBody>
          <a:bodyPr wrap="square" lIns="0" tIns="0" rIns="0" bIns="0" anchor="ctr">
            <a:spAutoFit/>
          </a:bodyPr>
          <a:lstStyle/>
          <a:p>
            <a:pPr algn="l">
              <a:lnSpc>
                <a:spcPct val="100000"/>
              </a:lnSpc>
            </a:pPr>
            <a:r>
              <a:rPr sz="2000">
                <a:solidFill>
                  <a:srgbClr val="052FD3"/>
                </a:solidFill>
                <a:latin typeface="Encode Sans SemiBold"/>
              </a:rPr>
              <a:t>01</a:t>
            </a:r>
          </a:p>
        </p:txBody>
      </p:sp>
      <p:sp>
        <p:nvSpPr>
          <p:cNvPr id="1186" name="TextBox 1185"/>
          <p:cNvSpPr txBox="1"/>
          <p:nvPr/>
        </p:nvSpPr>
        <p:spPr>
          <a:xfrm>
            <a:off x="749300" y="2031982"/>
            <a:ext cx="2159000" cy="259339"/>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Evals</a:t>
            </a:r>
          </a:p>
        </p:txBody>
      </p:sp>
      <p:sp>
        <p:nvSpPr>
          <p:cNvPr id="1187" name="TextBox 1186"/>
          <p:cNvSpPr txBox="1"/>
          <p:nvPr/>
        </p:nvSpPr>
        <p:spPr>
          <a:xfrm>
            <a:off x="749300" y="2418321"/>
            <a:ext cx="2159000" cy="1132357"/>
          </a:xfrm>
          <a:prstGeom prst="rect">
            <a:avLst/>
          </a:prstGeom>
          <a:noFill/>
        </p:spPr>
        <p:txBody>
          <a:bodyPr wrap="square" lIns="0" tIns="0" rIns="0" bIns="0" anchor="t">
            <a:spAutoFit/>
          </a:bodyPr>
          <a:lstStyle/>
          <a:p>
            <a:pPr marL="182880" indent="-182880" algn="l">
              <a:lnSpc>
                <a:spcPct val="115000"/>
              </a:lnSpc>
              <a:spcAft>
                <a:spcPts val="600"/>
              </a:spcAft>
              <a:buClr>
                <a:srgbClr val="052FD3"/>
              </a:buClr>
              <a:buSzPts val="700"/>
              <a:buFont typeface="Arial"/>
              <a:buChar char="●"/>
            </a:pPr>
            <a:r>
              <a:rPr sz="1000">
                <a:solidFill>
                  <a:srgbClr val="A8ADBD"/>
                </a:solidFill>
                <a:latin typeface="Roboto"/>
              </a:rPr>
              <a:t>Critério mensurável + juiz com saída forçada</a:t>
            </a:r>
          </a:p>
          <a:p>
            <a:pPr marL="182880" indent="-182880" algn="l">
              <a:lnSpc>
                <a:spcPct val="115000"/>
              </a:lnSpc>
              <a:spcAft>
                <a:spcPts val="600"/>
              </a:spcAft>
              <a:buClr>
                <a:srgbClr val="052FD3"/>
              </a:buClr>
              <a:buSzPts val="700"/>
              <a:buFont typeface="Arial"/>
              <a:buChar char="●"/>
            </a:pPr>
            <a:r>
              <a:rPr sz="1000">
                <a:solidFill>
                  <a:srgbClr val="A8ADBD"/>
                </a:solidFill>
                <a:latin typeface="Roboto"/>
              </a:rPr>
              <a:t>Resultado gravado como Score no Langfuse</a:t>
            </a:r>
          </a:p>
          <a:p>
            <a:pPr marL="182880" indent="-182880" algn="l">
              <a:lnSpc>
                <a:spcPct val="115000"/>
              </a:lnSpc>
              <a:spcAft>
                <a:spcPts val="600"/>
              </a:spcAft>
              <a:buClr>
                <a:srgbClr val="052FD3"/>
              </a:buClr>
              <a:buSzPts val="700"/>
              <a:buFont typeface="Arial"/>
              <a:buChar char="●"/>
            </a:pPr>
            <a:r>
              <a:rPr sz="1000">
                <a:solidFill>
                  <a:srgbClr val="A8ADBD"/>
                </a:solidFill>
                <a:latin typeface="Roboto"/>
              </a:rPr>
              <a:t>Define o que é bom</a:t>
            </a:r>
          </a:p>
        </p:txBody>
      </p:sp>
      <p:sp>
        <p:nvSpPr>
          <p:cNvPr id="1188" name="Rounded Rectangle 1187"/>
          <p:cNvSpPr/>
          <p:nvPr/>
        </p:nvSpPr>
        <p:spPr>
          <a:xfrm>
            <a:off x="33147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9" name="Rectangle 1188"/>
          <p:cNvSpPr/>
          <p:nvPr/>
        </p:nvSpPr>
        <p:spPr>
          <a:xfrm>
            <a:off x="3314700" y="1447782"/>
            <a:ext cx="2514600" cy="50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0" name="TextBox 1189"/>
          <p:cNvSpPr txBox="1"/>
          <p:nvPr/>
        </p:nvSpPr>
        <p:spPr>
          <a:xfrm>
            <a:off x="3492500" y="1625582"/>
            <a:ext cx="2159000" cy="304800"/>
          </a:xfrm>
          <a:prstGeom prst="rect">
            <a:avLst/>
          </a:prstGeom>
          <a:noFill/>
        </p:spPr>
        <p:txBody>
          <a:bodyPr wrap="square" lIns="0" tIns="0" rIns="0" bIns="0" anchor="ctr">
            <a:spAutoFit/>
          </a:bodyPr>
          <a:lstStyle/>
          <a:p>
            <a:pPr algn="l">
              <a:lnSpc>
                <a:spcPct val="100000"/>
              </a:lnSpc>
            </a:pPr>
            <a:r>
              <a:rPr sz="2000">
                <a:solidFill>
                  <a:srgbClr val="4A86E8"/>
                </a:solidFill>
                <a:latin typeface="Encode Sans SemiBold"/>
              </a:rPr>
              <a:t>02</a:t>
            </a:r>
          </a:p>
        </p:txBody>
      </p:sp>
      <p:sp>
        <p:nvSpPr>
          <p:cNvPr id="1191" name="TextBox 1190"/>
          <p:cNvSpPr txBox="1"/>
          <p:nvPr/>
        </p:nvSpPr>
        <p:spPr>
          <a:xfrm>
            <a:off x="3492500" y="2031982"/>
            <a:ext cx="2159000" cy="259339"/>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Observabilidade</a:t>
            </a:r>
          </a:p>
        </p:txBody>
      </p:sp>
      <p:sp>
        <p:nvSpPr>
          <p:cNvPr id="1192" name="TextBox 1191"/>
          <p:cNvSpPr txBox="1"/>
          <p:nvPr/>
        </p:nvSpPr>
        <p:spPr>
          <a:xfrm>
            <a:off x="3492500" y="2418321"/>
            <a:ext cx="2159000" cy="1313108"/>
          </a:xfrm>
          <a:prstGeom prst="rect">
            <a:avLst/>
          </a:prstGeom>
          <a:noFill/>
        </p:spPr>
        <p:txBody>
          <a:bodyPr wrap="square" lIns="0" tIns="0" rIns="0" bIns="0" anchor="t">
            <a:spAutoFit/>
          </a:bodyPr>
          <a:lstStyle/>
          <a:p>
            <a:pPr marL="182880" indent="-182880" algn="l">
              <a:lnSpc>
                <a:spcPct val="115000"/>
              </a:lnSpc>
              <a:spcAft>
                <a:spcPts val="600"/>
              </a:spcAft>
              <a:buClr>
                <a:srgbClr val="4A86E8"/>
              </a:buClr>
              <a:buSzPts val="700"/>
              <a:buFont typeface="Arial"/>
              <a:buChar char="●"/>
            </a:pPr>
            <a:r>
              <a:rPr sz="1000">
                <a:solidFill>
                  <a:srgbClr val="A8ADBD"/>
                </a:solidFill>
                <a:latin typeface="Roboto"/>
              </a:rPr>
              <a:t>Trace e custo reais: US$ 1,54 num mês</a:t>
            </a:r>
          </a:p>
          <a:p>
            <a:pPr marL="182880" indent="-182880" algn="l">
              <a:lnSpc>
                <a:spcPct val="115000"/>
              </a:lnSpc>
              <a:spcAft>
                <a:spcPts val="600"/>
              </a:spcAft>
              <a:buClr>
                <a:srgbClr val="4A86E8"/>
              </a:buClr>
              <a:buSzPts val="700"/>
              <a:buFont typeface="Arial"/>
              <a:buChar char="●"/>
            </a:pPr>
            <a:r>
              <a:rPr sz="1000">
                <a:solidFill>
                  <a:srgbClr val="A8ADBD"/>
                </a:solidFill>
                <a:latin typeface="Roboto"/>
              </a:rPr>
              <a:t>Quatro padrões de falha detectados</a:t>
            </a:r>
          </a:p>
          <a:p>
            <a:pPr marL="182880" indent="-182880" algn="l">
              <a:lnSpc>
                <a:spcPct val="115000"/>
              </a:lnSpc>
              <a:spcAft>
                <a:spcPts val="600"/>
              </a:spcAft>
              <a:buClr>
                <a:srgbClr val="4A86E8"/>
              </a:buClr>
              <a:buSzPts val="700"/>
              <a:buFont typeface="Arial"/>
              <a:buChar char="●"/>
            </a:pPr>
            <a:r>
              <a:rPr sz="1000">
                <a:solidFill>
                  <a:srgbClr val="A8ADBD"/>
                </a:solidFill>
                <a:latin typeface="Roboto"/>
              </a:rPr>
              <a:t>Duas corrigidas, dois riscos aceitos</a:t>
            </a:r>
          </a:p>
        </p:txBody>
      </p:sp>
      <p:sp>
        <p:nvSpPr>
          <p:cNvPr id="1193" name="Rounded Rectangle 1192"/>
          <p:cNvSpPr/>
          <p:nvPr/>
        </p:nvSpPr>
        <p:spPr>
          <a:xfrm>
            <a:off x="60579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4" name="Rectangle 1193"/>
          <p:cNvSpPr/>
          <p:nvPr/>
        </p:nvSpPr>
        <p:spPr>
          <a:xfrm>
            <a:off x="6057900" y="1447782"/>
            <a:ext cx="2514600"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5" name="TextBox 1194"/>
          <p:cNvSpPr txBox="1"/>
          <p:nvPr/>
        </p:nvSpPr>
        <p:spPr>
          <a:xfrm>
            <a:off x="6235700" y="1625582"/>
            <a:ext cx="2159000" cy="304800"/>
          </a:xfrm>
          <a:prstGeom prst="rect">
            <a:avLst/>
          </a:prstGeom>
          <a:noFill/>
        </p:spPr>
        <p:txBody>
          <a:bodyPr wrap="square" lIns="0" tIns="0" rIns="0" bIns="0" anchor="ctr">
            <a:spAutoFit/>
          </a:bodyPr>
          <a:lstStyle/>
          <a:p>
            <a:pPr algn="l">
              <a:lnSpc>
                <a:spcPct val="100000"/>
              </a:lnSpc>
            </a:pPr>
            <a:r>
              <a:rPr sz="2000">
                <a:solidFill>
                  <a:srgbClr val="2FB36B"/>
                </a:solidFill>
                <a:latin typeface="Encode Sans SemiBold"/>
              </a:rPr>
              <a:t>03</a:t>
            </a:r>
          </a:p>
        </p:txBody>
      </p:sp>
      <p:sp>
        <p:nvSpPr>
          <p:cNvPr id="1196" name="TextBox 1195"/>
          <p:cNvSpPr txBox="1"/>
          <p:nvPr/>
        </p:nvSpPr>
        <p:spPr>
          <a:xfrm>
            <a:off x="6235700" y="2031982"/>
            <a:ext cx="2159000" cy="518678"/>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Conformidade</a:t>
            </a:r>
          </a:p>
          <a:p>
            <a:pPr algn="l">
              <a:lnSpc>
                <a:spcPct val="110000"/>
              </a:lnSpc>
            </a:pPr>
            <a:r>
              <a:rPr sz="1500">
                <a:solidFill>
                  <a:srgbClr val="FFFFFF"/>
                </a:solidFill>
                <a:latin typeface="Encode Sans SemiBold"/>
              </a:rPr>
              <a:t>responsável</a:t>
            </a:r>
          </a:p>
        </p:txBody>
      </p:sp>
      <p:sp>
        <p:nvSpPr>
          <p:cNvPr id="1197" name="TextBox 1196"/>
          <p:cNvSpPr txBox="1"/>
          <p:nvPr/>
        </p:nvSpPr>
        <p:spPr>
          <a:xfrm>
            <a:off x="6235700" y="2677660"/>
            <a:ext cx="2159000" cy="1132357"/>
          </a:xfrm>
          <a:prstGeom prst="rect">
            <a:avLst/>
          </a:prstGeom>
          <a:noFill/>
        </p:spPr>
        <p:txBody>
          <a:bodyPr wrap="square" lIns="0" tIns="0" rIns="0" bIns="0" anchor="t">
            <a:spAutoFit/>
          </a:bodyPr>
          <a:lstStyle/>
          <a:p>
            <a:pPr marL="182880" indent="-182880" algn="l">
              <a:lnSpc>
                <a:spcPct val="115000"/>
              </a:lnSpc>
              <a:spcAft>
                <a:spcPts val="600"/>
              </a:spcAft>
              <a:buClr>
                <a:srgbClr val="2FB36B"/>
              </a:buClr>
              <a:buSzPts val="700"/>
              <a:buFont typeface="Arial"/>
              <a:buChar char="●"/>
            </a:pPr>
            <a:r>
              <a:rPr sz="1000">
                <a:solidFill>
                  <a:srgbClr val="A8ADBD"/>
                </a:solidFill>
                <a:latin typeface="Roboto"/>
              </a:rPr>
              <a:t>Guardrail em código, transparência no produto</a:t>
            </a:r>
          </a:p>
          <a:p>
            <a:pPr marL="182880" indent="-182880" algn="l">
              <a:lnSpc>
                <a:spcPct val="115000"/>
              </a:lnSpc>
              <a:spcAft>
                <a:spcPts val="600"/>
              </a:spcAft>
              <a:buClr>
                <a:srgbClr val="2FB36B"/>
              </a:buClr>
              <a:buSzPts val="700"/>
              <a:buFont typeface="Arial"/>
              <a:buChar char="●"/>
            </a:pPr>
            <a:r>
              <a:rPr sz="1000">
                <a:solidFill>
                  <a:srgbClr val="A8ADBD"/>
                </a:solidFill>
                <a:latin typeface="Roboto"/>
              </a:rPr>
              <a:t>LGPD como prática, não rodapé</a:t>
            </a:r>
          </a:p>
          <a:p>
            <a:pPr marL="182880" indent="-182880" algn="l">
              <a:lnSpc>
                <a:spcPct val="115000"/>
              </a:lnSpc>
              <a:spcAft>
                <a:spcPts val="600"/>
              </a:spcAft>
              <a:buClr>
                <a:srgbClr val="2FB36B"/>
              </a:buClr>
              <a:buSzPts val="700"/>
              <a:buFont typeface="Arial"/>
              <a:buChar char="●"/>
            </a:pPr>
            <a:r>
              <a:rPr sz="1000">
                <a:solidFill>
                  <a:srgbClr val="A8ADBD"/>
                </a:solidFill>
                <a:latin typeface="Roboto"/>
              </a:rPr>
              <a:t>Decide o que fazer com o que foi visto</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2" name="Google Shape;419;p54" descr="Ícone&#10;&#10;O conteúdo gerado por IA pode estar incorreto."/>
          <p:cNvPicPr preferRelativeResize="0"/>
          <p:nvPr/>
        </p:nvPicPr>
        <p:blipFill rotWithShape="1">
          <a:blip r:embed="rId3">
            <a:alphaModFix/>
          </a:blip>
          <a:srcRect/>
          <a:stretch/>
        </p:blipFill>
        <p:spPr>
          <a:xfrm>
            <a:off x="-825736" y="-3233"/>
            <a:ext cx="588048" cy="3753281"/>
          </a:xfrm>
          <a:prstGeom prst="rect">
            <a:avLst/>
          </a:prstGeom>
          <a:noFill/>
          <a:ln>
            <a:noFill/>
          </a:ln>
        </p:spPr>
      </p:pic>
      <p:pic>
        <p:nvPicPr>
          <p:cNvPr id="1183" name="Google Shape;420;p54" descr=" "/>
          <p:cNvPicPr preferRelativeResize="0"/>
          <p:nvPr/>
        </p:nvPicPr>
        <p:blipFill rotWithShape="1">
          <a:blip r:embed="rId4">
            <a:alphaModFix/>
          </a:blip>
          <a:srcRect/>
          <a:stretch/>
        </p:blipFill>
        <p:spPr>
          <a:xfrm>
            <a:off x="8786767" y="152400"/>
            <a:ext cx="177867" cy="222353"/>
          </a:xfrm>
          <a:prstGeom prst="rect">
            <a:avLst/>
          </a:prstGeom>
          <a:noFill/>
          <a:ln>
            <a:noFill/>
          </a:ln>
        </p:spPr>
      </p:pic>
      <p:sp>
        <p:nvSpPr>
          <p:cNvPr id="1184" name="TextBox 1183"/>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FFFFFF"/>
                </a:solidFill>
                <a:latin typeface="Encode Sans SemiBold"/>
              </a:rPr>
              <a:t>Os três pilares, com conteúdo real</a:t>
            </a:r>
          </a:p>
        </p:txBody>
      </p:sp>
      <p:sp>
        <p:nvSpPr>
          <p:cNvPr id="1185" name="Rounded Rectangle 1184"/>
          <p:cNvSpPr/>
          <p:nvPr/>
        </p:nvSpPr>
        <p:spPr>
          <a:xfrm>
            <a:off x="5715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6" name="Rectangle 1185"/>
          <p:cNvSpPr/>
          <p:nvPr/>
        </p:nvSpPr>
        <p:spPr>
          <a:xfrm>
            <a:off x="571500" y="1447782"/>
            <a:ext cx="2514600" cy="50800"/>
          </a:xfrm>
          <a:prstGeom prst="rect">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87" name="TextBox 1186"/>
          <p:cNvSpPr txBox="1"/>
          <p:nvPr/>
        </p:nvSpPr>
        <p:spPr>
          <a:xfrm>
            <a:off x="749300" y="1625582"/>
            <a:ext cx="2159000" cy="304800"/>
          </a:xfrm>
          <a:prstGeom prst="rect">
            <a:avLst/>
          </a:prstGeom>
          <a:noFill/>
        </p:spPr>
        <p:txBody>
          <a:bodyPr wrap="square" lIns="0" tIns="0" rIns="0" bIns="0" anchor="ctr">
            <a:spAutoFit/>
          </a:bodyPr>
          <a:lstStyle/>
          <a:p>
            <a:pPr algn="l">
              <a:lnSpc>
                <a:spcPct val="100000"/>
              </a:lnSpc>
            </a:pPr>
            <a:r>
              <a:rPr sz="2000">
                <a:solidFill>
                  <a:srgbClr val="052FD3"/>
                </a:solidFill>
                <a:latin typeface="Encode Sans SemiBold"/>
              </a:rPr>
              <a:t>01</a:t>
            </a:r>
          </a:p>
        </p:txBody>
      </p:sp>
      <p:sp>
        <p:nvSpPr>
          <p:cNvPr id="1188" name="TextBox 1187"/>
          <p:cNvSpPr txBox="1"/>
          <p:nvPr/>
        </p:nvSpPr>
        <p:spPr>
          <a:xfrm>
            <a:off x="749300" y="2031982"/>
            <a:ext cx="2159000" cy="259339"/>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Evals</a:t>
            </a:r>
          </a:p>
        </p:txBody>
      </p:sp>
      <p:sp>
        <p:nvSpPr>
          <p:cNvPr id="1189" name="TextBox 1188"/>
          <p:cNvSpPr txBox="1"/>
          <p:nvPr/>
        </p:nvSpPr>
        <p:spPr>
          <a:xfrm>
            <a:off x="749300" y="2418321"/>
            <a:ext cx="2159000" cy="1132357"/>
          </a:xfrm>
          <a:prstGeom prst="rect">
            <a:avLst/>
          </a:prstGeom>
          <a:noFill/>
        </p:spPr>
        <p:txBody>
          <a:bodyPr wrap="square" lIns="0" tIns="0" rIns="0" bIns="0" anchor="t">
            <a:spAutoFit/>
          </a:bodyPr>
          <a:lstStyle/>
          <a:p>
            <a:pPr marL="182880" indent="-182880" algn="l">
              <a:lnSpc>
                <a:spcPct val="115000"/>
              </a:lnSpc>
              <a:spcAft>
                <a:spcPts val="600"/>
              </a:spcAft>
              <a:buClr>
                <a:srgbClr val="052FD3"/>
              </a:buClr>
              <a:buSzPts val="700"/>
              <a:buFont typeface="Arial"/>
              <a:buChar char="●"/>
            </a:pPr>
            <a:r>
              <a:rPr sz="1000">
                <a:solidFill>
                  <a:srgbClr val="A8ADBD"/>
                </a:solidFill>
                <a:latin typeface="Roboto"/>
              </a:rPr>
              <a:t>Critério mensurável + juiz com saída forçada</a:t>
            </a:r>
          </a:p>
          <a:p>
            <a:pPr marL="182880" indent="-182880" algn="l">
              <a:lnSpc>
                <a:spcPct val="115000"/>
              </a:lnSpc>
              <a:spcAft>
                <a:spcPts val="600"/>
              </a:spcAft>
              <a:buClr>
                <a:srgbClr val="052FD3"/>
              </a:buClr>
              <a:buSzPts val="700"/>
              <a:buFont typeface="Arial"/>
              <a:buChar char="●"/>
            </a:pPr>
            <a:r>
              <a:rPr sz="1000">
                <a:solidFill>
                  <a:srgbClr val="A8ADBD"/>
                </a:solidFill>
                <a:latin typeface="Roboto"/>
              </a:rPr>
              <a:t>Resultado gravado como Score no Langfuse</a:t>
            </a:r>
          </a:p>
          <a:p>
            <a:pPr marL="182880" indent="-182880" algn="l">
              <a:lnSpc>
                <a:spcPct val="115000"/>
              </a:lnSpc>
              <a:spcAft>
                <a:spcPts val="600"/>
              </a:spcAft>
              <a:buClr>
                <a:srgbClr val="052FD3"/>
              </a:buClr>
              <a:buSzPts val="700"/>
              <a:buFont typeface="Arial"/>
              <a:buChar char="●"/>
            </a:pPr>
            <a:r>
              <a:rPr sz="1000">
                <a:solidFill>
                  <a:srgbClr val="A8ADBD"/>
                </a:solidFill>
                <a:latin typeface="Roboto"/>
              </a:rPr>
              <a:t>Define o que é bom</a:t>
            </a:r>
          </a:p>
        </p:txBody>
      </p:sp>
      <p:sp>
        <p:nvSpPr>
          <p:cNvPr id="1190" name="Rounded Rectangle 1189"/>
          <p:cNvSpPr/>
          <p:nvPr/>
        </p:nvSpPr>
        <p:spPr>
          <a:xfrm>
            <a:off x="33147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1" name="Rectangle 1190"/>
          <p:cNvSpPr/>
          <p:nvPr/>
        </p:nvSpPr>
        <p:spPr>
          <a:xfrm>
            <a:off x="3314700" y="1447782"/>
            <a:ext cx="2514600" cy="50800"/>
          </a:xfrm>
          <a:prstGeom prst="rect">
            <a:avLst/>
          </a:prstGeom>
          <a:solidFill>
            <a:srgbClr val="4A86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2" name="TextBox 1191"/>
          <p:cNvSpPr txBox="1"/>
          <p:nvPr/>
        </p:nvSpPr>
        <p:spPr>
          <a:xfrm>
            <a:off x="3492500" y="1625582"/>
            <a:ext cx="2159000" cy="304800"/>
          </a:xfrm>
          <a:prstGeom prst="rect">
            <a:avLst/>
          </a:prstGeom>
          <a:noFill/>
        </p:spPr>
        <p:txBody>
          <a:bodyPr wrap="square" lIns="0" tIns="0" rIns="0" bIns="0" anchor="ctr">
            <a:spAutoFit/>
          </a:bodyPr>
          <a:lstStyle/>
          <a:p>
            <a:pPr algn="l">
              <a:lnSpc>
                <a:spcPct val="100000"/>
              </a:lnSpc>
            </a:pPr>
            <a:r>
              <a:rPr sz="2000">
                <a:solidFill>
                  <a:srgbClr val="4A86E8"/>
                </a:solidFill>
                <a:latin typeface="Encode Sans SemiBold"/>
              </a:rPr>
              <a:t>02</a:t>
            </a:r>
          </a:p>
        </p:txBody>
      </p:sp>
      <p:sp>
        <p:nvSpPr>
          <p:cNvPr id="1193" name="TextBox 1192"/>
          <p:cNvSpPr txBox="1"/>
          <p:nvPr/>
        </p:nvSpPr>
        <p:spPr>
          <a:xfrm>
            <a:off x="3492500" y="2031982"/>
            <a:ext cx="2159000" cy="259339"/>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Observabilidade</a:t>
            </a:r>
          </a:p>
        </p:txBody>
      </p:sp>
      <p:sp>
        <p:nvSpPr>
          <p:cNvPr id="1194" name="TextBox 1193"/>
          <p:cNvSpPr txBox="1"/>
          <p:nvPr/>
        </p:nvSpPr>
        <p:spPr>
          <a:xfrm>
            <a:off x="3492500" y="2418321"/>
            <a:ext cx="2159000" cy="1313108"/>
          </a:xfrm>
          <a:prstGeom prst="rect">
            <a:avLst/>
          </a:prstGeom>
          <a:noFill/>
        </p:spPr>
        <p:txBody>
          <a:bodyPr wrap="square" lIns="0" tIns="0" rIns="0" bIns="0" anchor="t">
            <a:spAutoFit/>
          </a:bodyPr>
          <a:lstStyle/>
          <a:p>
            <a:pPr marL="182880" indent="-182880" algn="l">
              <a:lnSpc>
                <a:spcPct val="115000"/>
              </a:lnSpc>
              <a:spcAft>
                <a:spcPts val="600"/>
              </a:spcAft>
              <a:buClr>
                <a:srgbClr val="4A86E8"/>
              </a:buClr>
              <a:buSzPts val="700"/>
              <a:buFont typeface="Arial"/>
              <a:buChar char="●"/>
            </a:pPr>
            <a:r>
              <a:rPr sz="1000">
                <a:solidFill>
                  <a:srgbClr val="A8ADBD"/>
                </a:solidFill>
                <a:latin typeface="Roboto"/>
              </a:rPr>
              <a:t>Trace e custo reais: US$ 1,54 num mês</a:t>
            </a:r>
          </a:p>
          <a:p>
            <a:pPr marL="182880" indent="-182880" algn="l">
              <a:lnSpc>
                <a:spcPct val="115000"/>
              </a:lnSpc>
              <a:spcAft>
                <a:spcPts val="600"/>
              </a:spcAft>
              <a:buClr>
                <a:srgbClr val="4A86E8"/>
              </a:buClr>
              <a:buSzPts val="700"/>
              <a:buFont typeface="Arial"/>
              <a:buChar char="●"/>
            </a:pPr>
            <a:r>
              <a:rPr sz="1000">
                <a:solidFill>
                  <a:srgbClr val="A8ADBD"/>
                </a:solidFill>
                <a:latin typeface="Roboto"/>
              </a:rPr>
              <a:t>Quatro padrões de falha detectados</a:t>
            </a:r>
          </a:p>
          <a:p>
            <a:pPr marL="182880" indent="-182880" algn="l">
              <a:lnSpc>
                <a:spcPct val="115000"/>
              </a:lnSpc>
              <a:spcAft>
                <a:spcPts val="600"/>
              </a:spcAft>
              <a:buClr>
                <a:srgbClr val="4A86E8"/>
              </a:buClr>
              <a:buSzPts val="700"/>
              <a:buFont typeface="Arial"/>
              <a:buChar char="●"/>
            </a:pPr>
            <a:r>
              <a:rPr sz="1000">
                <a:solidFill>
                  <a:srgbClr val="A8ADBD"/>
                </a:solidFill>
                <a:latin typeface="Roboto"/>
              </a:rPr>
              <a:t>Duas corrigidas, dois riscos aceitos</a:t>
            </a:r>
          </a:p>
        </p:txBody>
      </p:sp>
      <p:sp>
        <p:nvSpPr>
          <p:cNvPr id="1195" name="Rounded Rectangle 1194"/>
          <p:cNvSpPr/>
          <p:nvPr/>
        </p:nvSpPr>
        <p:spPr>
          <a:xfrm>
            <a:off x="6057900" y="1447782"/>
            <a:ext cx="2514600" cy="2540035"/>
          </a:xfrm>
          <a:prstGeom prst="roundRect">
            <a:avLst>
              <a:gd name="adj" fmla="val 5000"/>
            </a:avLst>
          </a:prstGeom>
          <a:solidFill>
            <a:srgbClr val="171A21"/>
          </a:solidFill>
          <a:ln w="26670">
            <a:solidFill>
              <a:srgbClr val="2A2E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6" name="Rectangle 1195"/>
          <p:cNvSpPr/>
          <p:nvPr/>
        </p:nvSpPr>
        <p:spPr>
          <a:xfrm>
            <a:off x="6057900" y="1447782"/>
            <a:ext cx="2514600" cy="50800"/>
          </a:xfrm>
          <a:prstGeom prst="rect">
            <a:avLst/>
          </a:prstGeom>
          <a:solidFill>
            <a:srgbClr val="2FB3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7" name="TextBox 1196"/>
          <p:cNvSpPr txBox="1"/>
          <p:nvPr/>
        </p:nvSpPr>
        <p:spPr>
          <a:xfrm>
            <a:off x="6235700" y="1625582"/>
            <a:ext cx="2159000" cy="304800"/>
          </a:xfrm>
          <a:prstGeom prst="rect">
            <a:avLst/>
          </a:prstGeom>
          <a:noFill/>
        </p:spPr>
        <p:txBody>
          <a:bodyPr wrap="square" lIns="0" tIns="0" rIns="0" bIns="0" anchor="ctr">
            <a:spAutoFit/>
          </a:bodyPr>
          <a:lstStyle/>
          <a:p>
            <a:pPr algn="l">
              <a:lnSpc>
                <a:spcPct val="100000"/>
              </a:lnSpc>
            </a:pPr>
            <a:r>
              <a:rPr sz="2000">
                <a:solidFill>
                  <a:srgbClr val="2FB36B"/>
                </a:solidFill>
                <a:latin typeface="Encode Sans SemiBold"/>
              </a:rPr>
              <a:t>03</a:t>
            </a:r>
          </a:p>
        </p:txBody>
      </p:sp>
      <p:sp>
        <p:nvSpPr>
          <p:cNvPr id="1198" name="TextBox 1197"/>
          <p:cNvSpPr txBox="1"/>
          <p:nvPr/>
        </p:nvSpPr>
        <p:spPr>
          <a:xfrm>
            <a:off x="6235700" y="2031982"/>
            <a:ext cx="2159000" cy="518678"/>
          </a:xfrm>
          <a:prstGeom prst="rect">
            <a:avLst/>
          </a:prstGeom>
          <a:noFill/>
        </p:spPr>
        <p:txBody>
          <a:bodyPr wrap="square" lIns="0" tIns="0" rIns="0" bIns="0" anchor="ctr">
            <a:spAutoFit/>
          </a:bodyPr>
          <a:lstStyle/>
          <a:p>
            <a:pPr algn="l">
              <a:lnSpc>
                <a:spcPct val="110000"/>
              </a:lnSpc>
            </a:pPr>
            <a:r>
              <a:rPr sz="1500">
                <a:solidFill>
                  <a:srgbClr val="FFFFFF"/>
                </a:solidFill>
                <a:latin typeface="Encode Sans SemiBold"/>
              </a:rPr>
              <a:t>Conformidade</a:t>
            </a:r>
          </a:p>
          <a:p>
            <a:pPr algn="l">
              <a:lnSpc>
                <a:spcPct val="110000"/>
              </a:lnSpc>
            </a:pPr>
            <a:r>
              <a:rPr sz="1500">
                <a:solidFill>
                  <a:srgbClr val="FFFFFF"/>
                </a:solidFill>
                <a:latin typeface="Encode Sans SemiBold"/>
              </a:rPr>
              <a:t>responsável</a:t>
            </a:r>
          </a:p>
        </p:txBody>
      </p:sp>
      <p:sp>
        <p:nvSpPr>
          <p:cNvPr id="1199" name="TextBox 1198"/>
          <p:cNvSpPr txBox="1"/>
          <p:nvPr/>
        </p:nvSpPr>
        <p:spPr>
          <a:xfrm>
            <a:off x="6235700" y="2677660"/>
            <a:ext cx="2159000" cy="1132357"/>
          </a:xfrm>
          <a:prstGeom prst="rect">
            <a:avLst/>
          </a:prstGeom>
          <a:noFill/>
        </p:spPr>
        <p:txBody>
          <a:bodyPr wrap="square" lIns="0" tIns="0" rIns="0" bIns="0" anchor="t">
            <a:spAutoFit/>
          </a:bodyPr>
          <a:lstStyle/>
          <a:p>
            <a:pPr marL="182880" indent="-182880" algn="l">
              <a:lnSpc>
                <a:spcPct val="115000"/>
              </a:lnSpc>
              <a:spcAft>
                <a:spcPts val="600"/>
              </a:spcAft>
              <a:buClr>
                <a:srgbClr val="2FB36B"/>
              </a:buClr>
              <a:buSzPts val="700"/>
              <a:buFont typeface="Arial"/>
              <a:buChar char="●"/>
            </a:pPr>
            <a:r>
              <a:rPr sz="1000">
                <a:solidFill>
                  <a:srgbClr val="A8ADBD"/>
                </a:solidFill>
                <a:latin typeface="Roboto"/>
              </a:rPr>
              <a:t>Guardrail em código, transparência no produto</a:t>
            </a:r>
          </a:p>
          <a:p>
            <a:pPr marL="182880" indent="-182880" algn="l">
              <a:lnSpc>
                <a:spcPct val="115000"/>
              </a:lnSpc>
              <a:spcAft>
                <a:spcPts val="600"/>
              </a:spcAft>
              <a:buClr>
                <a:srgbClr val="2FB36B"/>
              </a:buClr>
              <a:buSzPts val="700"/>
              <a:buFont typeface="Arial"/>
              <a:buChar char="●"/>
            </a:pPr>
            <a:r>
              <a:rPr sz="1000">
                <a:solidFill>
                  <a:srgbClr val="A8ADBD"/>
                </a:solidFill>
                <a:latin typeface="Roboto"/>
              </a:rPr>
              <a:t>LGPD como prática, não rodapé</a:t>
            </a:r>
          </a:p>
          <a:p>
            <a:pPr marL="182880" indent="-182880" algn="l">
              <a:lnSpc>
                <a:spcPct val="115000"/>
              </a:lnSpc>
              <a:spcAft>
                <a:spcPts val="600"/>
              </a:spcAft>
              <a:buClr>
                <a:srgbClr val="2FB36B"/>
              </a:buClr>
              <a:buSzPts val="700"/>
              <a:buFont typeface="Arial"/>
              <a:buChar char="●"/>
            </a:pPr>
            <a:r>
              <a:rPr sz="1000">
                <a:solidFill>
                  <a:srgbClr val="A8ADBD"/>
                </a:solidFill>
                <a:latin typeface="Roboto"/>
              </a:rPr>
              <a:t>Decide o que fazer com o que foi visto</a:t>
            </a:r>
          </a:p>
        </p:txBody>
      </p:sp>
      <p:sp>
        <p:nvSpPr>
          <p:cNvPr id="1200" name="Rounded Rectangle 1199"/>
          <p:cNvSpPr/>
          <p:nvPr/>
        </p:nvSpPr>
        <p:spPr>
          <a:xfrm>
            <a:off x="571500" y="4140217"/>
            <a:ext cx="8001000" cy="457200"/>
          </a:xfrm>
          <a:prstGeom prst="roundRect">
            <a:avLst>
              <a:gd name="adj" fmla="val 25000"/>
            </a:avLst>
          </a:prstGeom>
          <a:solidFill>
            <a:srgbClr val="052FD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1" name="TextBox 1200"/>
          <p:cNvSpPr txBox="1"/>
          <p:nvPr/>
        </p:nvSpPr>
        <p:spPr>
          <a:xfrm>
            <a:off x="774700" y="4140217"/>
            <a:ext cx="7594600" cy="457200"/>
          </a:xfrm>
          <a:prstGeom prst="rect">
            <a:avLst/>
          </a:prstGeom>
          <a:noFill/>
        </p:spPr>
        <p:txBody>
          <a:bodyPr wrap="square" lIns="0" tIns="0" rIns="0" bIns="0" anchor="ctr">
            <a:spAutoFit/>
          </a:bodyPr>
          <a:lstStyle/>
          <a:p>
            <a:pPr algn="ctr">
              <a:lnSpc>
                <a:spcPct val="100000"/>
              </a:lnSpc>
            </a:pPr>
            <a:r>
              <a:rPr sz="1300">
                <a:solidFill>
                  <a:srgbClr val="FFFFFF"/>
                </a:solidFill>
                <a:latin typeface="Encode Sans SemiBold"/>
              </a:rPr>
              <a:t>Eval → observabilidade → conformidade: o ciclo de maturidade, nessa ordem</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 name="Google Shape;343;p50"/>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85" name="Google Shape;344;p50" descr=" "/>
          <p:cNvPicPr preferRelativeResize="0"/>
          <p:nvPr/>
        </p:nvPicPr>
        <p:blipFill rotWithShape="1">
          <a:blip r:embed="rId3">
            <a:alphaModFix/>
          </a:blip>
          <a:srcRect/>
          <a:stretch/>
        </p:blipFill>
        <p:spPr>
          <a:xfrm>
            <a:off x="4188299" y="173538"/>
            <a:ext cx="4796287" cy="4795800"/>
          </a:xfrm>
          <a:prstGeom prst="rect">
            <a:avLst/>
          </a:prstGeom>
          <a:noFill/>
          <a:ln>
            <a:noFill/>
          </a:ln>
        </p:spPr>
      </p:pic>
      <p:pic>
        <p:nvPicPr>
          <p:cNvPr id="1186" name="Google Shape;345;p50" descr=" "/>
          <p:cNvPicPr preferRelativeResize="0"/>
          <p:nvPr/>
        </p:nvPicPr>
        <p:blipFill rotWithShape="1">
          <a:blip r:embed="rId4">
            <a:alphaModFix/>
          </a:blip>
          <a:srcRect/>
          <a:stretch/>
        </p:blipFill>
        <p:spPr>
          <a:xfrm>
            <a:off x="159255" y="159252"/>
            <a:ext cx="4796287" cy="4795798"/>
          </a:xfrm>
          <a:prstGeom prst="rect">
            <a:avLst/>
          </a:prstGeom>
          <a:noFill/>
          <a:ln>
            <a:noFill/>
          </a:ln>
        </p:spPr>
      </p:pic>
      <p:sp>
        <p:nvSpPr>
          <p:cNvPr id="1187" name="Google Shape;346;p50"/>
          <p:cNvSpPr/>
          <p:nvPr/>
        </p:nvSpPr>
        <p:spPr>
          <a:xfrm>
            <a:off x="1162044" y="-838200"/>
            <a:ext cx="6824599" cy="6824700"/>
          </a:xfrm>
          <a:prstGeom prst="ellipse">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188" name="Google Shape;348;p50"/>
          <p:cNvSpPr/>
          <p:nvPr/>
        </p:nvSpPr>
        <p:spPr>
          <a:xfrm>
            <a:off x="8786767" y="152400"/>
            <a:ext cx="1779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89" name="Google Shape;349;p50" descr=" "/>
          <p:cNvPicPr preferRelativeResize="0"/>
          <p:nvPr/>
        </p:nvPicPr>
        <p:blipFill rotWithShape="1">
          <a:blip r:embed="rId5">
            <a:alphaModFix/>
          </a:blip>
          <a:srcRect/>
          <a:stretch/>
        </p:blipFill>
        <p:spPr>
          <a:xfrm>
            <a:off x="8786767" y="152400"/>
            <a:ext cx="177867" cy="222353"/>
          </a:xfrm>
          <a:prstGeom prst="rect">
            <a:avLst/>
          </a:prstGeom>
          <a:noFill/>
          <a:ln>
            <a:noFill/>
          </a:ln>
        </p:spPr>
      </p:pic>
      <p:pic>
        <p:nvPicPr>
          <p:cNvPr id="1190" name="Google Shape;350;p50" descr="Ícone&#10;&#10;O conteúdo gerado por IA pode estar incorreto."/>
          <p:cNvPicPr preferRelativeResize="0"/>
          <p:nvPr/>
        </p:nvPicPr>
        <p:blipFill rotWithShape="1">
          <a:blip r:embed="rId6">
            <a:alphaModFix/>
          </a:blip>
          <a:srcRect/>
          <a:stretch/>
        </p:blipFill>
        <p:spPr>
          <a:xfrm>
            <a:off x="-825736" y="-3233"/>
            <a:ext cx="588048" cy="3753281"/>
          </a:xfrm>
          <a:prstGeom prst="rect">
            <a:avLst/>
          </a:prstGeom>
          <a:noFill/>
          <a:ln>
            <a:noFill/>
          </a:ln>
        </p:spPr>
      </p:pic>
      <p:sp>
        <p:nvSpPr>
          <p:cNvPr id="1191" name="TextBox 1190"/>
          <p:cNvSpPr txBox="1"/>
          <p:nvPr/>
        </p:nvSpPr>
        <p:spPr>
          <a:xfrm>
            <a:off x="2476500" y="685800"/>
            <a:ext cx="4191000" cy="3759200"/>
          </a:xfrm>
          <a:prstGeom prst="rect">
            <a:avLst/>
          </a:prstGeom>
          <a:noFill/>
        </p:spPr>
        <p:txBody>
          <a:bodyPr wrap="square" lIns="0" tIns="0" rIns="0" bIns="0" anchor="ctr">
            <a:spAutoFit/>
          </a:bodyPr>
          <a:lstStyle/>
          <a:p>
            <a:pPr algn="ctr">
              <a:lnSpc>
                <a:spcPct val="112000"/>
              </a:lnSpc>
            </a:pPr>
            <a:r>
              <a:rPr sz="4900">
                <a:solidFill>
                  <a:srgbClr val="BDBFC7"/>
                </a:solidFill>
                <a:latin typeface="Encode Sans"/>
              </a:rPr>
              <a:t>Nenhum dos</a:t>
            </a:r>
          </a:p>
          <a:p>
            <a:pPr algn="ctr">
              <a:lnSpc>
                <a:spcPct val="112000"/>
              </a:lnSpc>
            </a:pPr>
            <a:r>
              <a:rPr sz="4900">
                <a:solidFill>
                  <a:srgbClr val="BDBFC7"/>
                </a:solidFill>
                <a:latin typeface="Encode Sans"/>
              </a:rPr>
              <a:t>três</a:t>
            </a:r>
          </a:p>
          <a:p>
            <a:pPr algn="ctr">
              <a:lnSpc>
                <a:spcPct val="112000"/>
              </a:lnSpc>
            </a:pPr>
            <a:r>
              <a:rPr sz="4900">
                <a:solidFill>
                  <a:srgbClr val="BDBFC7"/>
                </a:solidFill>
                <a:latin typeface="Encode Sans"/>
              </a:rPr>
              <a:t>funciona</a:t>
            </a:r>
          </a:p>
          <a:p>
            <a:pPr algn="ctr">
              <a:lnSpc>
                <a:spcPct val="112000"/>
              </a:lnSpc>
            </a:pPr>
            <a:r>
              <a:rPr sz="4900">
                <a:solidFill>
                  <a:srgbClr val="BDBFC7"/>
                </a:solidFill>
                <a:latin typeface="Encode Sans"/>
              </a:rPr>
              <a:t>sozinho.</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1"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92"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193"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94"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195"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196" name="TextBox 1195"/>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Tira uma perna, a mesa cai</a:t>
            </a:r>
          </a:p>
        </p:txBody>
      </p:sp>
      <p:sp>
        <p:nvSpPr>
          <p:cNvPr id="1197" name="TextBox 1196"/>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Três armadilhas reais, uma por combinação que falta</a:t>
            </a:r>
          </a:p>
        </p:txBody>
      </p:sp>
      <p:sp>
        <p:nvSpPr>
          <p:cNvPr id="1198" name="Rounded Rectangle 1197"/>
          <p:cNvSpPr/>
          <p:nvPr/>
        </p:nvSpPr>
        <p:spPr>
          <a:xfrm>
            <a:off x="571500" y="1719633"/>
            <a:ext cx="8001000" cy="872877"/>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9" name="Rectangle 1198"/>
          <p:cNvSpPr/>
          <p:nvPr/>
        </p:nvSpPr>
        <p:spPr>
          <a:xfrm>
            <a:off x="571500" y="1719633"/>
            <a:ext cx="50800" cy="872877"/>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0" name="Rounded Rectangle 1199"/>
          <p:cNvSpPr/>
          <p:nvPr/>
        </p:nvSpPr>
        <p:spPr>
          <a:xfrm>
            <a:off x="774700" y="2003672"/>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1" name="TextBox 1200"/>
          <p:cNvSpPr txBox="1"/>
          <p:nvPr/>
        </p:nvSpPr>
        <p:spPr>
          <a:xfrm>
            <a:off x="774700" y="2003672"/>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−O</a:t>
            </a:r>
          </a:p>
        </p:txBody>
      </p:sp>
      <p:sp>
        <p:nvSpPr>
          <p:cNvPr id="1202" name="TextBox 1201"/>
          <p:cNvSpPr txBox="1"/>
          <p:nvPr/>
        </p:nvSpPr>
        <p:spPr>
          <a:xfrm>
            <a:off x="1422400" y="1719633"/>
            <a:ext cx="2641600" cy="872877"/>
          </a:xfrm>
          <a:prstGeom prst="rect">
            <a:avLst/>
          </a:prstGeom>
          <a:noFill/>
        </p:spPr>
        <p:txBody>
          <a:bodyPr wrap="square" lIns="0" tIns="0" rIns="0" bIns="0" anchor="ctr">
            <a:spAutoFit/>
          </a:bodyPr>
          <a:lstStyle/>
          <a:p>
            <a:pPr algn="l">
              <a:lnSpc>
                <a:spcPct val="115000"/>
              </a:lnSpc>
            </a:pPr>
            <a:r>
              <a:rPr sz="1400">
                <a:solidFill>
                  <a:srgbClr val="14161B"/>
                </a:solidFill>
                <a:latin typeface="Encode Sans SemiBold"/>
              </a:rPr>
              <a:t>Eval sem observabilidade</a:t>
            </a:r>
          </a:p>
        </p:txBody>
      </p:sp>
      <p:sp>
        <p:nvSpPr>
          <p:cNvPr id="1203" name="TextBox 1202"/>
          <p:cNvSpPr txBox="1"/>
          <p:nvPr/>
        </p:nvSpPr>
        <p:spPr>
          <a:xfrm>
            <a:off x="4267200" y="1719633"/>
            <a:ext cx="4064000" cy="872877"/>
          </a:xfrm>
          <a:prstGeom prst="rect">
            <a:avLst/>
          </a:prstGeom>
          <a:noFill/>
        </p:spPr>
        <p:txBody>
          <a:bodyPr wrap="square" lIns="0" tIns="0" rIns="0" bIns="0" anchor="ctr">
            <a:spAutoFit/>
          </a:bodyPr>
          <a:lstStyle/>
          <a:p>
            <a:pPr algn="l">
              <a:lnSpc>
                <a:spcPct val="125000"/>
              </a:lnSpc>
            </a:pPr>
            <a:r>
              <a:rPr sz="1050">
                <a:solidFill>
                  <a:srgbClr val="5B6070"/>
                </a:solidFill>
                <a:latin typeface="Roboto"/>
              </a:rPr>
              <a:t>Um juiz caprichado que só roda quando alguém lembra,</a:t>
            </a:r>
          </a:p>
          <a:p>
            <a:pPr algn="l">
              <a:lnSpc>
                <a:spcPct val="125000"/>
              </a:lnSpc>
            </a:pPr>
            <a:r>
              <a:rPr sz="1050">
                <a:solidFill>
                  <a:srgbClr val="5B6070"/>
                </a:solidFill>
                <a:latin typeface="Roboto"/>
              </a:rPr>
              <a:t>contra um punhado de casos de teste. A produção segue sem</a:t>
            </a:r>
          </a:p>
          <a:p>
            <a:pPr algn="l">
              <a:lnSpc>
                <a:spcPct val="125000"/>
              </a:lnSpc>
            </a:pPr>
            <a:r>
              <a:rPr sz="1050">
                <a:solidFill>
                  <a:srgbClr val="5B6070"/>
                </a:solidFill>
                <a:latin typeface="Roboto"/>
              </a:rPr>
              <a:t>critério</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6"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197"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198"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199"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200"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201" name="TextBox 1200"/>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Tira uma perna, a mesa cai</a:t>
            </a:r>
          </a:p>
        </p:txBody>
      </p:sp>
      <p:sp>
        <p:nvSpPr>
          <p:cNvPr id="1202" name="TextBox 1201"/>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Três armadilhas reais, uma por combinação que falta</a:t>
            </a:r>
          </a:p>
        </p:txBody>
      </p:sp>
      <p:sp>
        <p:nvSpPr>
          <p:cNvPr id="1203" name="Rounded Rectangle 1202"/>
          <p:cNvSpPr/>
          <p:nvPr/>
        </p:nvSpPr>
        <p:spPr>
          <a:xfrm>
            <a:off x="571500" y="1719633"/>
            <a:ext cx="8001000" cy="872877"/>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4" name="Rectangle 1203"/>
          <p:cNvSpPr/>
          <p:nvPr/>
        </p:nvSpPr>
        <p:spPr>
          <a:xfrm>
            <a:off x="571500" y="1719633"/>
            <a:ext cx="50800" cy="872877"/>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5" name="Rounded Rectangle 1204"/>
          <p:cNvSpPr/>
          <p:nvPr/>
        </p:nvSpPr>
        <p:spPr>
          <a:xfrm>
            <a:off x="774700" y="2003672"/>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6" name="TextBox 1205"/>
          <p:cNvSpPr txBox="1"/>
          <p:nvPr/>
        </p:nvSpPr>
        <p:spPr>
          <a:xfrm>
            <a:off x="774700" y="2003672"/>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−O</a:t>
            </a:r>
          </a:p>
        </p:txBody>
      </p:sp>
      <p:sp>
        <p:nvSpPr>
          <p:cNvPr id="1207" name="TextBox 1206"/>
          <p:cNvSpPr txBox="1"/>
          <p:nvPr/>
        </p:nvSpPr>
        <p:spPr>
          <a:xfrm>
            <a:off x="1422400" y="1719633"/>
            <a:ext cx="2641600" cy="872877"/>
          </a:xfrm>
          <a:prstGeom prst="rect">
            <a:avLst/>
          </a:prstGeom>
          <a:noFill/>
        </p:spPr>
        <p:txBody>
          <a:bodyPr wrap="square" lIns="0" tIns="0" rIns="0" bIns="0" anchor="ctr">
            <a:spAutoFit/>
          </a:bodyPr>
          <a:lstStyle/>
          <a:p>
            <a:pPr algn="l">
              <a:lnSpc>
                <a:spcPct val="115000"/>
              </a:lnSpc>
            </a:pPr>
            <a:r>
              <a:rPr sz="1400">
                <a:solidFill>
                  <a:srgbClr val="14161B"/>
                </a:solidFill>
                <a:latin typeface="Encode Sans SemiBold"/>
              </a:rPr>
              <a:t>Eval sem observabilidade</a:t>
            </a:r>
          </a:p>
        </p:txBody>
      </p:sp>
      <p:sp>
        <p:nvSpPr>
          <p:cNvPr id="1208" name="TextBox 1207"/>
          <p:cNvSpPr txBox="1"/>
          <p:nvPr/>
        </p:nvSpPr>
        <p:spPr>
          <a:xfrm>
            <a:off x="4267200" y="1719633"/>
            <a:ext cx="4064000" cy="872877"/>
          </a:xfrm>
          <a:prstGeom prst="rect">
            <a:avLst/>
          </a:prstGeom>
          <a:noFill/>
        </p:spPr>
        <p:txBody>
          <a:bodyPr wrap="square" lIns="0" tIns="0" rIns="0" bIns="0" anchor="ctr">
            <a:spAutoFit/>
          </a:bodyPr>
          <a:lstStyle/>
          <a:p>
            <a:pPr algn="l">
              <a:lnSpc>
                <a:spcPct val="125000"/>
              </a:lnSpc>
            </a:pPr>
            <a:r>
              <a:rPr sz="1050">
                <a:solidFill>
                  <a:srgbClr val="5B6070"/>
                </a:solidFill>
                <a:latin typeface="Roboto"/>
              </a:rPr>
              <a:t>Um juiz caprichado que só roda quando alguém lembra,</a:t>
            </a:r>
          </a:p>
          <a:p>
            <a:pPr algn="l">
              <a:lnSpc>
                <a:spcPct val="125000"/>
              </a:lnSpc>
            </a:pPr>
            <a:r>
              <a:rPr sz="1050">
                <a:solidFill>
                  <a:srgbClr val="5B6070"/>
                </a:solidFill>
                <a:latin typeface="Roboto"/>
              </a:rPr>
              <a:t>contra um punhado de casos de teste. A produção segue sem</a:t>
            </a:r>
          </a:p>
          <a:p>
            <a:pPr algn="l">
              <a:lnSpc>
                <a:spcPct val="125000"/>
              </a:lnSpc>
            </a:pPr>
            <a:r>
              <a:rPr sz="1050">
                <a:solidFill>
                  <a:srgbClr val="5B6070"/>
                </a:solidFill>
                <a:latin typeface="Roboto"/>
              </a:rPr>
              <a:t>critério</a:t>
            </a:r>
          </a:p>
        </p:txBody>
      </p:sp>
      <p:sp>
        <p:nvSpPr>
          <p:cNvPr id="1209" name="Rounded Rectangle 1208"/>
          <p:cNvSpPr/>
          <p:nvPr/>
        </p:nvSpPr>
        <p:spPr>
          <a:xfrm>
            <a:off x="571500" y="2706811"/>
            <a:ext cx="8001000" cy="872877"/>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0" name="Rectangle 1209"/>
          <p:cNvSpPr/>
          <p:nvPr/>
        </p:nvSpPr>
        <p:spPr>
          <a:xfrm>
            <a:off x="571500" y="2706811"/>
            <a:ext cx="50800" cy="872877"/>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1" name="Rounded Rectangle 1210"/>
          <p:cNvSpPr/>
          <p:nvPr/>
        </p:nvSpPr>
        <p:spPr>
          <a:xfrm>
            <a:off x="774700" y="2990850"/>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2" name="TextBox 1211"/>
          <p:cNvSpPr txBox="1"/>
          <p:nvPr/>
        </p:nvSpPr>
        <p:spPr>
          <a:xfrm>
            <a:off x="774700" y="299085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−G</a:t>
            </a:r>
          </a:p>
        </p:txBody>
      </p:sp>
      <p:sp>
        <p:nvSpPr>
          <p:cNvPr id="1213" name="TextBox 1212"/>
          <p:cNvSpPr txBox="1"/>
          <p:nvPr/>
        </p:nvSpPr>
        <p:spPr>
          <a:xfrm>
            <a:off x="1422400" y="2706811"/>
            <a:ext cx="2641600" cy="872877"/>
          </a:xfrm>
          <a:prstGeom prst="rect">
            <a:avLst/>
          </a:prstGeom>
          <a:noFill/>
        </p:spPr>
        <p:txBody>
          <a:bodyPr wrap="square" lIns="0" tIns="0" rIns="0" bIns="0" anchor="ctr">
            <a:spAutoFit/>
          </a:bodyPr>
          <a:lstStyle/>
          <a:p>
            <a:pPr algn="l">
              <a:lnSpc>
                <a:spcPct val="115000"/>
              </a:lnSpc>
            </a:pPr>
            <a:r>
              <a:rPr sz="1400">
                <a:solidFill>
                  <a:srgbClr val="14161B"/>
                </a:solidFill>
                <a:latin typeface="Encode Sans SemiBold"/>
              </a:rPr>
              <a:t>Observabilidade sem</a:t>
            </a:r>
          </a:p>
          <a:p>
            <a:pPr algn="l">
              <a:lnSpc>
                <a:spcPct val="115000"/>
              </a:lnSpc>
            </a:pPr>
            <a:r>
              <a:rPr sz="1400">
                <a:solidFill>
                  <a:srgbClr val="14161B"/>
                </a:solidFill>
                <a:latin typeface="Encode Sans SemiBold"/>
              </a:rPr>
              <a:t>guardrail</a:t>
            </a:r>
          </a:p>
        </p:txBody>
      </p:sp>
      <p:sp>
        <p:nvSpPr>
          <p:cNvPr id="1214" name="TextBox 1213"/>
          <p:cNvSpPr txBox="1"/>
          <p:nvPr/>
        </p:nvSpPr>
        <p:spPr>
          <a:xfrm>
            <a:off x="4267200" y="2706811"/>
            <a:ext cx="4064000" cy="872877"/>
          </a:xfrm>
          <a:prstGeom prst="rect">
            <a:avLst/>
          </a:prstGeom>
          <a:noFill/>
        </p:spPr>
        <p:txBody>
          <a:bodyPr wrap="square" lIns="0" tIns="0" rIns="0" bIns="0" anchor="ctr">
            <a:spAutoFit/>
          </a:bodyPr>
          <a:lstStyle/>
          <a:p>
            <a:pPr algn="l">
              <a:lnSpc>
                <a:spcPct val="125000"/>
              </a:lnSpc>
            </a:pPr>
            <a:r>
              <a:rPr sz="1050">
                <a:solidFill>
                  <a:srgbClr val="5B6070"/>
                </a:solidFill>
                <a:latin typeface="Roboto"/>
              </a:rPr>
              <a:t>Você vê tudo, em tempo real, bonito no painel — e nada</a:t>
            </a:r>
          </a:p>
          <a:p>
            <a:pPr algn="l">
              <a:lnSpc>
                <a:spcPct val="125000"/>
              </a:lnSpc>
            </a:pPr>
            <a:r>
              <a:rPr sz="1050">
                <a:solidFill>
                  <a:srgbClr val="5B6070"/>
                </a:solidFill>
                <a:latin typeface="Roboto"/>
              </a:rPr>
              <a:t>impede a próxima falha. Ver não é prevenir</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 name="Google Shape;356;p51"/>
          <p:cNvSpPr/>
          <p:nvPr/>
        </p:nvSpPr>
        <p:spPr>
          <a:xfrm>
            <a:off x="-62206" y="-56427"/>
            <a:ext cx="9258600" cy="5265000"/>
          </a:xfrm>
          <a:prstGeom prst="rect">
            <a:avLst/>
          </a:prstGeom>
          <a:solidFill>
            <a:srgbClr val="EEEFF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pic>
        <p:nvPicPr>
          <p:cNvPr id="1202" name="Google Shape;357;p51" descr=" "/>
          <p:cNvPicPr preferRelativeResize="0"/>
          <p:nvPr/>
        </p:nvPicPr>
        <p:blipFill rotWithShape="1">
          <a:blip r:embed="rId3">
            <a:alphaModFix/>
          </a:blip>
          <a:srcRect/>
          <a:stretch/>
        </p:blipFill>
        <p:spPr>
          <a:xfrm>
            <a:off x="7086563" y="114300"/>
            <a:ext cx="2057389" cy="4914260"/>
          </a:xfrm>
          <a:prstGeom prst="rect">
            <a:avLst/>
          </a:prstGeom>
          <a:noFill/>
          <a:ln>
            <a:noFill/>
          </a:ln>
        </p:spPr>
      </p:pic>
      <p:sp>
        <p:nvSpPr>
          <p:cNvPr id="1203" name="Google Shape;358;p51"/>
          <p:cNvSpPr/>
          <p:nvPr/>
        </p:nvSpPr>
        <p:spPr>
          <a:xfrm>
            <a:off x="8786767" y="152400"/>
            <a:ext cx="177900" cy="2223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204" name="Google Shape;359;p51" descr=" "/>
          <p:cNvPicPr preferRelativeResize="0"/>
          <p:nvPr/>
        </p:nvPicPr>
        <p:blipFill rotWithShape="1">
          <a:blip r:embed="rId4">
            <a:alphaModFix/>
          </a:blip>
          <a:srcRect/>
          <a:stretch/>
        </p:blipFill>
        <p:spPr>
          <a:xfrm>
            <a:off x="8786767" y="152400"/>
            <a:ext cx="177867" cy="222353"/>
          </a:xfrm>
          <a:prstGeom prst="rect">
            <a:avLst/>
          </a:prstGeom>
          <a:noFill/>
          <a:ln>
            <a:noFill/>
          </a:ln>
        </p:spPr>
      </p:pic>
      <p:pic>
        <p:nvPicPr>
          <p:cNvPr id="1205" name="Google Shape;360;p51" descr="Ícone&#10;&#10;O conteúdo gerado por IA pode estar incorreto."/>
          <p:cNvPicPr preferRelativeResize="0"/>
          <p:nvPr/>
        </p:nvPicPr>
        <p:blipFill rotWithShape="1">
          <a:blip r:embed="rId5">
            <a:alphaModFix/>
          </a:blip>
          <a:srcRect/>
          <a:stretch/>
        </p:blipFill>
        <p:spPr>
          <a:xfrm>
            <a:off x="-825736" y="-3233"/>
            <a:ext cx="588048" cy="3753281"/>
          </a:xfrm>
          <a:prstGeom prst="rect">
            <a:avLst/>
          </a:prstGeom>
          <a:noFill/>
          <a:ln>
            <a:noFill/>
          </a:ln>
        </p:spPr>
      </p:pic>
      <p:sp>
        <p:nvSpPr>
          <p:cNvPr id="1206" name="TextBox 1205"/>
          <p:cNvSpPr txBox="1"/>
          <p:nvPr/>
        </p:nvSpPr>
        <p:spPr>
          <a:xfrm>
            <a:off x="571500" y="558800"/>
            <a:ext cx="8001000" cy="546100"/>
          </a:xfrm>
          <a:prstGeom prst="rect">
            <a:avLst/>
          </a:prstGeom>
          <a:noFill/>
        </p:spPr>
        <p:txBody>
          <a:bodyPr wrap="square" lIns="0" tIns="0" rIns="0" bIns="0" anchor="ctr">
            <a:spAutoFit/>
          </a:bodyPr>
          <a:lstStyle/>
          <a:p>
            <a:pPr algn="ctr">
              <a:lnSpc>
                <a:spcPct val="105000"/>
              </a:lnSpc>
            </a:pPr>
            <a:r>
              <a:rPr sz="2500">
                <a:solidFill>
                  <a:srgbClr val="14161B"/>
                </a:solidFill>
                <a:latin typeface="Encode Sans SemiBold"/>
              </a:rPr>
              <a:t>Tira uma perna, a mesa cai</a:t>
            </a:r>
          </a:p>
        </p:txBody>
      </p:sp>
      <p:sp>
        <p:nvSpPr>
          <p:cNvPr id="1207" name="TextBox 1206"/>
          <p:cNvSpPr txBox="1"/>
          <p:nvPr/>
        </p:nvSpPr>
        <p:spPr>
          <a:xfrm>
            <a:off x="571500" y="1193800"/>
            <a:ext cx="8001000" cy="279400"/>
          </a:xfrm>
          <a:prstGeom prst="rect">
            <a:avLst/>
          </a:prstGeom>
          <a:noFill/>
        </p:spPr>
        <p:txBody>
          <a:bodyPr wrap="square" lIns="0" tIns="0" rIns="0" bIns="0" anchor="ctr">
            <a:spAutoFit/>
          </a:bodyPr>
          <a:lstStyle/>
          <a:p>
            <a:pPr algn="ctr">
              <a:lnSpc>
                <a:spcPct val="100000"/>
              </a:lnSpc>
            </a:pPr>
            <a:r>
              <a:rPr sz="1300">
                <a:solidFill>
                  <a:srgbClr val="8A8FA0"/>
                </a:solidFill>
                <a:latin typeface="Roboto"/>
              </a:rPr>
              <a:t>Três armadilhas reais, uma por combinação que falta</a:t>
            </a:r>
          </a:p>
        </p:txBody>
      </p:sp>
      <p:sp>
        <p:nvSpPr>
          <p:cNvPr id="1208" name="Rounded Rectangle 1207"/>
          <p:cNvSpPr/>
          <p:nvPr/>
        </p:nvSpPr>
        <p:spPr>
          <a:xfrm>
            <a:off x="571500" y="1719633"/>
            <a:ext cx="8001000" cy="872877"/>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9" name="Rectangle 1208"/>
          <p:cNvSpPr/>
          <p:nvPr/>
        </p:nvSpPr>
        <p:spPr>
          <a:xfrm>
            <a:off x="571500" y="1719633"/>
            <a:ext cx="50800" cy="872877"/>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0" name="Rounded Rectangle 1209"/>
          <p:cNvSpPr/>
          <p:nvPr/>
        </p:nvSpPr>
        <p:spPr>
          <a:xfrm>
            <a:off x="774700" y="2003672"/>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1" name="TextBox 1210"/>
          <p:cNvSpPr txBox="1"/>
          <p:nvPr/>
        </p:nvSpPr>
        <p:spPr>
          <a:xfrm>
            <a:off x="774700" y="2003672"/>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−O</a:t>
            </a:r>
          </a:p>
        </p:txBody>
      </p:sp>
      <p:sp>
        <p:nvSpPr>
          <p:cNvPr id="1212" name="TextBox 1211"/>
          <p:cNvSpPr txBox="1"/>
          <p:nvPr/>
        </p:nvSpPr>
        <p:spPr>
          <a:xfrm>
            <a:off x="1422400" y="1719633"/>
            <a:ext cx="2641600" cy="872877"/>
          </a:xfrm>
          <a:prstGeom prst="rect">
            <a:avLst/>
          </a:prstGeom>
          <a:noFill/>
        </p:spPr>
        <p:txBody>
          <a:bodyPr wrap="square" lIns="0" tIns="0" rIns="0" bIns="0" anchor="ctr">
            <a:spAutoFit/>
          </a:bodyPr>
          <a:lstStyle/>
          <a:p>
            <a:pPr algn="l">
              <a:lnSpc>
                <a:spcPct val="115000"/>
              </a:lnSpc>
            </a:pPr>
            <a:r>
              <a:rPr sz="1400">
                <a:solidFill>
                  <a:srgbClr val="14161B"/>
                </a:solidFill>
                <a:latin typeface="Encode Sans SemiBold"/>
              </a:rPr>
              <a:t>Eval sem observabilidade</a:t>
            </a:r>
          </a:p>
        </p:txBody>
      </p:sp>
      <p:sp>
        <p:nvSpPr>
          <p:cNvPr id="1213" name="TextBox 1212"/>
          <p:cNvSpPr txBox="1"/>
          <p:nvPr/>
        </p:nvSpPr>
        <p:spPr>
          <a:xfrm>
            <a:off x="4267200" y="1719633"/>
            <a:ext cx="4064000" cy="872877"/>
          </a:xfrm>
          <a:prstGeom prst="rect">
            <a:avLst/>
          </a:prstGeom>
          <a:noFill/>
        </p:spPr>
        <p:txBody>
          <a:bodyPr wrap="square" lIns="0" tIns="0" rIns="0" bIns="0" anchor="ctr">
            <a:spAutoFit/>
          </a:bodyPr>
          <a:lstStyle/>
          <a:p>
            <a:pPr algn="l">
              <a:lnSpc>
                <a:spcPct val="125000"/>
              </a:lnSpc>
            </a:pPr>
            <a:r>
              <a:rPr sz="1050">
                <a:solidFill>
                  <a:srgbClr val="5B6070"/>
                </a:solidFill>
                <a:latin typeface="Roboto"/>
              </a:rPr>
              <a:t>Um juiz caprichado que só roda quando alguém lembra,</a:t>
            </a:r>
          </a:p>
          <a:p>
            <a:pPr algn="l">
              <a:lnSpc>
                <a:spcPct val="125000"/>
              </a:lnSpc>
            </a:pPr>
            <a:r>
              <a:rPr sz="1050">
                <a:solidFill>
                  <a:srgbClr val="5B6070"/>
                </a:solidFill>
                <a:latin typeface="Roboto"/>
              </a:rPr>
              <a:t>contra um punhado de casos de teste. A produção segue sem</a:t>
            </a:r>
          </a:p>
          <a:p>
            <a:pPr algn="l">
              <a:lnSpc>
                <a:spcPct val="125000"/>
              </a:lnSpc>
            </a:pPr>
            <a:r>
              <a:rPr sz="1050">
                <a:solidFill>
                  <a:srgbClr val="5B6070"/>
                </a:solidFill>
                <a:latin typeface="Roboto"/>
              </a:rPr>
              <a:t>critério</a:t>
            </a:r>
          </a:p>
        </p:txBody>
      </p:sp>
      <p:sp>
        <p:nvSpPr>
          <p:cNvPr id="1214" name="Rounded Rectangle 1213"/>
          <p:cNvSpPr/>
          <p:nvPr/>
        </p:nvSpPr>
        <p:spPr>
          <a:xfrm>
            <a:off x="571500" y="2706811"/>
            <a:ext cx="8001000" cy="872877"/>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5" name="Rectangle 1214"/>
          <p:cNvSpPr/>
          <p:nvPr/>
        </p:nvSpPr>
        <p:spPr>
          <a:xfrm>
            <a:off x="571500" y="2706811"/>
            <a:ext cx="50800" cy="872877"/>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6" name="Rounded Rectangle 1215"/>
          <p:cNvSpPr/>
          <p:nvPr/>
        </p:nvSpPr>
        <p:spPr>
          <a:xfrm>
            <a:off x="774700" y="2990850"/>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7" name="TextBox 1216"/>
          <p:cNvSpPr txBox="1"/>
          <p:nvPr/>
        </p:nvSpPr>
        <p:spPr>
          <a:xfrm>
            <a:off x="774700" y="2990850"/>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−G</a:t>
            </a:r>
          </a:p>
        </p:txBody>
      </p:sp>
      <p:sp>
        <p:nvSpPr>
          <p:cNvPr id="1218" name="TextBox 1217"/>
          <p:cNvSpPr txBox="1"/>
          <p:nvPr/>
        </p:nvSpPr>
        <p:spPr>
          <a:xfrm>
            <a:off x="1422400" y="2706811"/>
            <a:ext cx="2641600" cy="872877"/>
          </a:xfrm>
          <a:prstGeom prst="rect">
            <a:avLst/>
          </a:prstGeom>
          <a:noFill/>
        </p:spPr>
        <p:txBody>
          <a:bodyPr wrap="square" lIns="0" tIns="0" rIns="0" bIns="0" anchor="ctr">
            <a:spAutoFit/>
          </a:bodyPr>
          <a:lstStyle/>
          <a:p>
            <a:pPr algn="l">
              <a:lnSpc>
                <a:spcPct val="115000"/>
              </a:lnSpc>
            </a:pPr>
            <a:r>
              <a:rPr sz="1400">
                <a:solidFill>
                  <a:srgbClr val="14161B"/>
                </a:solidFill>
                <a:latin typeface="Encode Sans SemiBold"/>
              </a:rPr>
              <a:t>Observabilidade sem</a:t>
            </a:r>
          </a:p>
          <a:p>
            <a:pPr algn="l">
              <a:lnSpc>
                <a:spcPct val="115000"/>
              </a:lnSpc>
            </a:pPr>
            <a:r>
              <a:rPr sz="1400">
                <a:solidFill>
                  <a:srgbClr val="14161B"/>
                </a:solidFill>
                <a:latin typeface="Encode Sans SemiBold"/>
              </a:rPr>
              <a:t>guardrail</a:t>
            </a:r>
          </a:p>
        </p:txBody>
      </p:sp>
      <p:sp>
        <p:nvSpPr>
          <p:cNvPr id="1219" name="TextBox 1218"/>
          <p:cNvSpPr txBox="1"/>
          <p:nvPr/>
        </p:nvSpPr>
        <p:spPr>
          <a:xfrm>
            <a:off x="4267200" y="2706811"/>
            <a:ext cx="4064000" cy="872877"/>
          </a:xfrm>
          <a:prstGeom prst="rect">
            <a:avLst/>
          </a:prstGeom>
          <a:noFill/>
        </p:spPr>
        <p:txBody>
          <a:bodyPr wrap="square" lIns="0" tIns="0" rIns="0" bIns="0" anchor="ctr">
            <a:spAutoFit/>
          </a:bodyPr>
          <a:lstStyle/>
          <a:p>
            <a:pPr algn="l">
              <a:lnSpc>
                <a:spcPct val="125000"/>
              </a:lnSpc>
            </a:pPr>
            <a:r>
              <a:rPr sz="1050">
                <a:solidFill>
                  <a:srgbClr val="5B6070"/>
                </a:solidFill>
                <a:latin typeface="Roboto"/>
              </a:rPr>
              <a:t>Você vê tudo, em tempo real, bonito no painel — e nada</a:t>
            </a:r>
          </a:p>
          <a:p>
            <a:pPr algn="l">
              <a:lnSpc>
                <a:spcPct val="125000"/>
              </a:lnSpc>
            </a:pPr>
            <a:r>
              <a:rPr sz="1050">
                <a:solidFill>
                  <a:srgbClr val="5B6070"/>
                </a:solidFill>
                <a:latin typeface="Roboto"/>
              </a:rPr>
              <a:t>impede a próxima falha. Ver não é prevenir</a:t>
            </a:r>
          </a:p>
        </p:txBody>
      </p:sp>
      <p:sp>
        <p:nvSpPr>
          <p:cNvPr id="1220" name="Rounded Rectangle 1219"/>
          <p:cNvSpPr/>
          <p:nvPr/>
        </p:nvSpPr>
        <p:spPr>
          <a:xfrm>
            <a:off x="571500" y="3693988"/>
            <a:ext cx="8001000" cy="872877"/>
          </a:xfrm>
          <a:prstGeom prst="roundRect">
            <a:avLst>
              <a:gd name="adj" fmla="val 12000"/>
            </a:avLst>
          </a:prstGeom>
          <a:solidFill>
            <a:srgbClr val="FFFFFF"/>
          </a:solidFill>
          <a:ln w="26670">
            <a:solidFill>
              <a:srgbClr val="D9DB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21" name="Rectangle 1220"/>
          <p:cNvSpPr/>
          <p:nvPr/>
        </p:nvSpPr>
        <p:spPr>
          <a:xfrm>
            <a:off x="571500" y="3693988"/>
            <a:ext cx="50800" cy="872877"/>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22" name="Rounded Rectangle 1221"/>
          <p:cNvSpPr/>
          <p:nvPr/>
        </p:nvSpPr>
        <p:spPr>
          <a:xfrm>
            <a:off x="774700" y="3978027"/>
            <a:ext cx="482600" cy="304800"/>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23" name="TextBox 1222"/>
          <p:cNvSpPr txBox="1"/>
          <p:nvPr/>
        </p:nvSpPr>
        <p:spPr>
          <a:xfrm>
            <a:off x="774700" y="3978027"/>
            <a:ext cx="482600" cy="304800"/>
          </a:xfrm>
          <a:prstGeom prst="rect">
            <a:avLst/>
          </a:prstGeom>
          <a:noFill/>
        </p:spPr>
        <p:txBody>
          <a:bodyPr wrap="square" lIns="0" tIns="0" rIns="0" bIns="0" anchor="ctr">
            <a:spAutoFit/>
          </a:bodyPr>
          <a:lstStyle/>
          <a:p>
            <a:pPr algn="ctr">
              <a:lnSpc>
                <a:spcPct val="100000"/>
              </a:lnSpc>
            </a:pPr>
            <a:r>
              <a:rPr sz="1100" b="1">
                <a:solidFill>
                  <a:srgbClr val="FFFFFF"/>
                </a:solidFill>
                <a:latin typeface="Encode Sans"/>
              </a:rPr>
              <a:t>−E</a:t>
            </a:r>
          </a:p>
        </p:txBody>
      </p:sp>
      <p:sp>
        <p:nvSpPr>
          <p:cNvPr id="1224" name="TextBox 1223"/>
          <p:cNvSpPr txBox="1"/>
          <p:nvPr/>
        </p:nvSpPr>
        <p:spPr>
          <a:xfrm>
            <a:off x="1422400" y="3693988"/>
            <a:ext cx="2641600" cy="872877"/>
          </a:xfrm>
          <a:prstGeom prst="rect">
            <a:avLst/>
          </a:prstGeom>
          <a:noFill/>
        </p:spPr>
        <p:txBody>
          <a:bodyPr wrap="square" lIns="0" tIns="0" rIns="0" bIns="0" anchor="ctr">
            <a:spAutoFit/>
          </a:bodyPr>
          <a:lstStyle/>
          <a:p>
            <a:pPr algn="l">
              <a:lnSpc>
                <a:spcPct val="115000"/>
              </a:lnSpc>
            </a:pPr>
            <a:r>
              <a:rPr sz="1400">
                <a:solidFill>
                  <a:srgbClr val="14161B"/>
                </a:solidFill>
                <a:latin typeface="Encode Sans SemiBold"/>
              </a:rPr>
              <a:t>Guardrail sem eval</a:t>
            </a:r>
          </a:p>
        </p:txBody>
      </p:sp>
      <p:sp>
        <p:nvSpPr>
          <p:cNvPr id="1225" name="TextBox 1224"/>
          <p:cNvSpPr txBox="1"/>
          <p:nvPr/>
        </p:nvSpPr>
        <p:spPr>
          <a:xfrm>
            <a:off x="4267200" y="3693988"/>
            <a:ext cx="4064000" cy="872877"/>
          </a:xfrm>
          <a:prstGeom prst="rect">
            <a:avLst/>
          </a:prstGeom>
          <a:noFill/>
        </p:spPr>
        <p:txBody>
          <a:bodyPr wrap="square" lIns="0" tIns="0" rIns="0" bIns="0" anchor="ctr">
            <a:spAutoFit/>
          </a:bodyPr>
          <a:lstStyle/>
          <a:p>
            <a:pPr algn="l">
              <a:lnSpc>
                <a:spcPct val="125000"/>
              </a:lnSpc>
            </a:pPr>
            <a:r>
              <a:rPr sz="1050">
                <a:solidFill>
                  <a:srgbClr val="5B6070"/>
                </a:solidFill>
                <a:latin typeface="Roboto"/>
              </a:rPr>
              <a:t>Você trava um comportamento perigoso e nunca mede se a</a:t>
            </a:r>
          </a:p>
          <a:p>
            <a:pPr algn="l">
              <a:lnSpc>
                <a:spcPct val="125000"/>
              </a:lnSpc>
            </a:pPr>
            <a:r>
              <a:rPr sz="1050">
                <a:solidFill>
                  <a:srgbClr val="5B6070"/>
                </a:solidFill>
                <a:latin typeface="Roboto"/>
              </a:rPr>
              <a:t>trava barra demais, irritando quem usa, ou de menos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2A1B151E-DA1C-E12D-F20A-EE23A7897BF4}"/>
              </a:ext>
            </a:extLst>
          </p:cNvPr>
          <p:cNvPicPr>
            <a:picLocks noChangeAspect="1"/>
          </p:cNvPicPr>
          <p:nvPr/>
        </p:nvPicPr>
        <p:blipFill>
          <a:blip r:embed="rId3"/>
          <a:stretch>
            <a:fillRect/>
          </a:stretch>
        </p:blipFill>
        <p:spPr>
          <a:xfrm>
            <a:off x="-269763" y="-130629"/>
            <a:ext cx="9466113" cy="5283412"/>
          </a:xfrm>
          <a:prstGeom prst="rect">
            <a:avLst/>
          </a:prstGeom>
        </p:spPr>
      </p:pic>
      <p:sp>
        <p:nvSpPr>
          <p:cNvPr id="1215"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216" name="Google Shape;323;p48" descr=" "/>
          <p:cNvPicPr preferRelativeResize="0"/>
          <p:nvPr/>
        </p:nvPicPr>
        <p:blipFill rotWithShape="1">
          <a:blip r:embed="rId4">
            <a:alphaModFix/>
          </a:blip>
          <a:srcRect/>
          <a:stretch/>
        </p:blipFill>
        <p:spPr>
          <a:xfrm>
            <a:off x="8786283" y="152400"/>
            <a:ext cx="178830" cy="222353"/>
          </a:xfrm>
          <a:prstGeom prst="rect">
            <a:avLst/>
          </a:prstGeom>
          <a:noFill/>
          <a:ln>
            <a:noFill/>
          </a:ln>
        </p:spPr>
      </p:pic>
      <p:pic>
        <p:nvPicPr>
          <p:cNvPr id="1217" name="Google Shape;325;p48" descr="Ícone&#10;&#10;O conteúdo gerado por IA pode estar incorreto."/>
          <p:cNvPicPr preferRelativeResize="0"/>
          <p:nvPr/>
        </p:nvPicPr>
        <p:blipFill rotWithShape="1">
          <a:blip r:embed="rId5">
            <a:alphaModFix/>
          </a:blip>
          <a:srcRect/>
          <a:stretch/>
        </p:blipFill>
        <p:spPr>
          <a:xfrm>
            <a:off x="9426430" y="-54316"/>
            <a:ext cx="588048" cy="3753281"/>
          </a:xfrm>
          <a:prstGeom prst="rect">
            <a:avLst/>
          </a:prstGeom>
          <a:noFill/>
          <a:ln>
            <a:noFill/>
          </a:ln>
        </p:spPr>
      </p:pic>
      <p:sp>
        <p:nvSpPr>
          <p:cNvPr id="5" name="Google Shape;321;p48">
            <a:extLst>
              <a:ext uri="{FF2B5EF4-FFF2-40B4-BE49-F238E27FC236}">
                <a16:creationId xmlns:a16="http://schemas.microsoft.com/office/drawing/2014/main" id="{1E91A690-76FE-9CD9-09DA-2A5FB1D9B2EF}"/>
              </a:ext>
            </a:extLst>
          </p:cNvPr>
          <p:cNvSpPr/>
          <p:nvPr/>
        </p:nvSpPr>
        <p:spPr>
          <a:xfrm>
            <a:off x="-62207" y="-54316"/>
            <a:ext cx="9258557" cy="5265000"/>
          </a:xfrm>
          <a:prstGeom prst="rect">
            <a:avLst/>
          </a:prstGeom>
          <a:solidFill>
            <a:schemeClr val="tx2">
              <a:lumMod val="50000"/>
              <a:alpha val="40000"/>
            </a:schemeClr>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218" name="TextBox 1217"/>
          <p:cNvSpPr txBox="1"/>
          <p:nvPr/>
        </p:nvSpPr>
        <p:spPr>
          <a:xfrm>
            <a:off x="1143000" y="1371600"/>
            <a:ext cx="6858000" cy="1524000"/>
          </a:xfrm>
          <a:prstGeom prst="rect">
            <a:avLst/>
          </a:prstGeom>
          <a:noFill/>
        </p:spPr>
        <p:txBody>
          <a:bodyPr wrap="square" lIns="0" tIns="0" rIns="0" bIns="0" anchor="ctr">
            <a:spAutoFit/>
          </a:bodyPr>
          <a:lstStyle/>
          <a:p>
            <a:pPr algn="ctr">
              <a:lnSpc>
                <a:spcPct val="110000"/>
              </a:lnSpc>
            </a:pPr>
            <a:r>
              <a:rPr sz="4400">
                <a:solidFill>
                  <a:srgbClr val="FFFFFF"/>
                </a:solidFill>
                <a:latin typeface="Encode Sans SemiBold"/>
              </a:rPr>
              <a:t>Lançar é o começo.</a:t>
            </a:r>
          </a:p>
        </p:txBody>
      </p:sp>
      <p:sp>
        <p:nvSpPr>
          <p:cNvPr id="1219" name="Rectangle 1218"/>
          <p:cNvSpPr/>
          <p:nvPr/>
        </p:nvSpPr>
        <p:spPr>
          <a:xfrm>
            <a:off x="4191000" y="3124200"/>
            <a:ext cx="762000"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20" name="TextBox 1219"/>
          <p:cNvSpPr txBox="1"/>
          <p:nvPr/>
        </p:nvSpPr>
        <p:spPr>
          <a:xfrm>
            <a:off x="1651000" y="3608269"/>
            <a:ext cx="5842000" cy="352661"/>
          </a:xfrm>
          <a:prstGeom prst="rect">
            <a:avLst/>
          </a:prstGeom>
          <a:noFill/>
        </p:spPr>
        <p:txBody>
          <a:bodyPr wrap="square" lIns="0" tIns="0" rIns="0" bIns="0" anchor="ctr">
            <a:spAutoFit/>
          </a:bodyPr>
          <a:lstStyle/>
          <a:p>
            <a:pPr algn="ctr">
              <a:lnSpc>
                <a:spcPct val="125000"/>
              </a:lnSpc>
            </a:pPr>
            <a:r>
              <a:rPr sz="2000" dirty="0">
                <a:solidFill>
                  <a:schemeClr val="bg1"/>
                </a:solidFill>
                <a:latin typeface="Roboto"/>
              </a:rPr>
              <a:t>O run é o resto da </a:t>
            </a:r>
            <a:r>
              <a:rPr sz="2000" dirty="0" err="1">
                <a:solidFill>
                  <a:schemeClr val="bg1"/>
                </a:solidFill>
                <a:latin typeface="Roboto"/>
              </a:rPr>
              <a:t>história</a:t>
            </a:r>
            <a:r>
              <a:rPr sz="2000" dirty="0">
                <a:solidFill>
                  <a:schemeClr val="bg1"/>
                </a:solidFill>
                <a:latin typeface="Roboto"/>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6" name="Google Shape;321;p48"/>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207"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208" name="Google Shape;323;p48" descr=" "/>
          <p:cNvPicPr preferRelativeResize="0"/>
          <p:nvPr/>
        </p:nvPicPr>
        <p:blipFill rotWithShape="1">
          <a:blip r:embed="rId3">
            <a:alphaModFix/>
          </a:blip>
          <a:srcRect/>
          <a:stretch/>
        </p:blipFill>
        <p:spPr>
          <a:xfrm>
            <a:off x="8786283" y="152400"/>
            <a:ext cx="178830" cy="222353"/>
          </a:xfrm>
          <a:prstGeom prst="rect">
            <a:avLst/>
          </a:prstGeom>
          <a:noFill/>
          <a:ln>
            <a:noFill/>
          </a:ln>
        </p:spPr>
      </p:pic>
      <p:pic>
        <p:nvPicPr>
          <p:cNvPr id="1209" name="Google Shape;325;p48" descr="Ícone&#10;&#10;O conteúdo gerado por IA pode estar incorreto."/>
          <p:cNvPicPr preferRelativeResize="0"/>
          <p:nvPr/>
        </p:nvPicPr>
        <p:blipFill rotWithShape="1">
          <a:blip r:embed="rId4">
            <a:alphaModFix/>
          </a:blip>
          <a:srcRect/>
          <a:stretch/>
        </p:blipFill>
        <p:spPr>
          <a:xfrm>
            <a:off x="9426430" y="-54316"/>
            <a:ext cx="588048" cy="3753281"/>
          </a:xfrm>
          <a:prstGeom prst="rect">
            <a:avLst/>
          </a:prstGeom>
          <a:noFill/>
          <a:ln>
            <a:noFill/>
          </a:ln>
        </p:spPr>
      </p:pic>
      <p:sp>
        <p:nvSpPr>
          <p:cNvPr id="1210" name="TextBox 1209"/>
          <p:cNvSpPr txBox="1"/>
          <p:nvPr/>
        </p:nvSpPr>
        <p:spPr>
          <a:xfrm>
            <a:off x="1143000" y="1371600"/>
            <a:ext cx="6858000" cy="1524000"/>
          </a:xfrm>
          <a:prstGeom prst="rect">
            <a:avLst/>
          </a:prstGeom>
          <a:noFill/>
        </p:spPr>
        <p:txBody>
          <a:bodyPr wrap="square" lIns="0" tIns="0" rIns="0" bIns="0" anchor="ctr">
            <a:spAutoFit/>
          </a:bodyPr>
          <a:lstStyle/>
          <a:p>
            <a:pPr algn="ctr">
              <a:lnSpc>
                <a:spcPct val="110000"/>
              </a:lnSpc>
            </a:pPr>
            <a:r>
              <a:rPr sz="4400">
                <a:solidFill>
                  <a:srgbClr val="FFFFFF"/>
                </a:solidFill>
                <a:latin typeface="Encode Sans SemiBold"/>
              </a:rPr>
              <a:t>Lançar é o começo.</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0" name="Google Shape;321;p48"/>
          <p:cNvSpPr/>
          <p:nvPr/>
        </p:nvSpPr>
        <p:spPr>
          <a:xfrm>
            <a:off x="-62206" y="-56427"/>
            <a:ext cx="9258557" cy="5265000"/>
          </a:xfrm>
          <a:prstGeom prst="rect">
            <a:avLst/>
          </a:prstGeom>
          <a:solidFill>
            <a:srgbClr val="052FD3"/>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Calibri"/>
              <a:ea typeface="Calibri"/>
              <a:cs typeface="Calibri"/>
              <a:sym typeface="Calibri"/>
            </a:endParaRPr>
          </a:p>
        </p:txBody>
      </p:sp>
      <p:sp>
        <p:nvSpPr>
          <p:cNvPr id="1211" name="Google Shape;322;p48"/>
          <p:cNvSpPr/>
          <p:nvPr/>
        </p:nvSpPr>
        <p:spPr>
          <a:xfrm>
            <a:off x="8786283" y="152400"/>
            <a:ext cx="178852" cy="222413"/>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212" name="Google Shape;323;p48" descr=" "/>
          <p:cNvPicPr preferRelativeResize="0"/>
          <p:nvPr/>
        </p:nvPicPr>
        <p:blipFill rotWithShape="1">
          <a:blip r:embed="rId3">
            <a:alphaModFix/>
          </a:blip>
          <a:srcRect/>
          <a:stretch/>
        </p:blipFill>
        <p:spPr>
          <a:xfrm>
            <a:off x="8786283" y="152400"/>
            <a:ext cx="178830" cy="222353"/>
          </a:xfrm>
          <a:prstGeom prst="rect">
            <a:avLst/>
          </a:prstGeom>
          <a:noFill/>
          <a:ln>
            <a:noFill/>
          </a:ln>
        </p:spPr>
      </p:pic>
      <p:pic>
        <p:nvPicPr>
          <p:cNvPr id="1213" name="Google Shape;325;p48" descr="Ícone&#10;&#10;O conteúdo gerado por IA pode estar incorreto."/>
          <p:cNvPicPr preferRelativeResize="0"/>
          <p:nvPr/>
        </p:nvPicPr>
        <p:blipFill rotWithShape="1">
          <a:blip r:embed="rId4">
            <a:alphaModFix/>
          </a:blip>
          <a:srcRect/>
          <a:stretch/>
        </p:blipFill>
        <p:spPr>
          <a:xfrm>
            <a:off x="9426430" y="-54316"/>
            <a:ext cx="588048" cy="3753281"/>
          </a:xfrm>
          <a:prstGeom prst="rect">
            <a:avLst/>
          </a:prstGeom>
          <a:noFill/>
          <a:ln>
            <a:noFill/>
          </a:ln>
        </p:spPr>
      </p:pic>
      <p:sp>
        <p:nvSpPr>
          <p:cNvPr id="1214" name="TextBox 1213"/>
          <p:cNvSpPr txBox="1"/>
          <p:nvPr/>
        </p:nvSpPr>
        <p:spPr>
          <a:xfrm>
            <a:off x="1143000" y="1371600"/>
            <a:ext cx="6858000" cy="1524000"/>
          </a:xfrm>
          <a:prstGeom prst="rect">
            <a:avLst/>
          </a:prstGeom>
          <a:noFill/>
        </p:spPr>
        <p:txBody>
          <a:bodyPr wrap="square" lIns="0" tIns="0" rIns="0" bIns="0" anchor="ctr">
            <a:spAutoFit/>
          </a:bodyPr>
          <a:lstStyle/>
          <a:p>
            <a:pPr algn="ctr">
              <a:lnSpc>
                <a:spcPct val="110000"/>
              </a:lnSpc>
            </a:pPr>
            <a:r>
              <a:rPr sz="4400">
                <a:solidFill>
                  <a:srgbClr val="FFFFFF"/>
                </a:solidFill>
                <a:latin typeface="Encode Sans SemiBold"/>
              </a:rPr>
              <a:t>Lançar é o começo.</a:t>
            </a:r>
          </a:p>
        </p:txBody>
      </p:sp>
      <p:sp>
        <p:nvSpPr>
          <p:cNvPr id="1215" name="Rectangle 1214"/>
          <p:cNvSpPr/>
          <p:nvPr/>
        </p:nvSpPr>
        <p:spPr>
          <a:xfrm>
            <a:off x="4191000" y="3124200"/>
            <a:ext cx="762000"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7834</Words>
  <Application>Microsoft Office PowerPoint</Application>
  <PresentationFormat>Apresentação na tela (16:9)</PresentationFormat>
  <Paragraphs>742</Paragraphs>
  <Slides>75</Slides>
  <Notes>75</Notes>
  <HiddenSlides>0</HiddenSlides>
  <MMClips>0</MMClips>
  <ScaleCrop>false</ScaleCrop>
  <HeadingPairs>
    <vt:vector size="6" baseType="variant">
      <vt:variant>
        <vt:lpstr>Fontes usadas</vt:lpstr>
      </vt:variant>
      <vt:variant>
        <vt:i4>5</vt:i4>
      </vt:variant>
      <vt:variant>
        <vt:lpstr>Tema</vt:lpstr>
      </vt:variant>
      <vt:variant>
        <vt:i4>2</vt:i4>
      </vt:variant>
      <vt:variant>
        <vt:lpstr>Títulos de slides</vt:lpstr>
      </vt:variant>
      <vt:variant>
        <vt:i4>75</vt:i4>
      </vt:variant>
    </vt:vector>
  </HeadingPairs>
  <TitlesOfParts>
    <vt:vector size="82" baseType="lpstr">
      <vt:lpstr>Arial</vt:lpstr>
      <vt:lpstr>Encode Sans SemiBold</vt:lpstr>
      <vt:lpstr>Encode Sans</vt:lpstr>
      <vt:lpstr>Roboto</vt:lpstr>
      <vt:lpstr>Calibri</vt:lpstr>
      <vt:lpstr>Simple Light</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Stephanie Oliveira</cp:lastModifiedBy>
  <cp:revision>2</cp:revision>
  <dcterms:modified xsi:type="dcterms:W3CDTF">2026-09-18T00:01:42Z</dcterms:modified>
</cp:coreProperties>
</file>