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7"/>
  </p:notesMasterIdLst>
  <p:sldIdLst>
    <p:sldId id="329" r:id="rId2"/>
    <p:sldId id="330" r:id="rId3"/>
    <p:sldId id="331" r:id="rId4"/>
    <p:sldId id="332" r:id="rId5"/>
    <p:sldId id="333" r:id="rId6"/>
    <p:sldId id="334" r:id="rId7"/>
    <p:sldId id="335" r:id="rId8"/>
    <p:sldId id="336" r:id="rId9"/>
    <p:sldId id="337" r:id="rId10"/>
    <p:sldId id="338" r:id="rId11"/>
    <p:sldId id="339" r:id="rId12"/>
    <p:sldId id="340" r:id="rId13"/>
    <p:sldId id="341" r:id="rId14"/>
    <p:sldId id="342" r:id="rId15"/>
    <p:sldId id="343" r:id="rId16"/>
    <p:sldId id="344" r:id="rId17"/>
    <p:sldId id="345" r:id="rId18"/>
    <p:sldId id="346" r:id="rId19"/>
    <p:sldId id="347" r:id="rId20"/>
    <p:sldId id="348" r:id="rId21"/>
    <p:sldId id="349" r:id="rId22"/>
    <p:sldId id="350" r:id="rId23"/>
    <p:sldId id="351" r:id="rId24"/>
    <p:sldId id="352" r:id="rId25"/>
    <p:sldId id="353" r:id="rId26"/>
    <p:sldId id="354" r:id="rId27"/>
    <p:sldId id="355" r:id="rId28"/>
    <p:sldId id="356" r:id="rId29"/>
    <p:sldId id="357" r:id="rId30"/>
    <p:sldId id="358" r:id="rId31"/>
    <p:sldId id="359" r:id="rId32"/>
    <p:sldId id="360" r:id="rId33"/>
    <p:sldId id="361" r:id="rId34"/>
    <p:sldId id="362" r:id="rId35"/>
    <p:sldId id="363" r:id="rId36"/>
    <p:sldId id="364" r:id="rId37"/>
    <p:sldId id="365" r:id="rId38"/>
    <p:sldId id="366" r:id="rId39"/>
    <p:sldId id="367" r:id="rId40"/>
    <p:sldId id="368" r:id="rId41"/>
    <p:sldId id="369" r:id="rId42"/>
    <p:sldId id="370" r:id="rId43"/>
    <p:sldId id="371" r:id="rId44"/>
    <p:sldId id="372" r:id="rId45"/>
    <p:sldId id="373" r:id="rId46"/>
  </p:sldIdLst>
  <p:sldSz cx="24387175" cy="13716000"/>
  <p:notesSz cx="13716000" cy="24387175"/>
  <p:embeddedFontLst>
    <p:embeddedFont>
      <p:font typeface="Encode Sans" pitchFamily="2" charset="0"/>
      <p:regular r:id="rId48"/>
      <p:bold r:id="rId49"/>
    </p:embeddedFont>
    <p:embeddedFont>
      <p:font typeface="Encode Sans SemiBold" pitchFamily="2" charset="0"/>
      <p:regular r:id="rId50"/>
      <p:bold r:id="rId51"/>
    </p:embeddedFont>
    <p:embeddedFont>
      <p:font typeface="Roboto" panose="02000000000000000000" pitchFamily="2" charset="0"/>
      <p:regular r:id="rId52"/>
      <p:bold r:id="rId53"/>
      <p:italic r:id="rId54"/>
      <p:boldItalic r:id="rId55"/>
    </p:embeddedFont>
    <p:embeddedFont>
      <p:font typeface="Roboto ExtraLight" panose="020B0604020202020204" charset="0"/>
      <p:regular r:id="rId56"/>
      <p:bold r:id="rId57"/>
      <p:italic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339">
          <p15:clr>
            <a:srgbClr val="747775"/>
          </p15:clr>
        </p15:guide>
        <p15:guide id="2" pos="768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0" roundtripDataSignature="AMtx7mhO2+9mf9/IodkjW8n4ottlZ3ZES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561" autoAdjust="0"/>
  </p:normalViewPr>
  <p:slideViewPr>
    <p:cSldViewPr snapToGrid="0">
      <p:cViewPr varScale="1">
        <p:scale>
          <a:sx n="42" d="100"/>
          <a:sy n="42" d="100"/>
        </p:scale>
        <p:origin x="1596" y="48"/>
      </p:cViewPr>
      <p:guideLst>
        <p:guide orient="horz" pos="5339"/>
        <p:guide pos="76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font" Target="fonts/font3.fntdata"/><Relationship Id="rId55" Type="http://schemas.openxmlformats.org/officeDocument/2006/relationships/font" Target="fonts/font8.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6.fntdata"/><Relationship Id="rId58" Type="http://schemas.openxmlformats.org/officeDocument/2006/relationships/font" Target="fonts/font11.fntdata"/><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schemas.openxmlformats.org/officeDocument/2006/relationships/font" Target="fonts/font9.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7.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57" Type="http://schemas.openxmlformats.org/officeDocument/2006/relationships/font" Target="fonts/font10.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5.fntdata"/><Relationship Id="rId60"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86450" y="1829025"/>
            <a:ext cx="9144450" cy="91451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371600" y="11583900"/>
            <a:ext cx="10972800" cy="1097422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f3de5a4e7f_0_4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3" name="Google Shape;523;g3f3de5a4e7f_0_4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Antes de gravar: nenhuma demo neste vídeo. Langfuse fechado.</a:t>
            </a:r>
            <a:endParaRPr sz="1200">
              <a:solidFill>
                <a:schemeClr val="dk1"/>
              </a:solidFill>
              <a:latin typeface="Calibri"/>
              <a:ea typeface="Calibri"/>
              <a:cs typeface="Calibri"/>
              <a:sym typeface="Calibri"/>
            </a:endParaRPr>
          </a:p>
        </p:txBody>
      </p:sp>
      <p:sp>
        <p:nvSpPr>
          <p:cNvPr id="524" name="Google Shape;524;g3f3de5a4e7f_0_4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f8342f7686_0_27: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g3f8342f7686_0_27:notes"/>
          <p:cNvSpPr txBox="1">
            <a:spLocks noGrp="1"/>
          </p:cNvSpPr>
          <p:nvPr>
            <p:ph type="body" idx="1"/>
          </p:nvPr>
        </p:nvSpPr>
        <p:spPr>
          <a:xfrm>
            <a:off x="1371600" y="11583900"/>
            <a:ext cx="10972800" cy="10974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pt-BR"/>
              <a:t>Na aula passada eu terminei com uma frase: eu sei o que procurar, agora falta enxergar.</a:t>
            </a:r>
          </a:p>
          <a:p>
            <a:pPr marL="0" lvl="0" indent="0" algn="l" rtl="0">
              <a:lnSpc>
                <a:spcPct val="100000"/>
              </a:lnSpc>
              <a:spcBef>
                <a:spcPts val="0"/>
              </a:spcBef>
              <a:spcAft>
                <a:spcPts val="0"/>
              </a:spcAft>
              <a:buSzPts val="1100"/>
              <a:buNone/>
            </a:pPr>
            <a:endParaRPr lang="pt-BR"/>
          </a:p>
          <a:p>
            <a:pPr marL="0" lvl="0" indent="0" algn="l" rtl="0">
              <a:lnSpc>
                <a:spcPct val="100000"/>
              </a:lnSpc>
              <a:spcBef>
                <a:spcPts val="0"/>
              </a:spcBef>
              <a:spcAft>
                <a:spcPts val="0"/>
              </a:spcAft>
              <a:buSzPts val="1100"/>
              <a:buNone/>
            </a:pPr>
            <a:r>
              <a:rPr lang="pt-BR"/>
              <a:t>Eu tinha critério, tinha juiz, tinha um conjunto de evals. E tinha um buraco que eu mesmo apontei no último slide: tudo aquilo só roda quando eu mando rodar.</a:t>
            </a:r>
          </a:p>
          <a:p>
            <a:pPr marL="0" lvl="0" indent="0" algn="l" rtl="0">
              <a:lnSpc>
                <a:spcPct val="100000"/>
              </a:lnSpc>
              <a:spcBef>
                <a:spcPts val="0"/>
              </a:spcBef>
              <a:spcAft>
                <a:spcPts val="0"/>
              </a:spcAft>
              <a:buSzPts val="1100"/>
              <a:buNone/>
            </a:pPr>
            <a:endParaRPr lang="pt-BR"/>
          </a:p>
          <a:p>
            <a:pPr marL="0" lvl="0" indent="0" algn="l" rtl="0">
              <a:lnSpc>
                <a:spcPct val="100000"/>
              </a:lnSpc>
              <a:spcBef>
                <a:spcPts val="0"/>
              </a:spcBef>
              <a:spcAft>
                <a:spcPts val="0"/>
              </a:spcAft>
              <a:buSzPts val="1100"/>
              <a:buNone/>
            </a:pPr>
            <a:r>
              <a:rPr lang="pt-BR"/>
              <a:t>Hoje eu pego o segundo pilar. E começo do mesmo jeito que comecei o primeiro: lembrando qual era a pergunta dele.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Essa é a pergunta da observabilidade. Não é "a resposta está boa?". Essa era a dos evals.</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Essa aqui é mais ampla, e mais incômoda. O que está acontecendo com o meu produto agora? Uso, erro, tempo de resposta, custo. A saúde dele.</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repara no "agora". O eval eu rodo quando quero. O produto não espera eu querer.</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3</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3f3dd40fd11_1_23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3" name="Google Shape;373;g3f3dd40fd11_1_23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Deixa eu te mostrar o tamanho disso no meu produto.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1) Toda sexta de manhã, o Musa Balance escolhe sozinho a receita premium da semana. Olha o feed de um canal de receitas, cruza com o estoque e manda no grupo da casa. Ninguém aperta botão. Eu não estou lá.</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2) O Telegram recebe mensagem a qualquer hora. Uma compra, um jantar, um desejo pro sábado. Cada mensagem passa por uma inteligência que entende o que a pessoa quis dizer e mexe no estoque.</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3) E o eval, que eu construí com tanto cuidado, roda quando eu lembro de rodar.</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Então a pergunta é simples. Quando uma dessas coisas dá errado sem eu estar olhando, como eu saberia?</a:t>
            </a:r>
            <a:endParaRPr sz="1200">
              <a:solidFill>
                <a:schemeClr val="dk1"/>
              </a:solidFill>
              <a:latin typeface="Calibri"/>
              <a:ea typeface="Calibri"/>
              <a:cs typeface="Calibri"/>
              <a:sym typeface="Calibri"/>
            </a:endParaRPr>
          </a:p>
        </p:txBody>
      </p:sp>
      <p:sp>
        <p:nvSpPr>
          <p:cNvPr id="374" name="Google Shape;374;g3f3dd40fd11_1_23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4</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3f3dd40fd11_1_23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3" name="Google Shape;373;g3f3dd40fd11_1_23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Deixa eu te mostrar o tamanho disso no meu produto.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1) Toda sexta de manhã, o Musa Balance escolhe sozinho a receita premium da semana. Olha o feed de um canal de receitas, cruza com o estoque e manda no grupo da casa. Ninguém aperta botão. Eu não estou lá.</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2) O Telegram recebe mensagem a qualquer hora. Uma compra, um jantar, um desejo pro sábado. Cada mensagem passa por uma inteligência que entende o que a pessoa quis dizer e mexe no estoque.</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3) E o eval, que eu construí com tanto cuidado, roda quando eu lembro de rodar.</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Então a pergunta é simples. Quando uma dessas coisas dá errado sem eu estar olhando, como eu saberia?</a:t>
            </a:r>
            <a:endParaRPr sz="1200">
              <a:solidFill>
                <a:schemeClr val="dk1"/>
              </a:solidFill>
              <a:latin typeface="Calibri"/>
              <a:ea typeface="Calibri"/>
              <a:cs typeface="Calibri"/>
              <a:sym typeface="Calibri"/>
            </a:endParaRPr>
          </a:p>
        </p:txBody>
      </p:sp>
      <p:sp>
        <p:nvSpPr>
          <p:cNvPr id="374" name="Google Shape;374;g3f3dd40fd11_1_23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5</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3f3dd40fd11_1_23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3" name="Google Shape;373;g3f3dd40fd11_1_23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Deixa eu te mostrar o tamanho disso no meu produto.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1) Toda sexta de manhã, o Musa Balance escolhe sozinho a receita premium da semana. Olha o feed de um canal de receitas, cruza com o estoque e manda no grupo da casa. Ninguém aperta botão. Eu não estou lá.</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2) O Telegram recebe mensagem a qualquer hora. Uma compra, um jantar, um desejo pro sábado. Cada mensagem passa por uma inteligência que entende o que a pessoa quis dizer e mexe no estoque.</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3) E o eval, que eu construí com tanto cuidado, roda quando eu lembro de rodar.</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Então a pergunta é simples. Quando uma dessas coisas dá errado sem eu estar olhando, como eu saberia?</a:t>
            </a:r>
            <a:endParaRPr sz="1200">
              <a:solidFill>
                <a:schemeClr val="dk1"/>
              </a:solidFill>
              <a:latin typeface="Calibri"/>
              <a:ea typeface="Calibri"/>
              <a:cs typeface="Calibri"/>
              <a:sym typeface="Calibri"/>
            </a:endParaRPr>
          </a:p>
        </p:txBody>
      </p:sp>
      <p:sp>
        <p:nvSpPr>
          <p:cNvPr id="374" name="Google Shape;374;g3f3dd40fd11_1_23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6</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 primeira resposta de quase todo mundo é: eu olho o log. E log ajuda. Mas log é um evento solto. "Deu erro aqui." E ele só existe se alguém lembrou de escrever aquela linha.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Observabilidade é outra coisa. É eu conseguir reconstruir, depois, sem ter estado lá, o caminho inteiro. O que chegou, o que o produto fez, em que ordem, quanto custou, como terminou.</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Não é saber que algo aconteceu. É conseguir explicar por quê.</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Deixa eu te mostrar com uma sexta-feira de verdade.</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7</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Na aula bônus eu recusei duas perguntas como eval: "a receita saiu no prazo?" e "alguma semana ficou sem receita?". Recusei porque não são julgamento, são conta de data. E deixei anotado que eram pendência de observabilidade. Olha onde a resposta mora.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Nas sextas seguintes, a receita saiu às sete e dezoito da manhã. Nessa sexta, 28 de agosto, o produto passou a manhã fora do ar e só voltou às dez e trinta e quatro. E fora do ar não deixa rastro nenhum: essa parte da manhã simplesmente não existe aqui.</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Às onze e trinta e cinco, o job tentou. Erro: chave de acesso inválida. A chave que o produto usa pra falar com a inteligência tinha sido revogada, e eu ainda não tinha trocado. Às doze e trinta e cinco, tentou de novo. Mesmo erro. Às doze e cinquenta e quatro eu troquei a chave. E às treze e cinquenta e cinco a receita saiu.</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Então, saiu no prazo? Não. Saiu mais de seis horas e meia depois do horário de costume, com dois erros no caminho. E ninguém me mandou mensagem nenhuma. Se eu quero saber hoje o que aconteceu naquela manhã, eu não dependo da minha memória. Está gravado.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(um detalhe pra guardar) A receita que saiu às treze e cinquenta e cinco foi o Beef Wellington. Na sexta seguinte, ele foi escolhido de novo. É a repetição que o eval da aula bônus pegou.</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8</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3f6efaed406_0_17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1" name="Google Shape;481;g3f6efaed406_0_17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Então, o que eu preciso gravar? Três coisas, de cada interação.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O caminho. O que ele fez antes de responder. Consultou o estoque? A validade? O orçamento? Com o que entrou e o que saiu de cada passo. Sem o caminho, eu vejo a resposta e não sei de onde ela veio.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 conta. Quanto custou e quanto tempo levou, passo a passo, porque é assim que eu descubro pra onde vai o dinheiro.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o desfecho. Terminou inteira? Deu erro? Veio cortada no meio? E, quando existir, a nota que o eval da aula passada escreve de volta.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Repara nos exemplos. Nenhum é inventado, e todos voltam nesta aula. O caminho é o próximo vídeo. A conta é o 3.3. E aquele "2.048 tokens: bateu no teto" é o 3.4.</a:t>
            </a:r>
            <a:endParaRPr sz="1200">
              <a:solidFill>
                <a:schemeClr val="dk1"/>
              </a:solidFill>
              <a:latin typeface="Calibri"/>
              <a:ea typeface="Calibri"/>
              <a:cs typeface="Calibri"/>
              <a:sym typeface="Calibri"/>
            </a:endParaRPr>
          </a:p>
        </p:txBody>
      </p:sp>
      <p:sp>
        <p:nvSpPr>
          <p:cNvPr id="482" name="Google Shape;482;g3f6efaed406_0_17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9</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Quando eu entendi isso, eu adotei uma regra no meu produto. E ela é radical de propósito: nenhuma chamada da inteligência pode acontecer sem deixar rastro. Nenhuma.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Não é enfeite pra depois. Está escrita na especificação do produto como requisito, do mesmo tamanho que "precisa de senha pra entrar".</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tem um detalhe que quase me pegou. O rastro precisa ligar antes de todo o resto. Se ele liga tarde, o que aconteceu antes dele some. E some em silêncio.</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10</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aqui está o motivo de quase todo mundo adiar isso.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Se eu desligo a observabilidade, o produto continua funcionando. O usuário não percebe nada. Ninguém abre chamado dizendo "seu produto está sem rastro".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Quem fica cego sou eu. E é isso que muda a forma de operar. Sem rastro, eu descubro o problema quando alguém reclama. Com rastro, eu descubro olhando o dado. Às vezes antes de alguém perceber.</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No próximo vídeo eu desligo na sua frente. E ligo de novo.</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11</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f3de5a4e7f_0_4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3" name="Google Shape;523;g3f3de5a4e7f_0_4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Pré-flight do 3.2 em apoio/aula3-preflight-e-apoio.md. Resumo: observabilidade LIGADA, servidor local parado, Langfuse aberto na lista de interações, as duas frases de teste validadas fora do ar, e o Telegram fora da demo.</a:t>
            </a:r>
            <a:endParaRPr sz="1200">
              <a:solidFill>
                <a:schemeClr val="dk1"/>
              </a:solidFill>
              <a:latin typeface="Calibri"/>
              <a:ea typeface="Calibri"/>
              <a:cs typeface="Calibri"/>
              <a:sym typeface="Calibri"/>
            </a:endParaRPr>
          </a:p>
        </p:txBody>
      </p:sp>
      <p:sp>
        <p:nvSpPr>
          <p:cNvPr id="524" name="Google Shape;524;g3f3de5a4e7f_0_4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12</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3f8342f7686_0_10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1" name="Google Shape;591;g3f8342f7686_0_10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 ferramenta que eu uso pra isso é o Langfuse. E, antes de abrir a tela, uma decisão que parece técnica e é de negócio: onde esse rastro vai morar?</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1) O primeiro caminho é a nuvem deles. Cria a conta, cria o projeto, pega as chaves, e em minutos o dado está chegando. A contrapartida: o dado do seu produto fica na infraestrutura deles.</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2) O segundo é rodar você mesmo, com Docker. Controle total de onde o dado mora. Mas a própria documentação deles é honesta: é uma máquina só, sem alta disponibilidade, sem escala, sem backup. Serve pra testar, não pra sustentar produto.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3) E o terceiro é a versão de produção na sua própria nuvem, pra quando o produto já provou valor.</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Por que isso importa agora? Porque o rastro guarda o que o usuário escreveu. Se o seu produto lida com dado de cliente, onde o rastro mora é uma decisão de conformidade. Guarda esse fio, que ele volta na Aula 5. Neste curso, eu uso a nuvem deles.</a:t>
            </a:r>
            <a:endParaRPr sz="1200">
              <a:solidFill>
                <a:schemeClr val="dk1"/>
              </a:solidFill>
              <a:latin typeface="Calibri"/>
              <a:ea typeface="Calibri"/>
              <a:cs typeface="Calibri"/>
              <a:sym typeface="Calibri"/>
            </a:endParaRPr>
          </a:p>
        </p:txBody>
      </p:sp>
      <p:sp>
        <p:nvSpPr>
          <p:cNvPr id="592" name="Google Shape;592;g3f8342f7686_0_10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13</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antes de você criar conta: quanto custa.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O plano gratuito dá cinquenta mil registros por mês. Registro é qualquer coisa que chega lá: uma interação, um passo dentro dela, uma nota.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Pra você ter uma ideia, o meu produto tem hoje duzentos e cinquenta e nove registros no painel. Meio por cento do plano gratuito. Você não precisa pagar nada pra fazer o que eu faço nesta aula.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Mas tem um limite que importa mais que esse, e ele vai aparecer daqui a pouco: no plano gratuito, você só enxerga os últimos trinta dias.</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14</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3f6efaed406_0_17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1" name="Google Shape;481;g3f6efaed406_0_17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 AÇÃO: Langfuse, lista de interações. Abrir a mensagem "comprei maçãs" (29/08, 13h12) e mostrar os 2 passos. Depois abrir a mediação 1ecca5e6 (03/09, 16h36) e mostrar a árvore. Não ler a resposta dela.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Agora sim, a tela. Ela está em inglês, então vão três palavras, com o que cada uma quer dizer.</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Trace é a interação, do pedido até a resposta. É o que você abre primeiro.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Observation é o passo. Cada coisa que aconteceu lá dentro: cada chamada ao modelo, cada ferramenta. Com o que entrou, o que saiu, quanto custou e quanto levou.</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Score é a nota. Lembra do eval da aula passada? Ele escreve a avaliação de volta, aqui, grudada na interação que ele julgou.</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(alt+tab pro Langfuse, abre "comprei maçãs") Olha essa aqui: uma mensagem que chegou pelo Telegram. "Comprei maçãs." Dois passos. O agente, e uma chamada ao modelo pra entender que aquilo era uma compra.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(abre 1ecca5e6) E agora uma mediação de cardápio. Olha o tamanho da árvore. Consultou o estoque, a validade, as preferências, o orçamento, os relatos da semana. Verificou o que tinha disponível. Chamou o modelo quatro vezes.</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Eu não vou ler a resposta dessa agora. Guarda o horário: três de setembro, quatro e trinta e seis da tarde. Ela volta no último vídeo desta aula.</a:t>
            </a:r>
            <a:endParaRPr sz="1200">
              <a:solidFill>
                <a:schemeClr val="dk1"/>
              </a:solidFill>
              <a:latin typeface="Calibri"/>
              <a:ea typeface="Calibri"/>
              <a:cs typeface="Calibri"/>
              <a:sym typeface="Calibri"/>
            </a:endParaRPr>
          </a:p>
        </p:txBody>
      </p:sp>
      <p:sp>
        <p:nvSpPr>
          <p:cNvPr id="482" name="Google Shape;482;g3f6efaed406_0_17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15</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Guarda essa diferença, porque ela vira dinheiro no próximo vídeo.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Uma mensagem curta: dois passos. Essa mediação: doze. E tem mediação aqui com quinze.</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Cada passo é uma coisa que eu consigo abrir e conferir. É isso que eu quero dizer com reconstruir: eu não estava olhando às quatro e meia da tarde do dia três, e mesmo assim eu sigo o caminho inteiro.</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16</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3f8342f7686_0_10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1" name="Google Shape;591;g3f8342f7686_0_10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 AÇÃO: Langfuse: configurações do projeto → chaves de API. Mostrar onde ficam, sem revelar a chave secreta.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pra ligar isso no seu produto?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1) Você cria o projeto aqui, e nas configurações gera as chaves. (mostra a tela, sem abrir a secreta)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2) São três valores: duas chaves e o endereço do servidor. Você cola na configuração do seu produto. E essas chaves são segredo: nunca vão pro código, nunca vão pro chat.</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3) E a regra de ordem: o rastro liga antes de todo o resto. Se você está construindo com um assistente de código, é exatamente isso que você pede pra ele. Eu deixei o pedido pronto no material de apoio desta aula.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É a parte mais fácil da aula inteira. E é a que mais gente deixa pra depois, porque nada quebra enquanto ela não está ligada.</a:t>
            </a:r>
            <a:endParaRPr sz="1200">
              <a:solidFill>
                <a:schemeClr val="dk1"/>
              </a:solidFill>
              <a:latin typeface="Calibri"/>
              <a:ea typeface="Calibri"/>
              <a:cs typeface="Calibri"/>
              <a:sym typeface="Calibri"/>
            </a:endParaRPr>
          </a:p>
        </p:txBody>
      </p:sp>
      <p:sp>
        <p:nvSpPr>
          <p:cNvPr id="592" name="Google Shape;592;g3f8342f7686_0_10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17</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f3de5a4e7f_0_4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3" name="Google Shape;523;g3f3de5a4e7f_0_4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 AÇÃO: no terminal, na pasta do produto: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powershell -File scripts/observabilidade.ps1 off</a:t>
            </a: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npm start</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Apontar as duas linhas amarelas [WARN] da subida. No produto local (localhost:3300, nunca pelo Telegram), mandar na conversa: "Bateu vontade de pastel de feira". Depois, no Langfuse: nada.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Então vamos provar. Eu desligo a observabilidade do meu produto, rodando aqui na minha máquina, e subo de novo.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(aponta o terminal) Olha o que apareceu. Duas linhas amarelas: não tem chave configurada, o envio vai falhar. Esse é o aviso. Uma vez, na hora de ligar.</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(no produto) Agora eu uso o produto normalmente. "Bateu vontade de pastel de feira." Ele entende que é um desejo e anota no feed. Funciona igual.</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(no Langfuse) E aqui? Nada. A interação aconteceu, e não sobrou rastro nenhum.</a:t>
            </a:r>
            <a:endParaRPr sz="1200">
              <a:solidFill>
                <a:schemeClr val="dk1"/>
              </a:solidFill>
              <a:latin typeface="Calibri"/>
              <a:ea typeface="Calibri"/>
              <a:cs typeface="Calibri"/>
              <a:sym typeface="Calibri"/>
            </a:endParaRPr>
          </a:p>
        </p:txBody>
      </p:sp>
      <p:sp>
        <p:nvSpPr>
          <p:cNvPr id="524" name="Google Shape;524;g3f3de5a4e7f_0_4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18</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Eu quero ser justo com a ferramenta: ela avisou. Duas linhas, na hora de subir.</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Só que repara onde. Num terminal. Em produção, isso vai parar num log de servidor que ninguém abre, no meio de centenas de linhas, no dia em que alguém mexeu numa configuração.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O usuário não percebe. O produto não reclama. E o aviso fica num lugar que ninguém lê. É por isso que isso nunca parece urgente, até o dia em que você precisa do dado e ele não existe.</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19</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f3de5a4e7f_0_4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3" name="Google Shape;523;g3f3de5a4e7f_0_4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 AÇÃO: Ctrl+C no terminal. Depois:</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powershell -File scripts/observabilidade.ps1 on</a:t>
            </a: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npm start</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Sem linha amarela na subida. No produto local, mandar: "Bateu vontade de caldo de cana". Voltar pro slide 10 e falar por um minuto. Só então abrir o Langfuse: a interação está lá, com os 2 passos.</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Agora eu ligo de volta. Paro o servidor, devolvo as chaves, subo de novo. Repara: nenhuma linha amarela.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(no produto) Mesma coisa: "Bateu vontade de caldo de cana."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aqui eu preciso te avisar de uma coisa antes que você ache que quebrou.</a:t>
            </a:r>
            <a:endParaRPr sz="1200">
              <a:solidFill>
                <a:schemeClr val="dk1"/>
              </a:solidFill>
              <a:latin typeface="Calibri"/>
              <a:ea typeface="Calibri"/>
              <a:cs typeface="Calibri"/>
              <a:sym typeface="Calibri"/>
            </a:endParaRPr>
          </a:p>
        </p:txBody>
      </p:sp>
      <p:sp>
        <p:nvSpPr>
          <p:cNvPr id="524" name="Google Shape;524;g3f3de5a4e7f_0_4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20</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O registro leva uns quarenta e cinco segundos pra aparecer. Eu medi isso no meu produto. Não é erro, é fila: o dado sai daqui, é processado do lado de lá, e só então fica consultável.</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Se você olhar na hora e não achar, vai achar que a configuração deu errado. Não deu. Espera.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isso vale pra qualquer coisa que você automatizar em cima desse dado. Se o seu processo lê o registro logo depois de criar, ele precisa esperar também.</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(volta pro Langfuse) Agora sim. Olha ela aqui: a mesma ação de um minuto atrás, inteira, com os dois passos.</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21</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O produto fez exatamente a mesma coisa nas duas vezes. Entendeu a frase, anotou o desejo, respondeu.</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 diferença não está no produto. Está no que eu consigo ver.</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agora que eu vejo cada interação, no próximo vídeo eu paro de olhar uma de cada vez.</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22</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f3de5a4e7f_0_4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3" name="Google Shape;523;g3f3de5a4e7f_0_4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Langfuse no painel inicial, janela de 30 dias. Rode node scripts/aula3-retrato-langfuse.js e confira se os números batem com os slides. (Se gravar a partir de 21/09, os slides 3 a 9 continuam valendo como foto de 16/09; troque as falas marcadas.)</a:t>
            </a:r>
            <a:endParaRPr sz="1200">
              <a:solidFill>
                <a:schemeClr val="dk1"/>
              </a:solidFill>
              <a:latin typeface="Calibri"/>
              <a:ea typeface="Calibri"/>
              <a:cs typeface="Calibri"/>
              <a:sym typeface="Calibri"/>
            </a:endParaRPr>
          </a:p>
        </p:txBody>
      </p:sp>
      <p:sp>
        <p:nvSpPr>
          <p:cNvPr id="524" name="Google Shape;524;g3f3de5a4e7f_0_4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23</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Até aqui eu abri uma interação por vez. Isso é ótimo pra entender um caso. E é péssimo pra entender o produto.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Porque produto é o conjunto. É o que acontece nos outros dias, lembra? Então agora eu paro de ler uma por uma e olho tudo junto. Com quatro perguntas: o volume, o dinheiro e a espera, os erros, e a qualidade ao longo do tempo.</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24</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 Opcional: Langfuse, painel inicial. Mostrar o custo total e o gráfico de interações no tempo.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Isso aqui não é exemplo inventado. É o meu produto, no ar, num recorte de três semanas e meia.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Quarenta e duas interações. Um dólar e cinquenta e quatro centavos no total. É pouco, porque é uma casa só.</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Agora olha a primeira linha. Mediar o cardápio aconteceu dez vezes e custou quatorze centavos por vez. Entender uma mensagem aconteceu vinte e uma vezes, e custa três décimos de centavo cada.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(se gravar a partir de 21/09) E se você abrir o meu painel hoje, esses números já não estão lá. Eu explico por quê daqui a pouco.</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25</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aí aparece uma conclusão que eu não teria de outro jeito. O Mediador é um quarto das chamadas do meu produto. E nove de cada dez dólares que eu pago.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Ele não é o mais usado. O mais usado é entender mensagem, metade de tudo. O Mediador é o mais caro por uso, de longe.</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isso muda decisão de produto. Se eu quiser baratear, não adianta mexer no que roda metade das vezes, porque aquilo é quase de graça. E você nunca chega nessa conclusão lendo uma conversa por vez.</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É esse tipo de frase que eu levo pra uma reunião de prioridade. Não "acho que está caro". É "um quarto das chamadas, noventa por cento da conta".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Guarda o número: dez mediações. No próximo vídeo eu abro as dez.</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26</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3f3dd40fd11_1_23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3" name="Google Shape;373;g3f3dd40fd11_1_23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Primeira pergunta: o volume.</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1) Metade de tudo o que o meu produto fez nessas três semanas e meia caiu em menos de vinte horas: a noite de 21 e o dia 22 de agosto. Sucesso? Não. Foi eu preparando e dando uma aula ao vivo com o produto. Pico que vem de teste e de demonstração não é adoção. Se eu olhasse só o gráfico, ia comemorar.</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2) E depois, dias inteiros sem nada. De cinco a dez de setembro, zero.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3) E aqui tem uma armadilha. Silêncio pode ser ninguém usando. Ou pode ser o produto fora do ar. Lembra da sexta, dia 28? A manhã inteira fora do ar, e o painel não mostra nada. O rastro só existe quando o produto está de pé pra gravar.</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Então, como eu saberia a diferença? Não por aqui. Pra saber se o produto está no ar, eu preciso de alguém de fora batendo na porta de tempos em tempos. Observabilidade de IA não substitui isso.</a:t>
            </a:r>
            <a:endParaRPr sz="1200">
              <a:solidFill>
                <a:schemeClr val="dk1"/>
              </a:solidFill>
              <a:latin typeface="Calibri"/>
              <a:ea typeface="Calibri"/>
              <a:cs typeface="Calibri"/>
              <a:sym typeface="Calibri"/>
            </a:endParaRPr>
          </a:p>
        </p:txBody>
      </p:sp>
      <p:sp>
        <p:nvSpPr>
          <p:cNvPr id="374" name="Google Shape;374;g3f3dd40fd11_1_23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27</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Segunda pergunta: a espera.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 média do Mediador é cinquenta e seis segundos. Parece que todo mundo espera quase um minuto. Não é verdade. Metade das vezes ele respondeu em até cinquenta. E teve uma vez que levou cento e treze.</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 média esconde exatamente quem mais se irritou. Por isso o painel do Langfuse mostra percentis. O p50 é a metade das vezes. O p95 é o tempo que só cinco por cento passam. Com mil interações, olhe o p95. Com dez, como eu tenho aqui, olhe o pior caso, porque o p95 é praticamente ele.</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guarda esse cento e treze. Ele tem uma história, e ela é surpreendente.</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28</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Terceira pergunta: os erros. E aqui o painel ajuda, porque erro técnico ele pinta de vermelho sozinho. Eu tenho seis.</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Três são o Mediador caindo com erro técnico. Dois são aquela sexta da chave inválida.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o sexto não é falha. Alguém mandou a foto de uma nota fiscal. O produto leu a chave da nota e respondeu: "a SEFAZ de São Paulo exige o QR code, manda outra foto com o QR". O produto fez exatamente o que devia. E o registro ficou marcado como erro.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Parece detalhe, e não é. Se eu medir a saúde do produto pela quantidade de vermelho, esse caso infla a minha taxa de erro. Um alarme de "os erros subiram" ia disparar porque alguém tirou foto sem o QR code.</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Então existe vermelho a mais. E vermelho a menos? Essa é a pergunta do fim deste vídeo.</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29</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Quarta pergunta: a qualidade ao longo do tempo. E aqui eu tenho que ser honesto com você.</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Eu tenho trinta e nove notas no painel. Todas escritas no mesmo dia, 28 de agosto, numa rodada só do eval. Isso é uma foto. Qualidade ao longo do tempo é um filme: precisa de nota escrita toda semana, pra comparar esta semana com a anterior.</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o meu eval roda quando eu mando. É o buraco que eu mesmo apontei no fim da aula passada, agora com dado na tela.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Então, se a qualidade do meu produto piorou desde agosto, como eu saberia? Hoje, não saberia. E é exatamente isso que a próxima aula precisa resolver.</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30</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tem mais uma coisa que eu descobri preparando esta aula. Talvez a mais subestimada de todas.</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O plano gratuito guarda trinta dias. E metade do meu dado veio daquelas vinte horas de agosto. Então, na segunda-feira que vem, metade do meu painel some de uma vez. Das dez mediações, sobram duas. E a frase bonita, noventa por cento da conta, vira setenta e sete.</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(se gravar a partir de 21/09) Então, na segunda-feira passada, metade do meu painel sumiu de uma vez. (alt+tab) Olha: é o painel da direita. A tabela que eu te mostrei agora há pouco só existe porque eu anotei.</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Eu já perdi dado assim. Em agosto eu anotei que o modelo menor fazia a mesma classificação de mensagem uma vez e nove mais barato e duas vezes e meia mais rápido. Esse número decidiu como o meu produto funciona hoje. No painel, ele não existe mais. Existe no meu documento.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O que sobrevive é o que você anota. Se a sua estratégia é "está tudo guardado lá, eu vejo depois", depois pode não estar mais.</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31</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Esse slide não é sobre o meu produto. É o que você leva pro seu.</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Toda semana, quatro perguntas. O que ele mais faz? Conta por operação. Onde estão o dinheiro e a espera? Custo e pior caso, por operação. Quantas terminaram inteiras? E aqui não é só o vermelho: é também o que veio cortado ou vazio. E melhorou desde a semana passada? Pra essa, você precisa de nota ao longo do tempo.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No meu produto, hoje: metade é entender mensagem. Noventa por cento do dinheiro está no Mediador. Seis vermelhos, um que não era falha. E a quarta eu não sei responder.</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Pausa o vídeo aqui, se quiser. Abre o painel do seu produto e responde as quatro. Se alguma você não consegue responder, é ali que está faltando rastro.</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32</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Eu tenho dez mediações. Três deram erro. Sete não dispararam nada.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Pergunta simples: as sete sem alarme estão bem?</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No próximo vídeo eu abro as dez.</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33</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f3de5a4e7f_0_4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3" name="Google Shape;523;g3f3de5a4e7f_0_4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Langfuse com a mediação 1ecca5e6 à mão (03/09, 16h36). A tabela das dez mediações e a conferência no banco estão congeladas em apoio/aula3-dados-congelados.md §5. Não mandar nada no Telegram durante a gravação.</a:t>
            </a:r>
            <a:endParaRPr sz="1200">
              <a:solidFill>
                <a:schemeClr val="dk1"/>
              </a:solidFill>
              <a:latin typeface="Calibri"/>
              <a:ea typeface="Calibri"/>
              <a:cs typeface="Calibri"/>
              <a:sym typeface="Calibri"/>
            </a:endParaRPr>
          </a:p>
        </p:txBody>
      </p:sp>
      <p:sp>
        <p:nvSpPr>
          <p:cNvPr id="524" name="Google Shape;524;g3f3de5a4e7f_0_4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34</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Abri as dez, uma por uma. E cruzei o que o painel mostra com o que apareceu na tela do produto.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Três com vermelho, que a gente já viu: deu erro, e a tela mostrou erro.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Duas sem alarme em que a tela mostrou "proposta registrada sem texto". Parece aceitável, né? Fui conferir no banco. A proposta estava vazia. A tela disse que registrou, e não tinha nada registrado.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Três sem alarme em que o texto para no meio. Uma termina em "mussarela de búfala". Sem ponto, sem nada. Outra para em "ovos brancos", no meio de uma lista de ingredientes.</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Uma sem alarme cuja resposta inteira foi uma palavra: "Consultei". Lembra da mediação que eu abri no 3.2 e pedi pra você guardar o horário? É essa. Dezoito centavos, cinquenta e cinco segundos, e uma palavra.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uma, só uma, chegou inteira.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Três dessas você já viu na aula passada, uma de cada vez: o risoto e as duas carbonaras do mesmo dia. Na hora, cada uma parecia um caso. Juntas, contam outra história.</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35</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Sete sem alarme. Só uma inteira.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Se eu confiasse só na falta de vermelho, eu diria que o Mediador falha três vezes em dez. Ele falha nove em dez.</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nenhuma das seis quebradas sem alarme gerou erro, alerta, nada. Na lista, elas estão exatamente iguais à inteira. Nenhum sinal diferente.</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36</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 AÇÃO: Langfuse: abrir 1ecca5e6, clicar na terceira chamada ao modelo e mostrar os tokens de saída (2.048). Depois, a chamada que força o registro da proposta (1.024).</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aqui mora a ideia central deste vídeo. Repara que eu tenho quatro sintomas diferentes: erro, texto vazio, texto cortado e uma palavra só. Se eu organizasse pelo sintoma, eu teria quatro problemas.</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Só que os nove têm a mesma assinatura. (alt+tab) Olha a "Consultei". A terceira chamada ao modelo: dois mil e quarenta e oito tokens de saída. É exatamente o teto que eu configurei. Não é coincidência: a resposta não coube e foi cortada. E a chamada seguinte, a que força o registro da proposta: mil e vinte e quatro. O teto dela.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Nas nove quebradas, alguma chamada bateu exatamente no teto. Na inteira, nenhuma.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Lembra do critério de execução íntegra, na Aula 2? Tokens iguais ao teto é corte. O eval pegava isso um caso por vez. O painel mostra que é regra.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Um padrão não é um tipo de sintoma. É uma assinatura que se repete.</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37</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3f8342f7686_0_10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1" name="Google Shape;591;g3f8342f7686_0_10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Com a assinatura na mão, eu consigo responder onde e quando o produto piora.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1) Onde: só no Mediador. Entender mensagem, receita premium, nota fiscal: nenhuma chamada no teto. Nenhuma de vinte e nove. É um problema de um lugar, não do produto todo.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2) Quando: nos três dias em que teve mediação. Não é um dia ruim. É uma condição.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3) E quanto. Lembra dos noventa por cento da conta? Um dólar e dezenove foi pra mediações que não chegaram inteiras. Setenta e sete por cento da conta do meu produto inteiro.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Então a conclusão do vídeo anterior muda de figura. Não é só "o Mediador é caro". É "a maior parte do que eu pago não chega inteira na tela".</a:t>
            </a:r>
            <a:endParaRPr sz="1200">
              <a:solidFill>
                <a:schemeClr val="dk1"/>
              </a:solidFill>
              <a:latin typeface="Calibri"/>
              <a:ea typeface="Calibri"/>
              <a:cs typeface="Calibri"/>
              <a:sym typeface="Calibri"/>
            </a:endParaRPr>
          </a:p>
        </p:txBody>
      </p:sp>
      <p:sp>
        <p:nvSpPr>
          <p:cNvPr id="592" name="Google Shape;592;g3f8342f7686_0_10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38</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agora aqueles cento e treze segundos do vídeo anterior.</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O pior caso de espera do Mediador é justamente a única mediação que chegou inteira. Ela chamou o modelo cinco vezes, em pedaços menores, e nenhuma bateu no teto. As cortadas ficaram entre quarenta e sessenta e poucos segundos. Não porque eram mais eficientes. Porque pararam antes.</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Com dez casos, isso é pista, não é lei. Mas pensa no que teria acontecido se eu fosse otimizar o produto olhando só o tempo médio de resposta: eu ia comemorar exatamente as que estavam quebradas.</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Por isso as quatro perguntas do vídeo anterior andam juntas. Espera sem desfecho engana.</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39</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esse padrão tem uma história de degradação que eu vi acontecer numa parte mais antiga do produto.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Em agosto, a sugestão de receita também tinha um teto. No começo, o corte era cosmético: a resposta terminava no meio de uma palavra. Feio, mas funcionava.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Aí a despensa da casa cresceu. A resposta ficou maior. E o corte passou a cair no meio de uma chamada de ferramenta, e a requisição seguinte morria com erro. Ninguém mexeu em uma linha de código. Só o dado cresceu.</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É o mesmo mecanismo das três vermelhas do Mediador: o teto cortando no pior lugar. Degradação nem sempre é alguém estragando alguma coisa. Às vezes é só o produto sendo usado.</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40</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3f8342f7686_0_10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1" name="Google Shape;591;g3f8342f7686_0_10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 assinatura do teto dá pra ver dentro de uma interação. Mas tem falha sem alarme que mente de um jeito que nenhuma interação sozinha mostra. No meu produto eu achei três.</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1) Estado. Alguém contou "comemos três porções de lasagna". O modelo entendeu tudo certo, a interação está perfeita. E o estoque continua com cinco porções, porque o prato está gravado como "lasanha", com NH. Só aparece se eu cruzo o rastro com o estado da despensa.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2) Sequência. No dia 14 de setembro eu preparei hambúrguer e contei pro bot. Quatro mensagens, quatro classificações certas. E o hambúrguer nunca entrou no estoque. Cada interação está perfeita. A falha está entre elas.</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3) Ausência. Uma foto de cupom, mandada pelo Telegram. Não gerou log, não gerou rastro, não gerou nada. E ninguém consegue abrir uma interação que não existe.</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Eu não vou diagnosticar nenhum dos três agora, isso é a próxima aula. Hoje o ponto é saber onde procurar: no estado, na sequência, e no que deveria ter deixado rastro e não deixou.</a:t>
            </a:r>
            <a:endParaRPr sz="1200">
              <a:solidFill>
                <a:schemeClr val="dk1"/>
              </a:solidFill>
              <a:latin typeface="Calibri"/>
              <a:ea typeface="Calibri"/>
              <a:cs typeface="Calibri"/>
              <a:sym typeface="Calibri"/>
            </a:endParaRPr>
          </a:p>
        </p:txBody>
      </p:sp>
      <p:sp>
        <p:nvSpPr>
          <p:cNvPr id="592" name="Google Shape;592;g3f8342f7686_0_10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41</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3f6efaed406_0_17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1" name="Google Shape;481;g3f6efaed406_0_17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de novo, a parte que é sua. Três perguntas pra achar padrão em qualquer produto.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Assinatura. Que sinal se repete, mesmo quando o sintoma muda? Não agrupe pelo que o usuário viu. Agrupe por um sinal que dá pra conferir. No meu caso, tokens iguais ao teto.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Frequência. É um caso ou é regra? Conte. Um caso é uma história, nove em dez é um padrão. E diga o tamanho da amostra: dez não é mil.</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Ponto cego. Onde o sem-alarme pode estar mentindo? Cruze com o estado final, com a mensagem seguinte e com o que deveria ter deixado rastro.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Pausa aqui, se quiser, e aplica no seu painel.</a:t>
            </a:r>
            <a:endParaRPr sz="1200">
              <a:solidFill>
                <a:schemeClr val="dk1"/>
              </a:solidFill>
              <a:latin typeface="Calibri"/>
              <a:ea typeface="Calibri"/>
              <a:cs typeface="Calibri"/>
              <a:sym typeface="Calibri"/>
            </a:endParaRPr>
          </a:p>
        </p:txBody>
      </p:sp>
      <p:sp>
        <p:nvSpPr>
          <p:cNvPr id="482" name="Google Shape;482;g3f6efaed406_0_17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42</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o que tudo isso tem em comum é o que eu quero que fique desta aula.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Nenhuma dessas falhas me avisou. Nenhum alarme, nenhuma mensagem, nenhum usuário reclamando. A do hambúrguer era eu mesmo usando o meu produto, e na dúvida se o erro era meu.</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Cada uma precisou de alguém olhando o dado certo, com a pergunta certa. No seu produto, esse alguém é você.</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43</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3f3dd40fd11_1_23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3" name="Google Shape;373;g3f3dd40fd11_1_23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Pra fechar, deixa eu ser honesto sobre o tamanho do que a gente construiu.</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Eu enxergo o meu produto. Sei onde está o dinheiro, onde está a espera, o que o vermelho conta e onde o sem-alarme mente. Mas só quando eu abro o painel.</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1) Ninguém me chama quando a qualidade cai numa terça de madrugada.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2) Eu vejo o padrão do Mediador, mas ver a assinatura não diz a causa. Foi o prompt? O dado? O modelo? Ou nenhum dos três?</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(linha 3) E nada disso foi corrigido. O teto do Mediador continua exatamente onde estava.</a:t>
            </a:r>
            <a:endParaRPr sz="1200">
              <a:solidFill>
                <a:schemeClr val="dk1"/>
              </a:solidFill>
              <a:latin typeface="Calibri"/>
              <a:ea typeface="Calibri"/>
              <a:cs typeface="Calibri"/>
              <a:sym typeface="Calibri"/>
            </a:endParaRPr>
          </a:p>
        </p:txBody>
      </p:sp>
      <p:sp>
        <p:nvSpPr>
          <p:cNvPr id="374" name="Google Shape;374;g3f3dd40fd11_1_23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44</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f8342f7686_0_27: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g3f8342f7686_0_27:notes"/>
          <p:cNvSpPr txBox="1">
            <a:spLocks noGrp="1"/>
          </p:cNvSpPr>
          <p:nvPr>
            <p:ph type="body" idx="1"/>
          </p:nvPr>
        </p:nvSpPr>
        <p:spPr>
          <a:xfrm>
            <a:off x="1371600" y="11583900"/>
            <a:ext cx="10972800" cy="10974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pt-BR"/>
              <a:t>Eu já enxergo. Agora falta agir: detectar sem depender de lembrar, diagnosticar a causa e corrigir antes do usuário perceber. É a próxima aula. Até lá.</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5.png"/><Relationship Id="rId1" Type="http://schemas.openxmlformats.org/officeDocument/2006/relationships/slideMaster" Target="../slideMasters/slideMaster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spTree>
      <p:nvGrpSpPr>
        <p:cNvPr id="1" name="Shape 6"/>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4320">
          <p15:clr>
            <a:srgbClr val="FBAE40"/>
          </p15:clr>
        </p15:guide>
        <p15:guide id="2" pos="768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pa ">
  <p:cSld name="Capa ">
    <p:spTree>
      <p:nvGrpSpPr>
        <p:cNvPr id="1" name="Shape 7"/>
        <p:cNvGrpSpPr/>
        <p:nvPr/>
      </p:nvGrpSpPr>
      <p:grpSpPr>
        <a:xfrm>
          <a:off x="0" y="0"/>
          <a:ext cx="0" cy="0"/>
          <a:chOff x="0" y="0"/>
          <a:chExt cx="0" cy="0"/>
        </a:xfrm>
      </p:grpSpPr>
      <p:pic>
        <p:nvPicPr>
          <p:cNvPr id="8" name="Google Shape;8;p35" descr=" "/>
          <p:cNvPicPr preferRelativeResize="0"/>
          <p:nvPr/>
        </p:nvPicPr>
        <p:blipFill rotWithShape="1">
          <a:blip r:embed="rId2">
            <a:alphaModFix amt="50000"/>
          </a:blip>
          <a:srcRect l="588" r="-1"/>
          <a:stretch/>
        </p:blipFill>
        <p:spPr>
          <a:xfrm>
            <a:off x="8089900" y="0"/>
            <a:ext cx="16297148" cy="13716000"/>
          </a:xfrm>
          <a:prstGeom prst="rect">
            <a:avLst/>
          </a:prstGeom>
          <a:noFill/>
          <a:ln>
            <a:noFill/>
          </a:ln>
        </p:spPr>
      </p:pic>
      <p:sp>
        <p:nvSpPr>
          <p:cNvPr id="9" name="Google Shape;9;p35"/>
          <p:cNvSpPr/>
          <p:nvPr/>
        </p:nvSpPr>
        <p:spPr>
          <a:xfrm>
            <a:off x="2426003" y="2641600"/>
            <a:ext cx="13539892" cy="84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 name="Google Shape;10;p35"/>
          <p:cNvSpPr/>
          <p:nvPr/>
        </p:nvSpPr>
        <p:spPr>
          <a:xfrm>
            <a:off x="2426003" y="2641600"/>
            <a:ext cx="13539892" cy="7061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35"/>
          <p:cNvSpPr/>
          <p:nvPr/>
        </p:nvSpPr>
        <p:spPr>
          <a:xfrm>
            <a:off x="2426003" y="10718800"/>
            <a:ext cx="4597975" cy="355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35"/>
          <p:cNvSpPr txBox="1">
            <a:spLocks noGrp="1"/>
          </p:cNvSpPr>
          <p:nvPr>
            <p:ph type="body" idx="1"/>
          </p:nvPr>
        </p:nvSpPr>
        <p:spPr>
          <a:xfrm>
            <a:off x="2315981" y="2414588"/>
            <a:ext cx="13963162" cy="62642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BDBFC7"/>
              </a:buClr>
              <a:buSzPts val="13200"/>
              <a:buFont typeface="Arial"/>
              <a:buNone/>
              <a:defRPr sz="13200" b="0" i="0" u="none" strike="noStrike" cap="none">
                <a:solidFill>
                  <a:srgbClr val="BDBFC7"/>
                </a:solidFill>
                <a:latin typeface="Encode Sans"/>
                <a:ea typeface="Encode Sans"/>
                <a:cs typeface="Encode Sans"/>
                <a:sym typeface="Encode Sans"/>
              </a:defRPr>
            </a:lvl1pPr>
            <a:lvl2pPr marL="914400" marR="0" lvl="1" indent="-1066800" algn="l" rtl="0">
              <a:lnSpc>
                <a:spcPct val="100000"/>
              </a:lnSpc>
              <a:spcBef>
                <a:spcPts val="2640"/>
              </a:spcBef>
              <a:spcAft>
                <a:spcPts val="0"/>
              </a:spcAft>
              <a:buClr>
                <a:schemeClr val="dk1"/>
              </a:buClr>
              <a:buSzPts val="13200"/>
              <a:buFont typeface="Arial"/>
              <a:buChar char="–"/>
              <a:defRPr sz="13200" b="0" i="0" u="none" strike="noStrike" cap="none">
                <a:solidFill>
                  <a:schemeClr val="dk1"/>
                </a:solidFill>
                <a:latin typeface="Encode Sans"/>
                <a:ea typeface="Encode Sans"/>
                <a:cs typeface="Encode Sans"/>
                <a:sym typeface="Encode Sans"/>
              </a:defRPr>
            </a:lvl2pPr>
            <a:lvl3pPr marL="1371600" marR="0" lvl="2" indent="-1066800" algn="l" rtl="0">
              <a:lnSpc>
                <a:spcPct val="100000"/>
              </a:lnSpc>
              <a:spcBef>
                <a:spcPts val="2640"/>
              </a:spcBef>
              <a:spcAft>
                <a:spcPts val="0"/>
              </a:spcAft>
              <a:buClr>
                <a:schemeClr val="dk1"/>
              </a:buClr>
              <a:buSzPts val="13200"/>
              <a:buFont typeface="Arial"/>
              <a:buChar char="•"/>
              <a:defRPr sz="13200" b="0" i="0" u="none" strike="noStrike" cap="none">
                <a:solidFill>
                  <a:schemeClr val="dk1"/>
                </a:solidFill>
                <a:latin typeface="Encode Sans"/>
                <a:ea typeface="Encode Sans"/>
                <a:cs typeface="Encode Sans"/>
                <a:sym typeface="Encode Sans"/>
              </a:defRPr>
            </a:lvl3pPr>
            <a:lvl4pPr marL="1828800" marR="0" lvl="3" indent="-1066800" algn="l" rtl="0">
              <a:lnSpc>
                <a:spcPct val="100000"/>
              </a:lnSpc>
              <a:spcBef>
                <a:spcPts val="2640"/>
              </a:spcBef>
              <a:spcAft>
                <a:spcPts val="0"/>
              </a:spcAft>
              <a:buClr>
                <a:schemeClr val="dk1"/>
              </a:buClr>
              <a:buSzPts val="13200"/>
              <a:buFont typeface="Arial"/>
              <a:buChar char="–"/>
              <a:defRPr sz="13200" b="0" i="0" u="none" strike="noStrike" cap="none">
                <a:solidFill>
                  <a:schemeClr val="dk1"/>
                </a:solidFill>
                <a:latin typeface="Encode Sans"/>
                <a:ea typeface="Encode Sans"/>
                <a:cs typeface="Encode Sans"/>
                <a:sym typeface="Encode Sans"/>
              </a:defRPr>
            </a:lvl4pPr>
            <a:lvl5pPr marL="2286000" marR="0" lvl="4" indent="-1066800" algn="l" rtl="0">
              <a:lnSpc>
                <a:spcPct val="100000"/>
              </a:lnSpc>
              <a:spcBef>
                <a:spcPts val="2640"/>
              </a:spcBef>
              <a:spcAft>
                <a:spcPts val="0"/>
              </a:spcAft>
              <a:buClr>
                <a:schemeClr val="dk1"/>
              </a:buClr>
              <a:buSzPts val="13200"/>
              <a:buFont typeface="Arial"/>
              <a:buChar char="»"/>
              <a:defRPr sz="13200" b="0" i="0" u="none" strike="noStrike" cap="none">
                <a:solidFill>
                  <a:schemeClr val="dk1"/>
                </a:solidFill>
                <a:latin typeface="Encode Sans"/>
                <a:ea typeface="Encode Sans"/>
                <a:cs typeface="Encode Sans"/>
                <a:sym typeface="Encode Sa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 name="Google Shape;13;p35"/>
          <p:cNvSpPr txBox="1">
            <a:spLocks noGrp="1"/>
          </p:cNvSpPr>
          <p:nvPr>
            <p:ph type="body" idx="2"/>
          </p:nvPr>
        </p:nvSpPr>
        <p:spPr>
          <a:xfrm>
            <a:off x="2315981" y="8892645"/>
            <a:ext cx="13963650" cy="81015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960"/>
              </a:spcBef>
              <a:spcAft>
                <a:spcPts val="0"/>
              </a:spcAft>
              <a:buClr>
                <a:srgbClr val="BDBFC7"/>
              </a:buClr>
              <a:buSzPts val="4800"/>
              <a:buFont typeface="Arial"/>
              <a:buNone/>
              <a:defRPr sz="4800" b="0" i="0" u="none" strike="noStrike" cap="none">
                <a:solidFill>
                  <a:srgbClr val="BDBFC7"/>
                </a:solidFill>
                <a:latin typeface="Encode Sans"/>
                <a:ea typeface="Encode Sans"/>
                <a:cs typeface="Encode Sans"/>
                <a:sym typeface="Encode Sa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4" name="Google Shape;14;p35"/>
          <p:cNvSpPr txBox="1">
            <a:spLocks noGrp="1"/>
          </p:cNvSpPr>
          <p:nvPr>
            <p:ph type="body" idx="3"/>
          </p:nvPr>
        </p:nvSpPr>
        <p:spPr>
          <a:xfrm>
            <a:off x="2375778" y="10535920"/>
            <a:ext cx="9296400" cy="64293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rgbClr val="BDBFC7"/>
              </a:buClr>
              <a:buSzPts val="3200"/>
              <a:buFont typeface="Arial"/>
              <a:buNone/>
              <a:defRPr sz="3200" b="0" i="0" u="none" strike="noStrike" cap="none">
                <a:solidFill>
                  <a:srgbClr val="BDBFC7"/>
                </a:solidFill>
                <a:latin typeface="Roboto"/>
                <a:ea typeface="Roboto"/>
                <a:cs typeface="Roboto"/>
                <a:sym typeface="Roboto"/>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1">
  <p:cSld name="Título 1">
    <p:spTree>
      <p:nvGrpSpPr>
        <p:cNvPr id="1" name="Shape 15"/>
        <p:cNvGrpSpPr/>
        <p:nvPr/>
      </p:nvGrpSpPr>
      <p:grpSpPr>
        <a:xfrm>
          <a:off x="0" y="0"/>
          <a:ext cx="0" cy="0"/>
          <a:chOff x="0" y="0"/>
          <a:chExt cx="0" cy="0"/>
        </a:xfrm>
      </p:grpSpPr>
      <p:sp>
        <p:nvSpPr>
          <p:cNvPr id="16" name="Google Shape;16;p36"/>
          <p:cNvSpPr/>
          <p:nvPr/>
        </p:nvSpPr>
        <p:spPr>
          <a:xfrm>
            <a:off x="-165904" y="-150471"/>
            <a:ext cx="24692658" cy="14040091"/>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 name="Google Shape;17;p36"/>
          <p:cNvSpPr/>
          <p:nvPr/>
        </p:nvSpPr>
        <p:spPr>
          <a:xfrm>
            <a:off x="23433139" y="406400"/>
            <a:ext cx="477061"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8" name="Google Shape;18;p36" descr=" "/>
          <p:cNvPicPr preferRelativeResize="0"/>
          <p:nvPr/>
        </p:nvPicPr>
        <p:blipFill rotWithShape="1">
          <a:blip r:embed="rId2">
            <a:alphaModFix/>
          </a:blip>
          <a:srcRect/>
          <a:stretch/>
        </p:blipFill>
        <p:spPr>
          <a:xfrm>
            <a:off x="23433139" y="406400"/>
            <a:ext cx="476942" cy="593018"/>
          </a:xfrm>
          <a:prstGeom prst="rect">
            <a:avLst/>
          </a:prstGeom>
          <a:noFill/>
          <a:ln>
            <a:noFill/>
          </a:ln>
        </p:spPr>
      </p:pic>
      <p:sp>
        <p:nvSpPr>
          <p:cNvPr id="19" name="Google Shape;19;p36"/>
          <p:cNvSpPr/>
          <p:nvPr/>
        </p:nvSpPr>
        <p:spPr>
          <a:xfrm>
            <a:off x="-10694737" y="-1130300"/>
            <a:ext cx="15965895" cy="159639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6"/>
          <p:cNvSpPr/>
          <p:nvPr/>
        </p:nvSpPr>
        <p:spPr>
          <a:xfrm>
            <a:off x="4216927" y="-1130300"/>
            <a:ext cx="15965895" cy="159639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1" name="Google Shape;21;p36" descr="Ícone&#10;&#10;O conteúdo gerado por IA pode estar incorreto."/>
          <p:cNvPicPr preferRelativeResize="0"/>
          <p:nvPr/>
        </p:nvPicPr>
        <p:blipFill rotWithShape="1">
          <a:blip r:embed="rId3">
            <a:alphaModFix/>
          </a:blip>
          <a:srcRect/>
          <a:stretch/>
        </p:blipFill>
        <p:spPr>
          <a:xfrm>
            <a:off x="25140419" y="-144842"/>
            <a:ext cx="1568332" cy="10010051"/>
          </a:xfrm>
          <a:prstGeom prst="rect">
            <a:avLst/>
          </a:prstGeom>
          <a:noFill/>
          <a:ln>
            <a:noFill/>
          </a:ln>
        </p:spPr>
      </p:pic>
      <p:sp>
        <p:nvSpPr>
          <p:cNvPr id="22" name="Google Shape;22;p36"/>
          <p:cNvSpPr txBox="1">
            <a:spLocks noGrp="1"/>
          </p:cNvSpPr>
          <p:nvPr>
            <p:ph type="body" idx="1"/>
          </p:nvPr>
        </p:nvSpPr>
        <p:spPr>
          <a:xfrm>
            <a:off x="7214502" y="5040312"/>
            <a:ext cx="11704637" cy="36226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40"/>
              </a:spcBef>
              <a:spcAft>
                <a:spcPts val="0"/>
              </a:spcAft>
              <a:buClr>
                <a:srgbClr val="F4F4F6"/>
              </a:buClr>
              <a:buSzPts val="10200"/>
              <a:buFont typeface="Arial"/>
              <a:buNone/>
              <a:defRPr sz="10200" b="0" i="0" u="none" strike="noStrike" cap="none">
                <a:solidFill>
                  <a:srgbClr val="F4F4F6"/>
                </a:solidFill>
                <a:latin typeface="Encode Sans"/>
                <a:ea typeface="Encode Sans"/>
                <a:cs typeface="Encode Sans"/>
                <a:sym typeface="Encode Sans"/>
              </a:defRPr>
            </a:lvl1pPr>
            <a:lvl2pPr marL="914400" marR="0" lvl="1" indent="-228600" algn="l" rtl="0">
              <a:lnSpc>
                <a:spcPct val="100000"/>
              </a:lnSpc>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 texto">
  <p:cSld name="Título + texto">
    <p:spTree>
      <p:nvGrpSpPr>
        <p:cNvPr id="1" name="Shape 23"/>
        <p:cNvGrpSpPr/>
        <p:nvPr/>
      </p:nvGrpSpPr>
      <p:grpSpPr>
        <a:xfrm>
          <a:off x="0" y="0"/>
          <a:ext cx="0" cy="0"/>
          <a:chOff x="0" y="0"/>
          <a:chExt cx="0" cy="0"/>
        </a:xfrm>
      </p:grpSpPr>
      <p:sp>
        <p:nvSpPr>
          <p:cNvPr id="24" name="Google Shape;24;p37"/>
          <p:cNvSpPr/>
          <p:nvPr/>
        </p:nvSpPr>
        <p:spPr>
          <a:xfrm>
            <a:off x="-143885" y="-152400"/>
            <a:ext cx="24674946" cy="13965382"/>
          </a:xfrm>
          <a:prstGeom prst="rect">
            <a:avLst/>
          </a:prstGeom>
          <a:solidFill>
            <a:srgbClr val="D6D4D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5" name="Google Shape;25;p37" descr=" "/>
          <p:cNvPicPr preferRelativeResize="0"/>
          <p:nvPr/>
        </p:nvPicPr>
        <p:blipFill rotWithShape="1">
          <a:blip r:embed="rId2">
            <a:alphaModFix/>
          </a:blip>
          <a:srcRect/>
          <a:stretch/>
        </p:blipFill>
        <p:spPr>
          <a:xfrm>
            <a:off x="10605007" y="355600"/>
            <a:ext cx="13782041" cy="13360400"/>
          </a:xfrm>
          <a:prstGeom prst="rect">
            <a:avLst/>
          </a:prstGeom>
          <a:noFill/>
          <a:ln>
            <a:noFill/>
          </a:ln>
        </p:spPr>
      </p:pic>
      <p:pic>
        <p:nvPicPr>
          <p:cNvPr id="26" name="Google Shape;26;p37" descr=" "/>
          <p:cNvPicPr preferRelativeResize="0"/>
          <p:nvPr/>
        </p:nvPicPr>
        <p:blipFill rotWithShape="1">
          <a:blip r:embed="rId3">
            <a:alphaModFix/>
          </a:blip>
          <a:srcRect/>
          <a:stretch/>
        </p:blipFill>
        <p:spPr>
          <a:xfrm>
            <a:off x="10553171" y="355600"/>
            <a:ext cx="3651917" cy="13360400"/>
          </a:xfrm>
          <a:prstGeom prst="rect">
            <a:avLst/>
          </a:prstGeom>
          <a:noFill/>
          <a:ln>
            <a:noFill/>
          </a:ln>
        </p:spPr>
      </p:pic>
      <p:sp>
        <p:nvSpPr>
          <p:cNvPr id="27" name="Google Shape;27;p37"/>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8" name="Google Shape;28;p37" descr=" "/>
          <p:cNvPicPr preferRelativeResize="0"/>
          <p:nvPr/>
        </p:nvPicPr>
        <p:blipFill rotWithShape="1">
          <a:blip r:embed="rId4">
            <a:alphaModFix/>
          </a:blip>
          <a:srcRect/>
          <a:stretch/>
        </p:blipFill>
        <p:spPr>
          <a:xfrm>
            <a:off x="23434429" y="406400"/>
            <a:ext cx="474375" cy="593018"/>
          </a:xfrm>
          <a:prstGeom prst="rect">
            <a:avLst/>
          </a:prstGeom>
          <a:noFill/>
          <a:ln>
            <a:noFill/>
          </a:ln>
        </p:spPr>
      </p:pic>
      <p:sp>
        <p:nvSpPr>
          <p:cNvPr id="29" name="Google Shape;29;p37"/>
          <p:cNvSpPr/>
          <p:nvPr/>
        </p:nvSpPr>
        <p:spPr>
          <a:xfrm>
            <a:off x="2426003" y="3759200"/>
            <a:ext cx="9551594" cy="574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0" name="Google Shape;30;p37" descr=" "/>
          <p:cNvPicPr preferRelativeResize="0"/>
          <p:nvPr/>
        </p:nvPicPr>
        <p:blipFill rotWithShape="1">
          <a:blip r:embed="rId5">
            <a:alphaModFix/>
          </a:blip>
          <a:srcRect/>
          <a:stretch/>
        </p:blipFill>
        <p:spPr>
          <a:xfrm>
            <a:off x="0" y="10629900"/>
            <a:ext cx="15638833" cy="3086100"/>
          </a:xfrm>
          <a:prstGeom prst="rect">
            <a:avLst/>
          </a:prstGeom>
          <a:noFill/>
          <a:ln>
            <a:noFill/>
          </a:ln>
        </p:spPr>
      </p:pic>
      <p:pic>
        <p:nvPicPr>
          <p:cNvPr id="31" name="Google Shape;31;p37" descr=" "/>
          <p:cNvPicPr preferRelativeResize="0"/>
          <p:nvPr/>
        </p:nvPicPr>
        <p:blipFill rotWithShape="1">
          <a:blip r:embed="rId6">
            <a:alphaModFix/>
          </a:blip>
          <a:srcRect/>
          <a:stretch/>
        </p:blipFill>
        <p:spPr>
          <a:xfrm>
            <a:off x="15226028" y="10629900"/>
            <a:ext cx="9161020" cy="3086100"/>
          </a:xfrm>
          <a:prstGeom prst="rect">
            <a:avLst/>
          </a:prstGeom>
          <a:noFill/>
          <a:ln>
            <a:noFill/>
          </a:ln>
        </p:spPr>
      </p:pic>
      <p:sp>
        <p:nvSpPr>
          <p:cNvPr id="32" name="Google Shape;32;p37"/>
          <p:cNvSpPr txBox="1">
            <a:spLocks noGrp="1"/>
          </p:cNvSpPr>
          <p:nvPr>
            <p:ph type="body" idx="1"/>
          </p:nvPr>
        </p:nvSpPr>
        <p:spPr>
          <a:xfrm>
            <a:off x="2317856" y="7017970"/>
            <a:ext cx="9767888" cy="40147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720"/>
              </a:spcBef>
              <a:spcAft>
                <a:spcPts val="0"/>
              </a:spcAft>
              <a:buClr>
                <a:schemeClr val="dk1"/>
              </a:buClr>
              <a:buSzPts val="3600"/>
              <a:buFont typeface="Arial"/>
              <a:buNone/>
              <a:defRPr sz="3600" b="0" i="0" u="none" strike="noStrike" cap="none">
                <a:solidFill>
                  <a:schemeClr val="dk1"/>
                </a:solidFill>
                <a:latin typeface="Roboto"/>
                <a:ea typeface="Roboto"/>
                <a:cs typeface="Roboto"/>
                <a:sym typeface="Roboto"/>
              </a:defRPr>
            </a:lvl1pPr>
            <a:lvl2pPr marL="914400" marR="0" lvl="1" indent="-228600" algn="l" rtl="0">
              <a:lnSpc>
                <a:spcPct val="100000"/>
              </a:lnSpc>
              <a:spcBef>
                <a:spcPts val="720"/>
              </a:spcBef>
              <a:spcAft>
                <a:spcPts val="0"/>
              </a:spcAft>
              <a:buClr>
                <a:schemeClr val="dk1"/>
              </a:buClr>
              <a:buSzPts val="3600"/>
              <a:buFont typeface="Arial"/>
              <a:buNone/>
              <a:defRPr sz="3600" b="0" i="0" u="none" strike="noStrike" cap="none">
                <a:solidFill>
                  <a:schemeClr val="dk1"/>
                </a:solidFill>
                <a:latin typeface="Encode Sans"/>
                <a:ea typeface="Encode Sans"/>
                <a:cs typeface="Encode Sans"/>
                <a:sym typeface="Encode Sans"/>
              </a:defRPr>
            </a:lvl2pPr>
            <a:lvl3pPr marL="1371600" marR="0" lvl="2" indent="-228600" algn="l" rtl="0">
              <a:lnSpc>
                <a:spcPct val="100000"/>
              </a:lnSpc>
              <a:spcBef>
                <a:spcPts val="720"/>
              </a:spcBef>
              <a:spcAft>
                <a:spcPts val="0"/>
              </a:spcAft>
              <a:buClr>
                <a:schemeClr val="dk1"/>
              </a:buClr>
              <a:buSzPts val="3600"/>
              <a:buFont typeface="Arial"/>
              <a:buNone/>
              <a:defRPr sz="3600" b="0" i="0" u="none" strike="noStrike" cap="none">
                <a:solidFill>
                  <a:schemeClr val="dk1"/>
                </a:solidFill>
                <a:latin typeface="Encode Sans"/>
                <a:ea typeface="Encode Sans"/>
                <a:cs typeface="Encode Sans"/>
                <a:sym typeface="Encode Sans"/>
              </a:defRPr>
            </a:lvl3pPr>
            <a:lvl4pPr marL="1828800" marR="0" lvl="3" indent="-228600" algn="l" rtl="0">
              <a:lnSpc>
                <a:spcPct val="100000"/>
              </a:lnSpc>
              <a:spcBef>
                <a:spcPts val="720"/>
              </a:spcBef>
              <a:spcAft>
                <a:spcPts val="0"/>
              </a:spcAft>
              <a:buClr>
                <a:schemeClr val="dk1"/>
              </a:buClr>
              <a:buSzPts val="3600"/>
              <a:buFont typeface="Arial"/>
              <a:buNone/>
              <a:defRPr sz="3600" b="0" i="0" u="none" strike="noStrike" cap="none">
                <a:solidFill>
                  <a:schemeClr val="dk1"/>
                </a:solidFill>
                <a:latin typeface="Encode Sans"/>
                <a:ea typeface="Encode Sans"/>
                <a:cs typeface="Encode Sans"/>
                <a:sym typeface="Encode Sans"/>
              </a:defRPr>
            </a:lvl4pPr>
            <a:lvl5pPr marL="2286000" marR="0" lvl="4" indent="-228600" algn="l" rtl="0">
              <a:lnSpc>
                <a:spcPct val="100000"/>
              </a:lnSpc>
              <a:spcBef>
                <a:spcPts val="720"/>
              </a:spcBef>
              <a:spcAft>
                <a:spcPts val="0"/>
              </a:spcAft>
              <a:buClr>
                <a:schemeClr val="dk1"/>
              </a:buClr>
              <a:buSzPts val="3600"/>
              <a:buFont typeface="Arial"/>
              <a:buNone/>
              <a:defRPr sz="3600" b="0" i="0" u="none" strike="noStrike" cap="none">
                <a:solidFill>
                  <a:schemeClr val="dk1"/>
                </a:solidFill>
                <a:latin typeface="Encode Sans"/>
                <a:ea typeface="Encode Sans"/>
                <a:cs typeface="Encode Sans"/>
                <a:sym typeface="Encode Sa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3" name="Google Shape;33;p37"/>
          <p:cNvSpPr txBox="1">
            <a:spLocks noGrp="1"/>
          </p:cNvSpPr>
          <p:nvPr>
            <p:ph type="body" idx="2"/>
          </p:nvPr>
        </p:nvSpPr>
        <p:spPr>
          <a:xfrm>
            <a:off x="2330450" y="3519120"/>
            <a:ext cx="9863138" cy="3086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26272C"/>
              </a:buClr>
              <a:buSzPts val="9200"/>
              <a:buFont typeface="Arial"/>
              <a:buNone/>
              <a:defRPr sz="9200" b="0" i="0" u="none" strike="noStrike" cap="none">
                <a:solidFill>
                  <a:srgbClr val="26272C"/>
                </a:solidFill>
                <a:latin typeface="Encode Sans"/>
                <a:ea typeface="Encode Sans"/>
                <a:cs typeface="Encode Sans"/>
                <a:sym typeface="Encode Sans"/>
              </a:defRPr>
            </a:lvl1pPr>
            <a:lvl2pPr marL="914400" marR="0" lvl="1"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ma 1">
  <p:cSld name="Tema 1">
    <p:spTree>
      <p:nvGrpSpPr>
        <p:cNvPr id="1" name="Shape 34"/>
        <p:cNvGrpSpPr/>
        <p:nvPr/>
      </p:nvGrpSpPr>
      <p:grpSpPr>
        <a:xfrm>
          <a:off x="0" y="0"/>
          <a:ext cx="0" cy="0"/>
          <a:chOff x="0" y="0"/>
          <a:chExt cx="0" cy="0"/>
        </a:xfrm>
      </p:grpSpPr>
      <p:sp>
        <p:nvSpPr>
          <p:cNvPr id="35" name="Google Shape;35;p38"/>
          <p:cNvSpPr/>
          <p:nvPr/>
        </p:nvSpPr>
        <p:spPr>
          <a:xfrm>
            <a:off x="-165904" y="-150471"/>
            <a:ext cx="24692658" cy="14040091"/>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6" name="Google Shape;36;p38" descr=" "/>
          <p:cNvPicPr preferRelativeResize="0"/>
          <p:nvPr/>
        </p:nvPicPr>
        <p:blipFill rotWithShape="1">
          <a:blip r:embed="rId2">
            <a:alphaModFix/>
          </a:blip>
          <a:srcRect/>
          <a:stretch/>
        </p:blipFill>
        <p:spPr>
          <a:xfrm>
            <a:off x="11170252" y="462769"/>
            <a:ext cx="12791764" cy="12790463"/>
          </a:xfrm>
          <a:prstGeom prst="rect">
            <a:avLst/>
          </a:prstGeom>
          <a:noFill/>
          <a:ln>
            <a:noFill/>
          </a:ln>
        </p:spPr>
      </p:pic>
      <p:pic>
        <p:nvPicPr>
          <p:cNvPr id="37" name="Google Shape;37;p38" descr=" "/>
          <p:cNvPicPr preferRelativeResize="0"/>
          <p:nvPr/>
        </p:nvPicPr>
        <p:blipFill rotWithShape="1">
          <a:blip r:embed="rId3">
            <a:alphaModFix/>
          </a:blip>
          <a:srcRect/>
          <a:stretch/>
        </p:blipFill>
        <p:spPr>
          <a:xfrm>
            <a:off x="424734" y="424672"/>
            <a:ext cx="12791764" cy="12790460"/>
          </a:xfrm>
          <a:prstGeom prst="rect">
            <a:avLst/>
          </a:prstGeom>
          <a:noFill/>
          <a:ln>
            <a:noFill/>
          </a:ln>
        </p:spPr>
      </p:pic>
      <p:sp>
        <p:nvSpPr>
          <p:cNvPr id="38" name="Google Shape;38;p38"/>
          <p:cNvSpPr/>
          <p:nvPr/>
        </p:nvSpPr>
        <p:spPr>
          <a:xfrm>
            <a:off x="3099187" y="-2235200"/>
            <a:ext cx="18201375" cy="181991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38"/>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0" name="Google Shape;40;p38" descr=" "/>
          <p:cNvPicPr preferRelativeResize="0"/>
          <p:nvPr/>
        </p:nvPicPr>
        <p:blipFill rotWithShape="1">
          <a:blip r:embed="rId4">
            <a:alphaModFix/>
          </a:blip>
          <a:srcRect/>
          <a:stretch/>
        </p:blipFill>
        <p:spPr>
          <a:xfrm>
            <a:off x="23434429" y="406400"/>
            <a:ext cx="474375" cy="593018"/>
          </a:xfrm>
          <a:prstGeom prst="rect">
            <a:avLst/>
          </a:prstGeom>
          <a:noFill/>
          <a:ln>
            <a:noFill/>
          </a:ln>
        </p:spPr>
      </p:pic>
      <p:pic>
        <p:nvPicPr>
          <p:cNvPr id="41" name="Google Shape;41;p38" descr="Ícone&#10;&#10;O conteúdo gerado por IA pode estar incorreto."/>
          <p:cNvPicPr preferRelativeResize="0"/>
          <p:nvPr/>
        </p:nvPicPr>
        <p:blipFill rotWithShape="1">
          <a:blip r:embed="rId5">
            <a:alphaModFix/>
          </a:blip>
          <a:srcRect/>
          <a:stretch/>
        </p:blipFill>
        <p:spPr>
          <a:xfrm>
            <a:off x="-2202249" y="-8621"/>
            <a:ext cx="1568332" cy="10010051"/>
          </a:xfrm>
          <a:prstGeom prst="rect">
            <a:avLst/>
          </a:prstGeom>
          <a:noFill/>
          <a:ln>
            <a:noFill/>
          </a:ln>
        </p:spPr>
      </p:pic>
      <p:sp>
        <p:nvSpPr>
          <p:cNvPr id="42" name="Google Shape;42;p38"/>
          <p:cNvSpPr txBox="1">
            <a:spLocks noGrp="1"/>
          </p:cNvSpPr>
          <p:nvPr>
            <p:ph type="body" idx="1"/>
          </p:nvPr>
        </p:nvSpPr>
        <p:spPr>
          <a:xfrm>
            <a:off x="6598775" y="3358662"/>
            <a:ext cx="11163300" cy="61976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BDBFC7"/>
              </a:buClr>
              <a:buSzPts val="13200"/>
              <a:buFont typeface="Arial"/>
              <a:buNone/>
              <a:defRPr sz="13200" b="0" i="0" u="none" strike="noStrike" cap="none">
                <a:solidFill>
                  <a:srgbClr val="BDBFC7"/>
                </a:solidFill>
                <a:latin typeface="Calibri"/>
                <a:ea typeface="Calibri"/>
                <a:cs typeface="Calibri"/>
                <a:sym typeface="Calibri"/>
              </a:defRPr>
            </a:lvl1pPr>
            <a:lvl2pPr marL="914400" marR="0" lvl="1" indent="-228600" algn="l" rtl="0">
              <a:lnSpc>
                <a:spcPct val="100000"/>
              </a:lnSpc>
              <a:spcBef>
                <a:spcPts val="560"/>
              </a:spcBef>
              <a:spcAft>
                <a:spcPts val="0"/>
              </a:spcAft>
              <a:buClr>
                <a:srgbClr val="BDBFC7"/>
              </a:buClr>
              <a:buSzPts val="2800"/>
              <a:buFont typeface="Arial"/>
              <a:buNone/>
              <a:defRPr sz="2800" b="0" i="0" u="none" strike="noStrike" cap="none">
                <a:solidFill>
                  <a:srgbClr val="BDBFC7"/>
                </a:solidFill>
                <a:latin typeface="Calibri"/>
                <a:ea typeface="Calibri"/>
                <a:cs typeface="Calibri"/>
                <a:sym typeface="Calibri"/>
              </a:defRPr>
            </a:lvl2pPr>
            <a:lvl3pPr marL="1371600" marR="0" lvl="2" indent="-228600" algn="l" rtl="0">
              <a:lnSpc>
                <a:spcPct val="100000"/>
              </a:lnSpc>
              <a:spcBef>
                <a:spcPts val="480"/>
              </a:spcBef>
              <a:spcAft>
                <a:spcPts val="0"/>
              </a:spcAft>
              <a:buClr>
                <a:srgbClr val="BDBFC7"/>
              </a:buClr>
              <a:buSzPts val="2400"/>
              <a:buFont typeface="Arial"/>
              <a:buNone/>
              <a:defRPr sz="2400" b="0" i="0" u="none" strike="noStrike" cap="none">
                <a:solidFill>
                  <a:srgbClr val="BDBFC7"/>
                </a:solidFill>
                <a:latin typeface="Calibri"/>
                <a:ea typeface="Calibri"/>
                <a:cs typeface="Calibri"/>
                <a:sym typeface="Calibri"/>
              </a:defRPr>
            </a:lvl3pPr>
            <a:lvl4pPr marL="1828800" marR="0" lvl="3" indent="-228600" algn="l" rtl="0">
              <a:lnSpc>
                <a:spcPct val="100000"/>
              </a:lnSpc>
              <a:spcBef>
                <a:spcPts val="400"/>
              </a:spcBef>
              <a:spcAft>
                <a:spcPts val="0"/>
              </a:spcAft>
              <a:buClr>
                <a:srgbClr val="BDBFC7"/>
              </a:buClr>
              <a:buSzPts val="2000"/>
              <a:buFont typeface="Arial"/>
              <a:buNone/>
              <a:defRPr sz="2000" b="0" i="0" u="none" strike="noStrike" cap="none">
                <a:solidFill>
                  <a:srgbClr val="BDBFC7"/>
                </a:solidFill>
                <a:latin typeface="Calibri"/>
                <a:ea typeface="Calibri"/>
                <a:cs typeface="Calibri"/>
                <a:sym typeface="Calibri"/>
              </a:defRPr>
            </a:lvl4pPr>
            <a:lvl5pPr marL="2286000" marR="0" lvl="4" indent="-228600" algn="l" rtl="0">
              <a:lnSpc>
                <a:spcPct val="100000"/>
              </a:lnSpc>
              <a:spcBef>
                <a:spcPts val="400"/>
              </a:spcBef>
              <a:spcAft>
                <a:spcPts val="0"/>
              </a:spcAft>
              <a:buClr>
                <a:srgbClr val="BDBFC7"/>
              </a:buClr>
              <a:buSzPts val="2000"/>
              <a:buFont typeface="Arial"/>
              <a:buNone/>
              <a:defRPr sz="2000" b="0" i="0" u="none" strike="noStrike" cap="none">
                <a:solidFill>
                  <a:srgbClr val="BDBFC7"/>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ema 2">
  <p:cSld name="Tema 2">
    <p:spTree>
      <p:nvGrpSpPr>
        <p:cNvPr id="1" name="Shape 43"/>
        <p:cNvGrpSpPr/>
        <p:nvPr/>
      </p:nvGrpSpPr>
      <p:grpSpPr>
        <a:xfrm>
          <a:off x="0" y="0"/>
          <a:ext cx="0" cy="0"/>
          <a:chOff x="0" y="0"/>
          <a:chExt cx="0" cy="0"/>
        </a:xfrm>
      </p:grpSpPr>
      <p:sp>
        <p:nvSpPr>
          <p:cNvPr id="44" name="Google Shape;44;p39"/>
          <p:cNvSpPr/>
          <p:nvPr/>
        </p:nvSpPr>
        <p:spPr>
          <a:xfrm>
            <a:off x="4216927" y="-1130300"/>
            <a:ext cx="15965895" cy="15963900"/>
          </a:xfrm>
          <a:prstGeom prst="ellipse">
            <a:avLst/>
          </a:prstGeom>
          <a:solidFill>
            <a:srgbClr val="13131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39"/>
          <p:cNvSpPr/>
          <p:nvPr/>
        </p:nvSpPr>
        <p:spPr>
          <a:xfrm>
            <a:off x="18798350" y="-1130300"/>
            <a:ext cx="15965895" cy="15963900"/>
          </a:xfrm>
          <a:prstGeom prst="ellipse">
            <a:avLst/>
          </a:prstGeom>
          <a:solidFill>
            <a:srgbClr val="13131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39"/>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7" name="Google Shape;47;p39" descr=" "/>
          <p:cNvPicPr preferRelativeResize="0"/>
          <p:nvPr/>
        </p:nvPicPr>
        <p:blipFill rotWithShape="1">
          <a:blip r:embed="rId2">
            <a:alphaModFix/>
          </a:blip>
          <a:srcRect/>
          <a:stretch/>
        </p:blipFill>
        <p:spPr>
          <a:xfrm>
            <a:off x="23434429" y="406400"/>
            <a:ext cx="474375" cy="593018"/>
          </a:xfrm>
          <a:prstGeom prst="rect">
            <a:avLst/>
          </a:prstGeom>
          <a:noFill/>
          <a:ln>
            <a:noFill/>
          </a:ln>
        </p:spPr>
      </p:pic>
      <p:pic>
        <p:nvPicPr>
          <p:cNvPr id="48" name="Google Shape;48;p39" descr="Ícone&#10;&#10;O conteúdo gerado por IA pode estar incorreto."/>
          <p:cNvPicPr preferRelativeResize="0"/>
          <p:nvPr/>
        </p:nvPicPr>
        <p:blipFill rotWithShape="1">
          <a:blip r:embed="rId3">
            <a:alphaModFix/>
          </a:blip>
          <a:srcRect/>
          <a:stretch/>
        </p:blipFill>
        <p:spPr>
          <a:xfrm>
            <a:off x="-2202249" y="-8621"/>
            <a:ext cx="1568332" cy="10010051"/>
          </a:xfrm>
          <a:prstGeom prst="rect">
            <a:avLst/>
          </a:prstGeom>
          <a:noFill/>
          <a:ln>
            <a:noFill/>
          </a:ln>
        </p:spPr>
      </p:pic>
      <p:sp>
        <p:nvSpPr>
          <p:cNvPr id="49" name="Google Shape;49;p39"/>
          <p:cNvSpPr txBox="1">
            <a:spLocks noGrp="1"/>
          </p:cNvSpPr>
          <p:nvPr>
            <p:ph type="body" idx="1"/>
          </p:nvPr>
        </p:nvSpPr>
        <p:spPr>
          <a:xfrm>
            <a:off x="431800" y="5135034"/>
            <a:ext cx="10833100" cy="807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5F8BEC"/>
              </a:buClr>
              <a:buSzPts val="13200"/>
              <a:buFont typeface="Arial"/>
              <a:buNone/>
              <a:defRPr sz="13200" b="0" i="0" u="none" strike="noStrike" cap="none">
                <a:solidFill>
                  <a:srgbClr val="5F8BEC"/>
                </a:solidFill>
                <a:latin typeface="Encode Sans"/>
                <a:ea typeface="Encode Sans"/>
                <a:cs typeface="Encode Sans"/>
                <a:sym typeface="Encode Sans"/>
              </a:defRPr>
            </a:lvl1pPr>
            <a:lvl2pPr marL="914400" marR="0" lvl="1" indent="-228600" algn="l" rtl="0">
              <a:lnSpc>
                <a:spcPct val="100000"/>
              </a:lnSpc>
              <a:spcBef>
                <a:spcPts val="2640"/>
              </a:spcBef>
              <a:spcAft>
                <a:spcPts val="0"/>
              </a:spcAft>
              <a:buClr>
                <a:schemeClr val="dk1"/>
              </a:buClr>
              <a:buSzPts val="13200"/>
              <a:buFont typeface="Arial"/>
              <a:buNone/>
              <a:defRPr sz="13200" b="0" i="0" u="none" strike="noStrike" cap="none">
                <a:solidFill>
                  <a:schemeClr val="dk1"/>
                </a:solidFill>
                <a:latin typeface="Encode Sans"/>
                <a:ea typeface="Encode Sans"/>
                <a:cs typeface="Encode Sans"/>
                <a:sym typeface="Encode Sans"/>
              </a:defRPr>
            </a:lvl2pPr>
            <a:lvl3pPr marL="1371600" marR="0" lvl="2" indent="-228600" algn="l" rtl="0">
              <a:lnSpc>
                <a:spcPct val="100000"/>
              </a:lnSpc>
              <a:spcBef>
                <a:spcPts val="2640"/>
              </a:spcBef>
              <a:spcAft>
                <a:spcPts val="0"/>
              </a:spcAft>
              <a:buClr>
                <a:schemeClr val="dk1"/>
              </a:buClr>
              <a:buSzPts val="13200"/>
              <a:buFont typeface="Arial"/>
              <a:buNone/>
              <a:defRPr sz="13200" b="0" i="0" u="none" strike="noStrike" cap="none">
                <a:solidFill>
                  <a:schemeClr val="dk1"/>
                </a:solidFill>
                <a:latin typeface="Encode Sans"/>
                <a:ea typeface="Encode Sans"/>
                <a:cs typeface="Encode Sans"/>
                <a:sym typeface="Encode Sans"/>
              </a:defRPr>
            </a:lvl3pPr>
            <a:lvl4pPr marL="1828800" marR="0" lvl="3" indent="-228600" algn="l" rtl="0">
              <a:lnSpc>
                <a:spcPct val="100000"/>
              </a:lnSpc>
              <a:spcBef>
                <a:spcPts val="2640"/>
              </a:spcBef>
              <a:spcAft>
                <a:spcPts val="0"/>
              </a:spcAft>
              <a:buClr>
                <a:schemeClr val="dk1"/>
              </a:buClr>
              <a:buSzPts val="13200"/>
              <a:buFont typeface="Arial"/>
              <a:buNone/>
              <a:defRPr sz="13200" b="0" i="0" u="none" strike="noStrike" cap="none">
                <a:solidFill>
                  <a:schemeClr val="dk1"/>
                </a:solidFill>
                <a:latin typeface="Encode Sans"/>
                <a:ea typeface="Encode Sans"/>
                <a:cs typeface="Encode Sans"/>
                <a:sym typeface="Encode Sans"/>
              </a:defRPr>
            </a:lvl4pPr>
            <a:lvl5pPr marL="2286000" marR="0" lvl="4" indent="-228600" algn="l" rtl="0">
              <a:lnSpc>
                <a:spcPct val="100000"/>
              </a:lnSpc>
              <a:spcBef>
                <a:spcPts val="2640"/>
              </a:spcBef>
              <a:spcAft>
                <a:spcPts val="0"/>
              </a:spcAft>
              <a:buClr>
                <a:schemeClr val="dk1"/>
              </a:buClr>
              <a:buSzPts val="13200"/>
              <a:buFont typeface="Arial"/>
              <a:buNone/>
              <a:defRPr sz="13200" b="0" i="0" u="none" strike="noStrike" cap="none">
                <a:solidFill>
                  <a:schemeClr val="dk1"/>
                </a:solidFill>
                <a:latin typeface="Encode Sans"/>
                <a:ea typeface="Encode Sans"/>
                <a:cs typeface="Encode Sans"/>
                <a:sym typeface="Encode Sa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magem lateral 1">
  <p:cSld name="Imagem lateral 1">
    <p:spTree>
      <p:nvGrpSpPr>
        <p:cNvPr id="1" name="Shape 50"/>
        <p:cNvGrpSpPr/>
        <p:nvPr/>
      </p:nvGrpSpPr>
      <p:grpSpPr>
        <a:xfrm>
          <a:off x="0" y="0"/>
          <a:ext cx="0" cy="0"/>
          <a:chOff x="0" y="0"/>
          <a:chExt cx="0" cy="0"/>
        </a:xfrm>
      </p:grpSpPr>
      <p:sp>
        <p:nvSpPr>
          <p:cNvPr id="51" name="Google Shape;51;p40"/>
          <p:cNvSpPr/>
          <p:nvPr/>
        </p:nvSpPr>
        <p:spPr>
          <a:xfrm>
            <a:off x="23433139" y="406400"/>
            <a:ext cx="477061"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 name="Google Shape;52;p40" descr=" "/>
          <p:cNvPicPr preferRelativeResize="0"/>
          <p:nvPr/>
        </p:nvPicPr>
        <p:blipFill rotWithShape="1">
          <a:blip r:embed="rId2">
            <a:alphaModFix/>
          </a:blip>
          <a:srcRect/>
          <a:stretch/>
        </p:blipFill>
        <p:spPr>
          <a:xfrm>
            <a:off x="23433139" y="406400"/>
            <a:ext cx="476942" cy="593018"/>
          </a:xfrm>
          <a:prstGeom prst="rect">
            <a:avLst/>
          </a:prstGeom>
          <a:noFill/>
          <a:ln>
            <a:noFill/>
          </a:ln>
        </p:spPr>
      </p:pic>
      <p:sp>
        <p:nvSpPr>
          <p:cNvPr id="53" name="Google Shape;53;p40"/>
          <p:cNvSpPr>
            <a:spLocks noGrp="1"/>
          </p:cNvSpPr>
          <p:nvPr>
            <p:ph type="pic" idx="2"/>
          </p:nvPr>
        </p:nvSpPr>
        <p:spPr>
          <a:xfrm flipH="1">
            <a:off x="14403599" y="-518160"/>
            <a:ext cx="12266400" cy="14538960"/>
          </a:xfrm>
          <a:prstGeom prst="flowChartDelay">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magem lateral 2">
  <p:cSld name="Imagem lateral 2">
    <p:spTree>
      <p:nvGrpSpPr>
        <p:cNvPr id="1" name="Shape 54"/>
        <p:cNvGrpSpPr/>
        <p:nvPr/>
      </p:nvGrpSpPr>
      <p:grpSpPr>
        <a:xfrm>
          <a:off x="0" y="0"/>
          <a:ext cx="0" cy="0"/>
          <a:chOff x="0" y="0"/>
          <a:chExt cx="0" cy="0"/>
        </a:xfrm>
      </p:grpSpPr>
      <p:sp>
        <p:nvSpPr>
          <p:cNvPr id="55" name="Google Shape;55;p41"/>
          <p:cNvSpPr>
            <a:spLocks noGrp="1"/>
          </p:cNvSpPr>
          <p:nvPr>
            <p:ph type="pic" idx="2"/>
          </p:nvPr>
        </p:nvSpPr>
        <p:spPr>
          <a:xfrm flipH="1">
            <a:off x="15109197" y="0"/>
            <a:ext cx="10752938" cy="13716000"/>
          </a:xfrm>
          <a:prstGeom prst="rect">
            <a:avLst/>
          </a:prstGeom>
          <a:noFill/>
          <a:ln>
            <a:noFill/>
          </a:ln>
        </p:spPr>
      </p:sp>
      <p:sp>
        <p:nvSpPr>
          <p:cNvPr id="56" name="Google Shape;56;p41"/>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7" name="Google Shape;57;p41" descr=" "/>
          <p:cNvPicPr preferRelativeResize="0"/>
          <p:nvPr/>
        </p:nvPicPr>
        <p:blipFill rotWithShape="1">
          <a:blip r:embed="rId2">
            <a:alphaModFix/>
          </a:blip>
          <a:srcRect/>
          <a:stretch/>
        </p:blipFill>
        <p:spPr>
          <a:xfrm>
            <a:off x="23434429" y="406400"/>
            <a:ext cx="474375" cy="593018"/>
          </a:xfrm>
          <a:prstGeom prst="rect">
            <a:avLst/>
          </a:prstGeom>
          <a:noFill/>
          <a:ln>
            <a:noFill/>
          </a:ln>
        </p:spPr>
      </p:pic>
      <p:pic>
        <p:nvPicPr>
          <p:cNvPr id="58" name="Google Shape;58;p41" descr=" "/>
          <p:cNvPicPr preferRelativeResize="0"/>
          <p:nvPr/>
        </p:nvPicPr>
        <p:blipFill rotWithShape="1">
          <a:blip r:embed="rId3">
            <a:alphaModFix/>
          </a:blip>
          <a:srcRect/>
          <a:stretch/>
        </p:blipFill>
        <p:spPr>
          <a:xfrm>
            <a:off x="23434429" y="406400"/>
            <a:ext cx="474482" cy="59302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itação">
  <p:cSld name="Citação">
    <p:spTree>
      <p:nvGrpSpPr>
        <p:cNvPr id="1" name="Shape 59"/>
        <p:cNvGrpSpPr/>
        <p:nvPr/>
      </p:nvGrpSpPr>
      <p:grpSpPr>
        <a:xfrm>
          <a:off x="0" y="0"/>
          <a:ext cx="0" cy="0"/>
          <a:chOff x="0" y="0"/>
          <a:chExt cx="0" cy="0"/>
        </a:xfrm>
      </p:grpSpPr>
      <p:sp>
        <p:nvSpPr>
          <p:cNvPr id="60" name="Google Shape;60;p42"/>
          <p:cNvSpPr/>
          <p:nvPr/>
        </p:nvSpPr>
        <p:spPr>
          <a:xfrm>
            <a:off x="1460683" y="-1130300"/>
            <a:ext cx="15965895" cy="15963900"/>
          </a:xfrm>
          <a:prstGeom prst="ellipse">
            <a:avLst/>
          </a:prstGeom>
          <a:solidFill>
            <a:srgbClr val="13131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42"/>
          <p:cNvSpPr/>
          <p:nvPr/>
        </p:nvSpPr>
        <p:spPr>
          <a:xfrm>
            <a:off x="16372346" y="-1130300"/>
            <a:ext cx="15965895" cy="15963900"/>
          </a:xfrm>
          <a:prstGeom prst="ellipse">
            <a:avLst/>
          </a:prstGeom>
          <a:solidFill>
            <a:srgbClr val="13131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42"/>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3" name="Google Shape;63;p42" descr=" "/>
          <p:cNvPicPr preferRelativeResize="0"/>
          <p:nvPr/>
        </p:nvPicPr>
        <p:blipFill rotWithShape="1">
          <a:blip r:embed="rId2">
            <a:alphaModFix/>
          </a:blip>
          <a:srcRect/>
          <a:stretch/>
        </p:blipFill>
        <p:spPr>
          <a:xfrm>
            <a:off x="23434429" y="406400"/>
            <a:ext cx="474362" cy="593018"/>
          </a:xfrm>
          <a:prstGeom prst="rect">
            <a:avLst/>
          </a:prstGeom>
          <a:noFill/>
          <a:ln>
            <a:noFill/>
          </a:ln>
        </p:spPr>
      </p:pic>
      <p:sp>
        <p:nvSpPr>
          <p:cNvPr id="64" name="Google Shape;64;p42"/>
          <p:cNvSpPr/>
          <p:nvPr/>
        </p:nvSpPr>
        <p:spPr>
          <a:xfrm>
            <a:off x="4420152" y="5372100"/>
            <a:ext cx="15546743" cy="4318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5" name="Google Shape;65;p42" descr=" "/>
          <p:cNvPicPr preferRelativeResize="0"/>
          <p:nvPr/>
        </p:nvPicPr>
        <p:blipFill rotWithShape="1">
          <a:blip r:embed="rId3">
            <a:alphaModFix/>
          </a:blip>
          <a:srcRect/>
          <a:stretch/>
        </p:blipFill>
        <p:spPr>
          <a:xfrm>
            <a:off x="4242330" y="4025900"/>
            <a:ext cx="1066933" cy="1066800"/>
          </a:xfrm>
          <a:prstGeom prst="rect">
            <a:avLst/>
          </a:prstGeom>
          <a:noFill/>
          <a:ln>
            <a:noFill/>
          </a:ln>
        </p:spPr>
      </p:pic>
      <p:pic>
        <p:nvPicPr>
          <p:cNvPr id="66" name="Google Shape;66;p42" descr=" "/>
          <p:cNvPicPr preferRelativeResize="0"/>
          <p:nvPr/>
        </p:nvPicPr>
        <p:blipFill rotWithShape="1">
          <a:blip r:embed="rId4">
            <a:alphaModFix/>
          </a:blip>
          <a:srcRect/>
          <a:stretch/>
        </p:blipFill>
        <p:spPr>
          <a:xfrm>
            <a:off x="4439205" y="4311650"/>
            <a:ext cx="673184" cy="495300"/>
          </a:xfrm>
          <a:prstGeom prst="rect">
            <a:avLst/>
          </a:prstGeom>
          <a:noFill/>
          <a:ln>
            <a:noFill/>
          </a:ln>
        </p:spPr>
      </p:pic>
      <p:sp>
        <p:nvSpPr>
          <p:cNvPr id="67" name="Google Shape;67;p42"/>
          <p:cNvSpPr txBox="1">
            <a:spLocks noGrp="1"/>
          </p:cNvSpPr>
          <p:nvPr>
            <p:ph type="body" idx="1"/>
          </p:nvPr>
        </p:nvSpPr>
        <p:spPr>
          <a:xfrm>
            <a:off x="4439205" y="5284064"/>
            <a:ext cx="15751175" cy="345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800"/>
              </a:spcBef>
              <a:spcAft>
                <a:spcPts val="0"/>
              </a:spcAft>
              <a:buClr>
                <a:srgbClr val="F4F4F6"/>
              </a:buClr>
              <a:buSzPts val="4000"/>
              <a:buFont typeface="Arial"/>
              <a:buNone/>
              <a:defRPr sz="4000" b="0" i="0" u="none" strike="noStrike" cap="none">
                <a:solidFill>
                  <a:srgbClr val="F4F4F6"/>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8" name="Google Shape;68;p42"/>
          <p:cNvSpPr txBox="1">
            <a:spLocks noGrp="1"/>
          </p:cNvSpPr>
          <p:nvPr>
            <p:ph type="body" idx="2"/>
          </p:nvPr>
        </p:nvSpPr>
        <p:spPr>
          <a:xfrm>
            <a:off x="4465016" y="9191625"/>
            <a:ext cx="15965487" cy="7778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rgbClr val="BDBFC7"/>
              </a:buClr>
              <a:buSzPts val="3200"/>
              <a:buFont typeface="Arial"/>
              <a:buNone/>
              <a:defRPr sz="3200" b="0" i="0" u="none" strike="noStrike" cap="none">
                <a:solidFill>
                  <a:srgbClr val="BDBFC7"/>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 texto 2">
  <p:cSld name="Título + texto 2">
    <p:spTree>
      <p:nvGrpSpPr>
        <p:cNvPr id="1" name="Shape 69"/>
        <p:cNvGrpSpPr/>
        <p:nvPr/>
      </p:nvGrpSpPr>
      <p:grpSpPr>
        <a:xfrm>
          <a:off x="0" y="0"/>
          <a:ext cx="0" cy="0"/>
          <a:chOff x="0" y="0"/>
          <a:chExt cx="0" cy="0"/>
        </a:xfrm>
      </p:grpSpPr>
      <p:sp>
        <p:nvSpPr>
          <p:cNvPr id="70" name="Google Shape;70;p43"/>
          <p:cNvSpPr/>
          <p:nvPr/>
        </p:nvSpPr>
        <p:spPr>
          <a:xfrm>
            <a:off x="-165904" y="-150471"/>
            <a:ext cx="24692658" cy="14040091"/>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1" name="Google Shape;71;p43" descr=" "/>
          <p:cNvPicPr preferRelativeResize="0"/>
          <p:nvPr/>
        </p:nvPicPr>
        <p:blipFill rotWithShape="1">
          <a:blip r:embed="rId2">
            <a:alphaModFix/>
          </a:blip>
          <a:srcRect/>
          <a:stretch/>
        </p:blipFill>
        <p:spPr>
          <a:xfrm>
            <a:off x="11170265" y="462769"/>
            <a:ext cx="12791776" cy="12790463"/>
          </a:xfrm>
          <a:prstGeom prst="rect">
            <a:avLst/>
          </a:prstGeom>
          <a:noFill/>
          <a:ln>
            <a:noFill/>
          </a:ln>
        </p:spPr>
      </p:pic>
      <p:pic>
        <p:nvPicPr>
          <p:cNvPr id="72" name="Google Shape;72;p43" descr=" "/>
          <p:cNvPicPr preferRelativeResize="0"/>
          <p:nvPr/>
        </p:nvPicPr>
        <p:blipFill rotWithShape="1">
          <a:blip r:embed="rId3">
            <a:alphaModFix/>
          </a:blip>
          <a:srcRect/>
          <a:stretch/>
        </p:blipFill>
        <p:spPr>
          <a:xfrm>
            <a:off x="424722" y="424672"/>
            <a:ext cx="12791776" cy="12790460"/>
          </a:xfrm>
          <a:prstGeom prst="rect">
            <a:avLst/>
          </a:prstGeom>
          <a:noFill/>
          <a:ln>
            <a:noFill/>
          </a:ln>
        </p:spPr>
      </p:pic>
      <p:sp>
        <p:nvSpPr>
          <p:cNvPr id="73" name="Google Shape;73;p43"/>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4" name="Google Shape;74;p43" descr=" "/>
          <p:cNvPicPr preferRelativeResize="0"/>
          <p:nvPr/>
        </p:nvPicPr>
        <p:blipFill rotWithShape="1">
          <a:blip r:embed="rId4">
            <a:alphaModFix/>
          </a:blip>
          <a:srcRect/>
          <a:stretch/>
        </p:blipFill>
        <p:spPr>
          <a:xfrm>
            <a:off x="23434429" y="406400"/>
            <a:ext cx="474362" cy="593018"/>
          </a:xfrm>
          <a:prstGeom prst="rect">
            <a:avLst/>
          </a:prstGeom>
          <a:noFill/>
          <a:ln>
            <a:noFill/>
          </a:ln>
        </p:spPr>
      </p:pic>
      <p:sp>
        <p:nvSpPr>
          <p:cNvPr id="75" name="Google Shape;75;p43"/>
          <p:cNvSpPr/>
          <p:nvPr/>
        </p:nvSpPr>
        <p:spPr>
          <a:xfrm>
            <a:off x="3099187" y="-2235200"/>
            <a:ext cx="18201375" cy="18199100"/>
          </a:xfrm>
          <a:prstGeom prst="ellipse">
            <a:avLst/>
          </a:prstGeom>
          <a:solidFill>
            <a:srgbClr val="052FD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43"/>
          <p:cNvSpPr/>
          <p:nvPr/>
        </p:nvSpPr>
        <p:spPr>
          <a:xfrm>
            <a:off x="7328816" y="4051300"/>
            <a:ext cx="9742118" cy="5613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43"/>
          <p:cNvSpPr txBox="1">
            <a:spLocks noGrp="1"/>
          </p:cNvSpPr>
          <p:nvPr>
            <p:ph type="body" idx="1"/>
          </p:nvPr>
        </p:nvSpPr>
        <p:spPr>
          <a:xfrm>
            <a:off x="7161212" y="3915833"/>
            <a:ext cx="10064750" cy="26574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8" name="Google Shape;78;p43"/>
          <p:cNvSpPr txBox="1">
            <a:spLocks noGrp="1"/>
          </p:cNvSpPr>
          <p:nvPr>
            <p:ph type="body" idx="2"/>
          </p:nvPr>
        </p:nvSpPr>
        <p:spPr>
          <a:xfrm>
            <a:off x="6708775" y="6815348"/>
            <a:ext cx="10969625" cy="35224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agem + título">
  <p:cSld name="Imagem + título">
    <p:spTree>
      <p:nvGrpSpPr>
        <p:cNvPr id="1" name="Shape 79"/>
        <p:cNvGrpSpPr/>
        <p:nvPr/>
      </p:nvGrpSpPr>
      <p:grpSpPr>
        <a:xfrm>
          <a:off x="0" y="0"/>
          <a:ext cx="0" cy="0"/>
          <a:chOff x="0" y="0"/>
          <a:chExt cx="0" cy="0"/>
        </a:xfrm>
      </p:grpSpPr>
      <p:pic>
        <p:nvPicPr>
          <p:cNvPr id="80" name="Google Shape;80;p44" descr=" "/>
          <p:cNvPicPr preferRelativeResize="0"/>
          <p:nvPr/>
        </p:nvPicPr>
        <p:blipFill rotWithShape="1">
          <a:blip r:embed="rId2">
            <a:alphaModFix/>
          </a:blip>
          <a:srcRect/>
          <a:stretch/>
        </p:blipFill>
        <p:spPr>
          <a:xfrm>
            <a:off x="11170265" y="462769"/>
            <a:ext cx="12791776" cy="12790463"/>
          </a:xfrm>
          <a:prstGeom prst="rect">
            <a:avLst/>
          </a:prstGeom>
          <a:noFill/>
          <a:ln>
            <a:noFill/>
          </a:ln>
        </p:spPr>
      </p:pic>
      <p:pic>
        <p:nvPicPr>
          <p:cNvPr id="81" name="Google Shape;81;p44" descr=" "/>
          <p:cNvPicPr preferRelativeResize="0"/>
          <p:nvPr/>
        </p:nvPicPr>
        <p:blipFill rotWithShape="1">
          <a:blip r:embed="rId3">
            <a:alphaModFix/>
          </a:blip>
          <a:srcRect/>
          <a:stretch/>
        </p:blipFill>
        <p:spPr>
          <a:xfrm>
            <a:off x="424722" y="424669"/>
            <a:ext cx="10652539" cy="12790463"/>
          </a:xfrm>
          <a:prstGeom prst="rect">
            <a:avLst/>
          </a:prstGeom>
          <a:noFill/>
          <a:ln>
            <a:noFill/>
          </a:ln>
        </p:spPr>
      </p:pic>
      <p:sp>
        <p:nvSpPr>
          <p:cNvPr id="82" name="Google Shape;82;p44"/>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83" name="Google Shape;83;p44" descr=" "/>
          <p:cNvPicPr preferRelativeResize="0"/>
          <p:nvPr/>
        </p:nvPicPr>
        <p:blipFill rotWithShape="1">
          <a:blip r:embed="rId4">
            <a:alphaModFix/>
          </a:blip>
          <a:srcRect/>
          <a:stretch/>
        </p:blipFill>
        <p:spPr>
          <a:xfrm>
            <a:off x="23434429" y="406400"/>
            <a:ext cx="474362" cy="593018"/>
          </a:xfrm>
          <a:prstGeom prst="rect">
            <a:avLst/>
          </a:prstGeom>
          <a:noFill/>
          <a:ln>
            <a:noFill/>
          </a:ln>
        </p:spPr>
      </p:pic>
      <p:sp>
        <p:nvSpPr>
          <p:cNvPr id="84" name="Google Shape;84;p44"/>
          <p:cNvSpPr/>
          <p:nvPr/>
        </p:nvSpPr>
        <p:spPr>
          <a:xfrm>
            <a:off x="431854" y="13004800"/>
            <a:ext cx="296370" cy="347133"/>
          </a:xfrm>
          <a:prstGeom prst="rect">
            <a:avLst/>
          </a:prstGeom>
          <a:noFill/>
          <a:ln>
            <a:noFill/>
          </a:ln>
        </p:spPr>
        <p:txBody>
          <a:bodyPr spcFirstLastPara="1" wrap="square" lIns="0" tIns="0" rIns="0" bIns="0" anchor="t" anchorCtr="0">
            <a:noAutofit/>
          </a:bodyPr>
          <a:lstStyle/>
          <a:p>
            <a:pPr marL="0" marR="0" lvl="0" indent="0" algn="l" rtl="0">
              <a:lnSpc>
                <a:spcPct val="137500"/>
              </a:lnSpc>
              <a:spcBef>
                <a:spcPts val="0"/>
              </a:spcBef>
              <a:spcAft>
                <a:spcPts val="0"/>
              </a:spcAft>
              <a:buClr>
                <a:srgbClr val="868998"/>
              </a:buClr>
              <a:buSzPts val="1600"/>
              <a:buFont typeface="Roboto"/>
              <a:buNone/>
            </a:pPr>
            <a:r>
              <a:rPr lang="en-US" sz="1600" b="0" i="0" u="none" strike="noStrike" cap="none">
                <a:solidFill>
                  <a:srgbClr val="868998"/>
                </a:solidFill>
                <a:latin typeface="Roboto"/>
                <a:ea typeface="Roboto"/>
                <a:cs typeface="Roboto"/>
                <a:sym typeface="Roboto"/>
              </a:rPr>
              <a:t>15</a:t>
            </a:r>
            <a:endParaRPr sz="1600" b="0" i="0" u="none" strike="noStrike" cap="none">
              <a:solidFill>
                <a:schemeClr val="dk1"/>
              </a:solidFill>
              <a:latin typeface="Roboto"/>
              <a:ea typeface="Roboto"/>
              <a:cs typeface="Roboto"/>
              <a:sym typeface="Roboto"/>
            </a:endParaRPr>
          </a:p>
        </p:txBody>
      </p:sp>
      <p:sp>
        <p:nvSpPr>
          <p:cNvPr id="85" name="Google Shape;85;p44"/>
          <p:cNvSpPr>
            <a:spLocks noGrp="1"/>
          </p:cNvSpPr>
          <p:nvPr>
            <p:ph type="pic" idx="2"/>
          </p:nvPr>
        </p:nvSpPr>
        <p:spPr>
          <a:xfrm>
            <a:off x="1993900" y="3098800"/>
            <a:ext cx="20399375" cy="8801100"/>
          </a:xfrm>
          <a:prstGeom prst="rect">
            <a:avLst/>
          </a:prstGeom>
          <a:noFill/>
          <a:ln>
            <a:noFill/>
          </a:ln>
        </p:spPr>
      </p:sp>
      <p:sp>
        <p:nvSpPr>
          <p:cNvPr id="86" name="Google Shape;86;p44"/>
          <p:cNvSpPr txBox="1">
            <a:spLocks noGrp="1"/>
          </p:cNvSpPr>
          <p:nvPr>
            <p:ph type="body" idx="1"/>
          </p:nvPr>
        </p:nvSpPr>
        <p:spPr>
          <a:xfrm>
            <a:off x="1993900" y="1437999"/>
            <a:ext cx="8216900" cy="1016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7" name="Google Shape;87;p44"/>
          <p:cNvSpPr txBox="1">
            <a:spLocks noGrp="1"/>
          </p:cNvSpPr>
          <p:nvPr>
            <p:ph type="body" idx="3"/>
          </p:nvPr>
        </p:nvSpPr>
        <p:spPr>
          <a:xfrm>
            <a:off x="16262350" y="1711566"/>
            <a:ext cx="6130925" cy="7080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uas imagens">
  <p:cSld name="Duas imagens">
    <p:spTree>
      <p:nvGrpSpPr>
        <p:cNvPr id="1" name="Shape 88"/>
        <p:cNvGrpSpPr/>
        <p:nvPr/>
      </p:nvGrpSpPr>
      <p:grpSpPr>
        <a:xfrm>
          <a:off x="0" y="0"/>
          <a:ext cx="0" cy="0"/>
          <a:chOff x="0" y="0"/>
          <a:chExt cx="0" cy="0"/>
        </a:xfrm>
      </p:grpSpPr>
      <p:pic>
        <p:nvPicPr>
          <p:cNvPr id="89" name="Google Shape;89;p45" descr=" "/>
          <p:cNvPicPr preferRelativeResize="0"/>
          <p:nvPr/>
        </p:nvPicPr>
        <p:blipFill rotWithShape="1">
          <a:blip r:embed="rId2">
            <a:alphaModFix/>
          </a:blip>
          <a:srcRect/>
          <a:stretch/>
        </p:blipFill>
        <p:spPr>
          <a:xfrm>
            <a:off x="11170265" y="462769"/>
            <a:ext cx="12791776" cy="12790463"/>
          </a:xfrm>
          <a:prstGeom prst="rect">
            <a:avLst/>
          </a:prstGeom>
          <a:noFill/>
          <a:ln>
            <a:noFill/>
          </a:ln>
        </p:spPr>
      </p:pic>
      <p:pic>
        <p:nvPicPr>
          <p:cNvPr id="90" name="Google Shape;90;p45" descr=" "/>
          <p:cNvPicPr preferRelativeResize="0"/>
          <p:nvPr/>
        </p:nvPicPr>
        <p:blipFill rotWithShape="1">
          <a:blip r:embed="rId3">
            <a:alphaModFix/>
          </a:blip>
          <a:srcRect/>
          <a:stretch/>
        </p:blipFill>
        <p:spPr>
          <a:xfrm>
            <a:off x="424722" y="424669"/>
            <a:ext cx="10652539" cy="12790463"/>
          </a:xfrm>
          <a:prstGeom prst="rect">
            <a:avLst/>
          </a:prstGeom>
          <a:noFill/>
          <a:ln>
            <a:noFill/>
          </a:ln>
        </p:spPr>
      </p:pic>
      <p:sp>
        <p:nvSpPr>
          <p:cNvPr id="91" name="Google Shape;91;p45"/>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2" name="Google Shape;92;p45" descr=" "/>
          <p:cNvPicPr preferRelativeResize="0"/>
          <p:nvPr/>
        </p:nvPicPr>
        <p:blipFill rotWithShape="1">
          <a:blip r:embed="rId4">
            <a:alphaModFix/>
          </a:blip>
          <a:srcRect/>
          <a:stretch/>
        </p:blipFill>
        <p:spPr>
          <a:xfrm>
            <a:off x="23434429" y="406400"/>
            <a:ext cx="474362" cy="593018"/>
          </a:xfrm>
          <a:prstGeom prst="rect">
            <a:avLst/>
          </a:prstGeom>
          <a:noFill/>
          <a:ln>
            <a:noFill/>
          </a:ln>
        </p:spPr>
      </p:pic>
      <p:sp>
        <p:nvSpPr>
          <p:cNvPr id="93" name="Google Shape;93;p45"/>
          <p:cNvSpPr>
            <a:spLocks noGrp="1"/>
          </p:cNvSpPr>
          <p:nvPr>
            <p:ph type="pic" idx="2"/>
          </p:nvPr>
        </p:nvSpPr>
        <p:spPr>
          <a:xfrm>
            <a:off x="1148863" y="2222500"/>
            <a:ext cx="10480430" cy="9271000"/>
          </a:xfrm>
          <a:prstGeom prst="rect">
            <a:avLst/>
          </a:prstGeom>
          <a:noFill/>
          <a:ln>
            <a:noFill/>
          </a:ln>
        </p:spPr>
      </p:sp>
      <p:sp>
        <p:nvSpPr>
          <p:cNvPr id="94" name="Google Shape;94;p45"/>
          <p:cNvSpPr>
            <a:spLocks noGrp="1"/>
          </p:cNvSpPr>
          <p:nvPr>
            <p:ph type="pic" idx="3"/>
          </p:nvPr>
        </p:nvSpPr>
        <p:spPr>
          <a:xfrm>
            <a:off x="12757882" y="2205892"/>
            <a:ext cx="10480430" cy="92710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 subtítulo">
  <p:cSld name="Título + subtítulo">
    <p:spTree>
      <p:nvGrpSpPr>
        <p:cNvPr id="1" name="Shape 95"/>
        <p:cNvGrpSpPr/>
        <p:nvPr/>
      </p:nvGrpSpPr>
      <p:grpSpPr>
        <a:xfrm>
          <a:off x="0" y="0"/>
          <a:ext cx="0" cy="0"/>
          <a:chOff x="0" y="0"/>
          <a:chExt cx="0" cy="0"/>
        </a:xfrm>
      </p:grpSpPr>
      <p:sp>
        <p:nvSpPr>
          <p:cNvPr id="96" name="Google Shape;96;p46"/>
          <p:cNvSpPr/>
          <p:nvPr/>
        </p:nvSpPr>
        <p:spPr>
          <a:xfrm>
            <a:off x="-165904" y="-150471"/>
            <a:ext cx="24692658" cy="14040091"/>
          </a:xfrm>
          <a:prstGeom prst="rect">
            <a:avLst/>
          </a:prstGeom>
          <a:solidFill>
            <a:srgbClr val="E2E2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7" name="Google Shape;97;p46"/>
          <p:cNvSpPr/>
          <p:nvPr/>
        </p:nvSpPr>
        <p:spPr>
          <a:xfrm>
            <a:off x="1994149" y="3302000"/>
            <a:ext cx="10415302" cy="7112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46"/>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9" name="Google Shape;99;p46" descr=" "/>
          <p:cNvPicPr preferRelativeResize="0"/>
          <p:nvPr/>
        </p:nvPicPr>
        <p:blipFill rotWithShape="1">
          <a:blip r:embed="rId2">
            <a:alphaModFix/>
          </a:blip>
          <a:srcRect/>
          <a:stretch/>
        </p:blipFill>
        <p:spPr>
          <a:xfrm>
            <a:off x="23434429" y="406400"/>
            <a:ext cx="474362" cy="593018"/>
          </a:xfrm>
          <a:prstGeom prst="rect">
            <a:avLst/>
          </a:prstGeom>
          <a:noFill/>
          <a:ln>
            <a:noFill/>
          </a:ln>
        </p:spPr>
      </p:pic>
      <p:grpSp>
        <p:nvGrpSpPr>
          <p:cNvPr id="100" name="Google Shape;100;p46"/>
          <p:cNvGrpSpPr/>
          <p:nvPr/>
        </p:nvGrpSpPr>
        <p:grpSpPr>
          <a:xfrm>
            <a:off x="10809051" y="1676205"/>
            <a:ext cx="13578125" cy="12039795"/>
            <a:chOff x="10809051" y="1676205"/>
            <a:chExt cx="13578125" cy="12039795"/>
          </a:xfrm>
        </p:grpSpPr>
        <p:pic>
          <p:nvPicPr>
            <p:cNvPr id="101" name="Google Shape;101;p46" descr=" "/>
            <p:cNvPicPr preferRelativeResize="0"/>
            <p:nvPr/>
          </p:nvPicPr>
          <p:blipFill rotWithShape="1">
            <a:blip r:embed="rId3">
              <a:alphaModFix/>
            </a:blip>
            <a:srcRect/>
            <a:stretch/>
          </p:blipFill>
          <p:spPr>
            <a:xfrm>
              <a:off x="10815365" y="1689100"/>
              <a:ext cx="13571683" cy="12026900"/>
            </a:xfrm>
            <a:prstGeom prst="rect">
              <a:avLst/>
            </a:prstGeom>
            <a:noFill/>
            <a:ln>
              <a:noFill/>
            </a:ln>
          </p:spPr>
        </p:pic>
        <p:pic>
          <p:nvPicPr>
            <p:cNvPr id="102" name="Google Shape;102;p46" descr=" "/>
            <p:cNvPicPr preferRelativeResize="0"/>
            <p:nvPr/>
          </p:nvPicPr>
          <p:blipFill rotWithShape="1">
            <a:blip r:embed="rId4">
              <a:alphaModFix/>
            </a:blip>
            <a:srcRect/>
            <a:stretch/>
          </p:blipFill>
          <p:spPr>
            <a:xfrm>
              <a:off x="10809051" y="1739900"/>
              <a:ext cx="1574997" cy="11976100"/>
            </a:xfrm>
            <a:prstGeom prst="rect">
              <a:avLst/>
            </a:prstGeom>
            <a:noFill/>
            <a:ln>
              <a:noFill/>
            </a:ln>
          </p:spPr>
        </p:pic>
        <p:pic>
          <p:nvPicPr>
            <p:cNvPr id="103" name="Google Shape;103;p46" descr=" "/>
            <p:cNvPicPr preferRelativeResize="0"/>
            <p:nvPr/>
          </p:nvPicPr>
          <p:blipFill rotWithShape="1">
            <a:blip r:embed="rId4">
              <a:alphaModFix/>
            </a:blip>
            <a:srcRect/>
            <a:stretch/>
          </p:blipFill>
          <p:spPr>
            <a:xfrm rot="5400000">
              <a:off x="17319527" y="-3232246"/>
              <a:ext cx="2159198" cy="11976100"/>
            </a:xfrm>
            <a:prstGeom prst="rect">
              <a:avLst/>
            </a:prstGeom>
            <a:noFill/>
            <a:ln>
              <a:noFill/>
            </a:ln>
          </p:spPr>
        </p:pic>
      </p:grpSp>
      <p:sp>
        <p:nvSpPr>
          <p:cNvPr id="104" name="Google Shape;104;p46"/>
          <p:cNvSpPr txBox="1">
            <a:spLocks noGrp="1"/>
          </p:cNvSpPr>
          <p:nvPr>
            <p:ph type="body" idx="1"/>
          </p:nvPr>
        </p:nvSpPr>
        <p:spPr>
          <a:xfrm>
            <a:off x="1994149" y="3302000"/>
            <a:ext cx="11531600" cy="6197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5" name="Google Shape;105;p46"/>
          <p:cNvSpPr txBox="1">
            <a:spLocks noGrp="1"/>
          </p:cNvSpPr>
          <p:nvPr>
            <p:ph type="body" idx="2"/>
          </p:nvPr>
        </p:nvSpPr>
        <p:spPr>
          <a:xfrm>
            <a:off x="1994149" y="9550400"/>
            <a:ext cx="10618788" cy="1066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 tópicos ">
  <p:cSld name="Título + tópicos ">
    <p:spTree>
      <p:nvGrpSpPr>
        <p:cNvPr id="1" name="Shape 106"/>
        <p:cNvGrpSpPr/>
        <p:nvPr/>
      </p:nvGrpSpPr>
      <p:grpSpPr>
        <a:xfrm>
          <a:off x="0" y="0"/>
          <a:ext cx="0" cy="0"/>
          <a:chOff x="0" y="0"/>
          <a:chExt cx="0" cy="0"/>
        </a:xfrm>
      </p:grpSpPr>
      <p:sp>
        <p:nvSpPr>
          <p:cNvPr id="107" name="Google Shape;107;p47"/>
          <p:cNvSpPr/>
          <p:nvPr/>
        </p:nvSpPr>
        <p:spPr>
          <a:xfrm>
            <a:off x="-165904" y="-150471"/>
            <a:ext cx="24692658" cy="14040091"/>
          </a:xfrm>
          <a:prstGeom prst="rect">
            <a:avLst/>
          </a:prstGeom>
          <a:solidFill>
            <a:srgbClr val="EEEFF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08" name="Google Shape;108;p47" descr=" "/>
          <p:cNvPicPr preferRelativeResize="0"/>
          <p:nvPr/>
        </p:nvPicPr>
        <p:blipFill rotWithShape="1">
          <a:blip r:embed="rId2">
            <a:alphaModFix/>
          </a:blip>
          <a:srcRect/>
          <a:stretch/>
        </p:blipFill>
        <p:spPr>
          <a:xfrm>
            <a:off x="18899962" y="304800"/>
            <a:ext cx="5487086" cy="13106400"/>
          </a:xfrm>
          <a:prstGeom prst="rect">
            <a:avLst/>
          </a:prstGeom>
          <a:noFill/>
          <a:ln>
            <a:noFill/>
          </a:ln>
        </p:spPr>
      </p:pic>
      <p:sp>
        <p:nvSpPr>
          <p:cNvPr id="109" name="Google Shape;109;p47"/>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10" name="Google Shape;110;p47" descr=" "/>
          <p:cNvPicPr preferRelativeResize="0"/>
          <p:nvPr/>
        </p:nvPicPr>
        <p:blipFill rotWithShape="1">
          <a:blip r:embed="rId3">
            <a:alphaModFix/>
          </a:blip>
          <a:srcRect/>
          <a:stretch/>
        </p:blipFill>
        <p:spPr>
          <a:xfrm>
            <a:off x="23434429" y="406400"/>
            <a:ext cx="474375" cy="593018"/>
          </a:xfrm>
          <a:prstGeom prst="rect">
            <a:avLst/>
          </a:prstGeom>
          <a:noFill/>
          <a:ln>
            <a:noFill/>
          </a:ln>
        </p:spPr>
      </p:pic>
      <p:pic>
        <p:nvPicPr>
          <p:cNvPr id="111" name="Google Shape;111;p47" descr=" "/>
          <p:cNvPicPr preferRelativeResize="0"/>
          <p:nvPr/>
        </p:nvPicPr>
        <p:blipFill rotWithShape="1">
          <a:blip r:embed="rId4">
            <a:alphaModFix/>
          </a:blip>
          <a:srcRect/>
          <a:stretch/>
        </p:blipFill>
        <p:spPr>
          <a:xfrm>
            <a:off x="2426003" y="5537200"/>
            <a:ext cx="5004425" cy="5524500"/>
          </a:xfrm>
          <a:prstGeom prst="rect">
            <a:avLst/>
          </a:prstGeom>
          <a:noFill/>
          <a:ln>
            <a:noFill/>
          </a:ln>
        </p:spPr>
      </p:pic>
      <p:pic>
        <p:nvPicPr>
          <p:cNvPr id="112" name="Google Shape;112;p47" descr=" "/>
          <p:cNvPicPr preferRelativeResize="0"/>
          <p:nvPr/>
        </p:nvPicPr>
        <p:blipFill rotWithShape="1">
          <a:blip r:embed="rId5">
            <a:alphaModFix/>
          </a:blip>
          <a:srcRect/>
          <a:stretch/>
        </p:blipFill>
        <p:spPr>
          <a:xfrm>
            <a:off x="4572572" y="6635750"/>
            <a:ext cx="711289" cy="711200"/>
          </a:xfrm>
          <a:prstGeom prst="rect">
            <a:avLst/>
          </a:prstGeom>
          <a:noFill/>
          <a:ln>
            <a:noFill/>
          </a:ln>
        </p:spPr>
      </p:pic>
      <p:pic>
        <p:nvPicPr>
          <p:cNvPr id="113" name="Google Shape;113;p47" descr=" "/>
          <p:cNvPicPr preferRelativeResize="0"/>
          <p:nvPr/>
        </p:nvPicPr>
        <p:blipFill rotWithShape="1">
          <a:blip r:embed="rId6">
            <a:alphaModFix/>
          </a:blip>
          <a:srcRect/>
          <a:stretch/>
        </p:blipFill>
        <p:spPr>
          <a:xfrm>
            <a:off x="7836879" y="5537200"/>
            <a:ext cx="5017127" cy="5524500"/>
          </a:xfrm>
          <a:prstGeom prst="rect">
            <a:avLst/>
          </a:prstGeom>
          <a:noFill/>
          <a:ln>
            <a:noFill/>
          </a:ln>
        </p:spPr>
      </p:pic>
      <p:pic>
        <p:nvPicPr>
          <p:cNvPr id="114" name="Google Shape;114;p47" descr=" "/>
          <p:cNvPicPr preferRelativeResize="0"/>
          <p:nvPr/>
        </p:nvPicPr>
        <p:blipFill rotWithShape="1">
          <a:blip r:embed="rId5">
            <a:alphaModFix/>
          </a:blip>
          <a:srcRect/>
          <a:stretch/>
        </p:blipFill>
        <p:spPr>
          <a:xfrm>
            <a:off x="9989799" y="6635750"/>
            <a:ext cx="711289" cy="711200"/>
          </a:xfrm>
          <a:prstGeom prst="rect">
            <a:avLst/>
          </a:prstGeom>
          <a:noFill/>
          <a:ln>
            <a:noFill/>
          </a:ln>
        </p:spPr>
      </p:pic>
      <p:pic>
        <p:nvPicPr>
          <p:cNvPr id="115" name="Google Shape;115;p47" descr=" "/>
          <p:cNvPicPr preferRelativeResize="0"/>
          <p:nvPr/>
        </p:nvPicPr>
        <p:blipFill rotWithShape="1">
          <a:blip r:embed="rId4">
            <a:alphaModFix/>
          </a:blip>
          <a:srcRect/>
          <a:stretch/>
        </p:blipFill>
        <p:spPr>
          <a:xfrm>
            <a:off x="13260457" y="5537200"/>
            <a:ext cx="5004425" cy="5524500"/>
          </a:xfrm>
          <a:prstGeom prst="rect">
            <a:avLst/>
          </a:prstGeom>
          <a:noFill/>
          <a:ln>
            <a:noFill/>
          </a:ln>
        </p:spPr>
      </p:pic>
      <p:pic>
        <p:nvPicPr>
          <p:cNvPr id="116" name="Google Shape;116;p47" descr=" "/>
          <p:cNvPicPr preferRelativeResize="0"/>
          <p:nvPr/>
        </p:nvPicPr>
        <p:blipFill rotWithShape="1">
          <a:blip r:embed="rId5">
            <a:alphaModFix/>
          </a:blip>
          <a:srcRect/>
          <a:stretch/>
        </p:blipFill>
        <p:spPr>
          <a:xfrm>
            <a:off x="15407026" y="6635750"/>
            <a:ext cx="711289" cy="711200"/>
          </a:xfrm>
          <a:prstGeom prst="rect">
            <a:avLst/>
          </a:prstGeom>
          <a:noFill/>
          <a:ln>
            <a:noFill/>
          </a:ln>
        </p:spPr>
      </p:pic>
      <p:sp>
        <p:nvSpPr>
          <p:cNvPr id="117" name="Google Shape;117;p47"/>
          <p:cNvSpPr/>
          <p:nvPr/>
        </p:nvSpPr>
        <p:spPr>
          <a:xfrm>
            <a:off x="2426003" y="1574800"/>
            <a:ext cx="11545743" cy="2768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18" name="Google Shape;118;p47"/>
          <p:cNvCxnSpPr/>
          <p:nvPr/>
        </p:nvCxnSpPr>
        <p:spPr>
          <a:xfrm>
            <a:off x="2551710" y="12520246"/>
            <a:ext cx="3365197" cy="0"/>
          </a:xfrm>
          <a:prstGeom prst="straightConnector1">
            <a:avLst/>
          </a:prstGeom>
          <a:noFill/>
          <a:ln w="28575" cap="flat" cmpd="sng">
            <a:solidFill>
              <a:srgbClr val="0C0C0E"/>
            </a:solidFill>
            <a:prstDash val="solid"/>
            <a:miter lim="0"/>
            <a:headEnd type="none" w="sm" len="sm"/>
            <a:tailEnd type="none" w="sm" len="sm"/>
          </a:ln>
        </p:spPr>
      </p:cxnSp>
      <p:sp>
        <p:nvSpPr>
          <p:cNvPr id="119" name="Google Shape;119;p47"/>
          <p:cNvSpPr>
            <a:spLocks noGrp="1"/>
          </p:cNvSpPr>
          <p:nvPr>
            <p:ph type="pic" idx="2"/>
          </p:nvPr>
        </p:nvSpPr>
        <p:spPr>
          <a:xfrm>
            <a:off x="18670588" y="5537200"/>
            <a:ext cx="5716587" cy="5524500"/>
          </a:xfrm>
          <a:prstGeom prst="rect">
            <a:avLst/>
          </a:prstGeom>
          <a:noFill/>
          <a:ln>
            <a:noFill/>
          </a:ln>
        </p:spPr>
      </p:sp>
      <p:sp>
        <p:nvSpPr>
          <p:cNvPr id="120" name="Google Shape;120;p47"/>
          <p:cNvSpPr txBox="1">
            <a:spLocks noGrp="1"/>
          </p:cNvSpPr>
          <p:nvPr>
            <p:ph type="body" idx="1"/>
          </p:nvPr>
        </p:nvSpPr>
        <p:spPr>
          <a:xfrm>
            <a:off x="2426003" y="1502629"/>
            <a:ext cx="11868150" cy="15668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1" name="Google Shape;121;p47"/>
          <p:cNvSpPr txBox="1">
            <a:spLocks noGrp="1"/>
          </p:cNvSpPr>
          <p:nvPr>
            <p:ph type="body" idx="3"/>
          </p:nvPr>
        </p:nvSpPr>
        <p:spPr>
          <a:xfrm>
            <a:off x="2425876" y="3245935"/>
            <a:ext cx="11680825" cy="13366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2" name="Google Shape;122;p47"/>
          <p:cNvSpPr txBox="1">
            <a:spLocks noGrp="1"/>
          </p:cNvSpPr>
          <p:nvPr>
            <p:ph type="body" idx="4"/>
          </p:nvPr>
        </p:nvSpPr>
        <p:spPr>
          <a:xfrm>
            <a:off x="3128963" y="8032750"/>
            <a:ext cx="3741737" cy="204946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3" name="Google Shape;123;p47"/>
          <p:cNvSpPr>
            <a:spLocks noGrp="1"/>
          </p:cNvSpPr>
          <p:nvPr>
            <p:ph type="pic" idx="5"/>
          </p:nvPr>
        </p:nvSpPr>
        <p:spPr>
          <a:xfrm>
            <a:off x="4657725" y="6662738"/>
            <a:ext cx="684213" cy="684212"/>
          </a:xfrm>
          <a:prstGeom prst="rect">
            <a:avLst/>
          </a:prstGeom>
          <a:noFill/>
          <a:ln>
            <a:noFill/>
          </a:ln>
        </p:spPr>
      </p:sp>
      <p:sp>
        <p:nvSpPr>
          <p:cNvPr id="124" name="Google Shape;124;p47"/>
          <p:cNvSpPr txBox="1">
            <a:spLocks noGrp="1"/>
          </p:cNvSpPr>
          <p:nvPr>
            <p:ph type="body" idx="6"/>
          </p:nvPr>
        </p:nvSpPr>
        <p:spPr>
          <a:xfrm>
            <a:off x="8437323" y="8032750"/>
            <a:ext cx="3741737" cy="204946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5" name="Google Shape;125;p47"/>
          <p:cNvSpPr>
            <a:spLocks noGrp="1"/>
          </p:cNvSpPr>
          <p:nvPr>
            <p:ph type="pic" idx="7"/>
          </p:nvPr>
        </p:nvSpPr>
        <p:spPr>
          <a:xfrm>
            <a:off x="9966085" y="6662738"/>
            <a:ext cx="684213" cy="684212"/>
          </a:xfrm>
          <a:prstGeom prst="rect">
            <a:avLst/>
          </a:prstGeom>
          <a:noFill/>
          <a:ln>
            <a:noFill/>
          </a:ln>
        </p:spPr>
      </p:sp>
      <p:sp>
        <p:nvSpPr>
          <p:cNvPr id="126" name="Google Shape;126;p47"/>
          <p:cNvSpPr txBox="1">
            <a:spLocks noGrp="1"/>
          </p:cNvSpPr>
          <p:nvPr>
            <p:ph type="body" idx="8"/>
          </p:nvPr>
        </p:nvSpPr>
        <p:spPr>
          <a:xfrm>
            <a:off x="13927607" y="8032750"/>
            <a:ext cx="3741737" cy="204946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7" name="Google Shape;127;p47"/>
          <p:cNvSpPr>
            <a:spLocks noGrp="1"/>
          </p:cNvSpPr>
          <p:nvPr>
            <p:ph type="pic" idx="9"/>
          </p:nvPr>
        </p:nvSpPr>
        <p:spPr>
          <a:xfrm>
            <a:off x="15456369" y="6662738"/>
            <a:ext cx="684213" cy="684212"/>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undo escuro 1">
  <p:cSld name="Fundo escuro 1">
    <p:spTree>
      <p:nvGrpSpPr>
        <p:cNvPr id="1" name="Shape 128"/>
        <p:cNvGrpSpPr/>
        <p:nvPr/>
      </p:nvGrpSpPr>
      <p:grpSpPr>
        <a:xfrm>
          <a:off x="0" y="0"/>
          <a:ext cx="0" cy="0"/>
          <a:chOff x="0" y="0"/>
          <a:chExt cx="0" cy="0"/>
        </a:xfrm>
      </p:grpSpPr>
      <p:sp>
        <p:nvSpPr>
          <p:cNvPr id="129" name="Google Shape;129;p48"/>
          <p:cNvSpPr/>
          <p:nvPr/>
        </p:nvSpPr>
        <p:spPr>
          <a:xfrm>
            <a:off x="-1397175" y="-1117600"/>
            <a:ext cx="15965895" cy="15963900"/>
          </a:xfrm>
          <a:prstGeom prst="ellipse">
            <a:avLst/>
          </a:prstGeom>
          <a:solidFill>
            <a:srgbClr val="0C0C0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48"/>
          <p:cNvSpPr/>
          <p:nvPr/>
        </p:nvSpPr>
        <p:spPr>
          <a:xfrm>
            <a:off x="13514489" y="-1117600"/>
            <a:ext cx="15965895" cy="15963900"/>
          </a:xfrm>
          <a:prstGeom prst="ellipse">
            <a:avLst/>
          </a:prstGeom>
          <a:solidFill>
            <a:srgbClr val="0C0C0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Fundo escuro 2">
  <p:cSld name="Fundo escuro 2">
    <p:spTree>
      <p:nvGrpSpPr>
        <p:cNvPr id="1" name="Shape 131"/>
        <p:cNvGrpSpPr/>
        <p:nvPr/>
      </p:nvGrpSpPr>
      <p:grpSpPr>
        <a:xfrm>
          <a:off x="0" y="0"/>
          <a:ext cx="0" cy="0"/>
          <a:chOff x="0" y="0"/>
          <a:chExt cx="0" cy="0"/>
        </a:xfrm>
      </p:grpSpPr>
      <p:sp>
        <p:nvSpPr>
          <p:cNvPr id="132" name="Google Shape;132;p49"/>
          <p:cNvSpPr/>
          <p:nvPr/>
        </p:nvSpPr>
        <p:spPr>
          <a:xfrm>
            <a:off x="-165904" y="-150471"/>
            <a:ext cx="24692658" cy="14040091"/>
          </a:xfrm>
          <a:prstGeom prst="rect">
            <a:avLst/>
          </a:prstGeom>
          <a:solidFill>
            <a:srgbClr val="13131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3" name="Google Shape;133;p49"/>
          <p:cNvSpPr/>
          <p:nvPr/>
        </p:nvSpPr>
        <p:spPr>
          <a:xfrm>
            <a:off x="-6109464" y="-1117600"/>
            <a:ext cx="15965895" cy="159639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49"/>
          <p:cNvSpPr/>
          <p:nvPr/>
        </p:nvSpPr>
        <p:spPr>
          <a:xfrm>
            <a:off x="8719640" y="-1117600"/>
            <a:ext cx="15965895" cy="159639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8">
            <a:alphaModFix/>
          </a:blip>
          <a:stretch>
            <a:fillRect/>
          </a:stretch>
        </a:blip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4320">
          <p15:clr>
            <a:srgbClr val="F26B43"/>
          </p15:clr>
        </p15:guide>
        <p15:guide id="2" pos="768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7.png"/><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31.png"/><Relationship Id="rId4" Type="http://schemas.openxmlformats.org/officeDocument/2006/relationships/image" Target="../media/image30.pn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7.png"/><Relationship Id="rId7"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31.png"/><Relationship Id="rId4" Type="http://schemas.openxmlformats.org/officeDocument/2006/relationships/image" Target="../media/image30.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7.png"/><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31.png"/><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6.png"/><Relationship Id="rId3" Type="http://schemas.openxmlformats.org/officeDocument/2006/relationships/image" Target="../media/image25.png"/><Relationship Id="rId7" Type="http://schemas.openxmlformats.org/officeDocument/2006/relationships/image" Target="../media/image32.png"/><Relationship Id="rId12"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7.png"/><Relationship Id="rId11" Type="http://schemas.openxmlformats.org/officeDocument/2006/relationships/image" Target="../media/image35.png"/><Relationship Id="rId5" Type="http://schemas.openxmlformats.org/officeDocument/2006/relationships/image" Target="../media/image26.png"/><Relationship Id="rId15" Type="http://schemas.openxmlformats.org/officeDocument/2006/relationships/image" Target="../media/image38.png"/><Relationship Id="rId10" Type="http://schemas.openxmlformats.org/officeDocument/2006/relationships/image" Target="../media/image34.png"/><Relationship Id="rId4" Type="http://schemas.openxmlformats.org/officeDocument/2006/relationships/image" Target="../media/image15.png"/><Relationship Id="rId9" Type="http://schemas.openxmlformats.org/officeDocument/2006/relationships/image" Target="../media/image33.png"/><Relationship Id="rId14"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7.png"/><Relationship Id="rId7"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9.jpeg"/><Relationship Id="rId5" Type="http://schemas.openxmlformats.org/officeDocument/2006/relationships/image" Target="../media/image4.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6.png"/><Relationship Id="rId3" Type="http://schemas.openxmlformats.org/officeDocument/2006/relationships/image" Target="../media/image25.png"/><Relationship Id="rId7" Type="http://schemas.openxmlformats.org/officeDocument/2006/relationships/image" Target="../media/image32.png"/><Relationship Id="rId12"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7.png"/><Relationship Id="rId11" Type="http://schemas.openxmlformats.org/officeDocument/2006/relationships/image" Target="../media/image35.png"/><Relationship Id="rId5" Type="http://schemas.openxmlformats.org/officeDocument/2006/relationships/image" Target="../media/image26.png"/><Relationship Id="rId15" Type="http://schemas.openxmlformats.org/officeDocument/2006/relationships/image" Target="../media/image38.png"/><Relationship Id="rId10" Type="http://schemas.openxmlformats.org/officeDocument/2006/relationships/image" Target="../media/image34.png"/><Relationship Id="rId4" Type="http://schemas.openxmlformats.org/officeDocument/2006/relationships/image" Target="../media/image15.png"/><Relationship Id="rId9" Type="http://schemas.openxmlformats.org/officeDocument/2006/relationships/image" Target="../media/image33.png"/><Relationship Id="rId1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7.png"/><Relationship Id="rId7"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9.jpeg"/><Relationship Id="rId5" Type="http://schemas.openxmlformats.org/officeDocument/2006/relationships/image" Target="../media/image4.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7.png"/><Relationship Id="rId7"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31.png"/><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7.png"/><Relationship Id="rId7"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39.jpeg"/><Relationship Id="rId5" Type="http://schemas.openxmlformats.org/officeDocument/2006/relationships/image" Target="../media/image4.png"/><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4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7.png"/><Relationship Id="rId7"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39.jpeg"/><Relationship Id="rId5" Type="http://schemas.openxmlformats.org/officeDocument/2006/relationships/image" Target="../media/image4.png"/><Relationship Id="rId4" Type="http://schemas.openxmlformats.org/officeDocument/2006/relationships/image" Target="../media/image30.png"/></Relationships>
</file>

<file path=ppt/slides/_rels/slide42.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6.png"/><Relationship Id="rId3" Type="http://schemas.openxmlformats.org/officeDocument/2006/relationships/image" Target="../media/image25.png"/><Relationship Id="rId7" Type="http://schemas.openxmlformats.org/officeDocument/2006/relationships/image" Target="../media/image32.png"/><Relationship Id="rId12"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27.png"/><Relationship Id="rId11" Type="http://schemas.openxmlformats.org/officeDocument/2006/relationships/image" Target="../media/image35.png"/><Relationship Id="rId5" Type="http://schemas.openxmlformats.org/officeDocument/2006/relationships/image" Target="../media/image26.png"/><Relationship Id="rId15" Type="http://schemas.openxmlformats.org/officeDocument/2006/relationships/image" Target="../media/image38.png"/><Relationship Id="rId10" Type="http://schemas.openxmlformats.org/officeDocument/2006/relationships/image" Target="../media/image34.png"/><Relationship Id="rId4" Type="http://schemas.openxmlformats.org/officeDocument/2006/relationships/image" Target="../media/image15.png"/><Relationship Id="rId9" Type="http://schemas.openxmlformats.org/officeDocument/2006/relationships/image" Target="../media/image33.png"/><Relationship Id="rId14" Type="http://schemas.openxmlformats.org/officeDocument/2006/relationships/image" Target="../media/image37.png"/></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4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7.png"/><Relationship Id="rId7"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31.png"/><Relationship Id="rId4" Type="http://schemas.openxmlformats.org/officeDocument/2006/relationships/image" Target="../media/image30.png"/></Relationships>
</file>

<file path=ppt/slides/_rels/slide4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g3f3de5a4e7f_0_43"/>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 name="Google Shape;527;g3f3de5a4e7f_0_43"/>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8" name="Google Shape;528;g3f3de5a4e7f_0_43" descr=" "/>
          <p:cNvPicPr preferRelativeResize="0"/>
          <p:nvPr/>
        </p:nvPicPr>
        <p:blipFill rotWithShape="1">
          <a:blip r:embed="rId3">
            <a:alphaModFix/>
          </a:blip>
          <a:srcRect/>
          <a:stretch/>
        </p:blipFill>
        <p:spPr>
          <a:xfrm>
            <a:off x="23433139" y="406400"/>
            <a:ext cx="476942" cy="593018"/>
          </a:xfrm>
          <a:prstGeom prst="rect">
            <a:avLst/>
          </a:prstGeom>
          <a:noFill/>
          <a:ln>
            <a:noFill/>
          </a:ln>
        </p:spPr>
      </p:pic>
      <p:sp>
        <p:nvSpPr>
          <p:cNvPr id="529" name="Google Shape;529;g3f3de5a4e7f_0_43"/>
          <p:cNvSpPr/>
          <p:nvPr/>
        </p:nvSpPr>
        <p:spPr>
          <a:xfrm>
            <a:off x="7214502" y="5156200"/>
            <a:ext cx="10402500" cy="38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200"/>
              <a:buFont typeface="Encode Sans"/>
              <a:buNone/>
            </a:pPr>
            <a:r>
              <a:rPr lang="pt-BR" sz="10200" b="0" i="0" u="none" strike="noStrike" cap="none">
                <a:solidFill>
                  <a:srgbClr val="FFFFFF"/>
                </a:solidFill>
                <a:latin typeface="Encode Sans"/>
                <a:ea typeface="Encode Sans"/>
                <a:cs typeface="Encode Sans"/>
                <a:sym typeface="Encode Sans"/>
              </a:rPr>
              <a:t>3.1 O que é observabilidade?</a:t>
            </a:r>
            <a:endParaRPr sz="10200" b="0" i="0" u="none" strike="noStrike" cap="none">
              <a:solidFill>
                <a:schemeClr val="dk1"/>
              </a:solidFill>
              <a:latin typeface="Encode Sans"/>
              <a:ea typeface="Encode Sans"/>
              <a:cs typeface="Encode Sans"/>
              <a:sym typeface="Encode Sans"/>
            </a:endParaRPr>
          </a:p>
        </p:txBody>
      </p:sp>
      <p:pic>
        <p:nvPicPr>
          <p:cNvPr id="530" name="Google Shape;530;g3f3de5a4e7f_0_43" descr="Ícone&#10;&#10;O conteúdo gerado por IA pode estar incorreto."/>
          <p:cNvPicPr preferRelativeResize="0"/>
          <p:nvPr/>
        </p:nvPicPr>
        <p:blipFill rotWithShape="1">
          <a:blip r:embed="rId4">
            <a:alphaModFix/>
          </a:blip>
          <a:srcRect/>
          <a:stretch/>
        </p:blipFill>
        <p:spPr>
          <a:xfrm>
            <a:off x="25140419" y="-144842"/>
            <a:ext cx="1568332" cy="10010052"/>
          </a:xfrm>
          <a:prstGeom prst="rect">
            <a:avLst/>
          </a:prstGeom>
          <a:noFill/>
          <a:ln>
            <a:noFill/>
          </a:ln>
        </p:spPr>
      </p:pic>
    </p:spTree>
    <p:extLst>
      <p:ext uri="{BB962C8B-B14F-4D97-AF65-F5344CB8AC3E}">
        <p14:creationId xmlns:p14="http://schemas.microsoft.com/office/powerpoint/2010/main" val="981667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pic>
        <p:nvPicPr>
          <p:cNvPr id="3" name="Imagem 2">
            <a:extLst>
              <a:ext uri="{FF2B5EF4-FFF2-40B4-BE49-F238E27FC236}">
                <a16:creationId xmlns:a16="http://schemas.microsoft.com/office/drawing/2014/main" id="{0E7CDC50-DA0A-783B-A888-6C97AF8D2218}"/>
              </a:ext>
            </a:extLst>
          </p:cNvPr>
          <p:cNvPicPr>
            <a:picLocks noChangeAspect="1"/>
          </p:cNvPicPr>
          <p:nvPr/>
        </p:nvPicPr>
        <p:blipFill>
          <a:blip r:embed="rId3"/>
          <a:stretch>
            <a:fillRect/>
          </a:stretch>
        </p:blipFill>
        <p:spPr>
          <a:xfrm>
            <a:off x="-1439672" y="-578323"/>
            <a:ext cx="27337840" cy="14911549"/>
          </a:xfrm>
          <a:prstGeom prst="rect">
            <a:avLst/>
          </a:prstGeom>
        </p:spPr>
      </p:pic>
      <p:pic>
        <p:nvPicPr>
          <p:cNvPr id="216" name="Google Shape;216;g3f8342f7686_0_27" descr=" "/>
          <p:cNvPicPr preferRelativeResize="0"/>
          <p:nvPr/>
        </p:nvPicPr>
        <p:blipFill rotWithShape="1">
          <a:blip r:embed="rId4">
            <a:alphaModFix/>
          </a:blip>
          <a:srcRect/>
          <a:stretch/>
        </p:blipFill>
        <p:spPr>
          <a:xfrm>
            <a:off x="23434429" y="406400"/>
            <a:ext cx="474362" cy="593018"/>
          </a:xfrm>
          <a:prstGeom prst="rect">
            <a:avLst/>
          </a:prstGeom>
          <a:noFill/>
          <a:ln>
            <a:noFill/>
          </a:ln>
        </p:spPr>
      </p:pic>
      <p:sp>
        <p:nvSpPr>
          <p:cNvPr id="217" name="Google Shape;217;g3f8342f7686_0_27"/>
          <p:cNvSpPr/>
          <p:nvPr/>
        </p:nvSpPr>
        <p:spPr>
          <a:xfrm>
            <a:off x="-905931" y="60130"/>
            <a:ext cx="16259174" cy="38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200"/>
              <a:buFont typeface="Encode Sans"/>
              <a:buNone/>
            </a:pPr>
            <a:r>
              <a:rPr lang="pt-BR" sz="10200" b="0" i="0" u="none" strike="noStrike" cap="none">
                <a:solidFill>
                  <a:srgbClr val="FFFFFF"/>
                </a:solidFill>
                <a:latin typeface="Encode Sans"/>
                <a:ea typeface="Encode Sans"/>
                <a:cs typeface="Encode Sans"/>
                <a:sym typeface="Encode Sans"/>
              </a:rPr>
              <a:t>Observabilidade</a:t>
            </a:r>
            <a:endParaRPr sz="10200" b="0" i="0" u="none" strike="noStrike" cap="none" dirty="0">
              <a:solidFill>
                <a:schemeClr val="dk1"/>
              </a:solidFill>
              <a:latin typeface="Encode Sans"/>
              <a:ea typeface="Encode Sans"/>
              <a:cs typeface="Encode Sans"/>
              <a:sym typeface="Encode Sans"/>
            </a:endParaRPr>
          </a:p>
        </p:txBody>
      </p:sp>
      <p:sp>
        <p:nvSpPr>
          <p:cNvPr id="218" name="Google Shape;218;g3f8342f7686_0_27"/>
          <p:cNvSpPr/>
          <p:nvPr/>
        </p:nvSpPr>
        <p:spPr>
          <a:xfrm>
            <a:off x="18701660" y="12107200"/>
            <a:ext cx="9939900" cy="1202400"/>
          </a:xfrm>
          <a:prstGeom prst="rect">
            <a:avLst/>
          </a:prstGeom>
          <a:noFill/>
          <a:ln>
            <a:noFill/>
          </a:ln>
        </p:spPr>
        <p:txBody>
          <a:bodyPr spcFirstLastPara="1" wrap="square" lIns="0" tIns="0" rIns="0" bIns="0" anchor="ctr"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chemeClr val="lt1"/>
                </a:solidFill>
                <a:latin typeface="Roboto"/>
                <a:ea typeface="Roboto"/>
                <a:cs typeface="Roboto"/>
                <a:sym typeface="Roboto"/>
              </a:rPr>
              <a:t>O segundo pilar do run</a:t>
            </a:r>
            <a:endParaRPr sz="3600" b="0" i="0" u="none" strike="noStrike" cap="none" dirty="0">
              <a:solidFill>
                <a:schemeClr val="lt1"/>
              </a:solidFill>
              <a:latin typeface="Roboto"/>
              <a:ea typeface="Roboto"/>
              <a:cs typeface="Roboto"/>
              <a:sym typeface="Roboto"/>
            </a:endParaRPr>
          </a:p>
        </p:txBody>
      </p:sp>
    </p:spTree>
    <p:extLst>
      <p:ext uri="{BB962C8B-B14F-4D97-AF65-F5344CB8AC3E}">
        <p14:creationId xmlns:p14="http://schemas.microsoft.com/office/powerpoint/2010/main" val="3872394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O que está acontecendo com meu produto?</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3644610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g3f3dd40fd11_1_233"/>
          <p:cNvSpPr/>
          <p:nvPr/>
        </p:nvSpPr>
        <p:spPr>
          <a:xfrm>
            <a:off x="2426003" y="3149600"/>
            <a:ext cx="9983400" cy="7416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 name="Google Shape;377;g3f3dd40fd11_1_233"/>
          <p:cNvSpPr/>
          <p:nvPr/>
        </p:nvSpPr>
        <p:spPr>
          <a:xfrm>
            <a:off x="2426000" y="3893102"/>
            <a:ext cx="11159400" cy="1914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DBFC7"/>
              </a:buClr>
              <a:buSzPts val="8800"/>
              <a:buFont typeface="Encode Sans"/>
              <a:buNone/>
            </a:pPr>
            <a:r>
              <a:rPr lang="en-US" sz="8800" b="0" i="0" u="none" strike="noStrike" cap="none">
                <a:solidFill>
                  <a:srgbClr val="BDBFC7"/>
                </a:solidFill>
                <a:latin typeface="Encode Sans"/>
                <a:ea typeface="Encode Sans"/>
                <a:cs typeface="Encode Sans"/>
                <a:sym typeface="Encode Sans"/>
              </a:rPr>
              <a:t>Enquanto eu não olho</a:t>
            </a:r>
            <a:endParaRPr sz="8800" b="0" i="0" u="none" strike="noStrike" cap="none">
              <a:solidFill>
                <a:srgbClr val="A7A9B4"/>
              </a:solidFill>
              <a:latin typeface="Encode Sans"/>
              <a:ea typeface="Encode Sans"/>
              <a:cs typeface="Encode Sans"/>
              <a:sym typeface="Encode Sans"/>
            </a:endParaRPr>
          </a:p>
        </p:txBody>
      </p:sp>
      <p:sp>
        <p:nvSpPr>
          <p:cNvPr id="378" name="Google Shape;378;g3f3dd40fd11_1_233"/>
          <p:cNvSpPr/>
          <p:nvPr/>
        </p:nvSpPr>
        <p:spPr>
          <a:xfrm>
            <a:off x="2426003" y="6502400"/>
            <a:ext cx="9983400" cy="4064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 name="Google Shape;379;g3f3dd40fd11_1_233"/>
          <p:cNvSpPr/>
          <p:nvPr/>
        </p:nvSpPr>
        <p:spPr>
          <a:xfrm>
            <a:off x="2426003" y="6502400"/>
            <a:ext cx="9983400" cy="1066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80" name="Google Shape;380;g3f3dd40fd11_1_233" descr=" "/>
          <p:cNvPicPr preferRelativeResize="0"/>
          <p:nvPr/>
        </p:nvPicPr>
        <p:blipFill rotWithShape="1">
          <a:blip r:embed="rId3">
            <a:alphaModFix/>
          </a:blip>
          <a:srcRect/>
          <a:stretch/>
        </p:blipFill>
        <p:spPr>
          <a:xfrm>
            <a:off x="2426003" y="6502400"/>
            <a:ext cx="711289" cy="711200"/>
          </a:xfrm>
          <a:prstGeom prst="rect">
            <a:avLst/>
          </a:prstGeom>
          <a:noFill/>
          <a:ln>
            <a:noFill/>
          </a:ln>
        </p:spPr>
      </p:pic>
      <p:pic>
        <p:nvPicPr>
          <p:cNvPr id="381" name="Google Shape;381;g3f3dd40fd11_1_233" descr=" "/>
          <p:cNvPicPr preferRelativeResize="0"/>
          <p:nvPr/>
        </p:nvPicPr>
        <p:blipFill rotWithShape="1">
          <a:blip r:embed="rId4">
            <a:alphaModFix/>
          </a:blip>
          <a:srcRect/>
          <a:stretch/>
        </p:blipFill>
        <p:spPr>
          <a:xfrm>
            <a:off x="2548783" y="7015692"/>
            <a:ext cx="465723" cy="406400"/>
          </a:xfrm>
          <a:prstGeom prst="rect">
            <a:avLst/>
          </a:prstGeom>
          <a:noFill/>
          <a:ln>
            <a:noFill/>
          </a:ln>
        </p:spPr>
      </p:pic>
      <p:sp>
        <p:nvSpPr>
          <p:cNvPr id="382" name="Google Shape;382;g3f3dd40fd11_1_233"/>
          <p:cNvSpPr/>
          <p:nvPr/>
        </p:nvSpPr>
        <p:spPr>
          <a:xfrm>
            <a:off x="3645356" y="6846358"/>
            <a:ext cx="99399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Toda sexta, ele escolhe a receita.</a:t>
            </a:r>
            <a:endParaRPr sz="3600" b="0" i="0" u="none" strike="noStrike" cap="none">
              <a:solidFill>
                <a:srgbClr val="A7A9B4"/>
              </a:solidFill>
              <a:latin typeface="Roboto"/>
              <a:ea typeface="Roboto"/>
              <a:cs typeface="Roboto"/>
              <a:sym typeface="Roboto"/>
            </a:endParaRPr>
          </a:p>
        </p:txBody>
      </p:sp>
      <p:pic>
        <p:nvPicPr>
          <p:cNvPr id="388" name="Google Shape;388;g3f3dd40fd11_1_233" title="Gemini_Generated_Image_bb831nbb831nbb83.png"/>
          <p:cNvPicPr preferRelativeResize="0"/>
          <p:nvPr/>
        </p:nvPicPr>
        <p:blipFill rotWithShape="1">
          <a:blip r:embed="rId5">
            <a:alphaModFix amt="67000"/>
          </a:blip>
          <a:srcRect l="30151" r="30151"/>
          <a:stretch/>
        </p:blipFill>
        <p:spPr>
          <a:xfrm>
            <a:off x="14913150" y="0"/>
            <a:ext cx="12108600" cy="14913900"/>
          </a:xfrm>
          <a:prstGeom prst="chord">
            <a:avLst>
              <a:gd name="adj1" fmla="val 2700000"/>
              <a:gd name="adj2" fmla="val 16838019"/>
            </a:avLst>
          </a:prstGeom>
          <a:noFill/>
          <a:ln>
            <a:noFill/>
          </a:ln>
        </p:spPr>
      </p:pic>
      <p:sp>
        <p:nvSpPr>
          <p:cNvPr id="389" name="Google Shape;389;g3f3dd40fd11_1_233"/>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90" name="Google Shape;390;g3f3dd40fd11_1_233" descr=" "/>
          <p:cNvPicPr preferRelativeResize="0"/>
          <p:nvPr/>
        </p:nvPicPr>
        <p:blipFill rotWithShape="1">
          <a:blip r:embed="rId6">
            <a:alphaModFix/>
          </a:blip>
          <a:srcRect/>
          <a:stretch/>
        </p:blipFill>
        <p:spPr>
          <a:xfrm>
            <a:off x="23433139" y="406400"/>
            <a:ext cx="476942" cy="593018"/>
          </a:xfrm>
          <a:prstGeom prst="rect">
            <a:avLst/>
          </a:prstGeom>
          <a:noFill/>
          <a:ln>
            <a:noFill/>
          </a:ln>
        </p:spPr>
      </p:pic>
      <p:pic>
        <p:nvPicPr>
          <p:cNvPr id="391" name="Google Shape;391;g3f3dd40fd11_1_233" descr="Ícone&#10;&#10;O conteúdo gerado por IA pode estar incorreto."/>
          <p:cNvPicPr preferRelativeResize="0"/>
          <p:nvPr/>
        </p:nvPicPr>
        <p:blipFill rotWithShape="1">
          <a:blip r:embed="rId7">
            <a:alphaModFix/>
          </a:blip>
          <a:srcRect/>
          <a:stretch/>
        </p:blipFill>
        <p:spPr>
          <a:xfrm>
            <a:off x="-2202249" y="-8621"/>
            <a:ext cx="1568332" cy="10010052"/>
          </a:xfrm>
          <a:prstGeom prst="rect">
            <a:avLst/>
          </a:prstGeom>
          <a:noFill/>
          <a:ln>
            <a:noFill/>
          </a:ln>
        </p:spPr>
      </p:pic>
      <p:sp>
        <p:nvSpPr>
          <p:cNvPr id="392" name="Google Shape;392;g3f3dd40fd11_1_233"/>
          <p:cNvSpPr/>
          <p:nvPr/>
        </p:nvSpPr>
        <p:spPr>
          <a:xfrm>
            <a:off x="2447756" y="5056608"/>
            <a:ext cx="99399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O produto não para quando eu paro.</a:t>
            </a:r>
            <a:endParaRPr sz="3600" b="0" i="0" u="none" strike="noStrike" cap="none">
              <a:solidFill>
                <a:srgbClr val="A7A9B4"/>
              </a:solidFill>
              <a:latin typeface="Roboto"/>
              <a:ea typeface="Roboto"/>
              <a:cs typeface="Roboto"/>
              <a:sym typeface="Roboto"/>
            </a:endParaRPr>
          </a:p>
        </p:txBody>
      </p:sp>
      <p:pic>
        <p:nvPicPr>
          <p:cNvPr id="395" name="Google Shape;395;g3f3dd40fd11_1_233" descr=" "/>
          <p:cNvPicPr preferRelativeResize="0"/>
          <p:nvPr/>
        </p:nvPicPr>
        <p:blipFill rotWithShape="1">
          <a:blip r:embed="rId8">
            <a:alphaModFix/>
          </a:blip>
          <a:srcRect/>
          <a:stretch/>
        </p:blipFill>
        <p:spPr>
          <a:xfrm rot="-951193">
            <a:off x="23598290" y="-1695429"/>
            <a:ext cx="3651919" cy="15201733"/>
          </a:xfrm>
          <a:prstGeom prst="rect">
            <a:avLst/>
          </a:prstGeom>
          <a:noFill/>
          <a:ln>
            <a:noFill/>
          </a:ln>
        </p:spPr>
      </p:pic>
    </p:spTree>
    <p:extLst>
      <p:ext uri="{BB962C8B-B14F-4D97-AF65-F5344CB8AC3E}">
        <p14:creationId xmlns:p14="http://schemas.microsoft.com/office/powerpoint/2010/main" val="2581750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g3f3dd40fd11_1_233"/>
          <p:cNvSpPr/>
          <p:nvPr/>
        </p:nvSpPr>
        <p:spPr>
          <a:xfrm>
            <a:off x="2426003" y="3149600"/>
            <a:ext cx="9983400" cy="7416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 name="Google Shape;377;g3f3dd40fd11_1_233"/>
          <p:cNvSpPr/>
          <p:nvPr/>
        </p:nvSpPr>
        <p:spPr>
          <a:xfrm>
            <a:off x="2426000" y="3893102"/>
            <a:ext cx="11159400" cy="1914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DBFC7"/>
              </a:buClr>
              <a:buSzPts val="8800"/>
              <a:buFont typeface="Encode Sans"/>
              <a:buNone/>
            </a:pPr>
            <a:r>
              <a:rPr lang="en-US" sz="8800" b="0" i="0" u="none" strike="noStrike" cap="none">
                <a:solidFill>
                  <a:srgbClr val="BDBFC7"/>
                </a:solidFill>
                <a:latin typeface="Encode Sans"/>
                <a:ea typeface="Encode Sans"/>
                <a:cs typeface="Encode Sans"/>
                <a:sym typeface="Encode Sans"/>
              </a:rPr>
              <a:t>Enquanto eu não olho</a:t>
            </a:r>
            <a:endParaRPr sz="8800" b="0" i="0" u="none" strike="noStrike" cap="none">
              <a:solidFill>
                <a:srgbClr val="A7A9B4"/>
              </a:solidFill>
              <a:latin typeface="Encode Sans"/>
              <a:ea typeface="Encode Sans"/>
              <a:cs typeface="Encode Sans"/>
              <a:sym typeface="Encode Sans"/>
            </a:endParaRPr>
          </a:p>
        </p:txBody>
      </p:sp>
      <p:sp>
        <p:nvSpPr>
          <p:cNvPr id="378" name="Google Shape;378;g3f3dd40fd11_1_233"/>
          <p:cNvSpPr/>
          <p:nvPr/>
        </p:nvSpPr>
        <p:spPr>
          <a:xfrm>
            <a:off x="2426003" y="6502400"/>
            <a:ext cx="9983400" cy="4064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 name="Google Shape;379;g3f3dd40fd11_1_233"/>
          <p:cNvSpPr/>
          <p:nvPr/>
        </p:nvSpPr>
        <p:spPr>
          <a:xfrm>
            <a:off x="2426003" y="6502400"/>
            <a:ext cx="9983400" cy="1066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80" name="Google Shape;380;g3f3dd40fd11_1_233" descr=" "/>
          <p:cNvPicPr preferRelativeResize="0"/>
          <p:nvPr/>
        </p:nvPicPr>
        <p:blipFill rotWithShape="1">
          <a:blip r:embed="rId3">
            <a:alphaModFix/>
          </a:blip>
          <a:srcRect/>
          <a:stretch/>
        </p:blipFill>
        <p:spPr>
          <a:xfrm>
            <a:off x="2426003" y="6502400"/>
            <a:ext cx="711289" cy="711200"/>
          </a:xfrm>
          <a:prstGeom prst="rect">
            <a:avLst/>
          </a:prstGeom>
          <a:noFill/>
          <a:ln>
            <a:noFill/>
          </a:ln>
        </p:spPr>
      </p:pic>
      <p:pic>
        <p:nvPicPr>
          <p:cNvPr id="381" name="Google Shape;381;g3f3dd40fd11_1_233" descr=" "/>
          <p:cNvPicPr preferRelativeResize="0"/>
          <p:nvPr/>
        </p:nvPicPr>
        <p:blipFill rotWithShape="1">
          <a:blip r:embed="rId4">
            <a:alphaModFix/>
          </a:blip>
          <a:srcRect/>
          <a:stretch/>
        </p:blipFill>
        <p:spPr>
          <a:xfrm>
            <a:off x="2548783" y="7015692"/>
            <a:ext cx="465723" cy="406400"/>
          </a:xfrm>
          <a:prstGeom prst="rect">
            <a:avLst/>
          </a:prstGeom>
          <a:noFill/>
          <a:ln>
            <a:noFill/>
          </a:ln>
        </p:spPr>
      </p:pic>
      <p:sp>
        <p:nvSpPr>
          <p:cNvPr id="382" name="Google Shape;382;g3f3dd40fd11_1_233"/>
          <p:cNvSpPr/>
          <p:nvPr/>
        </p:nvSpPr>
        <p:spPr>
          <a:xfrm>
            <a:off x="3645356" y="6846358"/>
            <a:ext cx="99399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Toda sexta, ele escolhe a receita.</a:t>
            </a:r>
            <a:endParaRPr sz="3600" b="0" i="0" u="none" strike="noStrike" cap="none">
              <a:solidFill>
                <a:srgbClr val="A7A9B4"/>
              </a:solidFill>
              <a:latin typeface="Roboto"/>
              <a:ea typeface="Roboto"/>
              <a:cs typeface="Roboto"/>
              <a:sym typeface="Roboto"/>
            </a:endParaRPr>
          </a:p>
        </p:txBody>
      </p:sp>
      <p:sp>
        <p:nvSpPr>
          <p:cNvPr id="383" name="Google Shape;383;g3f3dd40fd11_1_233"/>
          <p:cNvSpPr/>
          <p:nvPr/>
        </p:nvSpPr>
        <p:spPr>
          <a:xfrm>
            <a:off x="2426003" y="8178800"/>
            <a:ext cx="9983400" cy="711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84" name="Google Shape;384;g3f3dd40fd11_1_233" descr=" "/>
          <p:cNvPicPr preferRelativeResize="0"/>
          <p:nvPr/>
        </p:nvPicPr>
        <p:blipFill rotWithShape="1">
          <a:blip r:embed="rId3">
            <a:alphaModFix/>
          </a:blip>
          <a:srcRect/>
          <a:stretch/>
        </p:blipFill>
        <p:spPr>
          <a:xfrm>
            <a:off x="2426003" y="7989147"/>
            <a:ext cx="711289" cy="711200"/>
          </a:xfrm>
          <a:prstGeom prst="rect">
            <a:avLst/>
          </a:prstGeom>
          <a:noFill/>
          <a:ln>
            <a:noFill/>
          </a:ln>
        </p:spPr>
      </p:pic>
      <p:pic>
        <p:nvPicPr>
          <p:cNvPr id="385" name="Google Shape;385;g3f3dd40fd11_1_233" descr=" "/>
          <p:cNvPicPr preferRelativeResize="0"/>
          <p:nvPr/>
        </p:nvPicPr>
        <p:blipFill rotWithShape="1">
          <a:blip r:embed="rId4">
            <a:alphaModFix/>
          </a:blip>
          <a:srcRect/>
          <a:stretch/>
        </p:blipFill>
        <p:spPr>
          <a:xfrm>
            <a:off x="2548783" y="8331200"/>
            <a:ext cx="465723" cy="406400"/>
          </a:xfrm>
          <a:prstGeom prst="rect">
            <a:avLst/>
          </a:prstGeom>
          <a:noFill/>
          <a:ln>
            <a:noFill/>
          </a:ln>
        </p:spPr>
      </p:pic>
      <p:sp>
        <p:nvSpPr>
          <p:cNvPr id="386" name="Google Shape;386;g3f3dd40fd11_1_233"/>
          <p:cNvSpPr/>
          <p:nvPr/>
        </p:nvSpPr>
        <p:spPr>
          <a:xfrm>
            <a:off x="3645356" y="8267700"/>
            <a:ext cx="9263100" cy="6690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O Telegram recebe mensagem a qualquer hora do dia.</a:t>
            </a:r>
            <a:endParaRPr sz="3600" b="0" i="0" u="none" strike="noStrike" cap="none">
              <a:solidFill>
                <a:schemeClr val="dk1"/>
              </a:solidFill>
              <a:latin typeface="Roboto"/>
              <a:ea typeface="Roboto"/>
              <a:cs typeface="Roboto"/>
              <a:sym typeface="Roboto"/>
            </a:endParaRPr>
          </a:p>
        </p:txBody>
      </p:sp>
      <p:pic>
        <p:nvPicPr>
          <p:cNvPr id="388" name="Google Shape;388;g3f3dd40fd11_1_233" title="Gemini_Generated_Image_bb831nbb831nbb83.png"/>
          <p:cNvPicPr preferRelativeResize="0"/>
          <p:nvPr/>
        </p:nvPicPr>
        <p:blipFill rotWithShape="1">
          <a:blip r:embed="rId5">
            <a:alphaModFix amt="67000"/>
          </a:blip>
          <a:srcRect l="30151" r="30151"/>
          <a:stretch/>
        </p:blipFill>
        <p:spPr>
          <a:xfrm>
            <a:off x="14913150" y="0"/>
            <a:ext cx="12108600" cy="14913900"/>
          </a:xfrm>
          <a:prstGeom prst="chord">
            <a:avLst>
              <a:gd name="adj1" fmla="val 2700000"/>
              <a:gd name="adj2" fmla="val 16838019"/>
            </a:avLst>
          </a:prstGeom>
          <a:noFill/>
          <a:ln>
            <a:noFill/>
          </a:ln>
        </p:spPr>
      </p:pic>
      <p:sp>
        <p:nvSpPr>
          <p:cNvPr id="389" name="Google Shape;389;g3f3dd40fd11_1_233"/>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90" name="Google Shape;390;g3f3dd40fd11_1_233" descr=" "/>
          <p:cNvPicPr preferRelativeResize="0"/>
          <p:nvPr/>
        </p:nvPicPr>
        <p:blipFill rotWithShape="1">
          <a:blip r:embed="rId6">
            <a:alphaModFix/>
          </a:blip>
          <a:srcRect/>
          <a:stretch/>
        </p:blipFill>
        <p:spPr>
          <a:xfrm>
            <a:off x="23433139" y="406400"/>
            <a:ext cx="476942" cy="593018"/>
          </a:xfrm>
          <a:prstGeom prst="rect">
            <a:avLst/>
          </a:prstGeom>
          <a:noFill/>
          <a:ln>
            <a:noFill/>
          </a:ln>
        </p:spPr>
      </p:pic>
      <p:pic>
        <p:nvPicPr>
          <p:cNvPr id="391" name="Google Shape;391;g3f3dd40fd11_1_233" descr="Ícone&#10;&#10;O conteúdo gerado por IA pode estar incorreto."/>
          <p:cNvPicPr preferRelativeResize="0"/>
          <p:nvPr/>
        </p:nvPicPr>
        <p:blipFill rotWithShape="1">
          <a:blip r:embed="rId7">
            <a:alphaModFix/>
          </a:blip>
          <a:srcRect/>
          <a:stretch/>
        </p:blipFill>
        <p:spPr>
          <a:xfrm>
            <a:off x="-2202249" y="-8621"/>
            <a:ext cx="1568332" cy="10010052"/>
          </a:xfrm>
          <a:prstGeom prst="rect">
            <a:avLst/>
          </a:prstGeom>
          <a:noFill/>
          <a:ln>
            <a:noFill/>
          </a:ln>
        </p:spPr>
      </p:pic>
      <p:sp>
        <p:nvSpPr>
          <p:cNvPr id="392" name="Google Shape;392;g3f3dd40fd11_1_233"/>
          <p:cNvSpPr/>
          <p:nvPr/>
        </p:nvSpPr>
        <p:spPr>
          <a:xfrm>
            <a:off x="2447756" y="5056608"/>
            <a:ext cx="99399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O produto não para quando eu paro.</a:t>
            </a:r>
            <a:endParaRPr sz="3600" b="0" i="0" u="none" strike="noStrike" cap="none">
              <a:solidFill>
                <a:srgbClr val="A7A9B4"/>
              </a:solidFill>
              <a:latin typeface="Roboto"/>
              <a:ea typeface="Roboto"/>
              <a:cs typeface="Roboto"/>
              <a:sym typeface="Roboto"/>
            </a:endParaRPr>
          </a:p>
        </p:txBody>
      </p:sp>
      <p:pic>
        <p:nvPicPr>
          <p:cNvPr id="395" name="Google Shape;395;g3f3dd40fd11_1_233" descr=" "/>
          <p:cNvPicPr preferRelativeResize="0"/>
          <p:nvPr/>
        </p:nvPicPr>
        <p:blipFill rotWithShape="1">
          <a:blip r:embed="rId8">
            <a:alphaModFix/>
          </a:blip>
          <a:srcRect/>
          <a:stretch/>
        </p:blipFill>
        <p:spPr>
          <a:xfrm rot="-951193">
            <a:off x="23598290" y="-1695429"/>
            <a:ext cx="3651919" cy="15201733"/>
          </a:xfrm>
          <a:prstGeom prst="rect">
            <a:avLst/>
          </a:prstGeom>
          <a:noFill/>
          <a:ln>
            <a:noFill/>
          </a:ln>
        </p:spPr>
      </p:pic>
    </p:spTree>
    <p:extLst>
      <p:ext uri="{BB962C8B-B14F-4D97-AF65-F5344CB8AC3E}">
        <p14:creationId xmlns:p14="http://schemas.microsoft.com/office/powerpoint/2010/main" val="498792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g3f3dd40fd11_1_233"/>
          <p:cNvSpPr/>
          <p:nvPr/>
        </p:nvSpPr>
        <p:spPr>
          <a:xfrm>
            <a:off x="2426003" y="3149600"/>
            <a:ext cx="9983400" cy="7416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 name="Google Shape;377;g3f3dd40fd11_1_233"/>
          <p:cNvSpPr/>
          <p:nvPr/>
        </p:nvSpPr>
        <p:spPr>
          <a:xfrm>
            <a:off x="2426000" y="3893102"/>
            <a:ext cx="11159400" cy="1914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DBFC7"/>
              </a:buClr>
              <a:buSzPts val="8800"/>
              <a:buFont typeface="Encode Sans"/>
              <a:buNone/>
            </a:pPr>
            <a:r>
              <a:rPr lang="en-US" sz="8800" b="0" i="0" u="none" strike="noStrike" cap="none">
                <a:solidFill>
                  <a:srgbClr val="BDBFC7"/>
                </a:solidFill>
                <a:latin typeface="Encode Sans"/>
                <a:ea typeface="Encode Sans"/>
                <a:cs typeface="Encode Sans"/>
                <a:sym typeface="Encode Sans"/>
              </a:rPr>
              <a:t>Enquanto eu não olho</a:t>
            </a:r>
            <a:endParaRPr sz="8800" b="0" i="0" u="none" strike="noStrike" cap="none">
              <a:solidFill>
                <a:srgbClr val="A7A9B4"/>
              </a:solidFill>
              <a:latin typeface="Encode Sans"/>
              <a:ea typeface="Encode Sans"/>
              <a:cs typeface="Encode Sans"/>
              <a:sym typeface="Encode Sans"/>
            </a:endParaRPr>
          </a:p>
        </p:txBody>
      </p:sp>
      <p:sp>
        <p:nvSpPr>
          <p:cNvPr id="378" name="Google Shape;378;g3f3dd40fd11_1_233"/>
          <p:cNvSpPr/>
          <p:nvPr/>
        </p:nvSpPr>
        <p:spPr>
          <a:xfrm>
            <a:off x="2426003" y="6502400"/>
            <a:ext cx="9983400" cy="4064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 name="Google Shape;379;g3f3dd40fd11_1_233"/>
          <p:cNvSpPr/>
          <p:nvPr/>
        </p:nvSpPr>
        <p:spPr>
          <a:xfrm>
            <a:off x="2426003" y="6502400"/>
            <a:ext cx="9983400" cy="1066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80" name="Google Shape;380;g3f3dd40fd11_1_233" descr=" "/>
          <p:cNvPicPr preferRelativeResize="0"/>
          <p:nvPr/>
        </p:nvPicPr>
        <p:blipFill rotWithShape="1">
          <a:blip r:embed="rId3">
            <a:alphaModFix/>
          </a:blip>
          <a:srcRect/>
          <a:stretch/>
        </p:blipFill>
        <p:spPr>
          <a:xfrm>
            <a:off x="2426003" y="6502400"/>
            <a:ext cx="711289" cy="711200"/>
          </a:xfrm>
          <a:prstGeom prst="rect">
            <a:avLst/>
          </a:prstGeom>
          <a:noFill/>
          <a:ln>
            <a:noFill/>
          </a:ln>
        </p:spPr>
      </p:pic>
      <p:pic>
        <p:nvPicPr>
          <p:cNvPr id="381" name="Google Shape;381;g3f3dd40fd11_1_233" descr=" "/>
          <p:cNvPicPr preferRelativeResize="0"/>
          <p:nvPr/>
        </p:nvPicPr>
        <p:blipFill rotWithShape="1">
          <a:blip r:embed="rId4">
            <a:alphaModFix/>
          </a:blip>
          <a:srcRect/>
          <a:stretch/>
        </p:blipFill>
        <p:spPr>
          <a:xfrm>
            <a:off x="2548783" y="7015692"/>
            <a:ext cx="465723" cy="406400"/>
          </a:xfrm>
          <a:prstGeom prst="rect">
            <a:avLst/>
          </a:prstGeom>
          <a:noFill/>
          <a:ln>
            <a:noFill/>
          </a:ln>
        </p:spPr>
      </p:pic>
      <p:sp>
        <p:nvSpPr>
          <p:cNvPr id="382" name="Google Shape;382;g3f3dd40fd11_1_233"/>
          <p:cNvSpPr/>
          <p:nvPr/>
        </p:nvSpPr>
        <p:spPr>
          <a:xfrm>
            <a:off x="3645356" y="6846358"/>
            <a:ext cx="99399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Toda sexta, ele escolhe a receita.</a:t>
            </a:r>
            <a:endParaRPr sz="3600" b="0" i="0" u="none" strike="noStrike" cap="none">
              <a:solidFill>
                <a:srgbClr val="A7A9B4"/>
              </a:solidFill>
              <a:latin typeface="Roboto"/>
              <a:ea typeface="Roboto"/>
              <a:cs typeface="Roboto"/>
              <a:sym typeface="Roboto"/>
            </a:endParaRPr>
          </a:p>
        </p:txBody>
      </p:sp>
      <p:sp>
        <p:nvSpPr>
          <p:cNvPr id="383" name="Google Shape;383;g3f3dd40fd11_1_233"/>
          <p:cNvSpPr/>
          <p:nvPr/>
        </p:nvSpPr>
        <p:spPr>
          <a:xfrm>
            <a:off x="2426003" y="8178800"/>
            <a:ext cx="9983400" cy="711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84" name="Google Shape;384;g3f3dd40fd11_1_233" descr=" "/>
          <p:cNvPicPr preferRelativeResize="0"/>
          <p:nvPr/>
        </p:nvPicPr>
        <p:blipFill rotWithShape="1">
          <a:blip r:embed="rId3">
            <a:alphaModFix/>
          </a:blip>
          <a:srcRect/>
          <a:stretch/>
        </p:blipFill>
        <p:spPr>
          <a:xfrm>
            <a:off x="2426003" y="7989147"/>
            <a:ext cx="711289" cy="711200"/>
          </a:xfrm>
          <a:prstGeom prst="rect">
            <a:avLst/>
          </a:prstGeom>
          <a:noFill/>
          <a:ln>
            <a:noFill/>
          </a:ln>
        </p:spPr>
      </p:pic>
      <p:pic>
        <p:nvPicPr>
          <p:cNvPr id="385" name="Google Shape;385;g3f3dd40fd11_1_233" descr=" "/>
          <p:cNvPicPr preferRelativeResize="0"/>
          <p:nvPr/>
        </p:nvPicPr>
        <p:blipFill rotWithShape="1">
          <a:blip r:embed="rId4">
            <a:alphaModFix/>
          </a:blip>
          <a:srcRect/>
          <a:stretch/>
        </p:blipFill>
        <p:spPr>
          <a:xfrm>
            <a:off x="2548783" y="8331200"/>
            <a:ext cx="465723" cy="406400"/>
          </a:xfrm>
          <a:prstGeom prst="rect">
            <a:avLst/>
          </a:prstGeom>
          <a:noFill/>
          <a:ln>
            <a:noFill/>
          </a:ln>
        </p:spPr>
      </p:pic>
      <p:sp>
        <p:nvSpPr>
          <p:cNvPr id="386" name="Google Shape;386;g3f3dd40fd11_1_233"/>
          <p:cNvSpPr/>
          <p:nvPr/>
        </p:nvSpPr>
        <p:spPr>
          <a:xfrm>
            <a:off x="3645356" y="8267700"/>
            <a:ext cx="9263100" cy="6690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O Telegram recebe mensagem a qualquer hora do dia.</a:t>
            </a:r>
            <a:endParaRPr sz="3600" b="0" i="0" u="none" strike="noStrike" cap="none">
              <a:solidFill>
                <a:schemeClr val="dk1"/>
              </a:solidFill>
              <a:latin typeface="Roboto"/>
              <a:ea typeface="Roboto"/>
              <a:cs typeface="Roboto"/>
              <a:sym typeface="Roboto"/>
            </a:endParaRPr>
          </a:p>
        </p:txBody>
      </p:sp>
      <p:sp>
        <p:nvSpPr>
          <p:cNvPr id="387" name="Google Shape;387;g3f3dd40fd11_1_233"/>
          <p:cNvSpPr/>
          <p:nvPr/>
        </p:nvSpPr>
        <p:spPr>
          <a:xfrm>
            <a:off x="2426003" y="9796000"/>
            <a:ext cx="9983400" cy="1066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88" name="Google Shape;388;g3f3dd40fd11_1_233" title="Gemini_Generated_Image_bb831nbb831nbb83.png"/>
          <p:cNvPicPr preferRelativeResize="0"/>
          <p:nvPr/>
        </p:nvPicPr>
        <p:blipFill rotWithShape="1">
          <a:blip r:embed="rId5">
            <a:alphaModFix amt="67000"/>
          </a:blip>
          <a:srcRect l="30151" r="30151"/>
          <a:stretch/>
        </p:blipFill>
        <p:spPr>
          <a:xfrm>
            <a:off x="14913150" y="0"/>
            <a:ext cx="12108600" cy="14913900"/>
          </a:xfrm>
          <a:prstGeom prst="chord">
            <a:avLst>
              <a:gd name="adj1" fmla="val 2700000"/>
              <a:gd name="adj2" fmla="val 16838019"/>
            </a:avLst>
          </a:prstGeom>
          <a:noFill/>
          <a:ln>
            <a:noFill/>
          </a:ln>
        </p:spPr>
      </p:pic>
      <p:sp>
        <p:nvSpPr>
          <p:cNvPr id="389" name="Google Shape;389;g3f3dd40fd11_1_233"/>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90" name="Google Shape;390;g3f3dd40fd11_1_233" descr=" "/>
          <p:cNvPicPr preferRelativeResize="0"/>
          <p:nvPr/>
        </p:nvPicPr>
        <p:blipFill rotWithShape="1">
          <a:blip r:embed="rId6">
            <a:alphaModFix/>
          </a:blip>
          <a:srcRect/>
          <a:stretch/>
        </p:blipFill>
        <p:spPr>
          <a:xfrm>
            <a:off x="23433139" y="406400"/>
            <a:ext cx="476942" cy="593018"/>
          </a:xfrm>
          <a:prstGeom prst="rect">
            <a:avLst/>
          </a:prstGeom>
          <a:noFill/>
          <a:ln>
            <a:noFill/>
          </a:ln>
        </p:spPr>
      </p:pic>
      <p:pic>
        <p:nvPicPr>
          <p:cNvPr id="391" name="Google Shape;391;g3f3dd40fd11_1_233" descr="Ícone&#10;&#10;O conteúdo gerado por IA pode estar incorreto."/>
          <p:cNvPicPr preferRelativeResize="0"/>
          <p:nvPr/>
        </p:nvPicPr>
        <p:blipFill rotWithShape="1">
          <a:blip r:embed="rId7">
            <a:alphaModFix/>
          </a:blip>
          <a:srcRect/>
          <a:stretch/>
        </p:blipFill>
        <p:spPr>
          <a:xfrm>
            <a:off x="-2202249" y="-8621"/>
            <a:ext cx="1568332" cy="10010052"/>
          </a:xfrm>
          <a:prstGeom prst="rect">
            <a:avLst/>
          </a:prstGeom>
          <a:noFill/>
          <a:ln>
            <a:noFill/>
          </a:ln>
        </p:spPr>
      </p:pic>
      <p:sp>
        <p:nvSpPr>
          <p:cNvPr id="392" name="Google Shape;392;g3f3dd40fd11_1_233"/>
          <p:cNvSpPr/>
          <p:nvPr/>
        </p:nvSpPr>
        <p:spPr>
          <a:xfrm>
            <a:off x="2447756" y="5056608"/>
            <a:ext cx="99399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O produto não para quando eu paro.</a:t>
            </a:r>
            <a:endParaRPr sz="3600" b="0" i="0" u="none" strike="noStrike" cap="none">
              <a:solidFill>
                <a:srgbClr val="A7A9B4"/>
              </a:solidFill>
              <a:latin typeface="Roboto"/>
              <a:ea typeface="Roboto"/>
              <a:cs typeface="Roboto"/>
              <a:sym typeface="Roboto"/>
            </a:endParaRPr>
          </a:p>
        </p:txBody>
      </p:sp>
      <p:pic>
        <p:nvPicPr>
          <p:cNvPr id="393" name="Google Shape;393;g3f3dd40fd11_1_233" descr=" "/>
          <p:cNvPicPr preferRelativeResize="0"/>
          <p:nvPr/>
        </p:nvPicPr>
        <p:blipFill rotWithShape="1">
          <a:blip r:embed="rId4">
            <a:alphaModFix/>
          </a:blip>
          <a:srcRect/>
          <a:stretch/>
        </p:blipFill>
        <p:spPr>
          <a:xfrm>
            <a:off x="2548783" y="10200852"/>
            <a:ext cx="465723" cy="406400"/>
          </a:xfrm>
          <a:prstGeom prst="rect">
            <a:avLst/>
          </a:prstGeom>
          <a:noFill/>
          <a:ln>
            <a:noFill/>
          </a:ln>
        </p:spPr>
      </p:pic>
      <p:sp>
        <p:nvSpPr>
          <p:cNvPr id="394" name="Google Shape;394;g3f3dd40fd11_1_233"/>
          <p:cNvSpPr/>
          <p:nvPr/>
        </p:nvSpPr>
        <p:spPr>
          <a:xfrm>
            <a:off x="3645356" y="9728200"/>
            <a:ext cx="9263100" cy="1202400"/>
          </a:xfrm>
          <a:prstGeom prst="rect">
            <a:avLst/>
          </a:prstGeom>
          <a:noFill/>
          <a:ln>
            <a:noFill/>
          </a:ln>
        </p:spPr>
        <p:txBody>
          <a:bodyPr spcFirstLastPara="1" wrap="square" lIns="0" tIns="0" rIns="0" bIns="0" anchor="ctr"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E o eval só roda quando eu mando.</a:t>
            </a:r>
            <a:endParaRPr sz="3600" b="0" i="0" u="none" strike="noStrike" cap="none">
              <a:solidFill>
                <a:schemeClr val="dk1"/>
              </a:solidFill>
              <a:latin typeface="Roboto"/>
              <a:ea typeface="Roboto"/>
              <a:cs typeface="Roboto"/>
              <a:sym typeface="Roboto"/>
            </a:endParaRPr>
          </a:p>
        </p:txBody>
      </p:sp>
      <p:pic>
        <p:nvPicPr>
          <p:cNvPr id="395" name="Google Shape;395;g3f3dd40fd11_1_233" descr=" "/>
          <p:cNvPicPr preferRelativeResize="0"/>
          <p:nvPr/>
        </p:nvPicPr>
        <p:blipFill rotWithShape="1">
          <a:blip r:embed="rId8">
            <a:alphaModFix/>
          </a:blip>
          <a:srcRect/>
          <a:stretch/>
        </p:blipFill>
        <p:spPr>
          <a:xfrm rot="-951193">
            <a:off x="23598290" y="-1695429"/>
            <a:ext cx="3651919" cy="15201733"/>
          </a:xfrm>
          <a:prstGeom prst="rect">
            <a:avLst/>
          </a:prstGeom>
          <a:noFill/>
          <a:ln>
            <a:noFill/>
          </a:ln>
        </p:spPr>
      </p:pic>
    </p:spTree>
    <p:extLst>
      <p:ext uri="{BB962C8B-B14F-4D97-AF65-F5344CB8AC3E}">
        <p14:creationId xmlns:p14="http://schemas.microsoft.com/office/powerpoint/2010/main" val="3850250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Observar é conseguir reconstruir.</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682985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3810000" y="1397000"/>
            <a:ext cx="16764000" cy="21590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6000" b="0" i="0" u="none" strike="noStrike" cap="none">
                <a:solidFill>
                  <a:srgbClr val="BDBFC7"/>
                </a:solidFill>
                <a:latin typeface="Encode Sans"/>
                <a:ea typeface="Encode Sans"/>
                <a:cs typeface="Encode Sans"/>
                <a:sym typeface="Encode Sans"/>
              </a:rPr>
              <a:t>Sexta, 28 de agosto</a:t>
            </a:r>
            <a:endParaRPr sz="60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
        <p:nvSpPr>
          <p:cNvPr id="2" name="CaixaDeTexto 1">
            <a:extLst>
              <a:ext uri="{FF2B5EF4-FFF2-40B4-BE49-F238E27FC236}">
                <a16:creationId xmlns:a16="http://schemas.microsoft.com/office/drawing/2014/main" id="{C38532F0-E020-867F-F631-265412A53627}"/>
              </a:ext>
            </a:extLst>
          </p:cNvPr>
          <p:cNvSpPr txBox="1"/>
          <p:nvPr/>
        </p:nvSpPr>
        <p:spPr>
          <a:xfrm>
            <a:off x="3810000" y="3619500"/>
            <a:ext cx="16764000" cy="461665"/>
          </a:xfrm>
          <a:prstGeom prst="rect">
            <a:avLst/>
          </a:prstGeom>
          <a:noFill/>
        </p:spPr>
        <p:txBody>
          <a:bodyPr vert="horz" rtlCol="0">
            <a:spAutoFit/>
          </a:bodyPr>
          <a:lstStyle/>
          <a:p>
            <a:pPr algn="ctr"/>
            <a:r>
              <a:rPr lang="pt-BR" sz="2400">
                <a:solidFill>
                  <a:srgbClr val="BBBBBB"/>
                </a:solidFill>
              </a:rPr>
              <a:t>A receita premium, reconstruída pelo rastro.</a:t>
            </a:r>
          </a:p>
        </p:txBody>
      </p:sp>
      <p:graphicFrame>
        <p:nvGraphicFramePr>
          <p:cNvPr id="3" name="Tabela 2">
            <a:extLst>
              <a:ext uri="{FF2B5EF4-FFF2-40B4-BE49-F238E27FC236}">
                <a16:creationId xmlns:a16="http://schemas.microsoft.com/office/drawing/2014/main" id="{31027618-69DF-6F1F-F673-D962AA271AB1}"/>
              </a:ext>
            </a:extLst>
          </p:cNvPr>
          <p:cNvGraphicFramePr>
            <a:graphicFrameLocks noGrp="1"/>
          </p:cNvGraphicFramePr>
          <p:nvPr>
            <p:extLst>
              <p:ext uri="{D42A27DB-BD31-4B8C-83A1-F6EECF244321}">
                <p14:modId xmlns:p14="http://schemas.microsoft.com/office/powerpoint/2010/main" val="4082519250"/>
              </p:ext>
            </p:extLst>
          </p:nvPr>
        </p:nvGraphicFramePr>
        <p:xfrm>
          <a:off x="5842000" y="4699000"/>
          <a:ext cx="12700000" cy="3048000"/>
        </p:xfrm>
        <a:graphic>
          <a:graphicData uri="http://schemas.openxmlformats.org/drawingml/2006/table">
            <a:tbl>
              <a:tblPr firstRow="1" bandRow="1">
                <a:tableStyleId>{5C22544A-7EE6-4342-B048-85BDC9FD1C3A}</a:tableStyleId>
              </a:tblPr>
              <a:tblGrid>
                <a:gridCol w="4233333">
                  <a:extLst>
                    <a:ext uri="{9D8B030D-6E8A-4147-A177-3AD203B41FA5}">
                      <a16:colId xmlns:a16="http://schemas.microsoft.com/office/drawing/2014/main" val="479074959"/>
                    </a:ext>
                  </a:extLst>
                </a:gridCol>
                <a:gridCol w="4233333">
                  <a:extLst>
                    <a:ext uri="{9D8B030D-6E8A-4147-A177-3AD203B41FA5}">
                      <a16:colId xmlns:a16="http://schemas.microsoft.com/office/drawing/2014/main" val="3752425219"/>
                    </a:ext>
                  </a:extLst>
                </a:gridCol>
                <a:gridCol w="4233333">
                  <a:extLst>
                    <a:ext uri="{9D8B030D-6E8A-4147-A177-3AD203B41FA5}">
                      <a16:colId xmlns:a16="http://schemas.microsoft.com/office/drawing/2014/main" val="3331575713"/>
                    </a:ext>
                  </a:extLst>
                </a:gridCol>
              </a:tblGrid>
              <a:tr h="762000">
                <a:tc>
                  <a:txBody>
                    <a:bodyPr/>
                    <a:lstStyle/>
                    <a:p>
                      <a:r>
                        <a:rPr lang="pt-BR" sz="2000" b="1">
                          <a:solidFill>
                            <a:srgbClr val="FFFFFF"/>
                          </a:solidFill>
                        </a:rPr>
                        <a:t>Horário</a:t>
                      </a:r>
                    </a:p>
                  </a:txBody>
                  <a:tcPr>
                    <a:solidFill>
                      <a:srgbClr val="102E5A"/>
                    </a:solidFill>
                  </a:tcPr>
                </a:tc>
                <a:tc>
                  <a:txBody>
                    <a:bodyPr/>
                    <a:lstStyle/>
                    <a:p>
                      <a:pPr algn="ctr"/>
                      <a:r>
                        <a:rPr lang="pt-BR" sz="2000" b="1">
                          <a:solidFill>
                            <a:srgbClr val="FFFFFF"/>
                          </a:solidFill>
                        </a:rPr>
                        <a:t>O que o rastro mostra</a:t>
                      </a:r>
                    </a:p>
                  </a:txBody>
                  <a:tcPr>
                    <a:solidFill>
                      <a:srgbClr val="102E5A"/>
                    </a:solidFill>
                  </a:tcPr>
                </a:tc>
                <a:tc>
                  <a:txBody>
                    <a:bodyPr/>
                    <a:lstStyle/>
                    <a:p>
                      <a:pPr algn="ctr"/>
                      <a:r>
                        <a:rPr lang="pt-BR" sz="2000" b="1">
                          <a:solidFill>
                            <a:srgbClr val="FFFFFF"/>
                          </a:solidFill>
                        </a:rPr>
                        <a:t>Tempo</a:t>
                      </a:r>
                    </a:p>
                  </a:txBody>
                  <a:tcPr>
                    <a:solidFill>
                      <a:srgbClr val="102E5A"/>
                    </a:solidFill>
                  </a:tcPr>
                </a:tc>
                <a:extLst>
                  <a:ext uri="{0D108BD9-81ED-4DB2-BD59-A6C34878D82A}">
                    <a16:rowId xmlns:a16="http://schemas.microsoft.com/office/drawing/2014/main" val="1937210755"/>
                  </a:ext>
                </a:extLst>
              </a:tr>
              <a:tr h="762000">
                <a:tc>
                  <a:txBody>
                    <a:bodyPr/>
                    <a:lstStyle/>
                    <a:p>
                      <a:r>
                        <a:rPr lang="pt-BR" sz="2000" b="0">
                          <a:solidFill>
                            <a:srgbClr val="FFFFFF"/>
                          </a:solidFill>
                        </a:rPr>
                        <a:t>11h35</a:t>
                      </a:r>
                    </a:p>
                  </a:txBody>
                  <a:tcPr>
                    <a:solidFill>
                      <a:srgbClr val="1A1A1A"/>
                    </a:solidFill>
                  </a:tcPr>
                </a:tc>
                <a:tc>
                  <a:txBody>
                    <a:bodyPr/>
                    <a:lstStyle/>
                    <a:p>
                      <a:pPr algn="ctr"/>
                      <a:r>
                        <a:rPr lang="pt-BR" sz="2000" b="0">
                          <a:solidFill>
                            <a:srgbClr val="FFFFFF"/>
                          </a:solidFill>
                        </a:rPr>
                        <a:t>❌ erro: chave de acesso inválida</a:t>
                      </a:r>
                    </a:p>
                  </a:txBody>
                  <a:tcPr>
                    <a:solidFill>
                      <a:srgbClr val="1A1A1A"/>
                    </a:solidFill>
                  </a:tcPr>
                </a:tc>
                <a:tc>
                  <a:txBody>
                    <a:bodyPr/>
                    <a:lstStyle/>
                    <a:p>
                      <a:pPr algn="ctr"/>
                      <a:r>
                        <a:rPr lang="pt-BR" sz="2000" b="0">
                          <a:solidFill>
                            <a:srgbClr val="FFFFFF"/>
                          </a:solidFill>
                        </a:rPr>
                        <a:t>0,9 s</a:t>
                      </a:r>
                    </a:p>
                  </a:txBody>
                  <a:tcPr>
                    <a:solidFill>
                      <a:srgbClr val="1A1A1A"/>
                    </a:solidFill>
                  </a:tcPr>
                </a:tc>
                <a:extLst>
                  <a:ext uri="{0D108BD9-81ED-4DB2-BD59-A6C34878D82A}">
                    <a16:rowId xmlns:a16="http://schemas.microsoft.com/office/drawing/2014/main" val="1470856959"/>
                  </a:ext>
                </a:extLst>
              </a:tr>
              <a:tr h="762000">
                <a:tc>
                  <a:txBody>
                    <a:bodyPr/>
                    <a:lstStyle/>
                    <a:p>
                      <a:r>
                        <a:rPr lang="pt-BR" sz="2000" b="0">
                          <a:solidFill>
                            <a:srgbClr val="FFFFFF"/>
                          </a:solidFill>
                        </a:rPr>
                        <a:t>12h35</a:t>
                      </a:r>
                    </a:p>
                  </a:txBody>
                  <a:tcPr>
                    <a:solidFill>
                      <a:srgbClr val="1A1A1A"/>
                    </a:solidFill>
                  </a:tcPr>
                </a:tc>
                <a:tc>
                  <a:txBody>
                    <a:bodyPr/>
                    <a:lstStyle/>
                    <a:p>
                      <a:pPr algn="ctr"/>
                      <a:r>
                        <a:rPr lang="pt-BR" sz="2000" b="0">
                          <a:solidFill>
                            <a:srgbClr val="FFFFFF"/>
                          </a:solidFill>
                        </a:rPr>
                        <a:t>❌ erro: chave de acesso inválida</a:t>
                      </a:r>
                    </a:p>
                  </a:txBody>
                  <a:tcPr>
                    <a:solidFill>
                      <a:srgbClr val="1A1A1A"/>
                    </a:solidFill>
                  </a:tcPr>
                </a:tc>
                <a:tc>
                  <a:txBody>
                    <a:bodyPr/>
                    <a:lstStyle/>
                    <a:p>
                      <a:pPr algn="ctr"/>
                      <a:r>
                        <a:rPr lang="pt-BR" sz="2000" b="0">
                          <a:solidFill>
                            <a:srgbClr val="FFFFFF"/>
                          </a:solidFill>
                        </a:rPr>
                        <a:t>4,1 s</a:t>
                      </a:r>
                    </a:p>
                  </a:txBody>
                  <a:tcPr>
                    <a:solidFill>
                      <a:srgbClr val="1A1A1A"/>
                    </a:solidFill>
                  </a:tcPr>
                </a:tc>
                <a:extLst>
                  <a:ext uri="{0D108BD9-81ED-4DB2-BD59-A6C34878D82A}">
                    <a16:rowId xmlns:a16="http://schemas.microsoft.com/office/drawing/2014/main" val="2319213397"/>
                  </a:ext>
                </a:extLst>
              </a:tr>
              <a:tr h="762000">
                <a:tc>
                  <a:txBody>
                    <a:bodyPr/>
                    <a:lstStyle/>
                    <a:p>
                      <a:r>
                        <a:rPr lang="pt-BR" sz="2000" b="0">
                          <a:solidFill>
                            <a:srgbClr val="FFFFFF"/>
                          </a:solidFill>
                        </a:rPr>
                        <a:t>13h55</a:t>
                      </a:r>
                    </a:p>
                  </a:txBody>
                  <a:tcPr>
                    <a:solidFill>
                      <a:srgbClr val="1A1A1A"/>
                    </a:solidFill>
                  </a:tcPr>
                </a:tc>
                <a:tc>
                  <a:txBody>
                    <a:bodyPr/>
                    <a:lstStyle/>
                    <a:p>
                      <a:pPr algn="ctr"/>
                      <a:r>
                        <a:rPr lang="pt-BR" sz="2000" b="0">
                          <a:solidFill>
                            <a:srgbClr val="FFFFFF"/>
                          </a:solidFill>
                        </a:rPr>
                        <a:t>✅ receita escolhida: Beef Wellington</a:t>
                      </a:r>
                    </a:p>
                  </a:txBody>
                  <a:tcPr>
                    <a:solidFill>
                      <a:srgbClr val="1A1A1A"/>
                    </a:solidFill>
                  </a:tcPr>
                </a:tc>
                <a:tc>
                  <a:txBody>
                    <a:bodyPr/>
                    <a:lstStyle/>
                    <a:p>
                      <a:pPr algn="ctr"/>
                      <a:r>
                        <a:rPr lang="pt-BR" sz="2000" b="0">
                          <a:solidFill>
                            <a:srgbClr val="FFFFFF"/>
                          </a:solidFill>
                        </a:rPr>
                        <a:t>10,7 s</a:t>
                      </a:r>
                    </a:p>
                  </a:txBody>
                  <a:tcPr>
                    <a:solidFill>
                      <a:srgbClr val="1A1A1A"/>
                    </a:solidFill>
                  </a:tcPr>
                </a:tc>
                <a:extLst>
                  <a:ext uri="{0D108BD9-81ED-4DB2-BD59-A6C34878D82A}">
                    <a16:rowId xmlns:a16="http://schemas.microsoft.com/office/drawing/2014/main" val="2385585037"/>
                  </a:ext>
                </a:extLst>
              </a:tr>
            </a:tbl>
          </a:graphicData>
        </a:graphic>
      </p:graphicFrame>
    </p:spTree>
    <p:extLst>
      <p:ext uri="{BB962C8B-B14F-4D97-AF65-F5344CB8AC3E}">
        <p14:creationId xmlns:p14="http://schemas.microsoft.com/office/powerpoint/2010/main" val="3949746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g3f6efaed406_0_171"/>
          <p:cNvSpPr/>
          <p:nvPr/>
        </p:nvSpPr>
        <p:spPr>
          <a:xfrm>
            <a:off x="-165904" y="-150471"/>
            <a:ext cx="24692700" cy="14040000"/>
          </a:xfrm>
          <a:prstGeom prst="rect">
            <a:avLst/>
          </a:prstGeom>
          <a:solidFill>
            <a:srgbClr val="EEEFF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485" name="Google Shape;485;g3f6efaed406_0_171" descr=" "/>
          <p:cNvPicPr preferRelativeResize="0"/>
          <p:nvPr/>
        </p:nvPicPr>
        <p:blipFill rotWithShape="1">
          <a:blip r:embed="rId3">
            <a:alphaModFix/>
          </a:blip>
          <a:srcRect/>
          <a:stretch/>
        </p:blipFill>
        <p:spPr>
          <a:xfrm>
            <a:off x="18899962" y="304800"/>
            <a:ext cx="5487086" cy="13106400"/>
          </a:xfrm>
          <a:prstGeom prst="rect">
            <a:avLst/>
          </a:prstGeom>
          <a:noFill/>
          <a:ln>
            <a:noFill/>
          </a:ln>
        </p:spPr>
      </p:pic>
      <p:sp>
        <p:nvSpPr>
          <p:cNvPr id="486" name="Google Shape;486;g3f6efaed406_0_171"/>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87" name="Google Shape;487;g3f6efaed406_0_171" descr=" "/>
          <p:cNvPicPr preferRelativeResize="0"/>
          <p:nvPr/>
        </p:nvPicPr>
        <p:blipFill rotWithShape="1">
          <a:blip r:embed="rId4">
            <a:alphaModFix/>
          </a:blip>
          <a:srcRect/>
          <a:stretch/>
        </p:blipFill>
        <p:spPr>
          <a:xfrm>
            <a:off x="23434429" y="406400"/>
            <a:ext cx="474375" cy="593018"/>
          </a:xfrm>
          <a:prstGeom prst="rect">
            <a:avLst/>
          </a:prstGeom>
          <a:noFill/>
          <a:ln>
            <a:noFill/>
          </a:ln>
        </p:spPr>
      </p:pic>
      <p:pic>
        <p:nvPicPr>
          <p:cNvPr id="488" name="Google Shape;488;g3f6efaed406_0_171" descr=" "/>
          <p:cNvPicPr preferRelativeResize="0"/>
          <p:nvPr/>
        </p:nvPicPr>
        <p:blipFill rotWithShape="1">
          <a:blip r:embed="rId5">
            <a:alphaModFix/>
          </a:blip>
          <a:srcRect/>
          <a:stretch/>
        </p:blipFill>
        <p:spPr>
          <a:xfrm>
            <a:off x="2289929" y="3119982"/>
            <a:ext cx="5004425" cy="10010050"/>
          </a:xfrm>
          <a:prstGeom prst="rect">
            <a:avLst/>
          </a:prstGeom>
          <a:noFill/>
          <a:ln w="9525" cap="flat" cmpd="sng">
            <a:solidFill>
              <a:schemeClr val="lt2"/>
            </a:solidFill>
            <a:prstDash val="solid"/>
            <a:round/>
            <a:headEnd type="none" w="sm" len="sm"/>
            <a:tailEnd type="none" w="sm" len="sm"/>
          </a:ln>
        </p:spPr>
      </p:pic>
      <p:pic>
        <p:nvPicPr>
          <p:cNvPr id="489" name="Google Shape;489;g3f6efaed406_0_171" descr=" "/>
          <p:cNvPicPr preferRelativeResize="0"/>
          <p:nvPr/>
        </p:nvPicPr>
        <p:blipFill rotWithShape="1">
          <a:blip r:embed="rId6">
            <a:alphaModFix/>
          </a:blip>
          <a:srcRect/>
          <a:stretch/>
        </p:blipFill>
        <p:spPr>
          <a:xfrm>
            <a:off x="4436501" y="3985642"/>
            <a:ext cx="711289" cy="711200"/>
          </a:xfrm>
          <a:prstGeom prst="rect">
            <a:avLst/>
          </a:prstGeom>
          <a:noFill/>
          <a:ln>
            <a:noFill/>
          </a:ln>
        </p:spPr>
      </p:pic>
      <p:pic>
        <p:nvPicPr>
          <p:cNvPr id="490" name="Google Shape;490;g3f6efaed406_0_171" title="crosshair (1).png"/>
          <p:cNvPicPr preferRelativeResize="0"/>
          <p:nvPr/>
        </p:nvPicPr>
        <p:blipFill rotWithShape="1">
          <a:blip r:embed="rId7">
            <a:alphaModFix/>
          </a:blip>
          <a:srcRect t="10"/>
          <a:stretch/>
        </p:blipFill>
        <p:spPr>
          <a:xfrm>
            <a:off x="4297479" y="3469017"/>
            <a:ext cx="1132451" cy="1132300"/>
          </a:xfrm>
          <a:prstGeom prst="rect">
            <a:avLst/>
          </a:prstGeom>
          <a:noFill/>
          <a:ln>
            <a:noFill/>
          </a:ln>
        </p:spPr>
      </p:pic>
      <p:sp>
        <p:nvSpPr>
          <p:cNvPr id="491" name="Google Shape;491;g3f6efaed406_0_171"/>
          <p:cNvSpPr/>
          <p:nvPr/>
        </p:nvSpPr>
        <p:spPr>
          <a:xfrm>
            <a:off x="2660304" y="7157339"/>
            <a:ext cx="4218300" cy="3223800"/>
          </a:xfrm>
          <a:prstGeom prst="rect">
            <a:avLst/>
          </a:prstGeom>
          <a:noFill/>
          <a:ln>
            <a:noFill/>
          </a:ln>
        </p:spPr>
        <p:txBody>
          <a:bodyPr spcFirstLastPara="1" wrap="square" lIns="0" tIns="0" rIns="0" bIns="0" anchor="t" anchorCtr="0">
            <a:noAutofit/>
          </a:bodyPr>
          <a:lstStyle/>
          <a:p>
            <a:pPr marL="0" marR="0" lvl="0" indent="0" algn="ctr" rtl="0">
              <a:lnSpc>
                <a:spcPct val="135714"/>
              </a:lnSpc>
              <a:spcBef>
                <a:spcPts val="0"/>
              </a:spcBef>
              <a:spcAft>
                <a:spcPts val="0"/>
              </a:spcAft>
              <a:buClr>
                <a:srgbClr val="383A42"/>
              </a:buClr>
              <a:buSzPts val="2800"/>
              <a:buFont typeface="Roboto"/>
              <a:buNone/>
            </a:pPr>
            <a:r>
              <a:rPr lang="pt-BR" sz="2600" b="0" i="0" u="none" strike="noStrike" cap="none">
                <a:solidFill>
                  <a:srgbClr val="666666"/>
                </a:solidFill>
                <a:latin typeface="Roboto"/>
                <a:ea typeface="Roboto"/>
                <a:cs typeface="Roboto"/>
                <a:sym typeface="Roboto"/>
              </a:rPr>
              <a:t>Cada consulta e cada ferramenta, com o que entrou e o que saiu de cada passo.</a:t>
            </a:r>
            <a:endParaRPr sz="2600" b="0" i="0" u="none" strike="noStrike" cap="none">
              <a:solidFill>
                <a:srgbClr val="666666"/>
              </a:solidFill>
              <a:latin typeface="Roboto"/>
              <a:ea typeface="Roboto"/>
              <a:cs typeface="Roboto"/>
              <a:sym typeface="Roboto"/>
            </a:endParaRPr>
          </a:p>
        </p:txBody>
      </p:sp>
      <p:pic>
        <p:nvPicPr>
          <p:cNvPr id="492" name="Google Shape;492;g3f6efaed406_0_171" descr=" "/>
          <p:cNvPicPr preferRelativeResize="0"/>
          <p:nvPr/>
        </p:nvPicPr>
        <p:blipFill rotWithShape="1">
          <a:blip r:embed="rId8">
            <a:alphaModFix/>
          </a:blip>
          <a:srcRect/>
          <a:stretch/>
        </p:blipFill>
        <p:spPr>
          <a:xfrm>
            <a:off x="7700803" y="3119982"/>
            <a:ext cx="5017125" cy="10010050"/>
          </a:xfrm>
          <a:prstGeom prst="rect">
            <a:avLst/>
          </a:prstGeom>
          <a:noFill/>
          <a:ln w="9525" cap="flat" cmpd="sng">
            <a:solidFill>
              <a:schemeClr val="lt2"/>
            </a:solidFill>
            <a:prstDash val="solid"/>
            <a:round/>
            <a:headEnd type="none" w="sm" len="sm"/>
            <a:tailEnd type="none" w="sm" len="sm"/>
          </a:ln>
        </p:spPr>
      </p:pic>
      <p:pic>
        <p:nvPicPr>
          <p:cNvPr id="493" name="Google Shape;493;g3f6efaed406_0_171" descr=" "/>
          <p:cNvPicPr preferRelativeResize="0"/>
          <p:nvPr/>
        </p:nvPicPr>
        <p:blipFill rotWithShape="1">
          <a:blip r:embed="rId6">
            <a:alphaModFix/>
          </a:blip>
          <a:srcRect/>
          <a:stretch/>
        </p:blipFill>
        <p:spPr>
          <a:xfrm>
            <a:off x="9853728" y="6744607"/>
            <a:ext cx="711289" cy="711200"/>
          </a:xfrm>
          <a:prstGeom prst="rect">
            <a:avLst/>
          </a:prstGeom>
          <a:noFill/>
          <a:ln>
            <a:noFill/>
          </a:ln>
        </p:spPr>
      </p:pic>
      <p:pic>
        <p:nvPicPr>
          <p:cNvPr id="494" name="Google Shape;494;g3f6efaed406_0_171" title="bar-chart.png"/>
          <p:cNvPicPr preferRelativeResize="0"/>
          <p:nvPr/>
        </p:nvPicPr>
        <p:blipFill rotWithShape="1">
          <a:blip r:embed="rId9">
            <a:alphaModFix/>
          </a:blip>
          <a:srcRect t="10"/>
          <a:stretch/>
        </p:blipFill>
        <p:spPr>
          <a:xfrm>
            <a:off x="9902154" y="3613748"/>
            <a:ext cx="842950" cy="842838"/>
          </a:xfrm>
          <a:prstGeom prst="rect">
            <a:avLst/>
          </a:prstGeom>
          <a:noFill/>
          <a:ln>
            <a:noFill/>
          </a:ln>
        </p:spPr>
      </p:pic>
      <p:sp>
        <p:nvSpPr>
          <p:cNvPr id="495" name="Google Shape;495;g3f6efaed406_0_171"/>
          <p:cNvSpPr/>
          <p:nvPr/>
        </p:nvSpPr>
        <p:spPr>
          <a:xfrm>
            <a:off x="8229966" y="7238982"/>
            <a:ext cx="3958800" cy="3223800"/>
          </a:xfrm>
          <a:prstGeom prst="rect">
            <a:avLst/>
          </a:prstGeom>
          <a:noFill/>
          <a:ln>
            <a:noFill/>
          </a:ln>
        </p:spPr>
        <p:txBody>
          <a:bodyPr spcFirstLastPara="1" wrap="square" lIns="0" tIns="0" rIns="0" bIns="0" anchor="t" anchorCtr="0">
            <a:noAutofit/>
          </a:bodyPr>
          <a:lstStyle/>
          <a:p>
            <a:pPr marL="0" marR="0" lvl="0" indent="0" algn="ctr" rtl="0">
              <a:lnSpc>
                <a:spcPct val="135714"/>
              </a:lnSpc>
              <a:spcBef>
                <a:spcPts val="0"/>
              </a:spcBef>
              <a:spcAft>
                <a:spcPts val="0"/>
              </a:spcAft>
              <a:buClr>
                <a:schemeClr val="dk1"/>
              </a:buClr>
              <a:buSzPts val="1100"/>
              <a:buFont typeface="Arial"/>
              <a:buNone/>
            </a:pPr>
            <a:r>
              <a:rPr lang="pt-BR" sz="2600" b="0" i="0" u="none" strike="noStrike" cap="none">
                <a:solidFill>
                  <a:srgbClr val="666666"/>
                </a:solidFill>
                <a:latin typeface="Roboto"/>
                <a:ea typeface="Roboto"/>
                <a:cs typeface="Roboto"/>
                <a:sym typeface="Roboto"/>
              </a:rPr>
              <a:t>Tokens, dinheiro e segundos, passo a passo. É daqui que sai a conta do mês.</a:t>
            </a:r>
            <a:endParaRPr sz="2600" b="0" i="0" u="none" strike="noStrike" cap="none">
              <a:solidFill>
                <a:srgbClr val="666666"/>
              </a:solidFill>
              <a:latin typeface="Roboto"/>
              <a:ea typeface="Roboto"/>
              <a:cs typeface="Roboto"/>
              <a:sym typeface="Roboto"/>
            </a:endParaRPr>
          </a:p>
        </p:txBody>
      </p:sp>
      <p:pic>
        <p:nvPicPr>
          <p:cNvPr id="496" name="Google Shape;496;g3f6efaed406_0_171" descr=" "/>
          <p:cNvPicPr preferRelativeResize="0"/>
          <p:nvPr/>
        </p:nvPicPr>
        <p:blipFill rotWithShape="1">
          <a:blip r:embed="rId5">
            <a:alphaModFix/>
          </a:blip>
          <a:srcRect/>
          <a:stretch/>
        </p:blipFill>
        <p:spPr>
          <a:xfrm>
            <a:off x="13124378" y="3119982"/>
            <a:ext cx="5004425" cy="10010050"/>
          </a:xfrm>
          <a:prstGeom prst="rect">
            <a:avLst/>
          </a:prstGeom>
          <a:noFill/>
          <a:ln w="9525" cap="flat" cmpd="sng">
            <a:solidFill>
              <a:schemeClr val="lt2"/>
            </a:solidFill>
            <a:prstDash val="solid"/>
            <a:round/>
            <a:headEnd type="none" w="sm" len="sm"/>
            <a:tailEnd type="none" w="sm" len="sm"/>
          </a:ln>
        </p:spPr>
      </p:pic>
      <p:pic>
        <p:nvPicPr>
          <p:cNvPr id="497" name="Google Shape;497;g3f6efaed406_0_171" title="shield.png"/>
          <p:cNvPicPr preferRelativeResize="0"/>
          <p:nvPr/>
        </p:nvPicPr>
        <p:blipFill rotWithShape="1">
          <a:blip r:embed="rId10">
            <a:alphaModFix/>
          </a:blip>
          <a:srcRect t="10"/>
          <a:stretch/>
        </p:blipFill>
        <p:spPr>
          <a:xfrm>
            <a:off x="15205123" y="3613754"/>
            <a:ext cx="842938" cy="842825"/>
          </a:xfrm>
          <a:prstGeom prst="rect">
            <a:avLst/>
          </a:prstGeom>
          <a:noFill/>
          <a:ln>
            <a:noFill/>
          </a:ln>
        </p:spPr>
      </p:pic>
      <p:sp>
        <p:nvSpPr>
          <p:cNvPr id="498" name="Google Shape;498;g3f6efaed406_0_171"/>
          <p:cNvSpPr/>
          <p:nvPr/>
        </p:nvSpPr>
        <p:spPr>
          <a:xfrm>
            <a:off x="13827204" y="7239000"/>
            <a:ext cx="3598800" cy="2636400"/>
          </a:xfrm>
          <a:prstGeom prst="rect">
            <a:avLst/>
          </a:prstGeom>
          <a:noFill/>
          <a:ln>
            <a:noFill/>
          </a:ln>
        </p:spPr>
        <p:txBody>
          <a:bodyPr spcFirstLastPara="1" wrap="square" lIns="0" tIns="0" rIns="0" bIns="0" anchor="t" anchorCtr="0">
            <a:noAutofit/>
          </a:bodyPr>
          <a:lstStyle/>
          <a:p>
            <a:pPr marL="0" marR="0" lvl="0" indent="0" algn="ctr" rtl="0">
              <a:lnSpc>
                <a:spcPct val="135714"/>
              </a:lnSpc>
              <a:spcBef>
                <a:spcPts val="0"/>
              </a:spcBef>
              <a:spcAft>
                <a:spcPts val="0"/>
              </a:spcAft>
              <a:buClr>
                <a:schemeClr val="dk1"/>
              </a:buClr>
              <a:buSzPts val="1100"/>
              <a:buFont typeface="Arial"/>
              <a:buNone/>
            </a:pPr>
            <a:r>
              <a:rPr lang="pt-BR" sz="2600" b="0" i="0" u="none" strike="noStrike" cap="none">
                <a:solidFill>
                  <a:srgbClr val="666666"/>
                </a:solidFill>
                <a:latin typeface="Roboto"/>
                <a:ea typeface="Roboto"/>
                <a:cs typeface="Roboto"/>
                <a:sym typeface="Roboto"/>
              </a:rPr>
              <a:t>Erro, resposta cortada, saída vazia. E, quando existir, a nota do eval da Aula 2.</a:t>
            </a:r>
            <a:endParaRPr sz="2600" b="0" i="0" u="none" strike="noStrike" cap="none">
              <a:solidFill>
                <a:srgbClr val="666666"/>
              </a:solidFill>
              <a:latin typeface="Roboto"/>
              <a:ea typeface="Roboto"/>
              <a:cs typeface="Roboto"/>
              <a:sym typeface="Roboto"/>
            </a:endParaRPr>
          </a:p>
        </p:txBody>
      </p:sp>
      <p:pic>
        <p:nvPicPr>
          <p:cNvPr id="499" name="Google Shape;499;g3f6efaed406_0_171" descr=" "/>
          <p:cNvPicPr preferRelativeResize="0"/>
          <p:nvPr/>
        </p:nvPicPr>
        <p:blipFill rotWithShape="1">
          <a:blip r:embed="rId11">
            <a:alphaModFix/>
          </a:blip>
          <a:srcRect/>
          <a:stretch/>
        </p:blipFill>
        <p:spPr>
          <a:xfrm>
            <a:off x="18671334" y="5537200"/>
            <a:ext cx="5715714" cy="5537200"/>
          </a:xfrm>
          <a:prstGeom prst="rect">
            <a:avLst/>
          </a:prstGeom>
          <a:noFill/>
          <a:ln>
            <a:noFill/>
          </a:ln>
        </p:spPr>
      </p:pic>
      <p:sp>
        <p:nvSpPr>
          <p:cNvPr id="500" name="Google Shape;500;g3f6efaed406_0_171"/>
          <p:cNvSpPr/>
          <p:nvPr/>
        </p:nvSpPr>
        <p:spPr>
          <a:xfrm>
            <a:off x="2354634" y="702700"/>
            <a:ext cx="11867400" cy="14901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0C0C0E"/>
              </a:buClr>
              <a:buSzPts val="7600"/>
              <a:buFont typeface="Encode Sans"/>
              <a:buNone/>
            </a:pPr>
            <a:r>
              <a:rPr lang="pt-BR" sz="6400" b="0" i="0" u="none" strike="noStrike" cap="none">
                <a:solidFill>
                  <a:srgbClr val="0C0C0E"/>
                </a:solidFill>
                <a:latin typeface="Encode Sans SemiBold"/>
                <a:ea typeface="Encode Sans SemiBold"/>
                <a:cs typeface="Encode Sans SemiBold"/>
                <a:sym typeface="Encode Sans SemiBold"/>
              </a:rPr>
              <a:t>O que eu preciso gravar</a:t>
            </a:r>
            <a:endParaRPr sz="6400" b="0" i="0" u="none" strike="noStrike" cap="none">
              <a:solidFill>
                <a:schemeClr val="dk1"/>
              </a:solidFill>
              <a:latin typeface="Encode Sans SemiBold"/>
              <a:ea typeface="Encode Sans SemiBold"/>
              <a:cs typeface="Encode Sans SemiBold"/>
              <a:sym typeface="Encode Sans SemiBold"/>
            </a:endParaRPr>
          </a:p>
        </p:txBody>
      </p:sp>
      <p:sp>
        <p:nvSpPr>
          <p:cNvPr id="501" name="Google Shape;501;g3f6efaed406_0_171"/>
          <p:cNvSpPr/>
          <p:nvPr/>
        </p:nvSpPr>
        <p:spPr>
          <a:xfrm>
            <a:off x="2354625" y="1740325"/>
            <a:ext cx="13128600" cy="12708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26272C"/>
              </a:buClr>
              <a:buSzPts val="3600"/>
              <a:buFont typeface="Roboto"/>
              <a:buNone/>
            </a:pPr>
            <a:r>
              <a:rPr lang="pt-BR" sz="2500" b="0" i="0" u="none" strike="noStrike" cap="none">
                <a:solidFill>
                  <a:srgbClr val="7B7F8E"/>
                </a:solidFill>
                <a:latin typeface="Roboto"/>
                <a:ea typeface="Roboto"/>
                <a:cs typeface="Roboto"/>
                <a:sym typeface="Roboto"/>
              </a:rPr>
              <a:t>De cada interação, três coisas. Sem elas, não dá pra reconstruir.</a:t>
            </a:r>
            <a:endParaRPr sz="2500" b="0" i="0" u="none" strike="noStrike" cap="none">
              <a:solidFill>
                <a:srgbClr val="7B7F8E"/>
              </a:solidFill>
              <a:latin typeface="Roboto"/>
              <a:ea typeface="Roboto"/>
              <a:cs typeface="Roboto"/>
              <a:sym typeface="Roboto"/>
            </a:endParaRPr>
          </a:p>
        </p:txBody>
      </p:sp>
      <p:pic>
        <p:nvPicPr>
          <p:cNvPr id="502" name="Google Shape;502;g3f6efaed406_0_171" descr="Ícone&#10;&#10;O conteúdo gerado por IA pode estar incorreto."/>
          <p:cNvPicPr preferRelativeResize="0"/>
          <p:nvPr/>
        </p:nvPicPr>
        <p:blipFill rotWithShape="1">
          <a:blip r:embed="rId12">
            <a:alphaModFix/>
          </a:blip>
          <a:srcRect/>
          <a:stretch/>
        </p:blipFill>
        <p:spPr>
          <a:xfrm>
            <a:off x="-2202249" y="-8621"/>
            <a:ext cx="1568332" cy="10010052"/>
          </a:xfrm>
          <a:prstGeom prst="rect">
            <a:avLst/>
          </a:prstGeom>
          <a:noFill/>
          <a:ln>
            <a:noFill/>
          </a:ln>
        </p:spPr>
      </p:pic>
      <p:sp>
        <p:nvSpPr>
          <p:cNvPr id="503" name="Google Shape;503;g3f6efaed406_0_171"/>
          <p:cNvSpPr/>
          <p:nvPr/>
        </p:nvSpPr>
        <p:spPr>
          <a:xfrm>
            <a:off x="3523291" y="4696832"/>
            <a:ext cx="2537700" cy="593100"/>
          </a:xfrm>
          <a:prstGeom prst="rect">
            <a:avLst/>
          </a:prstGeom>
          <a:noFill/>
          <a:ln>
            <a:noFill/>
          </a:ln>
        </p:spPr>
        <p:txBody>
          <a:bodyPr spcFirstLastPara="1" wrap="square" lIns="0" tIns="0" rIns="0" bIns="0" anchor="ctr" anchorCtr="0">
            <a:noAutofit/>
          </a:bodyPr>
          <a:lstStyle/>
          <a:p>
            <a:pPr marL="0" marR="0" lvl="0" indent="0" algn="ctr" rtl="0">
              <a:lnSpc>
                <a:spcPct val="121052"/>
              </a:lnSpc>
              <a:spcBef>
                <a:spcPts val="0"/>
              </a:spcBef>
              <a:spcAft>
                <a:spcPts val="0"/>
              </a:spcAft>
              <a:buClr>
                <a:srgbClr val="0C0C0E"/>
              </a:buClr>
              <a:buSzPts val="7600"/>
              <a:buFont typeface="Encode Sans"/>
              <a:buNone/>
            </a:pPr>
            <a:r>
              <a:rPr lang="en-US" sz="3000" b="0" i="0" u="none" strike="noStrike" cap="none">
                <a:solidFill>
                  <a:schemeClr val="dk1"/>
                </a:solidFill>
                <a:latin typeface="Encode Sans SemiBold"/>
                <a:ea typeface="Encode Sans SemiBold"/>
                <a:cs typeface="Encode Sans SemiBold"/>
                <a:sym typeface="Encode Sans SemiBold"/>
              </a:rPr>
              <a:t>O caminho</a:t>
            </a:r>
            <a:endParaRPr sz="3000" b="0" i="0" u="none" strike="noStrike" cap="none">
              <a:solidFill>
                <a:schemeClr val="dk1"/>
              </a:solidFill>
              <a:latin typeface="Encode Sans SemiBold"/>
              <a:ea typeface="Encode Sans SemiBold"/>
              <a:cs typeface="Encode Sans SemiBold"/>
              <a:sym typeface="Encode Sans SemiBold"/>
            </a:endParaRPr>
          </a:p>
        </p:txBody>
      </p:sp>
      <p:sp>
        <p:nvSpPr>
          <p:cNvPr id="504" name="Google Shape;504;g3f6efaed406_0_171"/>
          <p:cNvSpPr/>
          <p:nvPr/>
        </p:nvSpPr>
        <p:spPr>
          <a:xfrm>
            <a:off x="8713282" y="4696832"/>
            <a:ext cx="3154800" cy="593100"/>
          </a:xfrm>
          <a:prstGeom prst="rect">
            <a:avLst/>
          </a:prstGeom>
          <a:noFill/>
          <a:ln>
            <a:noFill/>
          </a:ln>
        </p:spPr>
        <p:txBody>
          <a:bodyPr spcFirstLastPara="1" wrap="square" lIns="0" tIns="0" rIns="0" bIns="0" anchor="ctr" anchorCtr="0">
            <a:noAutofit/>
          </a:bodyPr>
          <a:lstStyle/>
          <a:p>
            <a:pPr marL="0" marR="0" lvl="0" indent="0" algn="ctr" rtl="0">
              <a:lnSpc>
                <a:spcPct val="121052"/>
              </a:lnSpc>
              <a:spcBef>
                <a:spcPts val="0"/>
              </a:spcBef>
              <a:spcAft>
                <a:spcPts val="0"/>
              </a:spcAft>
              <a:buClr>
                <a:srgbClr val="0C0C0E"/>
              </a:buClr>
              <a:buSzPts val="7600"/>
              <a:buFont typeface="Encode Sans"/>
              <a:buNone/>
            </a:pPr>
            <a:r>
              <a:rPr lang="en-US" sz="3000" b="0" i="0" u="none" strike="noStrike" cap="none">
                <a:solidFill>
                  <a:schemeClr val="dk1"/>
                </a:solidFill>
                <a:latin typeface="Encode Sans SemiBold"/>
                <a:ea typeface="Encode Sans SemiBold"/>
                <a:cs typeface="Encode Sans SemiBold"/>
                <a:sym typeface="Encode Sans SemiBold"/>
              </a:rPr>
              <a:t>A conta</a:t>
            </a:r>
            <a:endParaRPr sz="3000" b="0" i="0" u="none" strike="noStrike" cap="none">
              <a:solidFill>
                <a:schemeClr val="dk1"/>
              </a:solidFill>
              <a:latin typeface="Encode Sans SemiBold"/>
              <a:ea typeface="Encode Sans SemiBold"/>
              <a:cs typeface="Encode Sans SemiBold"/>
              <a:sym typeface="Encode Sans SemiBold"/>
            </a:endParaRPr>
          </a:p>
        </p:txBody>
      </p:sp>
      <p:sp>
        <p:nvSpPr>
          <p:cNvPr id="505" name="Google Shape;505;g3f6efaed406_0_171"/>
          <p:cNvSpPr/>
          <p:nvPr/>
        </p:nvSpPr>
        <p:spPr>
          <a:xfrm>
            <a:off x="14357741" y="4696832"/>
            <a:ext cx="2537700" cy="593100"/>
          </a:xfrm>
          <a:prstGeom prst="rect">
            <a:avLst/>
          </a:prstGeom>
          <a:noFill/>
          <a:ln>
            <a:noFill/>
          </a:ln>
        </p:spPr>
        <p:txBody>
          <a:bodyPr spcFirstLastPara="1" wrap="square" lIns="0" tIns="0" rIns="0" bIns="0" anchor="ctr" anchorCtr="0">
            <a:noAutofit/>
          </a:bodyPr>
          <a:lstStyle/>
          <a:p>
            <a:pPr marL="0" marR="0" lvl="0" indent="0" algn="ctr" rtl="0">
              <a:lnSpc>
                <a:spcPct val="121052"/>
              </a:lnSpc>
              <a:spcBef>
                <a:spcPts val="0"/>
              </a:spcBef>
              <a:spcAft>
                <a:spcPts val="0"/>
              </a:spcAft>
              <a:buClr>
                <a:srgbClr val="0C0C0E"/>
              </a:buClr>
              <a:buSzPts val="7600"/>
              <a:buFont typeface="Encode Sans"/>
              <a:buNone/>
            </a:pPr>
            <a:r>
              <a:rPr lang="en-US" sz="3000" b="0" i="0" u="none" strike="noStrike" cap="none">
                <a:solidFill>
                  <a:srgbClr val="0C0C0E"/>
                </a:solidFill>
                <a:latin typeface="Encode Sans SemiBold"/>
                <a:ea typeface="Encode Sans SemiBold"/>
                <a:cs typeface="Encode Sans SemiBold"/>
                <a:sym typeface="Encode Sans SemiBold"/>
              </a:rPr>
              <a:t>O desfecho</a:t>
            </a:r>
            <a:endParaRPr sz="3000" b="0" i="0" u="none" strike="noStrike" cap="none">
              <a:solidFill>
                <a:schemeClr val="dk1"/>
              </a:solidFill>
              <a:latin typeface="Encode Sans SemiBold"/>
              <a:ea typeface="Encode Sans SemiBold"/>
              <a:cs typeface="Encode Sans SemiBold"/>
              <a:sym typeface="Encode Sans SemiBold"/>
            </a:endParaRPr>
          </a:p>
        </p:txBody>
      </p:sp>
      <p:sp>
        <p:nvSpPr>
          <p:cNvPr id="506" name="Google Shape;506;g3f6efaed406_0_171"/>
          <p:cNvSpPr/>
          <p:nvPr/>
        </p:nvSpPr>
        <p:spPr>
          <a:xfrm>
            <a:off x="2432646" y="5289932"/>
            <a:ext cx="4679100" cy="1270800"/>
          </a:xfrm>
          <a:prstGeom prst="rect">
            <a:avLst/>
          </a:prstGeom>
          <a:noFill/>
          <a:ln>
            <a:noFill/>
          </a:ln>
        </p:spPr>
        <p:txBody>
          <a:bodyPr spcFirstLastPara="1" wrap="square" lIns="0" tIns="0" rIns="0" bIns="0" anchor="ctr" anchorCtr="0">
            <a:noAutofit/>
          </a:bodyPr>
          <a:lstStyle/>
          <a:p>
            <a:pPr marL="0" marR="0" lvl="0" indent="0" algn="ctr" rtl="0">
              <a:lnSpc>
                <a:spcPct val="116666"/>
              </a:lnSpc>
              <a:spcBef>
                <a:spcPts val="0"/>
              </a:spcBef>
              <a:spcAft>
                <a:spcPts val="0"/>
              </a:spcAft>
              <a:buClr>
                <a:srgbClr val="26272C"/>
              </a:buClr>
              <a:buSzPts val="3600"/>
              <a:buFont typeface="Roboto"/>
              <a:buNone/>
            </a:pPr>
            <a:r>
              <a:rPr lang="pt-BR" sz="2400" b="0" i="0" u="none" strike="noStrike" cap="none">
                <a:solidFill>
                  <a:srgbClr val="2563EB"/>
                </a:solidFill>
                <a:latin typeface="Roboto"/>
                <a:ea typeface="Roboto"/>
                <a:cs typeface="Roboto"/>
                <a:sym typeface="Roboto"/>
              </a:rPr>
              <a:t>O que ele fez antes de responder?</a:t>
            </a:r>
            <a:endParaRPr sz="2400" b="0" i="0" u="none" strike="noStrike" cap="none">
              <a:solidFill>
                <a:srgbClr val="2563EB"/>
              </a:solidFill>
              <a:latin typeface="Roboto"/>
              <a:ea typeface="Roboto"/>
              <a:cs typeface="Roboto"/>
              <a:sym typeface="Roboto"/>
            </a:endParaRPr>
          </a:p>
        </p:txBody>
      </p:sp>
      <p:sp>
        <p:nvSpPr>
          <p:cNvPr id="507" name="Google Shape;507;g3f6efaed406_0_171"/>
          <p:cNvSpPr/>
          <p:nvPr/>
        </p:nvSpPr>
        <p:spPr>
          <a:xfrm>
            <a:off x="7869816" y="5289932"/>
            <a:ext cx="4679100" cy="1270800"/>
          </a:xfrm>
          <a:prstGeom prst="rect">
            <a:avLst/>
          </a:prstGeom>
          <a:noFill/>
          <a:ln>
            <a:noFill/>
          </a:ln>
        </p:spPr>
        <p:txBody>
          <a:bodyPr spcFirstLastPara="1" wrap="square" lIns="0" tIns="0" rIns="0" bIns="0" anchor="ctr" anchorCtr="0">
            <a:noAutofit/>
          </a:bodyPr>
          <a:lstStyle/>
          <a:p>
            <a:pPr marL="0" marR="0" lvl="0" indent="0" algn="ctr" rtl="0">
              <a:lnSpc>
                <a:spcPct val="116666"/>
              </a:lnSpc>
              <a:spcBef>
                <a:spcPts val="0"/>
              </a:spcBef>
              <a:spcAft>
                <a:spcPts val="0"/>
              </a:spcAft>
              <a:buClr>
                <a:srgbClr val="26272C"/>
              </a:buClr>
              <a:buSzPts val="3600"/>
              <a:buFont typeface="Roboto"/>
              <a:buNone/>
            </a:pPr>
            <a:r>
              <a:rPr lang="pt-BR" sz="2400" b="0" i="0" u="none" strike="noStrike" cap="none">
                <a:solidFill>
                  <a:srgbClr val="059669"/>
                </a:solidFill>
                <a:latin typeface="Roboto"/>
                <a:ea typeface="Roboto"/>
                <a:cs typeface="Roboto"/>
                <a:sym typeface="Roboto"/>
              </a:rPr>
              <a:t>Quanto custou e quanto tempo levou?</a:t>
            </a:r>
            <a:endParaRPr sz="2400" b="0" i="0" u="none" strike="noStrike" cap="none">
              <a:solidFill>
                <a:srgbClr val="059669"/>
              </a:solidFill>
              <a:latin typeface="Roboto"/>
              <a:ea typeface="Roboto"/>
              <a:cs typeface="Roboto"/>
              <a:sym typeface="Roboto"/>
            </a:endParaRPr>
          </a:p>
        </p:txBody>
      </p:sp>
      <p:sp>
        <p:nvSpPr>
          <p:cNvPr id="508" name="Google Shape;508;g3f6efaed406_0_171"/>
          <p:cNvSpPr/>
          <p:nvPr/>
        </p:nvSpPr>
        <p:spPr>
          <a:xfrm>
            <a:off x="13287033" y="5289932"/>
            <a:ext cx="4679100" cy="1270800"/>
          </a:xfrm>
          <a:prstGeom prst="rect">
            <a:avLst/>
          </a:prstGeom>
          <a:noFill/>
          <a:ln>
            <a:noFill/>
          </a:ln>
        </p:spPr>
        <p:txBody>
          <a:bodyPr spcFirstLastPara="1" wrap="square" lIns="0" tIns="0" rIns="0" bIns="0" anchor="ctr" anchorCtr="0">
            <a:noAutofit/>
          </a:bodyPr>
          <a:lstStyle/>
          <a:p>
            <a:pPr marL="0" marR="0" lvl="0" indent="0" algn="ctr" rtl="0">
              <a:lnSpc>
                <a:spcPct val="116666"/>
              </a:lnSpc>
              <a:spcBef>
                <a:spcPts val="0"/>
              </a:spcBef>
              <a:spcAft>
                <a:spcPts val="0"/>
              </a:spcAft>
              <a:buClr>
                <a:srgbClr val="26272C"/>
              </a:buClr>
              <a:buSzPts val="3600"/>
              <a:buFont typeface="Roboto"/>
              <a:buNone/>
            </a:pPr>
            <a:r>
              <a:rPr lang="pt-BR" sz="2400" b="0" i="0" u="none" strike="noStrike" cap="none">
                <a:solidFill>
                  <a:srgbClr val="7C3AED"/>
                </a:solidFill>
                <a:latin typeface="Roboto"/>
                <a:ea typeface="Roboto"/>
                <a:cs typeface="Roboto"/>
                <a:sym typeface="Roboto"/>
              </a:rPr>
              <a:t>Terminou inteira, cortada ou com erro?</a:t>
            </a:r>
            <a:endParaRPr sz="2400" b="0" i="0" u="none" strike="noStrike" cap="none">
              <a:solidFill>
                <a:srgbClr val="7C3AED"/>
              </a:solidFill>
              <a:latin typeface="Roboto"/>
              <a:ea typeface="Roboto"/>
              <a:cs typeface="Roboto"/>
              <a:sym typeface="Roboto"/>
            </a:endParaRPr>
          </a:p>
        </p:txBody>
      </p:sp>
      <p:cxnSp>
        <p:nvCxnSpPr>
          <p:cNvPr id="509" name="Google Shape;509;g3f6efaed406_0_171"/>
          <p:cNvCxnSpPr/>
          <p:nvPr/>
        </p:nvCxnSpPr>
        <p:spPr>
          <a:xfrm>
            <a:off x="2947441" y="6836714"/>
            <a:ext cx="3689400" cy="0"/>
          </a:xfrm>
          <a:prstGeom prst="straightConnector1">
            <a:avLst/>
          </a:prstGeom>
          <a:noFill/>
          <a:ln w="19050" cap="flat" cmpd="sng">
            <a:solidFill>
              <a:srgbClr val="868998"/>
            </a:solidFill>
            <a:prstDash val="solid"/>
            <a:round/>
            <a:headEnd type="none" w="sm" len="sm"/>
            <a:tailEnd type="none" w="sm" len="sm"/>
          </a:ln>
        </p:spPr>
      </p:cxnSp>
      <p:cxnSp>
        <p:nvCxnSpPr>
          <p:cNvPr id="510" name="Google Shape;510;g3f6efaed406_0_171"/>
          <p:cNvCxnSpPr/>
          <p:nvPr/>
        </p:nvCxnSpPr>
        <p:spPr>
          <a:xfrm>
            <a:off x="8364654" y="6836714"/>
            <a:ext cx="3689400" cy="0"/>
          </a:xfrm>
          <a:prstGeom prst="straightConnector1">
            <a:avLst/>
          </a:prstGeom>
          <a:noFill/>
          <a:ln w="19050" cap="flat" cmpd="sng">
            <a:solidFill>
              <a:srgbClr val="868998"/>
            </a:solidFill>
            <a:prstDash val="solid"/>
            <a:round/>
            <a:headEnd type="none" w="sm" len="sm"/>
            <a:tailEnd type="none" w="sm" len="sm"/>
          </a:ln>
        </p:spPr>
      </p:cxnSp>
      <p:cxnSp>
        <p:nvCxnSpPr>
          <p:cNvPr id="511" name="Google Shape;511;g3f6efaed406_0_171"/>
          <p:cNvCxnSpPr/>
          <p:nvPr/>
        </p:nvCxnSpPr>
        <p:spPr>
          <a:xfrm>
            <a:off x="13781891" y="6836714"/>
            <a:ext cx="3689400" cy="0"/>
          </a:xfrm>
          <a:prstGeom prst="straightConnector1">
            <a:avLst/>
          </a:prstGeom>
          <a:noFill/>
          <a:ln w="19050" cap="flat" cmpd="sng">
            <a:solidFill>
              <a:srgbClr val="868998"/>
            </a:solidFill>
            <a:prstDash val="solid"/>
            <a:round/>
            <a:headEnd type="none" w="sm" len="sm"/>
            <a:tailEnd type="none" w="sm" len="sm"/>
          </a:ln>
        </p:spPr>
      </p:cxnSp>
      <p:sp>
        <p:nvSpPr>
          <p:cNvPr id="512" name="Google Shape;512;g3f6efaed406_0_171"/>
          <p:cNvSpPr/>
          <p:nvPr/>
        </p:nvSpPr>
        <p:spPr>
          <a:xfrm>
            <a:off x="2539141" y="11163907"/>
            <a:ext cx="4506000" cy="1710000"/>
          </a:xfrm>
          <a:prstGeom prst="roundRect">
            <a:avLst>
              <a:gd name="adj" fmla="val 16667"/>
            </a:avLst>
          </a:prstGeom>
          <a:solidFill>
            <a:srgbClr val="E1E7F2"/>
          </a:solidFill>
          <a:ln w="9525" cap="flat" cmpd="sng">
            <a:solidFill>
              <a:srgbClr val="E2E2E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3" name="Google Shape;513;g3f6efaed406_0_171"/>
          <p:cNvSpPr/>
          <p:nvPr/>
        </p:nvSpPr>
        <p:spPr>
          <a:xfrm>
            <a:off x="7956366" y="11163907"/>
            <a:ext cx="4506000" cy="1710000"/>
          </a:xfrm>
          <a:prstGeom prst="roundRect">
            <a:avLst>
              <a:gd name="adj" fmla="val 16667"/>
            </a:avLst>
          </a:prstGeom>
          <a:solidFill>
            <a:srgbClr val="E4EEE9"/>
          </a:solidFill>
          <a:ln w="9525" cap="flat" cmpd="sng">
            <a:solidFill>
              <a:srgbClr val="E2E2E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4" name="Google Shape;514;g3f6efaed406_0_171"/>
          <p:cNvSpPr/>
          <p:nvPr/>
        </p:nvSpPr>
        <p:spPr>
          <a:xfrm>
            <a:off x="13373591" y="11163907"/>
            <a:ext cx="4506000" cy="1710000"/>
          </a:xfrm>
          <a:prstGeom prst="roundRect">
            <a:avLst>
              <a:gd name="adj" fmla="val 16667"/>
            </a:avLst>
          </a:prstGeom>
          <a:solidFill>
            <a:srgbClr val="EAE7F3"/>
          </a:solidFill>
          <a:ln w="9525" cap="flat" cmpd="sng">
            <a:solidFill>
              <a:srgbClr val="E2E2E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5" name="Google Shape;515;g3f6efaed406_0_171"/>
          <p:cNvSpPr txBox="1"/>
          <p:nvPr/>
        </p:nvSpPr>
        <p:spPr>
          <a:xfrm>
            <a:off x="3781525" y="11383500"/>
            <a:ext cx="2748600" cy="1270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pt-BR" sz="1800" b="1" i="0" u="none" strike="noStrike" cap="none">
                <a:solidFill>
                  <a:srgbClr val="000000"/>
                </a:solidFill>
                <a:latin typeface="Roboto"/>
                <a:ea typeface="Roboto"/>
                <a:cs typeface="Roboto"/>
                <a:sym typeface="Roboto"/>
              </a:rPr>
              <a:t>Ex.:</a:t>
            </a:r>
          </a:p>
          <a:p>
            <a:pPr marL="0" marR="0" lvl="0" indent="0" algn="l" rtl="0">
              <a:lnSpc>
                <a:spcPct val="100000"/>
              </a:lnSpc>
              <a:spcBef>
                <a:spcPts val="0"/>
              </a:spcBef>
              <a:spcAft>
                <a:spcPts val="0"/>
              </a:spcAft>
              <a:buClr>
                <a:srgbClr val="000000"/>
              </a:buClr>
              <a:buSzPts val="1800"/>
              <a:buFont typeface="Arial"/>
              <a:buNone/>
            </a:pPr>
            <a:r>
              <a:rPr lang="pt-BR" sz="1800" b="1" i="0" u="none" strike="noStrike" cap="none">
                <a:solidFill>
                  <a:srgbClr val="000000"/>
                </a:solidFill>
                <a:latin typeface="Roboto"/>
                <a:ea typeface="Roboto"/>
                <a:cs typeface="Roboto"/>
                <a:sym typeface="Roboto"/>
              </a:rPr>
              <a:t>consultou estoque, validade e orçamento.</a:t>
            </a:r>
            <a:endParaRPr sz="1800" b="0" i="0" u="none" strike="noStrike" cap="none">
              <a:solidFill>
                <a:srgbClr val="000000"/>
              </a:solidFill>
              <a:latin typeface="Roboto ExtraLight"/>
              <a:ea typeface="Roboto ExtraLight"/>
              <a:cs typeface="Roboto ExtraLight"/>
              <a:sym typeface="Roboto ExtraLight"/>
            </a:endParaRPr>
          </a:p>
        </p:txBody>
      </p:sp>
      <p:sp>
        <p:nvSpPr>
          <p:cNvPr id="516" name="Google Shape;516;g3f6efaed406_0_171"/>
          <p:cNvSpPr txBox="1"/>
          <p:nvPr/>
        </p:nvSpPr>
        <p:spPr>
          <a:xfrm>
            <a:off x="9305450" y="11383500"/>
            <a:ext cx="2748600" cy="1270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pt-BR" sz="1800" b="1" i="0" u="none" strike="noStrike" cap="none">
                <a:solidFill>
                  <a:srgbClr val="000000"/>
                </a:solidFill>
                <a:latin typeface="Roboto"/>
                <a:ea typeface="Roboto"/>
                <a:cs typeface="Roboto"/>
                <a:sym typeface="Roboto"/>
              </a:rPr>
              <a:t>Ex.:</a:t>
            </a:r>
          </a:p>
          <a:p>
            <a:pPr marL="0" marR="0" lvl="0" indent="0" algn="l" rtl="0">
              <a:lnSpc>
                <a:spcPct val="100000"/>
              </a:lnSpc>
              <a:spcBef>
                <a:spcPts val="0"/>
              </a:spcBef>
              <a:spcAft>
                <a:spcPts val="0"/>
              </a:spcAft>
              <a:buClr>
                <a:srgbClr val="000000"/>
              </a:buClr>
              <a:buSzPts val="1800"/>
              <a:buFont typeface="Arial"/>
              <a:buNone/>
            </a:pPr>
            <a:r>
              <a:rPr lang="pt-BR" sz="1800" b="1" i="0" u="none" strike="noStrike" cap="none">
                <a:solidFill>
                  <a:srgbClr val="000000"/>
                </a:solidFill>
                <a:latin typeface="Roboto"/>
                <a:ea typeface="Roboto"/>
                <a:cs typeface="Roboto"/>
                <a:sym typeface="Roboto"/>
              </a:rPr>
              <a:t>14 centavos e 56 segundos por mediação.</a:t>
            </a:r>
            <a:endParaRPr sz="1800" b="0" i="0" u="none" strike="noStrike" cap="none">
              <a:solidFill>
                <a:srgbClr val="000000"/>
              </a:solidFill>
              <a:latin typeface="Roboto"/>
              <a:ea typeface="Roboto"/>
              <a:cs typeface="Roboto"/>
              <a:sym typeface="Roboto"/>
            </a:endParaRPr>
          </a:p>
        </p:txBody>
      </p:sp>
      <p:sp>
        <p:nvSpPr>
          <p:cNvPr id="517" name="Google Shape;517;g3f6efaed406_0_171"/>
          <p:cNvSpPr txBox="1"/>
          <p:nvPr/>
        </p:nvSpPr>
        <p:spPr>
          <a:xfrm>
            <a:off x="14722688" y="11383500"/>
            <a:ext cx="2748600" cy="1270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pt-BR" sz="1800" b="1" i="0" u="none" strike="noStrike" cap="none">
                <a:solidFill>
                  <a:srgbClr val="000000"/>
                </a:solidFill>
                <a:latin typeface="Roboto"/>
                <a:ea typeface="Roboto"/>
                <a:cs typeface="Roboto"/>
                <a:sym typeface="Roboto"/>
              </a:rPr>
              <a:t>Ex.:</a:t>
            </a:r>
          </a:p>
          <a:p>
            <a:pPr marL="0" marR="0" lvl="0" indent="0" algn="l" rtl="0">
              <a:lnSpc>
                <a:spcPct val="100000"/>
              </a:lnSpc>
              <a:spcBef>
                <a:spcPts val="0"/>
              </a:spcBef>
              <a:spcAft>
                <a:spcPts val="0"/>
              </a:spcAft>
              <a:buClr>
                <a:srgbClr val="000000"/>
              </a:buClr>
              <a:buSzPts val="1800"/>
              <a:buFont typeface="Arial"/>
              <a:buNone/>
            </a:pPr>
            <a:r>
              <a:rPr lang="pt-BR" sz="1800" b="1" i="0" u="none" strike="noStrike" cap="none">
                <a:solidFill>
                  <a:srgbClr val="000000"/>
                </a:solidFill>
                <a:latin typeface="Roboto"/>
                <a:ea typeface="Roboto"/>
                <a:cs typeface="Roboto"/>
                <a:sym typeface="Roboto"/>
              </a:rPr>
              <a:t>2.048 tokens de saída: bateu no teto.</a:t>
            </a:r>
            <a:endParaRPr sz="1800" b="0" i="0" u="none" strike="noStrike" cap="none">
              <a:solidFill>
                <a:srgbClr val="000000"/>
              </a:solidFill>
              <a:latin typeface="Roboto ExtraLight"/>
              <a:ea typeface="Roboto ExtraLight"/>
              <a:cs typeface="Roboto ExtraLight"/>
              <a:sym typeface="Roboto ExtraLight"/>
            </a:endParaRPr>
          </a:p>
        </p:txBody>
      </p:sp>
      <p:pic>
        <p:nvPicPr>
          <p:cNvPr id="518" name="Google Shape;518;g3f6efaed406_0_171" title="light-bulb (1).png"/>
          <p:cNvPicPr preferRelativeResize="0"/>
          <p:nvPr/>
        </p:nvPicPr>
        <p:blipFill rotWithShape="1">
          <a:blip r:embed="rId13">
            <a:alphaModFix/>
          </a:blip>
          <a:srcRect/>
          <a:stretch/>
        </p:blipFill>
        <p:spPr>
          <a:xfrm>
            <a:off x="2947450" y="11622125"/>
            <a:ext cx="593100" cy="593100"/>
          </a:xfrm>
          <a:prstGeom prst="rect">
            <a:avLst/>
          </a:prstGeom>
          <a:noFill/>
          <a:ln>
            <a:noFill/>
          </a:ln>
        </p:spPr>
      </p:pic>
      <p:pic>
        <p:nvPicPr>
          <p:cNvPr id="519" name="Google Shape;519;g3f6efaed406_0_171" title="eye.png"/>
          <p:cNvPicPr preferRelativeResize="0"/>
          <p:nvPr/>
        </p:nvPicPr>
        <p:blipFill rotWithShape="1">
          <a:blip r:embed="rId14">
            <a:alphaModFix/>
          </a:blip>
          <a:srcRect/>
          <a:stretch/>
        </p:blipFill>
        <p:spPr>
          <a:xfrm>
            <a:off x="8445950" y="11665500"/>
            <a:ext cx="593100" cy="593100"/>
          </a:xfrm>
          <a:prstGeom prst="rect">
            <a:avLst/>
          </a:prstGeom>
          <a:noFill/>
          <a:ln>
            <a:noFill/>
          </a:ln>
        </p:spPr>
      </p:pic>
      <p:pic>
        <p:nvPicPr>
          <p:cNvPr id="520" name="Google Shape;520;g3f6efaed406_0_171" title="padlock.png"/>
          <p:cNvPicPr preferRelativeResize="0"/>
          <p:nvPr/>
        </p:nvPicPr>
        <p:blipFill rotWithShape="1">
          <a:blip r:embed="rId15">
            <a:alphaModFix/>
          </a:blip>
          <a:srcRect/>
          <a:stretch/>
        </p:blipFill>
        <p:spPr>
          <a:xfrm>
            <a:off x="13781900" y="11622125"/>
            <a:ext cx="593100" cy="593100"/>
          </a:xfrm>
          <a:prstGeom prst="rect">
            <a:avLst/>
          </a:prstGeom>
          <a:noFill/>
          <a:ln>
            <a:noFill/>
          </a:ln>
        </p:spPr>
      </p:pic>
    </p:spTree>
    <p:extLst>
      <p:ext uri="{BB962C8B-B14F-4D97-AF65-F5344CB8AC3E}">
        <p14:creationId xmlns:p14="http://schemas.microsoft.com/office/powerpoint/2010/main" val="755715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Nenhuma chamada da IA sem rastro.</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35665510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Desligar o rastro não quebra o produto.</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2614467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g3f3de5a4e7f_0_43"/>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 name="Google Shape;527;g3f3de5a4e7f_0_43"/>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8" name="Google Shape;528;g3f3de5a4e7f_0_43" descr=" "/>
          <p:cNvPicPr preferRelativeResize="0"/>
          <p:nvPr/>
        </p:nvPicPr>
        <p:blipFill rotWithShape="1">
          <a:blip r:embed="rId3">
            <a:alphaModFix/>
          </a:blip>
          <a:srcRect/>
          <a:stretch/>
        </p:blipFill>
        <p:spPr>
          <a:xfrm>
            <a:off x="23433139" y="406400"/>
            <a:ext cx="476942" cy="593018"/>
          </a:xfrm>
          <a:prstGeom prst="rect">
            <a:avLst/>
          </a:prstGeom>
          <a:noFill/>
          <a:ln>
            <a:noFill/>
          </a:ln>
        </p:spPr>
      </p:pic>
      <p:sp>
        <p:nvSpPr>
          <p:cNvPr id="529" name="Google Shape;529;g3f3de5a4e7f_0_43"/>
          <p:cNvSpPr/>
          <p:nvPr/>
        </p:nvSpPr>
        <p:spPr>
          <a:xfrm>
            <a:off x="7214502" y="5156200"/>
            <a:ext cx="10402500" cy="38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200"/>
              <a:buFont typeface="Encode Sans"/>
              <a:buNone/>
            </a:pPr>
            <a:r>
              <a:rPr lang="pt-BR" sz="10200" b="0" i="0" u="none" strike="noStrike" cap="none">
                <a:solidFill>
                  <a:srgbClr val="FFFFFF"/>
                </a:solidFill>
                <a:latin typeface="Encode Sans"/>
                <a:ea typeface="Encode Sans"/>
                <a:cs typeface="Encode Sans"/>
                <a:sym typeface="Encode Sans"/>
              </a:rPr>
              <a:t>3.2 Conhecendo o Langfuse</a:t>
            </a:r>
            <a:endParaRPr sz="10200" b="0" i="0" u="none" strike="noStrike" cap="none">
              <a:solidFill>
                <a:schemeClr val="dk1"/>
              </a:solidFill>
              <a:latin typeface="Encode Sans"/>
              <a:ea typeface="Encode Sans"/>
              <a:cs typeface="Encode Sans"/>
              <a:sym typeface="Encode Sans"/>
            </a:endParaRPr>
          </a:p>
        </p:txBody>
      </p:sp>
      <p:pic>
        <p:nvPicPr>
          <p:cNvPr id="530" name="Google Shape;530;g3f3de5a4e7f_0_43" descr="Ícone&#10;&#10;O conteúdo gerado por IA pode estar incorreto."/>
          <p:cNvPicPr preferRelativeResize="0"/>
          <p:nvPr/>
        </p:nvPicPr>
        <p:blipFill rotWithShape="1">
          <a:blip r:embed="rId4">
            <a:alphaModFix/>
          </a:blip>
          <a:srcRect/>
          <a:stretch/>
        </p:blipFill>
        <p:spPr>
          <a:xfrm>
            <a:off x="25140419" y="-144842"/>
            <a:ext cx="1568332" cy="10010052"/>
          </a:xfrm>
          <a:prstGeom prst="rect">
            <a:avLst/>
          </a:prstGeom>
          <a:noFill/>
          <a:ln>
            <a:noFill/>
          </a:ln>
        </p:spPr>
      </p:pic>
    </p:spTree>
    <p:extLst>
      <p:ext uri="{BB962C8B-B14F-4D97-AF65-F5344CB8AC3E}">
        <p14:creationId xmlns:p14="http://schemas.microsoft.com/office/powerpoint/2010/main" val="1519148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g3f8342f7686_0_102"/>
          <p:cNvSpPr/>
          <p:nvPr/>
        </p:nvSpPr>
        <p:spPr>
          <a:xfrm>
            <a:off x="2426003" y="3149600"/>
            <a:ext cx="9983400" cy="7416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5" name="Google Shape;595;g3f8342f7686_0_102"/>
          <p:cNvSpPr/>
          <p:nvPr/>
        </p:nvSpPr>
        <p:spPr>
          <a:xfrm>
            <a:off x="2426003" y="3149600"/>
            <a:ext cx="11159400" cy="26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DBFC7"/>
              </a:buClr>
              <a:buSzPts val="8800"/>
              <a:buFont typeface="Encode Sans"/>
              <a:buNone/>
            </a:pPr>
            <a:r>
              <a:rPr lang="pt-BR" sz="8800" b="0" i="0" u="none" strike="noStrike" cap="none">
                <a:solidFill>
                  <a:srgbClr val="BDBFC7"/>
                </a:solidFill>
                <a:latin typeface="Encode Sans"/>
                <a:ea typeface="Encode Sans"/>
                <a:cs typeface="Encode Sans"/>
                <a:sym typeface="Encode Sans"/>
              </a:rPr>
              <a:t>Onde o rastro vai morar</a:t>
            </a:r>
            <a:endParaRPr sz="8800" b="0" i="0" u="none" strike="noStrike" cap="none">
              <a:solidFill>
                <a:schemeClr val="dk1"/>
              </a:solidFill>
              <a:latin typeface="Encode Sans"/>
              <a:ea typeface="Encode Sans"/>
              <a:cs typeface="Encode Sans"/>
              <a:sym typeface="Encode Sans"/>
            </a:endParaRPr>
          </a:p>
        </p:txBody>
      </p:sp>
      <p:sp>
        <p:nvSpPr>
          <p:cNvPr id="596" name="Google Shape;596;g3f8342f7686_0_102"/>
          <p:cNvSpPr/>
          <p:nvPr/>
        </p:nvSpPr>
        <p:spPr>
          <a:xfrm>
            <a:off x="2426003" y="6502400"/>
            <a:ext cx="9983400" cy="4064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7" name="Google Shape;597;g3f8342f7686_0_102"/>
          <p:cNvSpPr/>
          <p:nvPr/>
        </p:nvSpPr>
        <p:spPr>
          <a:xfrm>
            <a:off x="2426003" y="6502400"/>
            <a:ext cx="9983400" cy="1066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98" name="Google Shape;598;g3f8342f7686_0_102" descr=" "/>
          <p:cNvPicPr preferRelativeResize="0"/>
          <p:nvPr/>
        </p:nvPicPr>
        <p:blipFill rotWithShape="1">
          <a:blip r:embed="rId3">
            <a:alphaModFix/>
          </a:blip>
          <a:srcRect/>
          <a:stretch/>
        </p:blipFill>
        <p:spPr>
          <a:xfrm>
            <a:off x="2426003" y="6502400"/>
            <a:ext cx="711289" cy="711200"/>
          </a:xfrm>
          <a:prstGeom prst="rect">
            <a:avLst/>
          </a:prstGeom>
          <a:noFill/>
          <a:ln>
            <a:noFill/>
          </a:ln>
        </p:spPr>
      </p:pic>
      <p:pic>
        <p:nvPicPr>
          <p:cNvPr id="599" name="Google Shape;599;g3f8342f7686_0_102" descr=" "/>
          <p:cNvPicPr preferRelativeResize="0"/>
          <p:nvPr/>
        </p:nvPicPr>
        <p:blipFill rotWithShape="1">
          <a:blip r:embed="rId4">
            <a:alphaModFix/>
          </a:blip>
          <a:srcRect/>
          <a:stretch/>
        </p:blipFill>
        <p:spPr>
          <a:xfrm>
            <a:off x="2548783" y="6671734"/>
            <a:ext cx="465723" cy="406400"/>
          </a:xfrm>
          <a:prstGeom prst="rect">
            <a:avLst/>
          </a:prstGeom>
          <a:noFill/>
          <a:ln>
            <a:noFill/>
          </a:ln>
        </p:spPr>
      </p:pic>
      <p:sp>
        <p:nvSpPr>
          <p:cNvPr id="600" name="Google Shape;600;g3f8342f7686_0_102"/>
          <p:cNvSpPr/>
          <p:nvPr/>
        </p:nvSpPr>
        <p:spPr>
          <a:xfrm>
            <a:off x="3645356" y="6502400"/>
            <a:ext cx="99399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Na nuvem do Langfuse: liga em minutos, e o dado fica com eles.</a:t>
            </a:r>
            <a:endParaRPr sz="3600" b="0" i="0" u="none" strike="noStrike" cap="none">
              <a:solidFill>
                <a:schemeClr val="dk1"/>
              </a:solidFill>
              <a:latin typeface="Roboto"/>
              <a:ea typeface="Roboto"/>
              <a:cs typeface="Roboto"/>
              <a:sym typeface="Roboto"/>
            </a:endParaRPr>
          </a:p>
        </p:txBody>
      </p:sp>
      <p:sp>
        <p:nvSpPr>
          <p:cNvPr id="601" name="Google Shape;601;g3f8342f7686_0_102"/>
          <p:cNvSpPr/>
          <p:nvPr/>
        </p:nvSpPr>
        <p:spPr>
          <a:xfrm>
            <a:off x="2426003" y="8178800"/>
            <a:ext cx="9983400" cy="711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02" name="Google Shape;602;g3f8342f7686_0_102" descr=" "/>
          <p:cNvPicPr preferRelativeResize="0"/>
          <p:nvPr/>
        </p:nvPicPr>
        <p:blipFill rotWithShape="1">
          <a:blip r:embed="rId3">
            <a:alphaModFix/>
          </a:blip>
          <a:srcRect/>
          <a:stretch/>
        </p:blipFill>
        <p:spPr>
          <a:xfrm>
            <a:off x="2426003" y="7989147"/>
            <a:ext cx="711289" cy="711200"/>
          </a:xfrm>
          <a:prstGeom prst="rect">
            <a:avLst/>
          </a:prstGeom>
          <a:noFill/>
          <a:ln>
            <a:noFill/>
          </a:ln>
        </p:spPr>
      </p:pic>
      <p:pic>
        <p:nvPicPr>
          <p:cNvPr id="603" name="Google Shape;603;g3f8342f7686_0_102" descr=" "/>
          <p:cNvPicPr preferRelativeResize="0"/>
          <p:nvPr/>
        </p:nvPicPr>
        <p:blipFill rotWithShape="1">
          <a:blip r:embed="rId4">
            <a:alphaModFix/>
          </a:blip>
          <a:srcRect/>
          <a:stretch/>
        </p:blipFill>
        <p:spPr>
          <a:xfrm>
            <a:off x="2548783" y="8331200"/>
            <a:ext cx="465723" cy="406400"/>
          </a:xfrm>
          <a:prstGeom prst="rect">
            <a:avLst/>
          </a:prstGeom>
          <a:noFill/>
          <a:ln>
            <a:noFill/>
          </a:ln>
        </p:spPr>
      </p:pic>
      <p:sp>
        <p:nvSpPr>
          <p:cNvPr id="604" name="Google Shape;604;g3f8342f7686_0_102"/>
          <p:cNvSpPr/>
          <p:nvPr/>
        </p:nvSpPr>
        <p:spPr>
          <a:xfrm>
            <a:off x="3645356" y="8172450"/>
            <a:ext cx="9263100" cy="6690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No seu servidor, com Docker: controle total, mas sem alta disponibilidade, escala nem backup.</a:t>
            </a:r>
            <a:endParaRPr sz="3600" b="0" i="0" u="none" strike="noStrike" cap="none">
              <a:solidFill>
                <a:schemeClr val="dk1"/>
              </a:solidFill>
              <a:latin typeface="Roboto"/>
              <a:ea typeface="Roboto"/>
              <a:cs typeface="Roboto"/>
              <a:sym typeface="Roboto"/>
            </a:endParaRPr>
          </a:p>
        </p:txBody>
      </p:sp>
      <p:pic>
        <p:nvPicPr>
          <p:cNvPr id="605" name="Google Shape;605;g3f8342f7686_0_102" descr=" "/>
          <p:cNvPicPr preferRelativeResize="0"/>
          <p:nvPr/>
        </p:nvPicPr>
        <p:blipFill rotWithShape="1">
          <a:blip r:embed="rId3">
            <a:alphaModFix/>
          </a:blip>
          <a:srcRect/>
          <a:stretch/>
        </p:blipFill>
        <p:spPr>
          <a:xfrm>
            <a:off x="2426003" y="9761538"/>
            <a:ext cx="711289" cy="711200"/>
          </a:xfrm>
          <a:prstGeom prst="rect">
            <a:avLst/>
          </a:prstGeom>
          <a:noFill/>
          <a:ln>
            <a:noFill/>
          </a:ln>
        </p:spPr>
      </p:pic>
      <p:pic>
        <p:nvPicPr>
          <p:cNvPr id="606" name="Google Shape;606;g3f8342f7686_0_102" descr=" "/>
          <p:cNvPicPr preferRelativeResize="0"/>
          <p:nvPr/>
        </p:nvPicPr>
        <p:blipFill rotWithShape="1">
          <a:blip r:embed="rId4">
            <a:alphaModFix/>
          </a:blip>
          <a:srcRect/>
          <a:stretch/>
        </p:blipFill>
        <p:spPr>
          <a:xfrm>
            <a:off x="2548783" y="10349548"/>
            <a:ext cx="465723" cy="406400"/>
          </a:xfrm>
          <a:prstGeom prst="rect">
            <a:avLst/>
          </a:prstGeom>
          <a:noFill/>
          <a:ln>
            <a:noFill/>
          </a:ln>
        </p:spPr>
      </p:pic>
      <p:sp>
        <p:nvSpPr>
          <p:cNvPr id="607" name="Google Shape;607;g3f8342f7686_0_102"/>
          <p:cNvSpPr/>
          <p:nvPr/>
        </p:nvSpPr>
        <p:spPr>
          <a:xfrm>
            <a:off x="3645356" y="10349548"/>
            <a:ext cx="92631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Na sua própria nuvem, em produção de verdade: quando o produto já provou valor e o dado é sensível.</a:t>
            </a:r>
            <a:endParaRPr sz="3600" b="1" i="0" u="none" strike="noStrike" cap="none">
              <a:solidFill>
                <a:schemeClr val="dk1"/>
              </a:solidFill>
              <a:latin typeface="Roboto"/>
              <a:ea typeface="Roboto"/>
              <a:cs typeface="Roboto"/>
              <a:sym typeface="Roboto"/>
            </a:endParaRPr>
          </a:p>
        </p:txBody>
      </p:sp>
      <p:pic>
        <p:nvPicPr>
          <p:cNvPr id="611" name="Google Shape;611;g3f8342f7686_0_102" descr="Ícone&#10;&#10;O conteúdo gerado por IA pode estar incorreto."/>
          <p:cNvPicPr preferRelativeResize="0"/>
          <p:nvPr/>
        </p:nvPicPr>
        <p:blipFill rotWithShape="1">
          <a:blip r:embed="rId5">
            <a:alphaModFix/>
          </a:blip>
          <a:srcRect/>
          <a:stretch/>
        </p:blipFill>
        <p:spPr>
          <a:xfrm>
            <a:off x="-2202249" y="-8621"/>
            <a:ext cx="1568332" cy="10010052"/>
          </a:xfrm>
          <a:prstGeom prst="rect">
            <a:avLst/>
          </a:prstGeom>
          <a:noFill/>
          <a:ln>
            <a:noFill/>
          </a:ln>
        </p:spPr>
      </p:pic>
      <p:pic>
        <p:nvPicPr>
          <p:cNvPr id="3" name="Imagem 2">
            <a:extLst>
              <a:ext uri="{FF2B5EF4-FFF2-40B4-BE49-F238E27FC236}">
                <a16:creationId xmlns:a16="http://schemas.microsoft.com/office/drawing/2014/main" id="{33BA6F74-77D1-D7A7-3BE3-CCACB6707E0A}"/>
              </a:ext>
            </a:extLst>
          </p:cNvPr>
          <p:cNvPicPr>
            <a:picLocks noChangeAspect="1"/>
          </p:cNvPicPr>
          <p:nvPr/>
        </p:nvPicPr>
        <p:blipFill>
          <a:blip r:embed="rId6"/>
          <a:stretch>
            <a:fillRect/>
          </a:stretch>
        </p:blipFill>
        <p:spPr>
          <a:xfrm>
            <a:off x="14909055" y="-818896"/>
            <a:ext cx="9478119" cy="16981630"/>
          </a:xfrm>
          <a:prstGeom prst="rect">
            <a:avLst/>
          </a:prstGeom>
        </p:spPr>
      </p:pic>
      <p:sp>
        <p:nvSpPr>
          <p:cNvPr id="5" name="Google Shape;389;g3f3dd40fd11_1_233">
            <a:extLst>
              <a:ext uri="{FF2B5EF4-FFF2-40B4-BE49-F238E27FC236}">
                <a16:creationId xmlns:a16="http://schemas.microsoft.com/office/drawing/2014/main" id="{B10402B1-9C83-974D-8A05-1C4951792A36}"/>
              </a:ext>
            </a:extLst>
          </p:cNvPr>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 name="Google Shape;390;g3f3dd40fd11_1_233" descr=" ">
            <a:extLst>
              <a:ext uri="{FF2B5EF4-FFF2-40B4-BE49-F238E27FC236}">
                <a16:creationId xmlns:a16="http://schemas.microsoft.com/office/drawing/2014/main" id="{AC25A756-7848-2209-FA35-C81E6BC68BD6}"/>
              </a:ext>
            </a:extLst>
          </p:cNvPr>
          <p:cNvPicPr preferRelativeResize="0"/>
          <p:nvPr/>
        </p:nvPicPr>
        <p:blipFill rotWithShape="1">
          <a:blip r:embed="rId7">
            <a:alphaModFix/>
          </a:blip>
          <a:srcRect/>
          <a:stretch/>
        </p:blipFill>
        <p:spPr>
          <a:xfrm>
            <a:off x="23433139" y="406400"/>
            <a:ext cx="476942" cy="593018"/>
          </a:xfrm>
          <a:prstGeom prst="rect">
            <a:avLst/>
          </a:prstGeom>
          <a:noFill/>
          <a:ln>
            <a:noFill/>
          </a:ln>
        </p:spPr>
      </p:pic>
      <p:pic>
        <p:nvPicPr>
          <p:cNvPr id="9" name="Google Shape;395;g3f3dd40fd11_1_233" descr=" ">
            <a:extLst>
              <a:ext uri="{FF2B5EF4-FFF2-40B4-BE49-F238E27FC236}">
                <a16:creationId xmlns:a16="http://schemas.microsoft.com/office/drawing/2014/main" id="{E6E34C37-16D9-CB5F-9FD8-14D93CBA4E20}"/>
              </a:ext>
            </a:extLst>
          </p:cNvPr>
          <p:cNvPicPr preferRelativeResize="0"/>
          <p:nvPr/>
        </p:nvPicPr>
        <p:blipFill rotWithShape="1">
          <a:blip r:embed="rId8">
            <a:alphaModFix/>
          </a:blip>
          <a:srcRect/>
          <a:stretch/>
        </p:blipFill>
        <p:spPr>
          <a:xfrm>
            <a:off x="14908911" y="-1098467"/>
            <a:ext cx="3651919" cy="15201733"/>
          </a:xfrm>
          <a:prstGeom prst="rect">
            <a:avLst/>
          </a:prstGeom>
          <a:noFill/>
          <a:ln>
            <a:noFill/>
          </a:ln>
        </p:spPr>
      </p:pic>
    </p:spTree>
    <p:extLst>
      <p:ext uri="{BB962C8B-B14F-4D97-AF65-F5344CB8AC3E}">
        <p14:creationId xmlns:p14="http://schemas.microsoft.com/office/powerpoint/2010/main" val="2476882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Grátis até 50 mil registros por mês.</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3582925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g3f6efaed406_0_171"/>
          <p:cNvSpPr/>
          <p:nvPr/>
        </p:nvSpPr>
        <p:spPr>
          <a:xfrm>
            <a:off x="-165904" y="-150471"/>
            <a:ext cx="24692700" cy="14040000"/>
          </a:xfrm>
          <a:prstGeom prst="rect">
            <a:avLst/>
          </a:prstGeom>
          <a:solidFill>
            <a:srgbClr val="EEEFF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485" name="Google Shape;485;g3f6efaed406_0_171" descr=" "/>
          <p:cNvPicPr preferRelativeResize="0"/>
          <p:nvPr/>
        </p:nvPicPr>
        <p:blipFill rotWithShape="1">
          <a:blip r:embed="rId3">
            <a:alphaModFix/>
          </a:blip>
          <a:srcRect/>
          <a:stretch/>
        </p:blipFill>
        <p:spPr>
          <a:xfrm>
            <a:off x="18899962" y="304800"/>
            <a:ext cx="5487086" cy="13106400"/>
          </a:xfrm>
          <a:prstGeom prst="rect">
            <a:avLst/>
          </a:prstGeom>
          <a:noFill/>
          <a:ln>
            <a:noFill/>
          </a:ln>
        </p:spPr>
      </p:pic>
      <p:sp>
        <p:nvSpPr>
          <p:cNvPr id="486" name="Google Shape;486;g3f6efaed406_0_171"/>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87" name="Google Shape;487;g3f6efaed406_0_171" descr=" "/>
          <p:cNvPicPr preferRelativeResize="0"/>
          <p:nvPr/>
        </p:nvPicPr>
        <p:blipFill rotWithShape="1">
          <a:blip r:embed="rId4">
            <a:alphaModFix/>
          </a:blip>
          <a:srcRect/>
          <a:stretch/>
        </p:blipFill>
        <p:spPr>
          <a:xfrm>
            <a:off x="23434429" y="406400"/>
            <a:ext cx="474375" cy="593018"/>
          </a:xfrm>
          <a:prstGeom prst="rect">
            <a:avLst/>
          </a:prstGeom>
          <a:noFill/>
          <a:ln>
            <a:noFill/>
          </a:ln>
        </p:spPr>
      </p:pic>
      <p:pic>
        <p:nvPicPr>
          <p:cNvPr id="488" name="Google Shape;488;g3f6efaed406_0_171" descr=" "/>
          <p:cNvPicPr preferRelativeResize="0"/>
          <p:nvPr/>
        </p:nvPicPr>
        <p:blipFill rotWithShape="1">
          <a:blip r:embed="rId5">
            <a:alphaModFix/>
          </a:blip>
          <a:srcRect/>
          <a:stretch/>
        </p:blipFill>
        <p:spPr>
          <a:xfrm>
            <a:off x="2289929" y="3119982"/>
            <a:ext cx="5004425" cy="10010050"/>
          </a:xfrm>
          <a:prstGeom prst="rect">
            <a:avLst/>
          </a:prstGeom>
          <a:noFill/>
          <a:ln w="9525" cap="flat" cmpd="sng">
            <a:solidFill>
              <a:schemeClr val="lt2"/>
            </a:solidFill>
            <a:prstDash val="solid"/>
            <a:round/>
            <a:headEnd type="none" w="sm" len="sm"/>
            <a:tailEnd type="none" w="sm" len="sm"/>
          </a:ln>
        </p:spPr>
      </p:pic>
      <p:pic>
        <p:nvPicPr>
          <p:cNvPr id="489" name="Google Shape;489;g3f6efaed406_0_171" descr=" "/>
          <p:cNvPicPr preferRelativeResize="0"/>
          <p:nvPr/>
        </p:nvPicPr>
        <p:blipFill rotWithShape="1">
          <a:blip r:embed="rId6">
            <a:alphaModFix/>
          </a:blip>
          <a:srcRect/>
          <a:stretch/>
        </p:blipFill>
        <p:spPr>
          <a:xfrm>
            <a:off x="4436501" y="3985642"/>
            <a:ext cx="711289" cy="711200"/>
          </a:xfrm>
          <a:prstGeom prst="rect">
            <a:avLst/>
          </a:prstGeom>
          <a:noFill/>
          <a:ln>
            <a:noFill/>
          </a:ln>
        </p:spPr>
      </p:pic>
      <p:pic>
        <p:nvPicPr>
          <p:cNvPr id="490" name="Google Shape;490;g3f6efaed406_0_171" title="crosshair (1).png"/>
          <p:cNvPicPr preferRelativeResize="0"/>
          <p:nvPr/>
        </p:nvPicPr>
        <p:blipFill rotWithShape="1">
          <a:blip r:embed="rId7">
            <a:alphaModFix/>
          </a:blip>
          <a:srcRect t="10"/>
          <a:stretch/>
        </p:blipFill>
        <p:spPr>
          <a:xfrm>
            <a:off x="4297479" y="3469017"/>
            <a:ext cx="1132451" cy="1132300"/>
          </a:xfrm>
          <a:prstGeom prst="rect">
            <a:avLst/>
          </a:prstGeom>
          <a:noFill/>
          <a:ln>
            <a:noFill/>
          </a:ln>
        </p:spPr>
      </p:pic>
      <p:sp>
        <p:nvSpPr>
          <p:cNvPr id="491" name="Google Shape;491;g3f6efaed406_0_171"/>
          <p:cNvSpPr/>
          <p:nvPr/>
        </p:nvSpPr>
        <p:spPr>
          <a:xfrm>
            <a:off x="2660304" y="7157339"/>
            <a:ext cx="4218300" cy="3223800"/>
          </a:xfrm>
          <a:prstGeom prst="rect">
            <a:avLst/>
          </a:prstGeom>
          <a:noFill/>
          <a:ln>
            <a:noFill/>
          </a:ln>
        </p:spPr>
        <p:txBody>
          <a:bodyPr spcFirstLastPara="1" wrap="square" lIns="0" tIns="0" rIns="0" bIns="0" anchor="t" anchorCtr="0">
            <a:noAutofit/>
          </a:bodyPr>
          <a:lstStyle/>
          <a:p>
            <a:pPr marL="0" marR="0" lvl="0" indent="0" algn="ctr" rtl="0">
              <a:lnSpc>
                <a:spcPct val="135714"/>
              </a:lnSpc>
              <a:spcBef>
                <a:spcPts val="0"/>
              </a:spcBef>
              <a:spcAft>
                <a:spcPts val="0"/>
              </a:spcAft>
              <a:buClr>
                <a:srgbClr val="383A42"/>
              </a:buClr>
              <a:buSzPts val="2800"/>
              <a:buFont typeface="Roboto"/>
              <a:buNone/>
            </a:pPr>
            <a:r>
              <a:rPr lang="pt-BR" sz="2600" b="0" i="0" u="none" strike="noStrike" cap="none">
                <a:solidFill>
                  <a:srgbClr val="666666"/>
                </a:solidFill>
                <a:latin typeface="Roboto"/>
                <a:ea typeface="Roboto"/>
                <a:cs typeface="Roboto"/>
                <a:sym typeface="Roboto"/>
              </a:rPr>
              <a:t>É a unidade que você abre primeiro. Uma mensagem no Telegram vira uma; uma mediação vira outra.</a:t>
            </a:r>
            <a:endParaRPr sz="2600" b="0" i="0" u="none" strike="noStrike" cap="none">
              <a:solidFill>
                <a:srgbClr val="666666"/>
              </a:solidFill>
              <a:latin typeface="Roboto"/>
              <a:ea typeface="Roboto"/>
              <a:cs typeface="Roboto"/>
              <a:sym typeface="Roboto"/>
            </a:endParaRPr>
          </a:p>
        </p:txBody>
      </p:sp>
      <p:pic>
        <p:nvPicPr>
          <p:cNvPr id="492" name="Google Shape;492;g3f6efaed406_0_171" descr=" "/>
          <p:cNvPicPr preferRelativeResize="0"/>
          <p:nvPr/>
        </p:nvPicPr>
        <p:blipFill rotWithShape="1">
          <a:blip r:embed="rId8">
            <a:alphaModFix/>
          </a:blip>
          <a:srcRect/>
          <a:stretch/>
        </p:blipFill>
        <p:spPr>
          <a:xfrm>
            <a:off x="7700803" y="3119982"/>
            <a:ext cx="5017125" cy="10010050"/>
          </a:xfrm>
          <a:prstGeom prst="rect">
            <a:avLst/>
          </a:prstGeom>
          <a:noFill/>
          <a:ln w="9525" cap="flat" cmpd="sng">
            <a:solidFill>
              <a:schemeClr val="lt2"/>
            </a:solidFill>
            <a:prstDash val="solid"/>
            <a:round/>
            <a:headEnd type="none" w="sm" len="sm"/>
            <a:tailEnd type="none" w="sm" len="sm"/>
          </a:ln>
        </p:spPr>
      </p:pic>
      <p:pic>
        <p:nvPicPr>
          <p:cNvPr id="493" name="Google Shape;493;g3f6efaed406_0_171" descr=" "/>
          <p:cNvPicPr preferRelativeResize="0"/>
          <p:nvPr/>
        </p:nvPicPr>
        <p:blipFill rotWithShape="1">
          <a:blip r:embed="rId6">
            <a:alphaModFix/>
          </a:blip>
          <a:srcRect/>
          <a:stretch/>
        </p:blipFill>
        <p:spPr>
          <a:xfrm>
            <a:off x="9853728" y="6744607"/>
            <a:ext cx="711289" cy="711200"/>
          </a:xfrm>
          <a:prstGeom prst="rect">
            <a:avLst/>
          </a:prstGeom>
          <a:noFill/>
          <a:ln>
            <a:noFill/>
          </a:ln>
        </p:spPr>
      </p:pic>
      <p:pic>
        <p:nvPicPr>
          <p:cNvPr id="494" name="Google Shape;494;g3f6efaed406_0_171" title="bar-chart.png"/>
          <p:cNvPicPr preferRelativeResize="0"/>
          <p:nvPr/>
        </p:nvPicPr>
        <p:blipFill rotWithShape="1">
          <a:blip r:embed="rId9">
            <a:alphaModFix/>
          </a:blip>
          <a:srcRect t="10"/>
          <a:stretch/>
        </p:blipFill>
        <p:spPr>
          <a:xfrm>
            <a:off x="9902154" y="3613748"/>
            <a:ext cx="842950" cy="842838"/>
          </a:xfrm>
          <a:prstGeom prst="rect">
            <a:avLst/>
          </a:prstGeom>
          <a:noFill/>
          <a:ln>
            <a:noFill/>
          </a:ln>
        </p:spPr>
      </p:pic>
      <p:sp>
        <p:nvSpPr>
          <p:cNvPr id="495" name="Google Shape;495;g3f6efaed406_0_171"/>
          <p:cNvSpPr/>
          <p:nvPr/>
        </p:nvSpPr>
        <p:spPr>
          <a:xfrm>
            <a:off x="8229966" y="7238982"/>
            <a:ext cx="3958800" cy="3223800"/>
          </a:xfrm>
          <a:prstGeom prst="rect">
            <a:avLst/>
          </a:prstGeom>
          <a:noFill/>
          <a:ln>
            <a:noFill/>
          </a:ln>
        </p:spPr>
        <p:txBody>
          <a:bodyPr spcFirstLastPara="1" wrap="square" lIns="0" tIns="0" rIns="0" bIns="0" anchor="t" anchorCtr="0">
            <a:noAutofit/>
          </a:bodyPr>
          <a:lstStyle/>
          <a:p>
            <a:pPr marL="0" marR="0" lvl="0" indent="0" algn="ctr" rtl="0">
              <a:lnSpc>
                <a:spcPct val="135714"/>
              </a:lnSpc>
              <a:spcBef>
                <a:spcPts val="0"/>
              </a:spcBef>
              <a:spcAft>
                <a:spcPts val="0"/>
              </a:spcAft>
              <a:buClr>
                <a:schemeClr val="dk1"/>
              </a:buClr>
              <a:buSzPts val="1100"/>
              <a:buFont typeface="Arial"/>
              <a:buNone/>
            </a:pPr>
            <a:r>
              <a:rPr lang="pt-BR" sz="2600" b="0" i="0" u="none" strike="noStrike" cap="none">
                <a:solidFill>
                  <a:srgbClr val="666666"/>
                </a:solidFill>
                <a:latin typeface="Roboto"/>
                <a:ea typeface="Roboto"/>
                <a:cs typeface="Roboto"/>
                <a:sym typeface="Roboto"/>
              </a:rPr>
              <a:t>Cada chamada ao modelo e cada ferramenta, com o que entrou, o que saiu, quanto custou e quanto levou.</a:t>
            </a:r>
            <a:endParaRPr sz="2600" b="0" i="0" u="none" strike="noStrike" cap="none">
              <a:solidFill>
                <a:srgbClr val="666666"/>
              </a:solidFill>
              <a:latin typeface="Roboto"/>
              <a:ea typeface="Roboto"/>
              <a:cs typeface="Roboto"/>
              <a:sym typeface="Roboto"/>
            </a:endParaRPr>
          </a:p>
        </p:txBody>
      </p:sp>
      <p:pic>
        <p:nvPicPr>
          <p:cNvPr id="496" name="Google Shape;496;g3f6efaed406_0_171" descr=" "/>
          <p:cNvPicPr preferRelativeResize="0"/>
          <p:nvPr/>
        </p:nvPicPr>
        <p:blipFill rotWithShape="1">
          <a:blip r:embed="rId5">
            <a:alphaModFix/>
          </a:blip>
          <a:srcRect/>
          <a:stretch/>
        </p:blipFill>
        <p:spPr>
          <a:xfrm>
            <a:off x="13124378" y="3119982"/>
            <a:ext cx="5004425" cy="10010050"/>
          </a:xfrm>
          <a:prstGeom prst="rect">
            <a:avLst/>
          </a:prstGeom>
          <a:noFill/>
          <a:ln w="9525" cap="flat" cmpd="sng">
            <a:solidFill>
              <a:schemeClr val="lt2"/>
            </a:solidFill>
            <a:prstDash val="solid"/>
            <a:round/>
            <a:headEnd type="none" w="sm" len="sm"/>
            <a:tailEnd type="none" w="sm" len="sm"/>
          </a:ln>
        </p:spPr>
      </p:pic>
      <p:pic>
        <p:nvPicPr>
          <p:cNvPr id="497" name="Google Shape;497;g3f6efaed406_0_171" title="shield.png"/>
          <p:cNvPicPr preferRelativeResize="0"/>
          <p:nvPr/>
        </p:nvPicPr>
        <p:blipFill rotWithShape="1">
          <a:blip r:embed="rId10">
            <a:alphaModFix/>
          </a:blip>
          <a:srcRect t="10"/>
          <a:stretch/>
        </p:blipFill>
        <p:spPr>
          <a:xfrm>
            <a:off x="15205123" y="3613754"/>
            <a:ext cx="842938" cy="842825"/>
          </a:xfrm>
          <a:prstGeom prst="rect">
            <a:avLst/>
          </a:prstGeom>
          <a:noFill/>
          <a:ln>
            <a:noFill/>
          </a:ln>
        </p:spPr>
      </p:pic>
      <p:sp>
        <p:nvSpPr>
          <p:cNvPr id="498" name="Google Shape;498;g3f6efaed406_0_171"/>
          <p:cNvSpPr/>
          <p:nvPr/>
        </p:nvSpPr>
        <p:spPr>
          <a:xfrm>
            <a:off x="13827204" y="7239000"/>
            <a:ext cx="3598800" cy="2636400"/>
          </a:xfrm>
          <a:prstGeom prst="rect">
            <a:avLst/>
          </a:prstGeom>
          <a:noFill/>
          <a:ln>
            <a:noFill/>
          </a:ln>
        </p:spPr>
        <p:txBody>
          <a:bodyPr spcFirstLastPara="1" wrap="square" lIns="0" tIns="0" rIns="0" bIns="0" anchor="t" anchorCtr="0">
            <a:noAutofit/>
          </a:bodyPr>
          <a:lstStyle/>
          <a:p>
            <a:pPr marL="0" marR="0" lvl="0" indent="0" algn="ctr" rtl="0">
              <a:lnSpc>
                <a:spcPct val="135714"/>
              </a:lnSpc>
              <a:spcBef>
                <a:spcPts val="0"/>
              </a:spcBef>
              <a:spcAft>
                <a:spcPts val="0"/>
              </a:spcAft>
              <a:buClr>
                <a:schemeClr val="dk1"/>
              </a:buClr>
              <a:buSzPts val="1100"/>
              <a:buFont typeface="Arial"/>
              <a:buNone/>
            </a:pPr>
            <a:r>
              <a:rPr lang="pt-BR" sz="2600" b="0" i="0" u="none" strike="noStrike" cap="none">
                <a:solidFill>
                  <a:srgbClr val="666666"/>
                </a:solidFill>
                <a:latin typeface="Roboto"/>
                <a:ea typeface="Roboto"/>
                <a:cs typeface="Roboto"/>
                <a:sym typeface="Roboto"/>
              </a:rPr>
              <a:t>O eval da Aula 2 escreve a avaliação de volta, grudada na interação que ele julgou.</a:t>
            </a:r>
            <a:endParaRPr sz="2600" b="0" i="0" u="none" strike="noStrike" cap="none">
              <a:solidFill>
                <a:srgbClr val="666666"/>
              </a:solidFill>
              <a:latin typeface="Roboto"/>
              <a:ea typeface="Roboto"/>
              <a:cs typeface="Roboto"/>
              <a:sym typeface="Roboto"/>
            </a:endParaRPr>
          </a:p>
        </p:txBody>
      </p:sp>
      <p:pic>
        <p:nvPicPr>
          <p:cNvPr id="499" name="Google Shape;499;g3f6efaed406_0_171" descr=" "/>
          <p:cNvPicPr preferRelativeResize="0"/>
          <p:nvPr/>
        </p:nvPicPr>
        <p:blipFill rotWithShape="1">
          <a:blip r:embed="rId11">
            <a:alphaModFix/>
          </a:blip>
          <a:srcRect/>
          <a:stretch/>
        </p:blipFill>
        <p:spPr>
          <a:xfrm>
            <a:off x="18671334" y="5537200"/>
            <a:ext cx="5715714" cy="5537200"/>
          </a:xfrm>
          <a:prstGeom prst="rect">
            <a:avLst/>
          </a:prstGeom>
          <a:noFill/>
          <a:ln>
            <a:noFill/>
          </a:ln>
        </p:spPr>
      </p:pic>
      <p:sp>
        <p:nvSpPr>
          <p:cNvPr id="500" name="Google Shape;500;g3f6efaed406_0_171"/>
          <p:cNvSpPr/>
          <p:nvPr/>
        </p:nvSpPr>
        <p:spPr>
          <a:xfrm>
            <a:off x="2354634" y="702700"/>
            <a:ext cx="11867400" cy="14901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0C0C0E"/>
              </a:buClr>
              <a:buSzPts val="7600"/>
              <a:buFont typeface="Encode Sans"/>
              <a:buNone/>
            </a:pPr>
            <a:r>
              <a:rPr lang="pt-BR" sz="6400" b="0" i="0" u="none" strike="noStrike" cap="none">
                <a:solidFill>
                  <a:srgbClr val="0C0C0E"/>
                </a:solidFill>
                <a:latin typeface="Encode Sans SemiBold"/>
                <a:ea typeface="Encode Sans SemiBold"/>
                <a:cs typeface="Encode Sans SemiBold"/>
                <a:sym typeface="Encode Sans SemiBold"/>
              </a:rPr>
              <a:t>Três palavras na tela</a:t>
            </a:r>
            <a:endParaRPr sz="6400" b="0" i="0" u="none" strike="noStrike" cap="none">
              <a:solidFill>
                <a:schemeClr val="dk1"/>
              </a:solidFill>
              <a:latin typeface="Encode Sans SemiBold"/>
              <a:ea typeface="Encode Sans SemiBold"/>
              <a:cs typeface="Encode Sans SemiBold"/>
              <a:sym typeface="Encode Sans SemiBold"/>
            </a:endParaRPr>
          </a:p>
        </p:txBody>
      </p:sp>
      <p:sp>
        <p:nvSpPr>
          <p:cNvPr id="501" name="Google Shape;501;g3f6efaed406_0_171"/>
          <p:cNvSpPr/>
          <p:nvPr/>
        </p:nvSpPr>
        <p:spPr>
          <a:xfrm>
            <a:off x="2354625" y="1740325"/>
            <a:ext cx="13128600" cy="12708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26272C"/>
              </a:buClr>
              <a:buSzPts val="3600"/>
              <a:buFont typeface="Roboto"/>
              <a:buNone/>
            </a:pPr>
            <a:r>
              <a:rPr lang="pt-BR" sz="2500" b="0" i="0" u="none" strike="noStrike" cap="none">
                <a:solidFill>
                  <a:srgbClr val="7B7F8E"/>
                </a:solidFill>
                <a:latin typeface="Roboto"/>
                <a:ea typeface="Roboto"/>
                <a:cs typeface="Roboto"/>
                <a:sym typeface="Roboto"/>
              </a:rPr>
              <a:t>O que você vai ler em inglês, e o que cada palavra quer dizer.</a:t>
            </a:r>
            <a:endParaRPr sz="2500" b="0" i="0" u="none" strike="noStrike" cap="none">
              <a:solidFill>
                <a:srgbClr val="7B7F8E"/>
              </a:solidFill>
              <a:latin typeface="Roboto"/>
              <a:ea typeface="Roboto"/>
              <a:cs typeface="Roboto"/>
              <a:sym typeface="Roboto"/>
            </a:endParaRPr>
          </a:p>
        </p:txBody>
      </p:sp>
      <p:pic>
        <p:nvPicPr>
          <p:cNvPr id="502" name="Google Shape;502;g3f6efaed406_0_171" descr="Ícone&#10;&#10;O conteúdo gerado por IA pode estar incorreto."/>
          <p:cNvPicPr preferRelativeResize="0"/>
          <p:nvPr/>
        </p:nvPicPr>
        <p:blipFill rotWithShape="1">
          <a:blip r:embed="rId12">
            <a:alphaModFix/>
          </a:blip>
          <a:srcRect/>
          <a:stretch/>
        </p:blipFill>
        <p:spPr>
          <a:xfrm>
            <a:off x="-2202249" y="-8621"/>
            <a:ext cx="1568332" cy="10010052"/>
          </a:xfrm>
          <a:prstGeom prst="rect">
            <a:avLst/>
          </a:prstGeom>
          <a:noFill/>
          <a:ln>
            <a:noFill/>
          </a:ln>
        </p:spPr>
      </p:pic>
      <p:sp>
        <p:nvSpPr>
          <p:cNvPr id="503" name="Google Shape;503;g3f6efaed406_0_171"/>
          <p:cNvSpPr/>
          <p:nvPr/>
        </p:nvSpPr>
        <p:spPr>
          <a:xfrm>
            <a:off x="3523291" y="4696832"/>
            <a:ext cx="2537700" cy="593100"/>
          </a:xfrm>
          <a:prstGeom prst="rect">
            <a:avLst/>
          </a:prstGeom>
          <a:noFill/>
          <a:ln>
            <a:noFill/>
          </a:ln>
        </p:spPr>
        <p:txBody>
          <a:bodyPr spcFirstLastPara="1" wrap="square" lIns="0" tIns="0" rIns="0" bIns="0" anchor="ctr" anchorCtr="0">
            <a:noAutofit/>
          </a:bodyPr>
          <a:lstStyle/>
          <a:p>
            <a:pPr marL="0" marR="0" lvl="0" indent="0" algn="ctr" rtl="0">
              <a:lnSpc>
                <a:spcPct val="121052"/>
              </a:lnSpc>
              <a:spcBef>
                <a:spcPts val="0"/>
              </a:spcBef>
              <a:spcAft>
                <a:spcPts val="0"/>
              </a:spcAft>
              <a:buClr>
                <a:srgbClr val="0C0C0E"/>
              </a:buClr>
              <a:buSzPts val="7600"/>
              <a:buFont typeface="Encode Sans"/>
              <a:buNone/>
            </a:pPr>
            <a:r>
              <a:rPr lang="en-US" sz="3000" b="0" i="0" u="none" strike="noStrike" cap="none">
                <a:solidFill>
                  <a:schemeClr val="dk1"/>
                </a:solidFill>
                <a:latin typeface="Encode Sans SemiBold"/>
                <a:ea typeface="Encode Sans SemiBold"/>
                <a:cs typeface="Encode Sans SemiBold"/>
                <a:sym typeface="Encode Sans SemiBold"/>
              </a:rPr>
              <a:t>Trace</a:t>
            </a:r>
            <a:endParaRPr sz="3000" b="0" i="0" u="none" strike="noStrike" cap="none">
              <a:solidFill>
                <a:schemeClr val="dk1"/>
              </a:solidFill>
              <a:latin typeface="Encode Sans SemiBold"/>
              <a:ea typeface="Encode Sans SemiBold"/>
              <a:cs typeface="Encode Sans SemiBold"/>
              <a:sym typeface="Encode Sans SemiBold"/>
            </a:endParaRPr>
          </a:p>
        </p:txBody>
      </p:sp>
      <p:sp>
        <p:nvSpPr>
          <p:cNvPr id="504" name="Google Shape;504;g3f6efaed406_0_171"/>
          <p:cNvSpPr/>
          <p:nvPr/>
        </p:nvSpPr>
        <p:spPr>
          <a:xfrm>
            <a:off x="8713282" y="4696832"/>
            <a:ext cx="3154800" cy="593100"/>
          </a:xfrm>
          <a:prstGeom prst="rect">
            <a:avLst/>
          </a:prstGeom>
          <a:noFill/>
          <a:ln>
            <a:noFill/>
          </a:ln>
        </p:spPr>
        <p:txBody>
          <a:bodyPr spcFirstLastPara="1" wrap="square" lIns="0" tIns="0" rIns="0" bIns="0" anchor="ctr" anchorCtr="0">
            <a:noAutofit/>
          </a:bodyPr>
          <a:lstStyle/>
          <a:p>
            <a:pPr marL="0" marR="0" lvl="0" indent="0" algn="ctr" rtl="0">
              <a:lnSpc>
                <a:spcPct val="121052"/>
              </a:lnSpc>
              <a:spcBef>
                <a:spcPts val="0"/>
              </a:spcBef>
              <a:spcAft>
                <a:spcPts val="0"/>
              </a:spcAft>
              <a:buClr>
                <a:srgbClr val="0C0C0E"/>
              </a:buClr>
              <a:buSzPts val="7600"/>
              <a:buFont typeface="Encode Sans"/>
              <a:buNone/>
            </a:pPr>
            <a:r>
              <a:rPr lang="en-US" sz="3000" b="0" i="0" u="none" strike="noStrike" cap="none">
                <a:solidFill>
                  <a:schemeClr val="dk1"/>
                </a:solidFill>
                <a:latin typeface="Encode Sans SemiBold"/>
                <a:ea typeface="Encode Sans SemiBold"/>
                <a:cs typeface="Encode Sans SemiBold"/>
                <a:sym typeface="Encode Sans SemiBold"/>
              </a:rPr>
              <a:t>Observation</a:t>
            </a:r>
            <a:endParaRPr sz="3000" b="0" i="0" u="none" strike="noStrike" cap="none">
              <a:solidFill>
                <a:schemeClr val="dk1"/>
              </a:solidFill>
              <a:latin typeface="Encode Sans SemiBold"/>
              <a:ea typeface="Encode Sans SemiBold"/>
              <a:cs typeface="Encode Sans SemiBold"/>
              <a:sym typeface="Encode Sans SemiBold"/>
            </a:endParaRPr>
          </a:p>
        </p:txBody>
      </p:sp>
      <p:sp>
        <p:nvSpPr>
          <p:cNvPr id="505" name="Google Shape;505;g3f6efaed406_0_171"/>
          <p:cNvSpPr/>
          <p:nvPr/>
        </p:nvSpPr>
        <p:spPr>
          <a:xfrm>
            <a:off x="14357741" y="4696832"/>
            <a:ext cx="2537700" cy="593100"/>
          </a:xfrm>
          <a:prstGeom prst="rect">
            <a:avLst/>
          </a:prstGeom>
          <a:noFill/>
          <a:ln>
            <a:noFill/>
          </a:ln>
        </p:spPr>
        <p:txBody>
          <a:bodyPr spcFirstLastPara="1" wrap="square" lIns="0" tIns="0" rIns="0" bIns="0" anchor="ctr" anchorCtr="0">
            <a:noAutofit/>
          </a:bodyPr>
          <a:lstStyle/>
          <a:p>
            <a:pPr marL="0" marR="0" lvl="0" indent="0" algn="ctr" rtl="0">
              <a:lnSpc>
                <a:spcPct val="121052"/>
              </a:lnSpc>
              <a:spcBef>
                <a:spcPts val="0"/>
              </a:spcBef>
              <a:spcAft>
                <a:spcPts val="0"/>
              </a:spcAft>
              <a:buClr>
                <a:srgbClr val="0C0C0E"/>
              </a:buClr>
              <a:buSzPts val="7600"/>
              <a:buFont typeface="Encode Sans"/>
              <a:buNone/>
            </a:pPr>
            <a:r>
              <a:rPr lang="en-US" sz="3000" b="0" i="0" u="none" strike="noStrike" cap="none">
                <a:solidFill>
                  <a:srgbClr val="0C0C0E"/>
                </a:solidFill>
                <a:latin typeface="Encode Sans SemiBold"/>
                <a:ea typeface="Encode Sans SemiBold"/>
                <a:cs typeface="Encode Sans SemiBold"/>
                <a:sym typeface="Encode Sans SemiBold"/>
              </a:rPr>
              <a:t>Score</a:t>
            </a:r>
            <a:endParaRPr sz="3000" b="0" i="0" u="none" strike="noStrike" cap="none">
              <a:solidFill>
                <a:schemeClr val="dk1"/>
              </a:solidFill>
              <a:latin typeface="Encode Sans SemiBold"/>
              <a:ea typeface="Encode Sans SemiBold"/>
              <a:cs typeface="Encode Sans SemiBold"/>
              <a:sym typeface="Encode Sans SemiBold"/>
            </a:endParaRPr>
          </a:p>
        </p:txBody>
      </p:sp>
      <p:sp>
        <p:nvSpPr>
          <p:cNvPr id="506" name="Google Shape;506;g3f6efaed406_0_171"/>
          <p:cNvSpPr/>
          <p:nvPr/>
        </p:nvSpPr>
        <p:spPr>
          <a:xfrm>
            <a:off x="2432646" y="5289932"/>
            <a:ext cx="4679100" cy="1270800"/>
          </a:xfrm>
          <a:prstGeom prst="rect">
            <a:avLst/>
          </a:prstGeom>
          <a:noFill/>
          <a:ln>
            <a:noFill/>
          </a:ln>
        </p:spPr>
        <p:txBody>
          <a:bodyPr spcFirstLastPara="1" wrap="square" lIns="0" tIns="0" rIns="0" bIns="0" anchor="ctr" anchorCtr="0">
            <a:noAutofit/>
          </a:bodyPr>
          <a:lstStyle/>
          <a:p>
            <a:pPr marL="0" marR="0" lvl="0" indent="0" algn="ctr" rtl="0">
              <a:lnSpc>
                <a:spcPct val="116666"/>
              </a:lnSpc>
              <a:spcBef>
                <a:spcPts val="0"/>
              </a:spcBef>
              <a:spcAft>
                <a:spcPts val="0"/>
              </a:spcAft>
              <a:buClr>
                <a:srgbClr val="26272C"/>
              </a:buClr>
              <a:buSzPts val="3600"/>
              <a:buFont typeface="Roboto"/>
              <a:buNone/>
            </a:pPr>
            <a:r>
              <a:rPr lang="pt-BR" sz="2400" b="0" i="0" u="none" strike="noStrike" cap="none">
                <a:solidFill>
                  <a:srgbClr val="2563EB"/>
                </a:solidFill>
                <a:latin typeface="Roboto"/>
                <a:ea typeface="Roboto"/>
                <a:cs typeface="Roboto"/>
                <a:sym typeface="Roboto"/>
              </a:rPr>
              <a:t>Interação: do pedido até a resposta.</a:t>
            </a:r>
            <a:endParaRPr sz="2400" b="0" i="0" u="none" strike="noStrike" cap="none">
              <a:solidFill>
                <a:srgbClr val="2563EB"/>
              </a:solidFill>
              <a:latin typeface="Roboto"/>
              <a:ea typeface="Roboto"/>
              <a:cs typeface="Roboto"/>
              <a:sym typeface="Roboto"/>
            </a:endParaRPr>
          </a:p>
        </p:txBody>
      </p:sp>
      <p:sp>
        <p:nvSpPr>
          <p:cNvPr id="507" name="Google Shape;507;g3f6efaed406_0_171"/>
          <p:cNvSpPr/>
          <p:nvPr/>
        </p:nvSpPr>
        <p:spPr>
          <a:xfrm>
            <a:off x="7869816" y="5289932"/>
            <a:ext cx="4679100" cy="1270800"/>
          </a:xfrm>
          <a:prstGeom prst="rect">
            <a:avLst/>
          </a:prstGeom>
          <a:noFill/>
          <a:ln>
            <a:noFill/>
          </a:ln>
        </p:spPr>
        <p:txBody>
          <a:bodyPr spcFirstLastPara="1" wrap="square" lIns="0" tIns="0" rIns="0" bIns="0" anchor="ctr" anchorCtr="0">
            <a:noAutofit/>
          </a:bodyPr>
          <a:lstStyle/>
          <a:p>
            <a:pPr marL="0" marR="0" lvl="0" indent="0" algn="ctr" rtl="0">
              <a:lnSpc>
                <a:spcPct val="116666"/>
              </a:lnSpc>
              <a:spcBef>
                <a:spcPts val="0"/>
              </a:spcBef>
              <a:spcAft>
                <a:spcPts val="0"/>
              </a:spcAft>
              <a:buClr>
                <a:srgbClr val="26272C"/>
              </a:buClr>
              <a:buSzPts val="3600"/>
              <a:buFont typeface="Roboto"/>
              <a:buNone/>
            </a:pPr>
            <a:r>
              <a:rPr lang="pt-BR" sz="2400" b="0" i="0" u="none" strike="noStrike" cap="none">
                <a:solidFill>
                  <a:srgbClr val="059669"/>
                </a:solidFill>
                <a:latin typeface="Roboto"/>
                <a:ea typeface="Roboto"/>
                <a:cs typeface="Roboto"/>
                <a:sym typeface="Roboto"/>
              </a:rPr>
              <a:t>Passo: o que aconteceu lá dentro.</a:t>
            </a:r>
            <a:endParaRPr sz="2400" b="0" i="0" u="none" strike="noStrike" cap="none">
              <a:solidFill>
                <a:srgbClr val="059669"/>
              </a:solidFill>
              <a:latin typeface="Roboto"/>
              <a:ea typeface="Roboto"/>
              <a:cs typeface="Roboto"/>
              <a:sym typeface="Roboto"/>
            </a:endParaRPr>
          </a:p>
        </p:txBody>
      </p:sp>
      <p:sp>
        <p:nvSpPr>
          <p:cNvPr id="508" name="Google Shape;508;g3f6efaed406_0_171"/>
          <p:cNvSpPr/>
          <p:nvPr/>
        </p:nvSpPr>
        <p:spPr>
          <a:xfrm>
            <a:off x="13287033" y="5289932"/>
            <a:ext cx="4679100" cy="1270800"/>
          </a:xfrm>
          <a:prstGeom prst="rect">
            <a:avLst/>
          </a:prstGeom>
          <a:noFill/>
          <a:ln>
            <a:noFill/>
          </a:ln>
        </p:spPr>
        <p:txBody>
          <a:bodyPr spcFirstLastPara="1" wrap="square" lIns="0" tIns="0" rIns="0" bIns="0" anchor="ctr" anchorCtr="0">
            <a:noAutofit/>
          </a:bodyPr>
          <a:lstStyle/>
          <a:p>
            <a:pPr marL="0" marR="0" lvl="0" indent="0" algn="ctr" rtl="0">
              <a:lnSpc>
                <a:spcPct val="116666"/>
              </a:lnSpc>
              <a:spcBef>
                <a:spcPts val="0"/>
              </a:spcBef>
              <a:spcAft>
                <a:spcPts val="0"/>
              </a:spcAft>
              <a:buClr>
                <a:srgbClr val="26272C"/>
              </a:buClr>
              <a:buSzPts val="3600"/>
              <a:buFont typeface="Roboto"/>
              <a:buNone/>
            </a:pPr>
            <a:r>
              <a:rPr lang="pt-BR" sz="2400" b="0" i="0" u="none" strike="noStrike" cap="none">
                <a:solidFill>
                  <a:srgbClr val="7C3AED"/>
                </a:solidFill>
                <a:latin typeface="Roboto"/>
                <a:ea typeface="Roboto"/>
                <a:cs typeface="Roboto"/>
                <a:sym typeface="Roboto"/>
              </a:rPr>
              <a:t>Nota: o que o eval achou daquilo.</a:t>
            </a:r>
            <a:endParaRPr sz="2400" b="0" i="0" u="none" strike="noStrike" cap="none">
              <a:solidFill>
                <a:srgbClr val="7C3AED"/>
              </a:solidFill>
              <a:latin typeface="Roboto"/>
              <a:ea typeface="Roboto"/>
              <a:cs typeface="Roboto"/>
              <a:sym typeface="Roboto"/>
            </a:endParaRPr>
          </a:p>
        </p:txBody>
      </p:sp>
      <p:cxnSp>
        <p:nvCxnSpPr>
          <p:cNvPr id="509" name="Google Shape;509;g3f6efaed406_0_171"/>
          <p:cNvCxnSpPr/>
          <p:nvPr/>
        </p:nvCxnSpPr>
        <p:spPr>
          <a:xfrm>
            <a:off x="2947441" y="6836714"/>
            <a:ext cx="3689400" cy="0"/>
          </a:xfrm>
          <a:prstGeom prst="straightConnector1">
            <a:avLst/>
          </a:prstGeom>
          <a:noFill/>
          <a:ln w="19050" cap="flat" cmpd="sng">
            <a:solidFill>
              <a:srgbClr val="868998"/>
            </a:solidFill>
            <a:prstDash val="solid"/>
            <a:round/>
            <a:headEnd type="none" w="sm" len="sm"/>
            <a:tailEnd type="none" w="sm" len="sm"/>
          </a:ln>
        </p:spPr>
      </p:cxnSp>
      <p:cxnSp>
        <p:nvCxnSpPr>
          <p:cNvPr id="510" name="Google Shape;510;g3f6efaed406_0_171"/>
          <p:cNvCxnSpPr/>
          <p:nvPr/>
        </p:nvCxnSpPr>
        <p:spPr>
          <a:xfrm>
            <a:off x="8364654" y="6836714"/>
            <a:ext cx="3689400" cy="0"/>
          </a:xfrm>
          <a:prstGeom prst="straightConnector1">
            <a:avLst/>
          </a:prstGeom>
          <a:noFill/>
          <a:ln w="19050" cap="flat" cmpd="sng">
            <a:solidFill>
              <a:srgbClr val="868998"/>
            </a:solidFill>
            <a:prstDash val="solid"/>
            <a:round/>
            <a:headEnd type="none" w="sm" len="sm"/>
            <a:tailEnd type="none" w="sm" len="sm"/>
          </a:ln>
        </p:spPr>
      </p:cxnSp>
      <p:cxnSp>
        <p:nvCxnSpPr>
          <p:cNvPr id="511" name="Google Shape;511;g3f6efaed406_0_171"/>
          <p:cNvCxnSpPr/>
          <p:nvPr/>
        </p:nvCxnSpPr>
        <p:spPr>
          <a:xfrm>
            <a:off x="13781891" y="6836714"/>
            <a:ext cx="3689400" cy="0"/>
          </a:xfrm>
          <a:prstGeom prst="straightConnector1">
            <a:avLst/>
          </a:prstGeom>
          <a:noFill/>
          <a:ln w="19050" cap="flat" cmpd="sng">
            <a:solidFill>
              <a:srgbClr val="868998"/>
            </a:solidFill>
            <a:prstDash val="solid"/>
            <a:round/>
            <a:headEnd type="none" w="sm" len="sm"/>
            <a:tailEnd type="none" w="sm" len="sm"/>
          </a:ln>
        </p:spPr>
      </p:cxnSp>
      <p:sp>
        <p:nvSpPr>
          <p:cNvPr id="512" name="Google Shape;512;g3f6efaed406_0_171"/>
          <p:cNvSpPr/>
          <p:nvPr/>
        </p:nvSpPr>
        <p:spPr>
          <a:xfrm>
            <a:off x="2539141" y="11163907"/>
            <a:ext cx="4506000" cy="1710000"/>
          </a:xfrm>
          <a:prstGeom prst="roundRect">
            <a:avLst>
              <a:gd name="adj" fmla="val 16667"/>
            </a:avLst>
          </a:prstGeom>
          <a:solidFill>
            <a:srgbClr val="E1E7F2"/>
          </a:solidFill>
          <a:ln w="9525" cap="flat" cmpd="sng">
            <a:solidFill>
              <a:srgbClr val="E2E2E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3" name="Google Shape;513;g3f6efaed406_0_171"/>
          <p:cNvSpPr/>
          <p:nvPr/>
        </p:nvSpPr>
        <p:spPr>
          <a:xfrm>
            <a:off x="7956366" y="11163907"/>
            <a:ext cx="4506000" cy="1710000"/>
          </a:xfrm>
          <a:prstGeom prst="roundRect">
            <a:avLst>
              <a:gd name="adj" fmla="val 16667"/>
            </a:avLst>
          </a:prstGeom>
          <a:solidFill>
            <a:srgbClr val="E4EEE9"/>
          </a:solidFill>
          <a:ln w="9525" cap="flat" cmpd="sng">
            <a:solidFill>
              <a:srgbClr val="E2E2E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4" name="Google Shape;514;g3f6efaed406_0_171"/>
          <p:cNvSpPr/>
          <p:nvPr/>
        </p:nvSpPr>
        <p:spPr>
          <a:xfrm>
            <a:off x="13373591" y="11163907"/>
            <a:ext cx="4506000" cy="1710000"/>
          </a:xfrm>
          <a:prstGeom prst="roundRect">
            <a:avLst>
              <a:gd name="adj" fmla="val 16667"/>
            </a:avLst>
          </a:prstGeom>
          <a:solidFill>
            <a:srgbClr val="EAE7F3"/>
          </a:solidFill>
          <a:ln w="9525" cap="flat" cmpd="sng">
            <a:solidFill>
              <a:srgbClr val="E2E2E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5" name="Google Shape;515;g3f6efaed406_0_171"/>
          <p:cNvSpPr txBox="1"/>
          <p:nvPr/>
        </p:nvSpPr>
        <p:spPr>
          <a:xfrm>
            <a:off x="3781525" y="11383500"/>
            <a:ext cx="2748600" cy="1270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pt-BR" sz="1800" b="1" i="0" u="none" strike="noStrike" cap="none">
                <a:solidFill>
                  <a:srgbClr val="000000"/>
                </a:solidFill>
                <a:latin typeface="Roboto"/>
                <a:ea typeface="Roboto"/>
                <a:cs typeface="Roboto"/>
                <a:sym typeface="Roboto"/>
              </a:rPr>
              <a:t>Ex.:</a:t>
            </a:r>
          </a:p>
          <a:p>
            <a:pPr marL="0" marR="0" lvl="0" indent="0" algn="l" rtl="0">
              <a:lnSpc>
                <a:spcPct val="100000"/>
              </a:lnSpc>
              <a:spcBef>
                <a:spcPts val="0"/>
              </a:spcBef>
              <a:spcAft>
                <a:spcPts val="0"/>
              </a:spcAft>
              <a:buClr>
                <a:srgbClr val="000000"/>
              </a:buClr>
              <a:buSzPts val="1800"/>
              <a:buFont typeface="Arial"/>
              <a:buNone/>
            </a:pPr>
            <a:r>
              <a:rPr lang="pt-BR" sz="1800" b="1" i="0" u="none" strike="noStrike" cap="none">
                <a:solidFill>
                  <a:srgbClr val="000000"/>
                </a:solidFill>
                <a:latin typeface="Roboto"/>
                <a:ea typeface="Roboto"/>
                <a:cs typeface="Roboto"/>
                <a:sym typeface="Roboto"/>
              </a:rPr>
              <a:t>uma mediação de cardápio.</a:t>
            </a:r>
            <a:endParaRPr sz="1800" b="0" i="0" u="none" strike="noStrike" cap="none">
              <a:solidFill>
                <a:srgbClr val="000000"/>
              </a:solidFill>
              <a:latin typeface="Roboto ExtraLight"/>
              <a:ea typeface="Roboto ExtraLight"/>
              <a:cs typeface="Roboto ExtraLight"/>
              <a:sym typeface="Roboto ExtraLight"/>
            </a:endParaRPr>
          </a:p>
        </p:txBody>
      </p:sp>
      <p:sp>
        <p:nvSpPr>
          <p:cNvPr id="516" name="Google Shape;516;g3f6efaed406_0_171"/>
          <p:cNvSpPr txBox="1"/>
          <p:nvPr/>
        </p:nvSpPr>
        <p:spPr>
          <a:xfrm>
            <a:off x="9305450" y="11383500"/>
            <a:ext cx="2748600" cy="1270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pt-BR" sz="1800" b="1" i="0" u="none" strike="noStrike" cap="none">
                <a:solidFill>
                  <a:srgbClr val="000000"/>
                </a:solidFill>
                <a:latin typeface="Roboto"/>
                <a:ea typeface="Roboto"/>
                <a:cs typeface="Roboto"/>
                <a:sym typeface="Roboto"/>
              </a:rPr>
              <a:t>Ex.:</a:t>
            </a:r>
          </a:p>
          <a:p>
            <a:pPr marL="0" marR="0" lvl="0" indent="0" algn="l" rtl="0">
              <a:lnSpc>
                <a:spcPct val="100000"/>
              </a:lnSpc>
              <a:spcBef>
                <a:spcPts val="0"/>
              </a:spcBef>
              <a:spcAft>
                <a:spcPts val="0"/>
              </a:spcAft>
              <a:buClr>
                <a:srgbClr val="000000"/>
              </a:buClr>
              <a:buSzPts val="1800"/>
              <a:buFont typeface="Arial"/>
              <a:buNone/>
            </a:pPr>
            <a:r>
              <a:rPr lang="pt-BR" sz="1800" b="1" i="0" u="none" strike="noStrike" cap="none">
                <a:solidFill>
                  <a:srgbClr val="000000"/>
                </a:solidFill>
                <a:latin typeface="Roboto"/>
                <a:ea typeface="Roboto"/>
                <a:cs typeface="Roboto"/>
                <a:sym typeface="Roboto"/>
              </a:rPr>
              <a:t>a consulta ao estoque.</a:t>
            </a:r>
            <a:endParaRPr sz="1800" b="0" i="0" u="none" strike="noStrike" cap="none">
              <a:solidFill>
                <a:srgbClr val="000000"/>
              </a:solidFill>
              <a:latin typeface="Roboto"/>
              <a:ea typeface="Roboto"/>
              <a:cs typeface="Roboto"/>
              <a:sym typeface="Roboto"/>
            </a:endParaRPr>
          </a:p>
        </p:txBody>
      </p:sp>
      <p:sp>
        <p:nvSpPr>
          <p:cNvPr id="517" name="Google Shape;517;g3f6efaed406_0_171"/>
          <p:cNvSpPr txBox="1"/>
          <p:nvPr/>
        </p:nvSpPr>
        <p:spPr>
          <a:xfrm>
            <a:off x="14722688" y="11383500"/>
            <a:ext cx="2748600" cy="1270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pt-BR" sz="1800" b="1" i="0" u="none" strike="noStrike" cap="none">
                <a:solidFill>
                  <a:srgbClr val="000000"/>
                </a:solidFill>
                <a:latin typeface="Roboto"/>
                <a:ea typeface="Roboto"/>
                <a:cs typeface="Roboto"/>
                <a:sym typeface="Roboto"/>
              </a:rPr>
              <a:t>Ex.:</a:t>
            </a:r>
          </a:p>
          <a:p>
            <a:pPr marL="0" marR="0" lvl="0" indent="0" algn="l" rtl="0">
              <a:lnSpc>
                <a:spcPct val="100000"/>
              </a:lnSpc>
              <a:spcBef>
                <a:spcPts val="0"/>
              </a:spcBef>
              <a:spcAft>
                <a:spcPts val="0"/>
              </a:spcAft>
              <a:buClr>
                <a:srgbClr val="000000"/>
              </a:buClr>
              <a:buSzPts val="1800"/>
              <a:buFont typeface="Arial"/>
              <a:buNone/>
            </a:pPr>
            <a:r>
              <a:rPr lang="pt-BR" sz="1800" b="1" i="0" u="none" strike="noStrike" cap="none">
                <a:solidFill>
                  <a:srgbClr val="000000"/>
                </a:solidFill>
                <a:latin typeface="Roboto"/>
                <a:ea typeface="Roboto"/>
                <a:cs typeface="Roboto"/>
                <a:sym typeface="Roboto"/>
              </a:rPr>
              <a:t>execução íntegra: 0.</a:t>
            </a:r>
            <a:endParaRPr sz="1800" b="0" i="0" u="none" strike="noStrike" cap="none">
              <a:solidFill>
                <a:srgbClr val="000000"/>
              </a:solidFill>
              <a:latin typeface="Roboto ExtraLight"/>
              <a:ea typeface="Roboto ExtraLight"/>
              <a:cs typeface="Roboto ExtraLight"/>
              <a:sym typeface="Roboto ExtraLight"/>
            </a:endParaRPr>
          </a:p>
        </p:txBody>
      </p:sp>
      <p:pic>
        <p:nvPicPr>
          <p:cNvPr id="518" name="Google Shape;518;g3f6efaed406_0_171" title="light-bulb (1).png"/>
          <p:cNvPicPr preferRelativeResize="0"/>
          <p:nvPr/>
        </p:nvPicPr>
        <p:blipFill rotWithShape="1">
          <a:blip r:embed="rId13">
            <a:alphaModFix/>
          </a:blip>
          <a:srcRect/>
          <a:stretch/>
        </p:blipFill>
        <p:spPr>
          <a:xfrm>
            <a:off x="2947450" y="11622125"/>
            <a:ext cx="593100" cy="593100"/>
          </a:xfrm>
          <a:prstGeom prst="rect">
            <a:avLst/>
          </a:prstGeom>
          <a:noFill/>
          <a:ln>
            <a:noFill/>
          </a:ln>
        </p:spPr>
      </p:pic>
      <p:pic>
        <p:nvPicPr>
          <p:cNvPr id="519" name="Google Shape;519;g3f6efaed406_0_171" title="eye.png"/>
          <p:cNvPicPr preferRelativeResize="0"/>
          <p:nvPr/>
        </p:nvPicPr>
        <p:blipFill rotWithShape="1">
          <a:blip r:embed="rId14">
            <a:alphaModFix/>
          </a:blip>
          <a:srcRect/>
          <a:stretch/>
        </p:blipFill>
        <p:spPr>
          <a:xfrm>
            <a:off x="8445950" y="11665500"/>
            <a:ext cx="593100" cy="593100"/>
          </a:xfrm>
          <a:prstGeom prst="rect">
            <a:avLst/>
          </a:prstGeom>
          <a:noFill/>
          <a:ln>
            <a:noFill/>
          </a:ln>
        </p:spPr>
      </p:pic>
      <p:pic>
        <p:nvPicPr>
          <p:cNvPr id="520" name="Google Shape;520;g3f6efaed406_0_171" title="padlock.png"/>
          <p:cNvPicPr preferRelativeResize="0"/>
          <p:nvPr/>
        </p:nvPicPr>
        <p:blipFill rotWithShape="1">
          <a:blip r:embed="rId15">
            <a:alphaModFix/>
          </a:blip>
          <a:srcRect/>
          <a:stretch/>
        </p:blipFill>
        <p:spPr>
          <a:xfrm>
            <a:off x="13781900" y="11622125"/>
            <a:ext cx="593100" cy="593100"/>
          </a:xfrm>
          <a:prstGeom prst="rect">
            <a:avLst/>
          </a:prstGeom>
          <a:noFill/>
          <a:ln>
            <a:noFill/>
          </a:ln>
        </p:spPr>
      </p:pic>
    </p:spTree>
    <p:extLst>
      <p:ext uri="{BB962C8B-B14F-4D97-AF65-F5344CB8AC3E}">
        <p14:creationId xmlns:p14="http://schemas.microsoft.com/office/powerpoint/2010/main" val="1236293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Uma mensagem, 2 passos. Uma mediação, 12.</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26709684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g3f8342f7686_0_102"/>
          <p:cNvSpPr/>
          <p:nvPr/>
        </p:nvSpPr>
        <p:spPr>
          <a:xfrm>
            <a:off x="2426003" y="3149600"/>
            <a:ext cx="9983400" cy="7416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5" name="Google Shape;595;g3f8342f7686_0_102"/>
          <p:cNvSpPr/>
          <p:nvPr/>
        </p:nvSpPr>
        <p:spPr>
          <a:xfrm>
            <a:off x="2426003" y="3149600"/>
            <a:ext cx="11159400" cy="26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DBFC7"/>
              </a:buClr>
              <a:buSzPts val="8800"/>
              <a:buFont typeface="Encode Sans"/>
              <a:buNone/>
            </a:pPr>
            <a:r>
              <a:rPr lang="pt-BR" sz="8800" b="0" i="0" u="none" strike="noStrike" cap="none">
                <a:solidFill>
                  <a:srgbClr val="BDBFC7"/>
                </a:solidFill>
                <a:latin typeface="Encode Sans"/>
                <a:ea typeface="Encode Sans"/>
                <a:cs typeface="Encode Sans"/>
                <a:sym typeface="Encode Sans"/>
              </a:rPr>
              <a:t>Ligando no seu produto</a:t>
            </a:r>
            <a:endParaRPr sz="8800" b="0" i="0" u="none" strike="noStrike" cap="none">
              <a:solidFill>
                <a:schemeClr val="dk1"/>
              </a:solidFill>
              <a:latin typeface="Encode Sans"/>
              <a:ea typeface="Encode Sans"/>
              <a:cs typeface="Encode Sans"/>
              <a:sym typeface="Encode Sans"/>
            </a:endParaRPr>
          </a:p>
        </p:txBody>
      </p:sp>
      <p:sp>
        <p:nvSpPr>
          <p:cNvPr id="596" name="Google Shape;596;g3f8342f7686_0_102"/>
          <p:cNvSpPr/>
          <p:nvPr/>
        </p:nvSpPr>
        <p:spPr>
          <a:xfrm>
            <a:off x="2426003" y="6502400"/>
            <a:ext cx="9983400" cy="4064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7" name="Google Shape;597;g3f8342f7686_0_102"/>
          <p:cNvSpPr/>
          <p:nvPr/>
        </p:nvSpPr>
        <p:spPr>
          <a:xfrm>
            <a:off x="2426003" y="6502400"/>
            <a:ext cx="9983400" cy="1066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98" name="Google Shape;598;g3f8342f7686_0_102" descr=" "/>
          <p:cNvPicPr preferRelativeResize="0"/>
          <p:nvPr/>
        </p:nvPicPr>
        <p:blipFill rotWithShape="1">
          <a:blip r:embed="rId3">
            <a:alphaModFix/>
          </a:blip>
          <a:srcRect/>
          <a:stretch/>
        </p:blipFill>
        <p:spPr>
          <a:xfrm>
            <a:off x="2426003" y="6502400"/>
            <a:ext cx="711289" cy="711200"/>
          </a:xfrm>
          <a:prstGeom prst="rect">
            <a:avLst/>
          </a:prstGeom>
          <a:noFill/>
          <a:ln>
            <a:noFill/>
          </a:ln>
        </p:spPr>
      </p:pic>
      <p:pic>
        <p:nvPicPr>
          <p:cNvPr id="599" name="Google Shape;599;g3f8342f7686_0_102" descr=" "/>
          <p:cNvPicPr preferRelativeResize="0"/>
          <p:nvPr/>
        </p:nvPicPr>
        <p:blipFill rotWithShape="1">
          <a:blip r:embed="rId4">
            <a:alphaModFix/>
          </a:blip>
          <a:srcRect/>
          <a:stretch/>
        </p:blipFill>
        <p:spPr>
          <a:xfrm>
            <a:off x="2548783" y="6671734"/>
            <a:ext cx="465723" cy="406400"/>
          </a:xfrm>
          <a:prstGeom prst="rect">
            <a:avLst/>
          </a:prstGeom>
          <a:noFill/>
          <a:ln>
            <a:noFill/>
          </a:ln>
        </p:spPr>
      </p:pic>
      <p:sp>
        <p:nvSpPr>
          <p:cNvPr id="600" name="Google Shape;600;g3f8342f7686_0_102"/>
          <p:cNvSpPr/>
          <p:nvPr/>
        </p:nvSpPr>
        <p:spPr>
          <a:xfrm>
            <a:off x="3645356" y="6502400"/>
            <a:ext cx="99399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Crie o projeto e gere as chaves nas configurações.</a:t>
            </a:r>
            <a:endParaRPr sz="3600" b="0" i="0" u="none" strike="noStrike" cap="none">
              <a:solidFill>
                <a:schemeClr val="dk1"/>
              </a:solidFill>
              <a:latin typeface="Roboto"/>
              <a:ea typeface="Roboto"/>
              <a:cs typeface="Roboto"/>
              <a:sym typeface="Roboto"/>
            </a:endParaRPr>
          </a:p>
        </p:txBody>
      </p:sp>
      <p:sp>
        <p:nvSpPr>
          <p:cNvPr id="601" name="Google Shape;601;g3f8342f7686_0_102"/>
          <p:cNvSpPr/>
          <p:nvPr/>
        </p:nvSpPr>
        <p:spPr>
          <a:xfrm>
            <a:off x="2426003" y="8178800"/>
            <a:ext cx="9983400" cy="711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02" name="Google Shape;602;g3f8342f7686_0_102" descr=" "/>
          <p:cNvPicPr preferRelativeResize="0"/>
          <p:nvPr/>
        </p:nvPicPr>
        <p:blipFill rotWithShape="1">
          <a:blip r:embed="rId3">
            <a:alphaModFix/>
          </a:blip>
          <a:srcRect/>
          <a:stretch/>
        </p:blipFill>
        <p:spPr>
          <a:xfrm>
            <a:off x="2426003" y="7989147"/>
            <a:ext cx="711289" cy="711200"/>
          </a:xfrm>
          <a:prstGeom prst="rect">
            <a:avLst/>
          </a:prstGeom>
          <a:noFill/>
          <a:ln>
            <a:noFill/>
          </a:ln>
        </p:spPr>
      </p:pic>
      <p:pic>
        <p:nvPicPr>
          <p:cNvPr id="603" name="Google Shape;603;g3f8342f7686_0_102" descr=" "/>
          <p:cNvPicPr preferRelativeResize="0"/>
          <p:nvPr/>
        </p:nvPicPr>
        <p:blipFill rotWithShape="1">
          <a:blip r:embed="rId4">
            <a:alphaModFix/>
          </a:blip>
          <a:srcRect/>
          <a:stretch/>
        </p:blipFill>
        <p:spPr>
          <a:xfrm>
            <a:off x="2548783" y="8331200"/>
            <a:ext cx="465723" cy="406400"/>
          </a:xfrm>
          <a:prstGeom prst="rect">
            <a:avLst/>
          </a:prstGeom>
          <a:noFill/>
          <a:ln>
            <a:noFill/>
          </a:ln>
        </p:spPr>
      </p:pic>
      <p:sp>
        <p:nvSpPr>
          <p:cNvPr id="604" name="Google Shape;604;g3f8342f7686_0_102"/>
          <p:cNvSpPr/>
          <p:nvPr/>
        </p:nvSpPr>
        <p:spPr>
          <a:xfrm>
            <a:off x="3645356" y="8172450"/>
            <a:ext cx="9263100" cy="6690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São três valores: duas chaves e o endereço. Você cola na configuração do seu produto.</a:t>
            </a:r>
            <a:endParaRPr sz="3600" b="0" i="0" u="none" strike="noStrike" cap="none">
              <a:solidFill>
                <a:schemeClr val="dk1"/>
              </a:solidFill>
              <a:latin typeface="Roboto"/>
              <a:ea typeface="Roboto"/>
              <a:cs typeface="Roboto"/>
              <a:sym typeface="Roboto"/>
            </a:endParaRPr>
          </a:p>
        </p:txBody>
      </p:sp>
      <p:pic>
        <p:nvPicPr>
          <p:cNvPr id="605" name="Google Shape;605;g3f8342f7686_0_102" descr=" "/>
          <p:cNvPicPr preferRelativeResize="0"/>
          <p:nvPr/>
        </p:nvPicPr>
        <p:blipFill rotWithShape="1">
          <a:blip r:embed="rId3">
            <a:alphaModFix/>
          </a:blip>
          <a:srcRect/>
          <a:stretch/>
        </p:blipFill>
        <p:spPr>
          <a:xfrm>
            <a:off x="2426003" y="9761538"/>
            <a:ext cx="711289" cy="711200"/>
          </a:xfrm>
          <a:prstGeom prst="rect">
            <a:avLst/>
          </a:prstGeom>
          <a:noFill/>
          <a:ln>
            <a:noFill/>
          </a:ln>
        </p:spPr>
      </p:pic>
      <p:pic>
        <p:nvPicPr>
          <p:cNvPr id="606" name="Google Shape;606;g3f8342f7686_0_102" descr=" "/>
          <p:cNvPicPr preferRelativeResize="0"/>
          <p:nvPr/>
        </p:nvPicPr>
        <p:blipFill rotWithShape="1">
          <a:blip r:embed="rId4">
            <a:alphaModFix/>
          </a:blip>
          <a:srcRect/>
          <a:stretch/>
        </p:blipFill>
        <p:spPr>
          <a:xfrm>
            <a:off x="2548783" y="10349548"/>
            <a:ext cx="465723" cy="406400"/>
          </a:xfrm>
          <a:prstGeom prst="rect">
            <a:avLst/>
          </a:prstGeom>
          <a:noFill/>
          <a:ln>
            <a:noFill/>
          </a:ln>
        </p:spPr>
      </p:pic>
      <p:sp>
        <p:nvSpPr>
          <p:cNvPr id="607" name="Google Shape;607;g3f8342f7686_0_102"/>
          <p:cNvSpPr/>
          <p:nvPr/>
        </p:nvSpPr>
        <p:spPr>
          <a:xfrm>
            <a:off x="3645356" y="10349548"/>
            <a:ext cx="92631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O rastro precisa ligar antes de todo o resto. Se ligar tarde, o que veio antes some sem aviso.</a:t>
            </a:r>
            <a:endParaRPr sz="3600" b="1" i="0" u="none" strike="noStrike" cap="none">
              <a:solidFill>
                <a:schemeClr val="dk1"/>
              </a:solidFill>
              <a:latin typeface="Roboto"/>
              <a:ea typeface="Roboto"/>
              <a:cs typeface="Roboto"/>
              <a:sym typeface="Roboto"/>
            </a:endParaRPr>
          </a:p>
        </p:txBody>
      </p:sp>
      <p:pic>
        <p:nvPicPr>
          <p:cNvPr id="611" name="Google Shape;611;g3f8342f7686_0_102" descr="Ícone&#10;&#10;O conteúdo gerado por IA pode estar incorreto."/>
          <p:cNvPicPr preferRelativeResize="0"/>
          <p:nvPr/>
        </p:nvPicPr>
        <p:blipFill rotWithShape="1">
          <a:blip r:embed="rId5">
            <a:alphaModFix/>
          </a:blip>
          <a:srcRect/>
          <a:stretch/>
        </p:blipFill>
        <p:spPr>
          <a:xfrm>
            <a:off x="-2202249" y="-8621"/>
            <a:ext cx="1568332" cy="10010052"/>
          </a:xfrm>
          <a:prstGeom prst="rect">
            <a:avLst/>
          </a:prstGeom>
          <a:noFill/>
          <a:ln>
            <a:noFill/>
          </a:ln>
        </p:spPr>
      </p:pic>
      <p:pic>
        <p:nvPicPr>
          <p:cNvPr id="3" name="Imagem 2">
            <a:extLst>
              <a:ext uri="{FF2B5EF4-FFF2-40B4-BE49-F238E27FC236}">
                <a16:creationId xmlns:a16="http://schemas.microsoft.com/office/drawing/2014/main" id="{33BA6F74-77D1-D7A7-3BE3-CCACB6707E0A}"/>
              </a:ext>
            </a:extLst>
          </p:cNvPr>
          <p:cNvPicPr>
            <a:picLocks noChangeAspect="1"/>
          </p:cNvPicPr>
          <p:nvPr/>
        </p:nvPicPr>
        <p:blipFill>
          <a:blip r:embed="rId6"/>
          <a:stretch>
            <a:fillRect/>
          </a:stretch>
        </p:blipFill>
        <p:spPr>
          <a:xfrm>
            <a:off x="14909055" y="-818896"/>
            <a:ext cx="9478119" cy="16981630"/>
          </a:xfrm>
          <a:prstGeom prst="rect">
            <a:avLst/>
          </a:prstGeom>
        </p:spPr>
      </p:pic>
      <p:sp>
        <p:nvSpPr>
          <p:cNvPr id="5" name="Google Shape;389;g3f3dd40fd11_1_233">
            <a:extLst>
              <a:ext uri="{FF2B5EF4-FFF2-40B4-BE49-F238E27FC236}">
                <a16:creationId xmlns:a16="http://schemas.microsoft.com/office/drawing/2014/main" id="{B10402B1-9C83-974D-8A05-1C4951792A36}"/>
              </a:ext>
            </a:extLst>
          </p:cNvPr>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 name="Google Shape;390;g3f3dd40fd11_1_233" descr=" ">
            <a:extLst>
              <a:ext uri="{FF2B5EF4-FFF2-40B4-BE49-F238E27FC236}">
                <a16:creationId xmlns:a16="http://schemas.microsoft.com/office/drawing/2014/main" id="{AC25A756-7848-2209-FA35-C81E6BC68BD6}"/>
              </a:ext>
            </a:extLst>
          </p:cNvPr>
          <p:cNvPicPr preferRelativeResize="0"/>
          <p:nvPr/>
        </p:nvPicPr>
        <p:blipFill rotWithShape="1">
          <a:blip r:embed="rId7">
            <a:alphaModFix/>
          </a:blip>
          <a:srcRect/>
          <a:stretch/>
        </p:blipFill>
        <p:spPr>
          <a:xfrm>
            <a:off x="23433139" y="406400"/>
            <a:ext cx="476942" cy="593018"/>
          </a:xfrm>
          <a:prstGeom prst="rect">
            <a:avLst/>
          </a:prstGeom>
          <a:noFill/>
          <a:ln>
            <a:noFill/>
          </a:ln>
        </p:spPr>
      </p:pic>
      <p:pic>
        <p:nvPicPr>
          <p:cNvPr id="9" name="Google Shape;395;g3f3dd40fd11_1_233" descr=" ">
            <a:extLst>
              <a:ext uri="{FF2B5EF4-FFF2-40B4-BE49-F238E27FC236}">
                <a16:creationId xmlns:a16="http://schemas.microsoft.com/office/drawing/2014/main" id="{E6E34C37-16D9-CB5F-9FD8-14D93CBA4E20}"/>
              </a:ext>
            </a:extLst>
          </p:cNvPr>
          <p:cNvPicPr preferRelativeResize="0"/>
          <p:nvPr/>
        </p:nvPicPr>
        <p:blipFill rotWithShape="1">
          <a:blip r:embed="rId8">
            <a:alphaModFix/>
          </a:blip>
          <a:srcRect/>
          <a:stretch/>
        </p:blipFill>
        <p:spPr>
          <a:xfrm>
            <a:off x="14908911" y="-1098467"/>
            <a:ext cx="3651919" cy="15201733"/>
          </a:xfrm>
          <a:prstGeom prst="rect">
            <a:avLst/>
          </a:prstGeom>
          <a:noFill/>
          <a:ln>
            <a:noFill/>
          </a:ln>
        </p:spPr>
      </p:pic>
    </p:spTree>
    <p:extLst>
      <p:ext uri="{BB962C8B-B14F-4D97-AF65-F5344CB8AC3E}">
        <p14:creationId xmlns:p14="http://schemas.microsoft.com/office/powerpoint/2010/main" val="766502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g3f3de5a4e7f_0_43"/>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 name="Google Shape;527;g3f3de5a4e7f_0_43"/>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8" name="Google Shape;528;g3f3de5a4e7f_0_43" descr=" "/>
          <p:cNvPicPr preferRelativeResize="0"/>
          <p:nvPr/>
        </p:nvPicPr>
        <p:blipFill rotWithShape="1">
          <a:blip r:embed="rId3">
            <a:alphaModFix/>
          </a:blip>
          <a:srcRect/>
          <a:stretch/>
        </p:blipFill>
        <p:spPr>
          <a:xfrm>
            <a:off x="23433139" y="406400"/>
            <a:ext cx="476942" cy="593018"/>
          </a:xfrm>
          <a:prstGeom prst="rect">
            <a:avLst/>
          </a:prstGeom>
          <a:noFill/>
          <a:ln>
            <a:noFill/>
          </a:ln>
        </p:spPr>
      </p:pic>
      <p:sp>
        <p:nvSpPr>
          <p:cNvPr id="529" name="Google Shape;529;g3f3de5a4e7f_0_43"/>
          <p:cNvSpPr/>
          <p:nvPr/>
        </p:nvSpPr>
        <p:spPr>
          <a:xfrm>
            <a:off x="7214502" y="5156200"/>
            <a:ext cx="10402500" cy="38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200"/>
              <a:buFont typeface="Encode Sans"/>
              <a:buNone/>
            </a:pPr>
            <a:r>
              <a:rPr lang="pt-BR" sz="10200" b="0" i="0" u="none" strike="noStrike" cap="none">
                <a:solidFill>
                  <a:srgbClr val="FFFFFF"/>
                </a:solidFill>
                <a:latin typeface="Encode Sans"/>
                <a:ea typeface="Encode Sans"/>
                <a:cs typeface="Encode Sans"/>
                <a:sym typeface="Encode Sans"/>
              </a:rPr>
              <a:t>3.2.1 Antes e depois</a:t>
            </a:r>
            <a:endParaRPr sz="10200" b="0" i="0" u="none" strike="noStrike" cap="none">
              <a:solidFill>
                <a:schemeClr val="dk1"/>
              </a:solidFill>
              <a:latin typeface="Encode Sans"/>
              <a:ea typeface="Encode Sans"/>
              <a:cs typeface="Encode Sans"/>
              <a:sym typeface="Encode Sans"/>
            </a:endParaRPr>
          </a:p>
        </p:txBody>
      </p:sp>
      <p:pic>
        <p:nvPicPr>
          <p:cNvPr id="530" name="Google Shape;530;g3f3de5a4e7f_0_43" descr="Ícone&#10;&#10;O conteúdo gerado por IA pode estar incorreto."/>
          <p:cNvPicPr preferRelativeResize="0"/>
          <p:nvPr/>
        </p:nvPicPr>
        <p:blipFill rotWithShape="1">
          <a:blip r:embed="rId4">
            <a:alphaModFix/>
          </a:blip>
          <a:srcRect/>
          <a:stretch/>
        </p:blipFill>
        <p:spPr>
          <a:xfrm>
            <a:off x="25140419" y="-144842"/>
            <a:ext cx="1568332" cy="10010052"/>
          </a:xfrm>
          <a:prstGeom prst="rect">
            <a:avLst/>
          </a:prstGeom>
          <a:noFill/>
          <a:ln>
            <a:noFill/>
          </a:ln>
        </p:spPr>
      </p:pic>
    </p:spTree>
    <p:extLst>
      <p:ext uri="{BB962C8B-B14F-4D97-AF65-F5344CB8AC3E}">
        <p14:creationId xmlns:p14="http://schemas.microsoft.com/office/powerpoint/2010/main" val="29269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O aviso existe. Mora onde ninguém lê.</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3158614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g3f3de5a4e7f_0_43"/>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 name="Google Shape;527;g3f3de5a4e7f_0_43"/>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8" name="Google Shape;528;g3f3de5a4e7f_0_43" descr=" "/>
          <p:cNvPicPr preferRelativeResize="0"/>
          <p:nvPr/>
        </p:nvPicPr>
        <p:blipFill rotWithShape="1">
          <a:blip r:embed="rId3">
            <a:alphaModFix/>
          </a:blip>
          <a:srcRect/>
          <a:stretch/>
        </p:blipFill>
        <p:spPr>
          <a:xfrm>
            <a:off x="23433139" y="406400"/>
            <a:ext cx="476942" cy="593018"/>
          </a:xfrm>
          <a:prstGeom prst="rect">
            <a:avLst/>
          </a:prstGeom>
          <a:noFill/>
          <a:ln>
            <a:noFill/>
          </a:ln>
        </p:spPr>
      </p:pic>
      <p:sp>
        <p:nvSpPr>
          <p:cNvPr id="529" name="Google Shape;529;g3f3de5a4e7f_0_43"/>
          <p:cNvSpPr/>
          <p:nvPr/>
        </p:nvSpPr>
        <p:spPr>
          <a:xfrm>
            <a:off x="7214502" y="5156200"/>
            <a:ext cx="10402500" cy="38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200"/>
              <a:buFont typeface="Encode Sans"/>
              <a:buNone/>
            </a:pPr>
            <a:r>
              <a:rPr lang="pt-BR" sz="10200" b="0" i="0" u="none" strike="noStrike" cap="none">
                <a:solidFill>
                  <a:srgbClr val="FFFFFF"/>
                </a:solidFill>
                <a:latin typeface="Encode Sans"/>
                <a:ea typeface="Encode Sans"/>
                <a:cs typeface="Encode Sans"/>
                <a:sym typeface="Encode Sans"/>
              </a:rPr>
              <a:t>3.2.2 Ligando de volta</a:t>
            </a:r>
            <a:endParaRPr sz="10200" b="0" i="0" u="none" strike="noStrike" cap="none">
              <a:solidFill>
                <a:schemeClr val="dk1"/>
              </a:solidFill>
              <a:latin typeface="Encode Sans"/>
              <a:ea typeface="Encode Sans"/>
              <a:cs typeface="Encode Sans"/>
              <a:sym typeface="Encode Sans"/>
            </a:endParaRPr>
          </a:p>
        </p:txBody>
      </p:sp>
      <p:pic>
        <p:nvPicPr>
          <p:cNvPr id="530" name="Google Shape;530;g3f3de5a4e7f_0_43" descr="Ícone&#10;&#10;O conteúdo gerado por IA pode estar incorreto."/>
          <p:cNvPicPr preferRelativeResize="0"/>
          <p:nvPr/>
        </p:nvPicPr>
        <p:blipFill rotWithShape="1">
          <a:blip r:embed="rId4">
            <a:alphaModFix/>
          </a:blip>
          <a:srcRect/>
          <a:stretch/>
        </p:blipFill>
        <p:spPr>
          <a:xfrm>
            <a:off x="25140419" y="-144842"/>
            <a:ext cx="1568332" cy="10010052"/>
          </a:xfrm>
          <a:prstGeom prst="rect">
            <a:avLst/>
          </a:prstGeom>
          <a:noFill/>
          <a:ln>
            <a:noFill/>
          </a:ln>
        </p:spPr>
      </p:pic>
    </p:spTree>
    <p:extLst>
      <p:ext uri="{BB962C8B-B14F-4D97-AF65-F5344CB8AC3E}">
        <p14:creationId xmlns:p14="http://schemas.microsoft.com/office/powerpoint/2010/main" val="25341621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Tempo real não é instantâneo.</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1952265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A diferença está no que eu consigo ver.</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12136273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g3f3de5a4e7f_0_43"/>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 name="Google Shape;527;g3f3de5a4e7f_0_43"/>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8" name="Google Shape;528;g3f3de5a4e7f_0_43" descr=" "/>
          <p:cNvPicPr preferRelativeResize="0"/>
          <p:nvPr/>
        </p:nvPicPr>
        <p:blipFill rotWithShape="1">
          <a:blip r:embed="rId3">
            <a:alphaModFix/>
          </a:blip>
          <a:srcRect/>
          <a:stretch/>
        </p:blipFill>
        <p:spPr>
          <a:xfrm>
            <a:off x="23433139" y="406400"/>
            <a:ext cx="476942" cy="593018"/>
          </a:xfrm>
          <a:prstGeom prst="rect">
            <a:avLst/>
          </a:prstGeom>
          <a:noFill/>
          <a:ln>
            <a:noFill/>
          </a:ln>
        </p:spPr>
      </p:pic>
      <p:sp>
        <p:nvSpPr>
          <p:cNvPr id="529" name="Google Shape;529;g3f3de5a4e7f_0_43"/>
          <p:cNvSpPr/>
          <p:nvPr/>
        </p:nvSpPr>
        <p:spPr>
          <a:xfrm>
            <a:off x="7214502" y="5156200"/>
            <a:ext cx="10402500" cy="38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200"/>
              <a:buFont typeface="Encode Sans"/>
              <a:buNone/>
            </a:pPr>
            <a:r>
              <a:rPr lang="pt-BR" sz="10200" b="0" i="0" u="none" strike="noStrike" cap="none">
                <a:solidFill>
                  <a:srgbClr val="FFFFFF"/>
                </a:solidFill>
                <a:latin typeface="Encode Sans"/>
                <a:ea typeface="Encode Sans"/>
                <a:cs typeface="Encode Sans"/>
                <a:sym typeface="Encode Sans"/>
              </a:rPr>
              <a:t>3.3 Lendo os dados de produção</a:t>
            </a:r>
            <a:endParaRPr sz="10200" b="0" i="0" u="none" strike="noStrike" cap="none">
              <a:solidFill>
                <a:schemeClr val="dk1"/>
              </a:solidFill>
              <a:latin typeface="Encode Sans"/>
              <a:ea typeface="Encode Sans"/>
              <a:cs typeface="Encode Sans"/>
              <a:sym typeface="Encode Sans"/>
            </a:endParaRPr>
          </a:p>
        </p:txBody>
      </p:sp>
      <p:pic>
        <p:nvPicPr>
          <p:cNvPr id="530" name="Google Shape;530;g3f3de5a4e7f_0_43" descr="Ícone&#10;&#10;O conteúdo gerado por IA pode estar incorreto."/>
          <p:cNvPicPr preferRelativeResize="0"/>
          <p:nvPr/>
        </p:nvPicPr>
        <p:blipFill rotWithShape="1">
          <a:blip r:embed="rId4">
            <a:alphaModFix/>
          </a:blip>
          <a:srcRect/>
          <a:stretch/>
        </p:blipFill>
        <p:spPr>
          <a:xfrm>
            <a:off x="25140419" y="-144842"/>
            <a:ext cx="1568332" cy="10010052"/>
          </a:xfrm>
          <a:prstGeom prst="rect">
            <a:avLst/>
          </a:prstGeom>
          <a:noFill/>
          <a:ln>
            <a:noFill/>
          </a:ln>
        </p:spPr>
      </p:pic>
    </p:spTree>
    <p:extLst>
      <p:ext uri="{BB962C8B-B14F-4D97-AF65-F5344CB8AC3E}">
        <p14:creationId xmlns:p14="http://schemas.microsoft.com/office/powerpoint/2010/main" val="23761755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Uma conversa por vez não mostra o produto.</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36063440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3810000" y="1397000"/>
            <a:ext cx="16764000" cy="21590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6000" b="0" i="0" u="none" strike="noStrike" cap="none">
                <a:solidFill>
                  <a:srgbClr val="BDBFC7"/>
                </a:solidFill>
                <a:latin typeface="Encode Sans"/>
                <a:ea typeface="Encode Sans"/>
                <a:cs typeface="Encode Sans"/>
                <a:sym typeface="Encode Sans"/>
              </a:rPr>
              <a:t>42 interações, US$ 1,54</a:t>
            </a:r>
            <a:endParaRPr sz="60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
        <p:nvSpPr>
          <p:cNvPr id="2" name="CaixaDeTexto 1">
            <a:extLst>
              <a:ext uri="{FF2B5EF4-FFF2-40B4-BE49-F238E27FC236}">
                <a16:creationId xmlns:a16="http://schemas.microsoft.com/office/drawing/2014/main" id="{67D3B152-8FD0-AFCE-CFA9-6C5DEEE5103B}"/>
              </a:ext>
            </a:extLst>
          </p:cNvPr>
          <p:cNvSpPr txBox="1"/>
          <p:nvPr/>
        </p:nvSpPr>
        <p:spPr>
          <a:xfrm>
            <a:off x="3810000" y="3619500"/>
            <a:ext cx="16764000" cy="461665"/>
          </a:xfrm>
          <a:prstGeom prst="rect">
            <a:avLst/>
          </a:prstGeom>
          <a:noFill/>
        </p:spPr>
        <p:txBody>
          <a:bodyPr vert="horz" rtlCol="0">
            <a:spAutoFit/>
          </a:bodyPr>
          <a:lstStyle/>
          <a:p>
            <a:pPr algn="ctr"/>
            <a:r>
              <a:rPr lang="pt-BR" sz="2400">
                <a:solidFill>
                  <a:srgbClr val="BBBBBB"/>
                </a:solidFill>
              </a:rPr>
              <a:t>Meu produto de 21/08 a 14/09. Foto tirada em 16/09.</a:t>
            </a:r>
          </a:p>
        </p:txBody>
      </p:sp>
      <p:graphicFrame>
        <p:nvGraphicFramePr>
          <p:cNvPr id="3" name="Tabela 2">
            <a:extLst>
              <a:ext uri="{FF2B5EF4-FFF2-40B4-BE49-F238E27FC236}">
                <a16:creationId xmlns:a16="http://schemas.microsoft.com/office/drawing/2014/main" id="{27428C36-146C-5B19-A3A5-8BC5C85D7045}"/>
              </a:ext>
            </a:extLst>
          </p:cNvPr>
          <p:cNvGraphicFramePr>
            <a:graphicFrameLocks noGrp="1"/>
          </p:cNvGraphicFramePr>
          <p:nvPr>
            <p:extLst>
              <p:ext uri="{D42A27DB-BD31-4B8C-83A1-F6EECF244321}">
                <p14:modId xmlns:p14="http://schemas.microsoft.com/office/powerpoint/2010/main" val="3188468656"/>
              </p:ext>
            </p:extLst>
          </p:nvPr>
        </p:nvGraphicFramePr>
        <p:xfrm>
          <a:off x="5842000" y="4699000"/>
          <a:ext cx="12700000" cy="4572000"/>
        </p:xfrm>
        <a:graphic>
          <a:graphicData uri="http://schemas.openxmlformats.org/drawingml/2006/table">
            <a:tbl>
              <a:tblPr firstRow="1" bandRow="1">
                <a:tableStyleId>{5C22544A-7EE6-4342-B048-85BDC9FD1C3A}</a:tableStyleId>
              </a:tblPr>
              <a:tblGrid>
                <a:gridCol w="3175000">
                  <a:extLst>
                    <a:ext uri="{9D8B030D-6E8A-4147-A177-3AD203B41FA5}">
                      <a16:colId xmlns:a16="http://schemas.microsoft.com/office/drawing/2014/main" val="4014883390"/>
                    </a:ext>
                  </a:extLst>
                </a:gridCol>
                <a:gridCol w="3175000">
                  <a:extLst>
                    <a:ext uri="{9D8B030D-6E8A-4147-A177-3AD203B41FA5}">
                      <a16:colId xmlns:a16="http://schemas.microsoft.com/office/drawing/2014/main" val="1060896067"/>
                    </a:ext>
                  </a:extLst>
                </a:gridCol>
                <a:gridCol w="3175000">
                  <a:extLst>
                    <a:ext uri="{9D8B030D-6E8A-4147-A177-3AD203B41FA5}">
                      <a16:colId xmlns:a16="http://schemas.microsoft.com/office/drawing/2014/main" val="1918607250"/>
                    </a:ext>
                  </a:extLst>
                </a:gridCol>
                <a:gridCol w="3175000">
                  <a:extLst>
                    <a:ext uri="{9D8B030D-6E8A-4147-A177-3AD203B41FA5}">
                      <a16:colId xmlns:a16="http://schemas.microsoft.com/office/drawing/2014/main" val="4087352942"/>
                    </a:ext>
                  </a:extLst>
                </a:gridCol>
              </a:tblGrid>
              <a:tr h="762000">
                <a:tc>
                  <a:txBody>
                    <a:bodyPr/>
                    <a:lstStyle/>
                    <a:p>
                      <a:r>
                        <a:rPr lang="pt-BR" sz="2000" b="1">
                          <a:solidFill>
                            <a:srgbClr val="FFFFFF"/>
                          </a:solidFill>
                        </a:rPr>
                        <a:t>O que o produto faz</a:t>
                      </a:r>
                    </a:p>
                  </a:txBody>
                  <a:tcPr>
                    <a:solidFill>
                      <a:srgbClr val="102E5A"/>
                    </a:solidFill>
                  </a:tcPr>
                </a:tc>
                <a:tc>
                  <a:txBody>
                    <a:bodyPr/>
                    <a:lstStyle/>
                    <a:p>
                      <a:pPr algn="ctr"/>
                      <a:r>
                        <a:rPr lang="pt-BR" sz="2000" b="1">
                          <a:solidFill>
                            <a:srgbClr val="FFFFFF"/>
                          </a:solidFill>
                        </a:rPr>
                        <a:t>Vezes</a:t>
                      </a:r>
                    </a:p>
                  </a:txBody>
                  <a:tcPr>
                    <a:solidFill>
                      <a:srgbClr val="102E5A"/>
                    </a:solidFill>
                  </a:tcPr>
                </a:tc>
                <a:tc>
                  <a:txBody>
                    <a:bodyPr/>
                    <a:lstStyle/>
                    <a:p>
                      <a:pPr algn="ctr"/>
                      <a:r>
                        <a:rPr lang="pt-BR" sz="2000" b="1">
                          <a:solidFill>
                            <a:srgbClr val="FFFFFF"/>
                          </a:solidFill>
                        </a:rPr>
                        <a:t>Custo por vez</a:t>
                      </a:r>
                    </a:p>
                  </a:txBody>
                  <a:tcPr>
                    <a:solidFill>
                      <a:srgbClr val="102E5A"/>
                    </a:solidFill>
                  </a:tcPr>
                </a:tc>
                <a:tc>
                  <a:txBody>
                    <a:bodyPr/>
                    <a:lstStyle/>
                    <a:p>
                      <a:pPr algn="ctr"/>
                      <a:r>
                        <a:rPr lang="pt-BR" sz="2000" b="1">
                          <a:solidFill>
                            <a:srgbClr val="FFFFFF"/>
                          </a:solidFill>
                        </a:rPr>
                        <a:t>% da conta</a:t>
                      </a:r>
                    </a:p>
                  </a:txBody>
                  <a:tcPr>
                    <a:solidFill>
                      <a:srgbClr val="102E5A"/>
                    </a:solidFill>
                  </a:tcPr>
                </a:tc>
                <a:extLst>
                  <a:ext uri="{0D108BD9-81ED-4DB2-BD59-A6C34878D82A}">
                    <a16:rowId xmlns:a16="http://schemas.microsoft.com/office/drawing/2014/main" val="1781088097"/>
                  </a:ext>
                </a:extLst>
              </a:tr>
              <a:tr h="762000">
                <a:tc>
                  <a:txBody>
                    <a:bodyPr/>
                    <a:lstStyle/>
                    <a:p>
                      <a:r>
                        <a:rPr lang="pt-BR" sz="2000" b="0">
                          <a:solidFill>
                            <a:srgbClr val="FFFFFF"/>
                          </a:solidFill>
                        </a:rPr>
                        <a:t>Mediar o cardápio</a:t>
                      </a:r>
                    </a:p>
                  </a:txBody>
                  <a:tcPr>
                    <a:solidFill>
                      <a:srgbClr val="1A1A1A"/>
                    </a:solidFill>
                  </a:tcPr>
                </a:tc>
                <a:tc>
                  <a:txBody>
                    <a:bodyPr/>
                    <a:lstStyle/>
                    <a:p>
                      <a:pPr algn="ctr"/>
                      <a:r>
                        <a:rPr lang="pt-BR" sz="2000" b="0">
                          <a:solidFill>
                            <a:srgbClr val="FFFFFF"/>
                          </a:solidFill>
                        </a:rPr>
                        <a:t>10</a:t>
                      </a:r>
                    </a:p>
                  </a:txBody>
                  <a:tcPr>
                    <a:solidFill>
                      <a:srgbClr val="1A1A1A"/>
                    </a:solidFill>
                  </a:tcPr>
                </a:tc>
                <a:tc>
                  <a:txBody>
                    <a:bodyPr/>
                    <a:lstStyle/>
                    <a:p>
                      <a:pPr algn="ctr"/>
                      <a:r>
                        <a:rPr lang="pt-BR" sz="2000" b="0">
                          <a:solidFill>
                            <a:srgbClr val="FFFFFF"/>
                          </a:solidFill>
                        </a:rPr>
                        <a:t>US$ 0,138</a:t>
                      </a:r>
                    </a:p>
                  </a:txBody>
                  <a:tcPr>
                    <a:solidFill>
                      <a:srgbClr val="1A1A1A"/>
                    </a:solidFill>
                  </a:tcPr>
                </a:tc>
                <a:tc>
                  <a:txBody>
                    <a:bodyPr/>
                    <a:lstStyle/>
                    <a:p>
                      <a:pPr algn="ctr"/>
                      <a:r>
                        <a:rPr lang="pt-BR" sz="2000" b="0">
                          <a:solidFill>
                            <a:srgbClr val="FFFFFF"/>
                          </a:solidFill>
                        </a:rPr>
                        <a:t>89,6%</a:t>
                      </a:r>
                    </a:p>
                  </a:txBody>
                  <a:tcPr>
                    <a:solidFill>
                      <a:srgbClr val="1A1A1A"/>
                    </a:solidFill>
                  </a:tcPr>
                </a:tc>
                <a:extLst>
                  <a:ext uri="{0D108BD9-81ED-4DB2-BD59-A6C34878D82A}">
                    <a16:rowId xmlns:a16="http://schemas.microsoft.com/office/drawing/2014/main" val="3569061257"/>
                  </a:ext>
                </a:extLst>
              </a:tr>
              <a:tr h="762000">
                <a:tc>
                  <a:txBody>
                    <a:bodyPr/>
                    <a:lstStyle/>
                    <a:p>
                      <a:r>
                        <a:rPr lang="pt-BR" sz="2000" b="0">
                          <a:solidFill>
                            <a:srgbClr val="FFFFFF"/>
                          </a:solidFill>
                        </a:rPr>
                        <a:t>Receita premium da semana</a:t>
                      </a:r>
                    </a:p>
                  </a:txBody>
                  <a:tcPr>
                    <a:solidFill>
                      <a:srgbClr val="1A1A1A"/>
                    </a:solidFill>
                  </a:tcPr>
                </a:tc>
                <a:tc>
                  <a:txBody>
                    <a:bodyPr/>
                    <a:lstStyle/>
                    <a:p>
                      <a:pPr algn="ctr"/>
                      <a:r>
                        <a:rPr lang="pt-BR" sz="2000" b="0">
                          <a:solidFill>
                            <a:srgbClr val="FFFFFF"/>
                          </a:solidFill>
                        </a:rPr>
                        <a:t>6</a:t>
                      </a:r>
                    </a:p>
                  </a:txBody>
                  <a:tcPr>
                    <a:solidFill>
                      <a:srgbClr val="1A1A1A"/>
                    </a:solidFill>
                  </a:tcPr>
                </a:tc>
                <a:tc>
                  <a:txBody>
                    <a:bodyPr/>
                    <a:lstStyle/>
                    <a:p>
                      <a:pPr algn="ctr"/>
                      <a:r>
                        <a:rPr lang="pt-BR" sz="2000" b="0">
                          <a:solidFill>
                            <a:srgbClr val="FFFFFF"/>
                          </a:solidFill>
                        </a:rPr>
                        <a:t>US$ 0,012</a:t>
                      </a:r>
                    </a:p>
                  </a:txBody>
                  <a:tcPr>
                    <a:solidFill>
                      <a:srgbClr val="1A1A1A"/>
                    </a:solidFill>
                  </a:tcPr>
                </a:tc>
                <a:tc>
                  <a:txBody>
                    <a:bodyPr/>
                    <a:lstStyle/>
                    <a:p>
                      <a:pPr algn="ctr"/>
                      <a:r>
                        <a:rPr lang="pt-BR" sz="2000" b="0">
                          <a:solidFill>
                            <a:srgbClr val="FFFFFF"/>
                          </a:solidFill>
                        </a:rPr>
                        <a:t>4,5%</a:t>
                      </a:r>
                    </a:p>
                  </a:txBody>
                  <a:tcPr>
                    <a:solidFill>
                      <a:srgbClr val="1A1A1A"/>
                    </a:solidFill>
                  </a:tcPr>
                </a:tc>
                <a:extLst>
                  <a:ext uri="{0D108BD9-81ED-4DB2-BD59-A6C34878D82A}">
                    <a16:rowId xmlns:a16="http://schemas.microsoft.com/office/drawing/2014/main" val="3762590742"/>
                  </a:ext>
                </a:extLst>
              </a:tr>
              <a:tr h="762000">
                <a:tc>
                  <a:txBody>
                    <a:bodyPr/>
                    <a:lstStyle/>
                    <a:p>
                      <a:r>
                        <a:rPr lang="pt-BR" sz="2000" b="0">
                          <a:solidFill>
                            <a:srgbClr val="FFFFFF"/>
                          </a:solidFill>
                        </a:rPr>
                        <a:t>Entender uma mensagem</a:t>
                      </a:r>
                    </a:p>
                  </a:txBody>
                  <a:tcPr>
                    <a:solidFill>
                      <a:srgbClr val="1A1A1A"/>
                    </a:solidFill>
                  </a:tcPr>
                </a:tc>
                <a:tc>
                  <a:txBody>
                    <a:bodyPr/>
                    <a:lstStyle/>
                    <a:p>
                      <a:pPr algn="ctr"/>
                      <a:r>
                        <a:rPr lang="pt-BR" sz="2000" b="0">
                          <a:solidFill>
                            <a:srgbClr val="FFFFFF"/>
                          </a:solidFill>
                        </a:rPr>
                        <a:t>21</a:t>
                      </a:r>
                    </a:p>
                  </a:txBody>
                  <a:tcPr>
                    <a:solidFill>
                      <a:srgbClr val="1A1A1A"/>
                    </a:solidFill>
                  </a:tcPr>
                </a:tc>
                <a:tc>
                  <a:txBody>
                    <a:bodyPr/>
                    <a:lstStyle/>
                    <a:p>
                      <a:pPr algn="ctr"/>
                      <a:r>
                        <a:rPr lang="pt-BR" sz="2000" b="0">
                          <a:solidFill>
                            <a:srgbClr val="FFFFFF"/>
                          </a:solidFill>
                        </a:rPr>
                        <a:t>US$ 0,003</a:t>
                      </a:r>
                    </a:p>
                  </a:txBody>
                  <a:tcPr>
                    <a:solidFill>
                      <a:srgbClr val="1A1A1A"/>
                    </a:solidFill>
                  </a:tcPr>
                </a:tc>
                <a:tc>
                  <a:txBody>
                    <a:bodyPr/>
                    <a:lstStyle/>
                    <a:p>
                      <a:pPr algn="ctr"/>
                      <a:r>
                        <a:rPr lang="pt-BR" sz="2000" b="0">
                          <a:solidFill>
                            <a:srgbClr val="FFFFFF"/>
                          </a:solidFill>
                        </a:rPr>
                        <a:t>4,3%</a:t>
                      </a:r>
                    </a:p>
                  </a:txBody>
                  <a:tcPr>
                    <a:solidFill>
                      <a:srgbClr val="1A1A1A"/>
                    </a:solidFill>
                  </a:tcPr>
                </a:tc>
                <a:extLst>
                  <a:ext uri="{0D108BD9-81ED-4DB2-BD59-A6C34878D82A}">
                    <a16:rowId xmlns:a16="http://schemas.microsoft.com/office/drawing/2014/main" val="2000814496"/>
                  </a:ext>
                </a:extLst>
              </a:tr>
              <a:tr h="762000">
                <a:tc>
                  <a:txBody>
                    <a:bodyPr/>
                    <a:lstStyle/>
                    <a:p>
                      <a:r>
                        <a:rPr lang="pt-BR" sz="2000" b="0">
                          <a:solidFill>
                            <a:srgbClr val="FFFFFF"/>
                          </a:solidFill>
                        </a:rPr>
                        <a:t>Ler nota fiscal</a:t>
                      </a:r>
                    </a:p>
                  </a:txBody>
                  <a:tcPr>
                    <a:solidFill>
                      <a:srgbClr val="1A1A1A"/>
                    </a:solidFill>
                  </a:tcPr>
                </a:tc>
                <a:tc>
                  <a:txBody>
                    <a:bodyPr/>
                    <a:lstStyle/>
                    <a:p>
                      <a:pPr algn="ctr"/>
                      <a:r>
                        <a:rPr lang="pt-BR" sz="2000" b="0">
                          <a:solidFill>
                            <a:srgbClr val="FFFFFF"/>
                          </a:solidFill>
                        </a:rPr>
                        <a:t>4</a:t>
                      </a:r>
                    </a:p>
                  </a:txBody>
                  <a:tcPr>
                    <a:solidFill>
                      <a:srgbClr val="1A1A1A"/>
                    </a:solidFill>
                  </a:tcPr>
                </a:tc>
                <a:tc>
                  <a:txBody>
                    <a:bodyPr/>
                    <a:lstStyle/>
                    <a:p>
                      <a:pPr algn="ctr"/>
                      <a:r>
                        <a:rPr lang="pt-BR" sz="2000" b="0">
                          <a:solidFill>
                            <a:srgbClr val="FFFFFF"/>
                          </a:solidFill>
                        </a:rPr>
                        <a:t>US$ 0,006</a:t>
                      </a:r>
                    </a:p>
                  </a:txBody>
                  <a:tcPr>
                    <a:solidFill>
                      <a:srgbClr val="1A1A1A"/>
                    </a:solidFill>
                  </a:tcPr>
                </a:tc>
                <a:tc>
                  <a:txBody>
                    <a:bodyPr/>
                    <a:lstStyle/>
                    <a:p>
                      <a:pPr algn="ctr"/>
                      <a:r>
                        <a:rPr lang="pt-BR" sz="2000" b="0">
                          <a:solidFill>
                            <a:srgbClr val="FFFFFF"/>
                          </a:solidFill>
                        </a:rPr>
                        <a:t>1,6%</a:t>
                      </a:r>
                    </a:p>
                  </a:txBody>
                  <a:tcPr>
                    <a:solidFill>
                      <a:srgbClr val="1A1A1A"/>
                    </a:solidFill>
                  </a:tcPr>
                </a:tc>
                <a:extLst>
                  <a:ext uri="{0D108BD9-81ED-4DB2-BD59-A6C34878D82A}">
                    <a16:rowId xmlns:a16="http://schemas.microsoft.com/office/drawing/2014/main" val="4292664052"/>
                  </a:ext>
                </a:extLst>
              </a:tr>
              <a:tr h="762000">
                <a:tc>
                  <a:txBody>
                    <a:bodyPr/>
                    <a:lstStyle/>
                    <a:p>
                      <a:r>
                        <a:rPr lang="pt-BR" sz="2000" b="0">
                          <a:solidFill>
                            <a:srgbClr val="FFFFFF"/>
                          </a:solidFill>
                        </a:rPr>
                        <a:t>Um teste meu</a:t>
                      </a:r>
                    </a:p>
                  </a:txBody>
                  <a:tcPr>
                    <a:solidFill>
                      <a:srgbClr val="1A1A1A"/>
                    </a:solidFill>
                  </a:tcPr>
                </a:tc>
                <a:tc>
                  <a:txBody>
                    <a:bodyPr/>
                    <a:lstStyle/>
                    <a:p>
                      <a:pPr algn="ctr"/>
                      <a:r>
                        <a:rPr lang="pt-BR" sz="2000" b="0">
                          <a:solidFill>
                            <a:srgbClr val="FFFFFF"/>
                          </a:solidFill>
                        </a:rPr>
                        <a:t>1</a:t>
                      </a:r>
                    </a:p>
                  </a:txBody>
                  <a:tcPr>
                    <a:solidFill>
                      <a:srgbClr val="1A1A1A"/>
                    </a:solidFill>
                  </a:tcPr>
                </a:tc>
                <a:tc>
                  <a:txBody>
                    <a:bodyPr/>
                    <a:lstStyle/>
                    <a:p>
                      <a:pPr algn="ctr"/>
                      <a:r>
                        <a:rPr lang="pt-BR" sz="2000" b="0">
                          <a:solidFill>
                            <a:srgbClr val="FFFFFF"/>
                          </a:solidFill>
                        </a:rPr>
                        <a:t>US$ 0</a:t>
                      </a:r>
                    </a:p>
                  </a:txBody>
                  <a:tcPr>
                    <a:solidFill>
                      <a:srgbClr val="1A1A1A"/>
                    </a:solidFill>
                  </a:tcPr>
                </a:tc>
                <a:tc>
                  <a:txBody>
                    <a:bodyPr/>
                    <a:lstStyle/>
                    <a:p>
                      <a:pPr algn="ctr"/>
                      <a:r>
                        <a:rPr lang="pt-BR" sz="2000" b="0">
                          <a:solidFill>
                            <a:srgbClr val="FFFFFF"/>
                          </a:solidFill>
                        </a:rPr>
                        <a:t>0%</a:t>
                      </a:r>
                    </a:p>
                  </a:txBody>
                  <a:tcPr>
                    <a:solidFill>
                      <a:srgbClr val="1A1A1A"/>
                    </a:solidFill>
                  </a:tcPr>
                </a:tc>
                <a:extLst>
                  <a:ext uri="{0D108BD9-81ED-4DB2-BD59-A6C34878D82A}">
                    <a16:rowId xmlns:a16="http://schemas.microsoft.com/office/drawing/2014/main" val="3676469969"/>
                  </a:ext>
                </a:extLst>
              </a:tr>
            </a:tbl>
          </a:graphicData>
        </a:graphic>
      </p:graphicFrame>
    </p:spTree>
    <p:extLst>
      <p:ext uri="{BB962C8B-B14F-4D97-AF65-F5344CB8AC3E}">
        <p14:creationId xmlns:p14="http://schemas.microsoft.com/office/powerpoint/2010/main" val="16821939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24% das chamadas. 90% da conta.</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586668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g3f3dd40fd11_1_233"/>
          <p:cNvSpPr/>
          <p:nvPr/>
        </p:nvSpPr>
        <p:spPr>
          <a:xfrm>
            <a:off x="2426003" y="3149600"/>
            <a:ext cx="9983400" cy="7416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 name="Google Shape;377;g3f3dd40fd11_1_233"/>
          <p:cNvSpPr/>
          <p:nvPr/>
        </p:nvSpPr>
        <p:spPr>
          <a:xfrm>
            <a:off x="2426000" y="3893102"/>
            <a:ext cx="11159400" cy="1914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DBFC7"/>
              </a:buClr>
              <a:buSzPts val="8800"/>
              <a:buFont typeface="Encode Sans"/>
              <a:buNone/>
            </a:pPr>
            <a:r>
              <a:rPr lang="pt-BR" sz="8800" b="0" i="0" u="none" strike="noStrike" cap="none">
                <a:solidFill>
                  <a:srgbClr val="BDBFC7"/>
                </a:solidFill>
                <a:latin typeface="Encode Sans"/>
                <a:ea typeface="Encode Sans"/>
                <a:cs typeface="Encode Sans"/>
                <a:sym typeface="Encode Sans"/>
              </a:rPr>
              <a:t>O que o volume conta</a:t>
            </a:r>
            <a:endParaRPr sz="8800" b="0" i="0" u="none" strike="noStrike" cap="none">
              <a:solidFill>
                <a:srgbClr val="A7A9B4"/>
              </a:solidFill>
              <a:latin typeface="Encode Sans"/>
              <a:ea typeface="Encode Sans"/>
              <a:cs typeface="Encode Sans"/>
              <a:sym typeface="Encode Sans"/>
            </a:endParaRPr>
          </a:p>
        </p:txBody>
      </p:sp>
      <p:sp>
        <p:nvSpPr>
          <p:cNvPr id="378" name="Google Shape;378;g3f3dd40fd11_1_233"/>
          <p:cNvSpPr/>
          <p:nvPr/>
        </p:nvSpPr>
        <p:spPr>
          <a:xfrm>
            <a:off x="2426003" y="6502400"/>
            <a:ext cx="9983400" cy="4064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 name="Google Shape;379;g3f3dd40fd11_1_233"/>
          <p:cNvSpPr/>
          <p:nvPr/>
        </p:nvSpPr>
        <p:spPr>
          <a:xfrm>
            <a:off x="2426003" y="6502400"/>
            <a:ext cx="9983400" cy="1066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80" name="Google Shape;380;g3f3dd40fd11_1_233" descr=" "/>
          <p:cNvPicPr preferRelativeResize="0"/>
          <p:nvPr/>
        </p:nvPicPr>
        <p:blipFill rotWithShape="1">
          <a:blip r:embed="rId3">
            <a:alphaModFix/>
          </a:blip>
          <a:srcRect/>
          <a:stretch/>
        </p:blipFill>
        <p:spPr>
          <a:xfrm>
            <a:off x="2426003" y="6502400"/>
            <a:ext cx="711289" cy="711200"/>
          </a:xfrm>
          <a:prstGeom prst="rect">
            <a:avLst/>
          </a:prstGeom>
          <a:noFill/>
          <a:ln>
            <a:noFill/>
          </a:ln>
        </p:spPr>
      </p:pic>
      <p:pic>
        <p:nvPicPr>
          <p:cNvPr id="381" name="Google Shape;381;g3f3dd40fd11_1_233" descr=" "/>
          <p:cNvPicPr preferRelativeResize="0"/>
          <p:nvPr/>
        </p:nvPicPr>
        <p:blipFill rotWithShape="1">
          <a:blip r:embed="rId4">
            <a:alphaModFix/>
          </a:blip>
          <a:srcRect/>
          <a:stretch/>
        </p:blipFill>
        <p:spPr>
          <a:xfrm>
            <a:off x="2548783" y="7015692"/>
            <a:ext cx="465723" cy="406400"/>
          </a:xfrm>
          <a:prstGeom prst="rect">
            <a:avLst/>
          </a:prstGeom>
          <a:noFill/>
          <a:ln>
            <a:noFill/>
          </a:ln>
        </p:spPr>
      </p:pic>
      <p:sp>
        <p:nvSpPr>
          <p:cNvPr id="382" name="Google Shape;382;g3f3dd40fd11_1_233"/>
          <p:cNvSpPr/>
          <p:nvPr/>
        </p:nvSpPr>
        <p:spPr>
          <a:xfrm>
            <a:off x="3645356" y="6846358"/>
            <a:ext cx="99399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Metade de tudo caiu em 20 horas.</a:t>
            </a:r>
            <a:endParaRPr sz="3600" b="0" i="0" u="none" strike="noStrike" cap="none">
              <a:solidFill>
                <a:srgbClr val="A7A9B4"/>
              </a:solidFill>
              <a:latin typeface="Roboto"/>
              <a:ea typeface="Roboto"/>
              <a:cs typeface="Roboto"/>
              <a:sym typeface="Roboto"/>
            </a:endParaRPr>
          </a:p>
        </p:txBody>
      </p:sp>
      <p:sp>
        <p:nvSpPr>
          <p:cNvPr id="383" name="Google Shape;383;g3f3dd40fd11_1_233"/>
          <p:cNvSpPr/>
          <p:nvPr/>
        </p:nvSpPr>
        <p:spPr>
          <a:xfrm>
            <a:off x="2426003" y="8178800"/>
            <a:ext cx="9983400" cy="711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84" name="Google Shape;384;g3f3dd40fd11_1_233" descr=" "/>
          <p:cNvPicPr preferRelativeResize="0"/>
          <p:nvPr/>
        </p:nvPicPr>
        <p:blipFill rotWithShape="1">
          <a:blip r:embed="rId3">
            <a:alphaModFix/>
          </a:blip>
          <a:srcRect/>
          <a:stretch/>
        </p:blipFill>
        <p:spPr>
          <a:xfrm>
            <a:off x="2426003" y="7989147"/>
            <a:ext cx="711289" cy="711200"/>
          </a:xfrm>
          <a:prstGeom prst="rect">
            <a:avLst/>
          </a:prstGeom>
          <a:noFill/>
          <a:ln>
            <a:noFill/>
          </a:ln>
        </p:spPr>
      </p:pic>
      <p:pic>
        <p:nvPicPr>
          <p:cNvPr id="385" name="Google Shape;385;g3f3dd40fd11_1_233" descr=" "/>
          <p:cNvPicPr preferRelativeResize="0"/>
          <p:nvPr/>
        </p:nvPicPr>
        <p:blipFill rotWithShape="1">
          <a:blip r:embed="rId4">
            <a:alphaModFix/>
          </a:blip>
          <a:srcRect/>
          <a:stretch/>
        </p:blipFill>
        <p:spPr>
          <a:xfrm>
            <a:off x="2548783" y="8331200"/>
            <a:ext cx="465723" cy="406400"/>
          </a:xfrm>
          <a:prstGeom prst="rect">
            <a:avLst/>
          </a:prstGeom>
          <a:noFill/>
          <a:ln>
            <a:noFill/>
          </a:ln>
        </p:spPr>
      </p:pic>
      <p:sp>
        <p:nvSpPr>
          <p:cNvPr id="386" name="Google Shape;386;g3f3dd40fd11_1_233"/>
          <p:cNvSpPr/>
          <p:nvPr/>
        </p:nvSpPr>
        <p:spPr>
          <a:xfrm>
            <a:off x="3645356" y="8267700"/>
            <a:ext cx="9263100" cy="6690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Depois, dias inteiros sem nenhuma interação.</a:t>
            </a:r>
            <a:endParaRPr sz="3600" b="0" i="0" u="none" strike="noStrike" cap="none">
              <a:solidFill>
                <a:schemeClr val="dk1"/>
              </a:solidFill>
              <a:latin typeface="Roboto"/>
              <a:ea typeface="Roboto"/>
              <a:cs typeface="Roboto"/>
              <a:sym typeface="Roboto"/>
            </a:endParaRPr>
          </a:p>
        </p:txBody>
      </p:sp>
      <p:sp>
        <p:nvSpPr>
          <p:cNvPr id="387" name="Google Shape;387;g3f3dd40fd11_1_233"/>
          <p:cNvSpPr/>
          <p:nvPr/>
        </p:nvSpPr>
        <p:spPr>
          <a:xfrm>
            <a:off x="2426003" y="9796000"/>
            <a:ext cx="9983400" cy="1066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88" name="Google Shape;388;g3f3dd40fd11_1_233" title="Gemini_Generated_Image_bb831nbb831nbb83.png"/>
          <p:cNvPicPr preferRelativeResize="0"/>
          <p:nvPr/>
        </p:nvPicPr>
        <p:blipFill rotWithShape="1">
          <a:blip r:embed="rId5">
            <a:alphaModFix amt="67000"/>
          </a:blip>
          <a:srcRect l="30151" r="30151"/>
          <a:stretch/>
        </p:blipFill>
        <p:spPr>
          <a:xfrm>
            <a:off x="14913150" y="0"/>
            <a:ext cx="12108600" cy="14913900"/>
          </a:xfrm>
          <a:prstGeom prst="chord">
            <a:avLst>
              <a:gd name="adj1" fmla="val 2700000"/>
              <a:gd name="adj2" fmla="val 16838019"/>
            </a:avLst>
          </a:prstGeom>
          <a:noFill/>
          <a:ln>
            <a:noFill/>
          </a:ln>
        </p:spPr>
      </p:pic>
      <p:sp>
        <p:nvSpPr>
          <p:cNvPr id="389" name="Google Shape;389;g3f3dd40fd11_1_233"/>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90" name="Google Shape;390;g3f3dd40fd11_1_233" descr=" "/>
          <p:cNvPicPr preferRelativeResize="0"/>
          <p:nvPr/>
        </p:nvPicPr>
        <p:blipFill rotWithShape="1">
          <a:blip r:embed="rId6">
            <a:alphaModFix/>
          </a:blip>
          <a:srcRect/>
          <a:stretch/>
        </p:blipFill>
        <p:spPr>
          <a:xfrm>
            <a:off x="23433139" y="406400"/>
            <a:ext cx="476942" cy="593018"/>
          </a:xfrm>
          <a:prstGeom prst="rect">
            <a:avLst/>
          </a:prstGeom>
          <a:noFill/>
          <a:ln>
            <a:noFill/>
          </a:ln>
        </p:spPr>
      </p:pic>
      <p:pic>
        <p:nvPicPr>
          <p:cNvPr id="391" name="Google Shape;391;g3f3dd40fd11_1_233" descr="Ícone&#10;&#10;O conteúdo gerado por IA pode estar incorreto."/>
          <p:cNvPicPr preferRelativeResize="0"/>
          <p:nvPr/>
        </p:nvPicPr>
        <p:blipFill rotWithShape="1">
          <a:blip r:embed="rId7">
            <a:alphaModFix/>
          </a:blip>
          <a:srcRect/>
          <a:stretch/>
        </p:blipFill>
        <p:spPr>
          <a:xfrm>
            <a:off x="-2202249" y="-8621"/>
            <a:ext cx="1568332" cy="10010052"/>
          </a:xfrm>
          <a:prstGeom prst="rect">
            <a:avLst/>
          </a:prstGeom>
          <a:noFill/>
          <a:ln>
            <a:noFill/>
          </a:ln>
        </p:spPr>
      </p:pic>
      <p:sp>
        <p:nvSpPr>
          <p:cNvPr id="392" name="Google Shape;392;g3f3dd40fd11_1_233"/>
          <p:cNvSpPr/>
          <p:nvPr/>
        </p:nvSpPr>
        <p:spPr>
          <a:xfrm>
            <a:off x="2447756" y="5056608"/>
            <a:ext cx="99399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Pico é sucesso? Silêncio é saúde?</a:t>
            </a:r>
            <a:endParaRPr sz="3600" b="0" i="0" u="none" strike="noStrike" cap="none">
              <a:solidFill>
                <a:srgbClr val="A7A9B4"/>
              </a:solidFill>
              <a:latin typeface="Roboto"/>
              <a:ea typeface="Roboto"/>
              <a:cs typeface="Roboto"/>
              <a:sym typeface="Roboto"/>
            </a:endParaRPr>
          </a:p>
        </p:txBody>
      </p:sp>
      <p:pic>
        <p:nvPicPr>
          <p:cNvPr id="393" name="Google Shape;393;g3f3dd40fd11_1_233" descr=" "/>
          <p:cNvPicPr preferRelativeResize="0"/>
          <p:nvPr/>
        </p:nvPicPr>
        <p:blipFill rotWithShape="1">
          <a:blip r:embed="rId4">
            <a:alphaModFix/>
          </a:blip>
          <a:srcRect/>
          <a:stretch/>
        </p:blipFill>
        <p:spPr>
          <a:xfrm>
            <a:off x="2548783" y="10200852"/>
            <a:ext cx="465723" cy="406400"/>
          </a:xfrm>
          <a:prstGeom prst="rect">
            <a:avLst/>
          </a:prstGeom>
          <a:noFill/>
          <a:ln>
            <a:noFill/>
          </a:ln>
        </p:spPr>
      </p:pic>
      <p:sp>
        <p:nvSpPr>
          <p:cNvPr id="394" name="Google Shape;394;g3f3dd40fd11_1_233"/>
          <p:cNvSpPr/>
          <p:nvPr/>
        </p:nvSpPr>
        <p:spPr>
          <a:xfrm>
            <a:off x="3645356" y="9728200"/>
            <a:ext cx="9263100" cy="1202400"/>
          </a:xfrm>
          <a:prstGeom prst="rect">
            <a:avLst/>
          </a:prstGeom>
          <a:noFill/>
          <a:ln>
            <a:noFill/>
          </a:ln>
        </p:spPr>
        <p:txBody>
          <a:bodyPr spcFirstLastPara="1" wrap="square" lIns="0" tIns="0" rIns="0" bIns="0" anchor="ctr"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Produto fora do ar não deixa rastro.</a:t>
            </a:r>
            <a:endParaRPr sz="3600" b="0" i="0" u="none" strike="noStrike" cap="none">
              <a:solidFill>
                <a:schemeClr val="dk1"/>
              </a:solidFill>
              <a:latin typeface="Roboto"/>
              <a:ea typeface="Roboto"/>
              <a:cs typeface="Roboto"/>
              <a:sym typeface="Roboto"/>
            </a:endParaRPr>
          </a:p>
        </p:txBody>
      </p:sp>
      <p:pic>
        <p:nvPicPr>
          <p:cNvPr id="395" name="Google Shape;395;g3f3dd40fd11_1_233" descr=" "/>
          <p:cNvPicPr preferRelativeResize="0"/>
          <p:nvPr/>
        </p:nvPicPr>
        <p:blipFill rotWithShape="1">
          <a:blip r:embed="rId8">
            <a:alphaModFix/>
          </a:blip>
          <a:srcRect/>
          <a:stretch/>
        </p:blipFill>
        <p:spPr>
          <a:xfrm rot="-951193">
            <a:off x="23598290" y="-1695429"/>
            <a:ext cx="3651919" cy="15201733"/>
          </a:xfrm>
          <a:prstGeom prst="rect">
            <a:avLst/>
          </a:prstGeom>
          <a:noFill/>
          <a:ln>
            <a:noFill/>
          </a:ln>
        </p:spPr>
      </p:pic>
    </p:spTree>
    <p:extLst>
      <p:ext uri="{BB962C8B-B14F-4D97-AF65-F5344CB8AC3E}">
        <p14:creationId xmlns:p14="http://schemas.microsoft.com/office/powerpoint/2010/main" val="10687853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3810000" y="1397000"/>
            <a:ext cx="16764000" cy="21590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6000" b="0" i="0" u="none" strike="noStrike" cap="none">
                <a:solidFill>
                  <a:srgbClr val="BDBFC7"/>
                </a:solidFill>
                <a:latin typeface="Encode Sans"/>
                <a:ea typeface="Encode Sans"/>
                <a:cs typeface="Encode Sans"/>
                <a:sym typeface="Encode Sans"/>
              </a:rPr>
              <a:t>Média esconde quem espera mais.</a:t>
            </a:r>
            <a:endParaRPr sz="60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
        <p:nvSpPr>
          <p:cNvPr id="2" name="CaixaDeTexto 1">
            <a:extLst>
              <a:ext uri="{FF2B5EF4-FFF2-40B4-BE49-F238E27FC236}">
                <a16:creationId xmlns:a16="http://schemas.microsoft.com/office/drawing/2014/main" id="{EA7EB64F-C3E4-557F-7D92-F28E18B41291}"/>
              </a:ext>
            </a:extLst>
          </p:cNvPr>
          <p:cNvSpPr txBox="1"/>
          <p:nvPr/>
        </p:nvSpPr>
        <p:spPr>
          <a:xfrm>
            <a:off x="3810000" y="3619500"/>
            <a:ext cx="16764000" cy="461665"/>
          </a:xfrm>
          <a:prstGeom prst="rect">
            <a:avLst/>
          </a:prstGeom>
          <a:noFill/>
        </p:spPr>
        <p:txBody>
          <a:bodyPr vert="horz" rtlCol="0">
            <a:spAutoFit/>
          </a:bodyPr>
          <a:lstStyle/>
          <a:p>
            <a:pPr algn="ctr"/>
            <a:r>
              <a:rPr lang="pt-BR" sz="2400">
                <a:solidFill>
                  <a:srgbClr val="BBBBBB"/>
                </a:solidFill>
              </a:rPr>
              <a:t>Tempo de resposta, em segundos.</a:t>
            </a:r>
          </a:p>
        </p:txBody>
      </p:sp>
      <p:graphicFrame>
        <p:nvGraphicFramePr>
          <p:cNvPr id="3" name="Tabela 2">
            <a:extLst>
              <a:ext uri="{FF2B5EF4-FFF2-40B4-BE49-F238E27FC236}">
                <a16:creationId xmlns:a16="http://schemas.microsoft.com/office/drawing/2014/main" id="{CA855AB6-E89E-3CA7-CA9F-56DB0D90B78E}"/>
              </a:ext>
            </a:extLst>
          </p:cNvPr>
          <p:cNvGraphicFramePr>
            <a:graphicFrameLocks noGrp="1"/>
          </p:cNvGraphicFramePr>
          <p:nvPr>
            <p:extLst>
              <p:ext uri="{D42A27DB-BD31-4B8C-83A1-F6EECF244321}">
                <p14:modId xmlns:p14="http://schemas.microsoft.com/office/powerpoint/2010/main" val="3579617630"/>
              </p:ext>
            </p:extLst>
          </p:nvPr>
        </p:nvGraphicFramePr>
        <p:xfrm>
          <a:off x="5842000" y="4699000"/>
          <a:ext cx="12700000" cy="2286000"/>
        </p:xfrm>
        <a:graphic>
          <a:graphicData uri="http://schemas.openxmlformats.org/drawingml/2006/table">
            <a:tbl>
              <a:tblPr firstRow="1" bandRow="1">
                <a:tableStyleId>{5C22544A-7EE6-4342-B048-85BDC9FD1C3A}</a:tableStyleId>
              </a:tblPr>
              <a:tblGrid>
                <a:gridCol w="3175000">
                  <a:extLst>
                    <a:ext uri="{9D8B030D-6E8A-4147-A177-3AD203B41FA5}">
                      <a16:colId xmlns:a16="http://schemas.microsoft.com/office/drawing/2014/main" val="4267343036"/>
                    </a:ext>
                  </a:extLst>
                </a:gridCol>
                <a:gridCol w="3175000">
                  <a:extLst>
                    <a:ext uri="{9D8B030D-6E8A-4147-A177-3AD203B41FA5}">
                      <a16:colId xmlns:a16="http://schemas.microsoft.com/office/drawing/2014/main" val="212209994"/>
                    </a:ext>
                  </a:extLst>
                </a:gridCol>
                <a:gridCol w="3175000">
                  <a:extLst>
                    <a:ext uri="{9D8B030D-6E8A-4147-A177-3AD203B41FA5}">
                      <a16:colId xmlns:a16="http://schemas.microsoft.com/office/drawing/2014/main" val="1103310325"/>
                    </a:ext>
                  </a:extLst>
                </a:gridCol>
                <a:gridCol w="3175000">
                  <a:extLst>
                    <a:ext uri="{9D8B030D-6E8A-4147-A177-3AD203B41FA5}">
                      <a16:colId xmlns:a16="http://schemas.microsoft.com/office/drawing/2014/main" val="3023108147"/>
                    </a:ext>
                  </a:extLst>
                </a:gridCol>
              </a:tblGrid>
              <a:tr h="762000">
                <a:tc>
                  <a:txBody>
                    <a:bodyPr/>
                    <a:lstStyle/>
                    <a:p>
                      <a:endParaRPr lang="pt-BR" sz="2000" b="1">
                        <a:solidFill>
                          <a:srgbClr val="FFFFFF"/>
                        </a:solidFill>
                      </a:endParaRPr>
                    </a:p>
                  </a:txBody>
                  <a:tcPr>
                    <a:solidFill>
                      <a:srgbClr val="102E5A"/>
                    </a:solidFill>
                  </a:tcPr>
                </a:tc>
                <a:tc>
                  <a:txBody>
                    <a:bodyPr/>
                    <a:lstStyle/>
                    <a:p>
                      <a:pPr algn="ctr"/>
                      <a:r>
                        <a:rPr lang="pt-BR" sz="2000" b="1">
                          <a:solidFill>
                            <a:srgbClr val="FFFFFF"/>
                          </a:solidFill>
                        </a:rPr>
                        <a:t>Média</a:t>
                      </a:r>
                    </a:p>
                  </a:txBody>
                  <a:tcPr>
                    <a:solidFill>
                      <a:srgbClr val="102E5A"/>
                    </a:solidFill>
                  </a:tcPr>
                </a:tc>
                <a:tc>
                  <a:txBody>
                    <a:bodyPr/>
                    <a:lstStyle/>
                    <a:p>
                      <a:pPr algn="ctr"/>
                      <a:r>
                        <a:rPr lang="pt-BR" sz="2000" b="1">
                          <a:solidFill>
                            <a:srgbClr val="FFFFFF"/>
                          </a:solidFill>
                        </a:rPr>
                        <a:t>Metade das vezes, até</a:t>
                      </a:r>
                    </a:p>
                  </a:txBody>
                  <a:tcPr>
                    <a:solidFill>
                      <a:srgbClr val="102E5A"/>
                    </a:solidFill>
                  </a:tcPr>
                </a:tc>
                <a:tc>
                  <a:txBody>
                    <a:bodyPr/>
                    <a:lstStyle/>
                    <a:p>
                      <a:pPr algn="ctr"/>
                      <a:r>
                        <a:rPr lang="pt-BR" sz="2000" b="1">
                          <a:solidFill>
                            <a:srgbClr val="FFFFFF"/>
                          </a:solidFill>
                        </a:rPr>
                        <a:t>Pior caso</a:t>
                      </a:r>
                    </a:p>
                  </a:txBody>
                  <a:tcPr>
                    <a:solidFill>
                      <a:srgbClr val="102E5A"/>
                    </a:solidFill>
                  </a:tcPr>
                </a:tc>
                <a:extLst>
                  <a:ext uri="{0D108BD9-81ED-4DB2-BD59-A6C34878D82A}">
                    <a16:rowId xmlns:a16="http://schemas.microsoft.com/office/drawing/2014/main" val="1744324029"/>
                  </a:ext>
                </a:extLst>
              </a:tr>
              <a:tr h="762000">
                <a:tc>
                  <a:txBody>
                    <a:bodyPr/>
                    <a:lstStyle/>
                    <a:p>
                      <a:r>
                        <a:rPr lang="pt-BR" sz="2000" b="0">
                          <a:solidFill>
                            <a:srgbClr val="FFFFFF"/>
                          </a:solidFill>
                        </a:rPr>
                        <a:t>Mediar o cardápio</a:t>
                      </a:r>
                    </a:p>
                  </a:txBody>
                  <a:tcPr>
                    <a:solidFill>
                      <a:srgbClr val="1A1A1A"/>
                    </a:solidFill>
                  </a:tcPr>
                </a:tc>
                <a:tc>
                  <a:txBody>
                    <a:bodyPr/>
                    <a:lstStyle/>
                    <a:p>
                      <a:pPr algn="ctr"/>
                      <a:r>
                        <a:rPr lang="pt-BR" sz="2000" b="0">
                          <a:solidFill>
                            <a:srgbClr val="FFFFFF"/>
                          </a:solidFill>
                        </a:rPr>
                        <a:t>56 s</a:t>
                      </a:r>
                    </a:p>
                  </a:txBody>
                  <a:tcPr>
                    <a:solidFill>
                      <a:srgbClr val="1A1A1A"/>
                    </a:solidFill>
                  </a:tcPr>
                </a:tc>
                <a:tc>
                  <a:txBody>
                    <a:bodyPr/>
                    <a:lstStyle/>
                    <a:p>
                      <a:pPr algn="ctr"/>
                      <a:r>
                        <a:rPr lang="pt-BR" sz="2000" b="0">
                          <a:solidFill>
                            <a:srgbClr val="FFFFFF"/>
                          </a:solidFill>
                        </a:rPr>
                        <a:t>50 s</a:t>
                      </a:r>
                    </a:p>
                  </a:txBody>
                  <a:tcPr>
                    <a:solidFill>
                      <a:srgbClr val="1A1A1A"/>
                    </a:solidFill>
                  </a:tcPr>
                </a:tc>
                <a:tc>
                  <a:txBody>
                    <a:bodyPr/>
                    <a:lstStyle/>
                    <a:p>
                      <a:pPr algn="ctr"/>
                      <a:r>
                        <a:rPr lang="pt-BR" sz="2000" b="0">
                          <a:solidFill>
                            <a:srgbClr val="FFFFFF"/>
                          </a:solidFill>
                        </a:rPr>
                        <a:t>113 s</a:t>
                      </a:r>
                    </a:p>
                  </a:txBody>
                  <a:tcPr>
                    <a:solidFill>
                      <a:srgbClr val="1A1A1A"/>
                    </a:solidFill>
                  </a:tcPr>
                </a:tc>
                <a:extLst>
                  <a:ext uri="{0D108BD9-81ED-4DB2-BD59-A6C34878D82A}">
                    <a16:rowId xmlns:a16="http://schemas.microsoft.com/office/drawing/2014/main" val="42789857"/>
                  </a:ext>
                </a:extLst>
              </a:tr>
              <a:tr h="762000">
                <a:tc>
                  <a:txBody>
                    <a:bodyPr/>
                    <a:lstStyle/>
                    <a:p>
                      <a:r>
                        <a:rPr lang="pt-BR" sz="2000" b="0">
                          <a:solidFill>
                            <a:srgbClr val="FFFFFF"/>
                          </a:solidFill>
                        </a:rPr>
                        <a:t>Entender uma mensagem</a:t>
                      </a:r>
                    </a:p>
                  </a:txBody>
                  <a:tcPr>
                    <a:solidFill>
                      <a:srgbClr val="1A1A1A"/>
                    </a:solidFill>
                  </a:tcPr>
                </a:tc>
                <a:tc>
                  <a:txBody>
                    <a:bodyPr/>
                    <a:lstStyle/>
                    <a:p>
                      <a:pPr algn="ctr"/>
                      <a:r>
                        <a:rPr lang="pt-BR" sz="2000" b="0">
                          <a:solidFill>
                            <a:srgbClr val="FFFFFF"/>
                          </a:solidFill>
                        </a:rPr>
                        <a:t>1,5 s</a:t>
                      </a:r>
                    </a:p>
                  </a:txBody>
                  <a:tcPr>
                    <a:solidFill>
                      <a:srgbClr val="1A1A1A"/>
                    </a:solidFill>
                  </a:tcPr>
                </a:tc>
                <a:tc>
                  <a:txBody>
                    <a:bodyPr/>
                    <a:lstStyle/>
                    <a:p>
                      <a:pPr algn="ctr"/>
                      <a:r>
                        <a:rPr lang="pt-BR" sz="2000" b="0">
                          <a:solidFill>
                            <a:srgbClr val="FFFFFF"/>
                          </a:solidFill>
                        </a:rPr>
                        <a:t>1,2 s</a:t>
                      </a:r>
                    </a:p>
                  </a:txBody>
                  <a:tcPr>
                    <a:solidFill>
                      <a:srgbClr val="1A1A1A"/>
                    </a:solidFill>
                  </a:tcPr>
                </a:tc>
                <a:tc>
                  <a:txBody>
                    <a:bodyPr/>
                    <a:lstStyle/>
                    <a:p>
                      <a:pPr algn="ctr"/>
                      <a:r>
                        <a:rPr lang="pt-BR" sz="2000" b="0">
                          <a:solidFill>
                            <a:srgbClr val="FFFFFF"/>
                          </a:solidFill>
                        </a:rPr>
                        <a:t>3,3 s</a:t>
                      </a:r>
                    </a:p>
                  </a:txBody>
                  <a:tcPr>
                    <a:solidFill>
                      <a:srgbClr val="1A1A1A"/>
                    </a:solidFill>
                  </a:tcPr>
                </a:tc>
                <a:extLst>
                  <a:ext uri="{0D108BD9-81ED-4DB2-BD59-A6C34878D82A}">
                    <a16:rowId xmlns:a16="http://schemas.microsoft.com/office/drawing/2014/main" val="3204984990"/>
                  </a:ext>
                </a:extLst>
              </a:tr>
            </a:tbl>
          </a:graphicData>
        </a:graphic>
      </p:graphicFrame>
    </p:spTree>
    <p:extLst>
      <p:ext uri="{BB962C8B-B14F-4D97-AF65-F5344CB8AC3E}">
        <p14:creationId xmlns:p14="http://schemas.microsoft.com/office/powerpoint/2010/main" val="371020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3810000" y="1397000"/>
            <a:ext cx="16764000" cy="21590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6000" b="0" i="0" u="none" strike="noStrike" cap="none">
                <a:solidFill>
                  <a:srgbClr val="BDBFC7"/>
                </a:solidFill>
                <a:latin typeface="Encode Sans"/>
                <a:ea typeface="Encode Sans"/>
                <a:cs typeface="Encode Sans"/>
                <a:sym typeface="Encode Sans"/>
              </a:rPr>
              <a:t>Seis vermelhos. Um não era falha.</a:t>
            </a:r>
            <a:endParaRPr sz="60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
        <p:nvSpPr>
          <p:cNvPr id="2" name="CaixaDeTexto 1">
            <a:extLst>
              <a:ext uri="{FF2B5EF4-FFF2-40B4-BE49-F238E27FC236}">
                <a16:creationId xmlns:a16="http://schemas.microsoft.com/office/drawing/2014/main" id="{86E5D5B5-937F-4CFE-0879-054DD951E859}"/>
              </a:ext>
            </a:extLst>
          </p:cNvPr>
          <p:cNvSpPr txBox="1"/>
          <p:nvPr/>
        </p:nvSpPr>
        <p:spPr>
          <a:xfrm>
            <a:off x="3810000" y="3619500"/>
            <a:ext cx="16764000" cy="461665"/>
          </a:xfrm>
          <a:prstGeom prst="rect">
            <a:avLst/>
          </a:prstGeom>
          <a:noFill/>
        </p:spPr>
        <p:txBody>
          <a:bodyPr vert="horz" rtlCol="0">
            <a:spAutoFit/>
          </a:bodyPr>
          <a:lstStyle/>
          <a:p>
            <a:pPr algn="ctr"/>
            <a:r>
              <a:rPr lang="pt-BR" sz="2400">
                <a:solidFill>
                  <a:srgbClr val="BBBBBB"/>
                </a:solidFill>
              </a:rPr>
              <a:t>Interações que o painel marcou como erro.</a:t>
            </a:r>
          </a:p>
        </p:txBody>
      </p:sp>
      <p:graphicFrame>
        <p:nvGraphicFramePr>
          <p:cNvPr id="3" name="Tabela 2">
            <a:extLst>
              <a:ext uri="{FF2B5EF4-FFF2-40B4-BE49-F238E27FC236}">
                <a16:creationId xmlns:a16="http://schemas.microsoft.com/office/drawing/2014/main" id="{6C936273-567B-90C4-A9DD-FB780A3755B2}"/>
              </a:ext>
            </a:extLst>
          </p:cNvPr>
          <p:cNvGraphicFramePr>
            <a:graphicFrameLocks noGrp="1"/>
          </p:cNvGraphicFramePr>
          <p:nvPr>
            <p:extLst>
              <p:ext uri="{D42A27DB-BD31-4B8C-83A1-F6EECF244321}">
                <p14:modId xmlns:p14="http://schemas.microsoft.com/office/powerpoint/2010/main" val="747009005"/>
              </p:ext>
            </p:extLst>
          </p:nvPr>
        </p:nvGraphicFramePr>
        <p:xfrm>
          <a:off x="5842000" y="4699000"/>
          <a:ext cx="12700000" cy="3048000"/>
        </p:xfrm>
        <a:graphic>
          <a:graphicData uri="http://schemas.openxmlformats.org/drawingml/2006/table">
            <a:tbl>
              <a:tblPr firstRow="1" bandRow="1">
                <a:tableStyleId>{5C22544A-7EE6-4342-B048-85BDC9FD1C3A}</a:tableStyleId>
              </a:tblPr>
              <a:tblGrid>
                <a:gridCol w="4233333">
                  <a:extLst>
                    <a:ext uri="{9D8B030D-6E8A-4147-A177-3AD203B41FA5}">
                      <a16:colId xmlns:a16="http://schemas.microsoft.com/office/drawing/2014/main" val="368834197"/>
                    </a:ext>
                  </a:extLst>
                </a:gridCol>
                <a:gridCol w="4233333">
                  <a:extLst>
                    <a:ext uri="{9D8B030D-6E8A-4147-A177-3AD203B41FA5}">
                      <a16:colId xmlns:a16="http://schemas.microsoft.com/office/drawing/2014/main" val="1617179960"/>
                    </a:ext>
                  </a:extLst>
                </a:gridCol>
                <a:gridCol w="4233333">
                  <a:extLst>
                    <a:ext uri="{9D8B030D-6E8A-4147-A177-3AD203B41FA5}">
                      <a16:colId xmlns:a16="http://schemas.microsoft.com/office/drawing/2014/main" val="2863562987"/>
                    </a:ext>
                  </a:extLst>
                </a:gridCol>
              </a:tblGrid>
              <a:tr h="762000">
                <a:tc>
                  <a:txBody>
                    <a:bodyPr/>
                    <a:lstStyle/>
                    <a:p>
                      <a:r>
                        <a:rPr lang="pt-BR" sz="2000" b="1">
                          <a:solidFill>
                            <a:srgbClr val="FFFFFF"/>
                          </a:solidFill>
                        </a:rPr>
                        <a:t>Quantas</a:t>
                      </a:r>
                    </a:p>
                  </a:txBody>
                  <a:tcPr>
                    <a:solidFill>
                      <a:srgbClr val="102E5A"/>
                    </a:solidFill>
                  </a:tcPr>
                </a:tc>
                <a:tc>
                  <a:txBody>
                    <a:bodyPr/>
                    <a:lstStyle/>
                    <a:p>
                      <a:pPr algn="ctr"/>
                      <a:r>
                        <a:rPr lang="pt-BR" sz="2000" b="1">
                          <a:solidFill>
                            <a:srgbClr val="FFFFFF"/>
                          </a:solidFill>
                        </a:rPr>
                        <a:t>Onde</a:t>
                      </a:r>
                    </a:p>
                  </a:txBody>
                  <a:tcPr>
                    <a:solidFill>
                      <a:srgbClr val="102E5A"/>
                    </a:solidFill>
                  </a:tcPr>
                </a:tc>
                <a:tc>
                  <a:txBody>
                    <a:bodyPr/>
                    <a:lstStyle/>
                    <a:p>
                      <a:pPr algn="ctr"/>
                      <a:r>
                        <a:rPr lang="pt-BR" sz="2000" b="1">
                          <a:solidFill>
                            <a:srgbClr val="FFFFFF"/>
                          </a:solidFill>
                        </a:rPr>
                        <a:t>O que era</a:t>
                      </a:r>
                    </a:p>
                  </a:txBody>
                  <a:tcPr>
                    <a:solidFill>
                      <a:srgbClr val="102E5A"/>
                    </a:solidFill>
                  </a:tcPr>
                </a:tc>
                <a:extLst>
                  <a:ext uri="{0D108BD9-81ED-4DB2-BD59-A6C34878D82A}">
                    <a16:rowId xmlns:a16="http://schemas.microsoft.com/office/drawing/2014/main" val="3924178760"/>
                  </a:ext>
                </a:extLst>
              </a:tr>
              <a:tr h="762000">
                <a:tc>
                  <a:txBody>
                    <a:bodyPr/>
                    <a:lstStyle/>
                    <a:p>
                      <a:r>
                        <a:rPr lang="pt-BR" sz="2000" b="0">
                          <a:solidFill>
                            <a:srgbClr val="FFFFFF"/>
                          </a:solidFill>
                        </a:rPr>
                        <a:t>3</a:t>
                      </a:r>
                    </a:p>
                  </a:txBody>
                  <a:tcPr>
                    <a:solidFill>
                      <a:srgbClr val="1A1A1A"/>
                    </a:solidFill>
                  </a:tcPr>
                </a:tc>
                <a:tc>
                  <a:txBody>
                    <a:bodyPr/>
                    <a:lstStyle/>
                    <a:p>
                      <a:pPr algn="ctr"/>
                      <a:r>
                        <a:rPr lang="pt-BR" sz="2000" b="0">
                          <a:solidFill>
                            <a:srgbClr val="FFFFFF"/>
                          </a:solidFill>
                        </a:rPr>
                        <a:t>Mediar o cardápio</a:t>
                      </a:r>
                    </a:p>
                  </a:txBody>
                  <a:tcPr>
                    <a:solidFill>
                      <a:srgbClr val="1A1A1A"/>
                    </a:solidFill>
                  </a:tcPr>
                </a:tc>
                <a:tc>
                  <a:txBody>
                    <a:bodyPr/>
                    <a:lstStyle/>
                    <a:p>
                      <a:pPr algn="ctr"/>
                      <a:r>
                        <a:rPr lang="pt-BR" sz="2000" b="0">
                          <a:solidFill>
                            <a:srgbClr val="FFFFFF"/>
                          </a:solidFill>
                        </a:rPr>
                        <a:t>erro técnico: a requisição caiu</a:t>
                      </a:r>
                    </a:p>
                  </a:txBody>
                  <a:tcPr>
                    <a:solidFill>
                      <a:srgbClr val="1A1A1A"/>
                    </a:solidFill>
                  </a:tcPr>
                </a:tc>
                <a:extLst>
                  <a:ext uri="{0D108BD9-81ED-4DB2-BD59-A6C34878D82A}">
                    <a16:rowId xmlns:a16="http://schemas.microsoft.com/office/drawing/2014/main" val="149868572"/>
                  </a:ext>
                </a:extLst>
              </a:tr>
              <a:tr h="762000">
                <a:tc>
                  <a:txBody>
                    <a:bodyPr/>
                    <a:lstStyle/>
                    <a:p>
                      <a:r>
                        <a:rPr lang="pt-BR" sz="2000" b="0">
                          <a:solidFill>
                            <a:srgbClr val="FFFFFF"/>
                          </a:solidFill>
                        </a:rPr>
                        <a:t>2</a:t>
                      </a:r>
                    </a:p>
                  </a:txBody>
                  <a:tcPr>
                    <a:solidFill>
                      <a:srgbClr val="1A1A1A"/>
                    </a:solidFill>
                  </a:tcPr>
                </a:tc>
                <a:tc>
                  <a:txBody>
                    <a:bodyPr/>
                    <a:lstStyle/>
                    <a:p>
                      <a:pPr algn="ctr"/>
                      <a:r>
                        <a:rPr lang="pt-BR" sz="2000" b="0">
                          <a:solidFill>
                            <a:srgbClr val="FFFFFF"/>
                          </a:solidFill>
                        </a:rPr>
                        <a:t>Receita premium</a:t>
                      </a:r>
                    </a:p>
                  </a:txBody>
                  <a:tcPr>
                    <a:solidFill>
                      <a:srgbClr val="1A1A1A"/>
                    </a:solidFill>
                  </a:tcPr>
                </a:tc>
                <a:tc>
                  <a:txBody>
                    <a:bodyPr/>
                    <a:lstStyle/>
                    <a:p>
                      <a:pPr algn="ctr"/>
                      <a:r>
                        <a:rPr lang="pt-BR" sz="2000" b="0">
                          <a:solidFill>
                            <a:srgbClr val="FFFFFF"/>
                          </a:solidFill>
                        </a:rPr>
                        <a:t>chave de acesso inválida, na sexta dia 28</a:t>
                      </a:r>
                    </a:p>
                  </a:txBody>
                  <a:tcPr>
                    <a:solidFill>
                      <a:srgbClr val="1A1A1A"/>
                    </a:solidFill>
                  </a:tcPr>
                </a:tc>
                <a:extLst>
                  <a:ext uri="{0D108BD9-81ED-4DB2-BD59-A6C34878D82A}">
                    <a16:rowId xmlns:a16="http://schemas.microsoft.com/office/drawing/2014/main" val="1696753227"/>
                  </a:ext>
                </a:extLst>
              </a:tr>
              <a:tr h="762000">
                <a:tc>
                  <a:txBody>
                    <a:bodyPr/>
                    <a:lstStyle/>
                    <a:p>
                      <a:r>
                        <a:rPr lang="pt-BR" sz="2000" b="0">
                          <a:solidFill>
                            <a:srgbClr val="FFFFFF"/>
                          </a:solidFill>
                        </a:rPr>
                        <a:t>1</a:t>
                      </a:r>
                    </a:p>
                  </a:txBody>
                  <a:tcPr>
                    <a:solidFill>
                      <a:srgbClr val="1A1A1A"/>
                    </a:solidFill>
                  </a:tcPr>
                </a:tc>
                <a:tc>
                  <a:txBody>
                    <a:bodyPr/>
                    <a:lstStyle/>
                    <a:p>
                      <a:pPr algn="ctr"/>
                      <a:r>
                        <a:rPr lang="pt-BR" sz="2000" b="0">
                          <a:solidFill>
                            <a:srgbClr val="FFFFFF"/>
                          </a:solidFill>
                        </a:rPr>
                        <a:t>Ler nota por foto</a:t>
                      </a:r>
                    </a:p>
                  </a:txBody>
                  <a:tcPr>
                    <a:solidFill>
                      <a:srgbClr val="1A1A1A"/>
                    </a:solidFill>
                  </a:tcPr>
                </a:tc>
                <a:tc>
                  <a:txBody>
                    <a:bodyPr/>
                    <a:lstStyle/>
                    <a:p>
                      <a:pPr algn="ctr"/>
                      <a:r>
                        <a:rPr lang="pt-BR" sz="2000" b="0">
                          <a:solidFill>
                            <a:srgbClr val="FFFFFF"/>
                          </a:solidFill>
                        </a:rPr>
                        <a:t>o produto explicando o que faltava</a:t>
                      </a:r>
                    </a:p>
                  </a:txBody>
                  <a:tcPr>
                    <a:solidFill>
                      <a:srgbClr val="1A1A1A"/>
                    </a:solidFill>
                  </a:tcPr>
                </a:tc>
                <a:extLst>
                  <a:ext uri="{0D108BD9-81ED-4DB2-BD59-A6C34878D82A}">
                    <a16:rowId xmlns:a16="http://schemas.microsoft.com/office/drawing/2014/main" val="218839280"/>
                  </a:ext>
                </a:extLst>
              </a:tr>
            </a:tbl>
          </a:graphicData>
        </a:graphic>
      </p:graphicFrame>
    </p:spTree>
    <p:extLst>
      <p:ext uri="{BB962C8B-B14F-4D97-AF65-F5344CB8AC3E}">
        <p14:creationId xmlns:p14="http://schemas.microsoft.com/office/powerpoint/2010/main" val="20843380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Uma foto não é um filme.</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10697490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3810000" y="1397000"/>
            <a:ext cx="16764000" cy="21590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6000" b="0" i="0" u="none" strike="noStrike" cap="none">
                <a:solidFill>
                  <a:srgbClr val="BDBFC7"/>
                </a:solidFill>
                <a:latin typeface="Encode Sans"/>
                <a:ea typeface="Encode Sans"/>
                <a:cs typeface="Encode Sans"/>
                <a:sym typeface="Encode Sans"/>
              </a:rPr>
              <a:t>Dado bruto tem prazo de validade.</a:t>
            </a:r>
            <a:endParaRPr sz="60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
        <p:nvSpPr>
          <p:cNvPr id="2" name="CaixaDeTexto 1">
            <a:extLst>
              <a:ext uri="{FF2B5EF4-FFF2-40B4-BE49-F238E27FC236}">
                <a16:creationId xmlns:a16="http://schemas.microsoft.com/office/drawing/2014/main" id="{4CE47189-0D29-AB47-7B30-28FAF4E727A3}"/>
              </a:ext>
            </a:extLst>
          </p:cNvPr>
          <p:cNvSpPr txBox="1"/>
          <p:nvPr/>
        </p:nvSpPr>
        <p:spPr>
          <a:xfrm>
            <a:off x="3810000" y="3619500"/>
            <a:ext cx="16764000" cy="461665"/>
          </a:xfrm>
          <a:prstGeom prst="rect">
            <a:avLst/>
          </a:prstGeom>
          <a:noFill/>
        </p:spPr>
        <p:txBody>
          <a:bodyPr vert="horz" rtlCol="0">
            <a:spAutoFit/>
          </a:bodyPr>
          <a:lstStyle/>
          <a:p>
            <a:pPr algn="ctr"/>
            <a:r>
              <a:rPr lang="pt-BR" sz="2400">
                <a:solidFill>
                  <a:srgbClr val="BBBBBB"/>
                </a:solidFill>
              </a:rPr>
              <a:t>Plano gratuito: 30 dias. O mesmo painel, daqui a uma semana.</a:t>
            </a:r>
          </a:p>
        </p:txBody>
      </p:sp>
      <p:graphicFrame>
        <p:nvGraphicFramePr>
          <p:cNvPr id="3" name="Tabela 2">
            <a:extLst>
              <a:ext uri="{FF2B5EF4-FFF2-40B4-BE49-F238E27FC236}">
                <a16:creationId xmlns:a16="http://schemas.microsoft.com/office/drawing/2014/main" id="{81F4D080-AF39-CFA6-5F03-F9490FD1B973}"/>
              </a:ext>
            </a:extLst>
          </p:cNvPr>
          <p:cNvGraphicFramePr>
            <a:graphicFrameLocks noGrp="1"/>
          </p:cNvGraphicFramePr>
          <p:nvPr>
            <p:extLst>
              <p:ext uri="{D42A27DB-BD31-4B8C-83A1-F6EECF244321}">
                <p14:modId xmlns:p14="http://schemas.microsoft.com/office/powerpoint/2010/main" val="281998630"/>
              </p:ext>
            </p:extLst>
          </p:nvPr>
        </p:nvGraphicFramePr>
        <p:xfrm>
          <a:off x="5842000" y="4699000"/>
          <a:ext cx="12700000" cy="3810000"/>
        </p:xfrm>
        <a:graphic>
          <a:graphicData uri="http://schemas.openxmlformats.org/drawingml/2006/table">
            <a:tbl>
              <a:tblPr firstRow="1" bandRow="1">
                <a:tableStyleId>{5C22544A-7EE6-4342-B048-85BDC9FD1C3A}</a:tableStyleId>
              </a:tblPr>
              <a:tblGrid>
                <a:gridCol w="4233333">
                  <a:extLst>
                    <a:ext uri="{9D8B030D-6E8A-4147-A177-3AD203B41FA5}">
                      <a16:colId xmlns:a16="http://schemas.microsoft.com/office/drawing/2014/main" val="3548012923"/>
                    </a:ext>
                  </a:extLst>
                </a:gridCol>
                <a:gridCol w="4233333">
                  <a:extLst>
                    <a:ext uri="{9D8B030D-6E8A-4147-A177-3AD203B41FA5}">
                      <a16:colId xmlns:a16="http://schemas.microsoft.com/office/drawing/2014/main" val="772739276"/>
                    </a:ext>
                  </a:extLst>
                </a:gridCol>
                <a:gridCol w="4233333">
                  <a:extLst>
                    <a:ext uri="{9D8B030D-6E8A-4147-A177-3AD203B41FA5}">
                      <a16:colId xmlns:a16="http://schemas.microsoft.com/office/drawing/2014/main" val="2746554735"/>
                    </a:ext>
                  </a:extLst>
                </a:gridCol>
              </a:tblGrid>
              <a:tr h="762000">
                <a:tc>
                  <a:txBody>
                    <a:bodyPr/>
                    <a:lstStyle/>
                    <a:p>
                      <a:endParaRPr lang="pt-BR" sz="2000" b="1">
                        <a:solidFill>
                          <a:srgbClr val="FFFFFF"/>
                        </a:solidFill>
                      </a:endParaRPr>
                    </a:p>
                  </a:txBody>
                  <a:tcPr>
                    <a:solidFill>
                      <a:srgbClr val="102E5A"/>
                    </a:solidFill>
                  </a:tcPr>
                </a:tc>
                <a:tc>
                  <a:txBody>
                    <a:bodyPr/>
                    <a:lstStyle/>
                    <a:p>
                      <a:pPr algn="ctr"/>
                      <a:r>
                        <a:rPr lang="pt-BR" sz="2000" b="1">
                          <a:solidFill>
                            <a:srgbClr val="FFFFFF"/>
                          </a:solidFill>
                        </a:rPr>
                        <a:t>Hoje, 16/09</a:t>
                      </a:r>
                    </a:p>
                  </a:txBody>
                  <a:tcPr>
                    <a:solidFill>
                      <a:srgbClr val="102E5A"/>
                    </a:solidFill>
                  </a:tcPr>
                </a:tc>
                <a:tc>
                  <a:txBody>
                    <a:bodyPr/>
                    <a:lstStyle/>
                    <a:p>
                      <a:pPr algn="ctr"/>
                      <a:r>
                        <a:rPr lang="pt-BR" sz="2000" b="1">
                          <a:solidFill>
                            <a:srgbClr val="FFFFFF"/>
                          </a:solidFill>
                        </a:rPr>
                        <a:t>Dia 22/09</a:t>
                      </a:r>
                    </a:p>
                  </a:txBody>
                  <a:tcPr>
                    <a:solidFill>
                      <a:srgbClr val="102E5A"/>
                    </a:solidFill>
                  </a:tcPr>
                </a:tc>
                <a:extLst>
                  <a:ext uri="{0D108BD9-81ED-4DB2-BD59-A6C34878D82A}">
                    <a16:rowId xmlns:a16="http://schemas.microsoft.com/office/drawing/2014/main" val="4177367329"/>
                  </a:ext>
                </a:extLst>
              </a:tr>
              <a:tr h="762000">
                <a:tc>
                  <a:txBody>
                    <a:bodyPr/>
                    <a:lstStyle/>
                    <a:p>
                      <a:r>
                        <a:rPr lang="pt-BR" sz="2000" b="0">
                          <a:solidFill>
                            <a:srgbClr val="FFFFFF"/>
                          </a:solidFill>
                        </a:rPr>
                        <a:t>Interações</a:t>
                      </a:r>
                    </a:p>
                  </a:txBody>
                  <a:tcPr>
                    <a:solidFill>
                      <a:srgbClr val="1A1A1A"/>
                    </a:solidFill>
                  </a:tcPr>
                </a:tc>
                <a:tc>
                  <a:txBody>
                    <a:bodyPr/>
                    <a:lstStyle/>
                    <a:p>
                      <a:pPr algn="ctr"/>
                      <a:r>
                        <a:rPr lang="pt-BR" sz="2000" b="0">
                          <a:solidFill>
                            <a:srgbClr val="FFFFFF"/>
                          </a:solidFill>
                        </a:rPr>
                        <a:t>42</a:t>
                      </a:r>
                    </a:p>
                  </a:txBody>
                  <a:tcPr>
                    <a:solidFill>
                      <a:srgbClr val="1A1A1A"/>
                    </a:solidFill>
                  </a:tcPr>
                </a:tc>
                <a:tc>
                  <a:txBody>
                    <a:bodyPr/>
                    <a:lstStyle/>
                    <a:p>
                      <a:pPr algn="ctr"/>
                      <a:r>
                        <a:rPr lang="pt-BR" sz="2000" b="0">
                          <a:solidFill>
                            <a:srgbClr val="FFFFFF"/>
                          </a:solidFill>
                        </a:rPr>
                        <a:t>21</a:t>
                      </a:r>
                    </a:p>
                  </a:txBody>
                  <a:tcPr>
                    <a:solidFill>
                      <a:srgbClr val="1A1A1A"/>
                    </a:solidFill>
                  </a:tcPr>
                </a:tc>
                <a:extLst>
                  <a:ext uri="{0D108BD9-81ED-4DB2-BD59-A6C34878D82A}">
                    <a16:rowId xmlns:a16="http://schemas.microsoft.com/office/drawing/2014/main" val="2919536716"/>
                  </a:ext>
                </a:extLst>
              </a:tr>
              <a:tr h="762000">
                <a:tc>
                  <a:txBody>
                    <a:bodyPr/>
                    <a:lstStyle/>
                    <a:p>
                      <a:r>
                        <a:rPr lang="pt-BR" sz="2000" b="0">
                          <a:solidFill>
                            <a:srgbClr val="FFFFFF"/>
                          </a:solidFill>
                        </a:rPr>
                        <a:t>Custo na tela</a:t>
                      </a:r>
                    </a:p>
                  </a:txBody>
                  <a:tcPr>
                    <a:solidFill>
                      <a:srgbClr val="1A1A1A"/>
                    </a:solidFill>
                  </a:tcPr>
                </a:tc>
                <a:tc>
                  <a:txBody>
                    <a:bodyPr/>
                    <a:lstStyle/>
                    <a:p>
                      <a:pPr algn="ctr"/>
                      <a:r>
                        <a:rPr lang="pt-BR" sz="2000" b="0">
                          <a:solidFill>
                            <a:srgbClr val="FFFFFF"/>
                          </a:solidFill>
                        </a:rPr>
                        <a:t>US$ 1,54</a:t>
                      </a:r>
                    </a:p>
                  </a:txBody>
                  <a:tcPr>
                    <a:solidFill>
                      <a:srgbClr val="1A1A1A"/>
                    </a:solidFill>
                  </a:tcPr>
                </a:tc>
                <a:tc>
                  <a:txBody>
                    <a:bodyPr/>
                    <a:lstStyle/>
                    <a:p>
                      <a:pPr algn="ctr"/>
                      <a:r>
                        <a:rPr lang="pt-BR" sz="2000" b="0">
                          <a:solidFill>
                            <a:srgbClr val="FFFFFF"/>
                          </a:solidFill>
                        </a:rPr>
                        <a:t>US$ 0,46</a:t>
                      </a:r>
                    </a:p>
                  </a:txBody>
                  <a:tcPr>
                    <a:solidFill>
                      <a:srgbClr val="1A1A1A"/>
                    </a:solidFill>
                  </a:tcPr>
                </a:tc>
                <a:extLst>
                  <a:ext uri="{0D108BD9-81ED-4DB2-BD59-A6C34878D82A}">
                    <a16:rowId xmlns:a16="http://schemas.microsoft.com/office/drawing/2014/main" val="1615713832"/>
                  </a:ext>
                </a:extLst>
              </a:tr>
              <a:tr h="762000">
                <a:tc>
                  <a:txBody>
                    <a:bodyPr/>
                    <a:lstStyle/>
                    <a:p>
                      <a:r>
                        <a:rPr lang="pt-BR" sz="2000" b="0">
                          <a:solidFill>
                            <a:srgbClr val="FFFFFF"/>
                          </a:solidFill>
                        </a:rPr>
                        <a:t>Mediações</a:t>
                      </a:r>
                    </a:p>
                  </a:txBody>
                  <a:tcPr>
                    <a:solidFill>
                      <a:srgbClr val="1A1A1A"/>
                    </a:solidFill>
                  </a:tcPr>
                </a:tc>
                <a:tc>
                  <a:txBody>
                    <a:bodyPr/>
                    <a:lstStyle/>
                    <a:p>
                      <a:pPr algn="ctr"/>
                      <a:r>
                        <a:rPr lang="pt-BR" sz="2000" b="0">
                          <a:solidFill>
                            <a:srgbClr val="FFFFFF"/>
                          </a:solidFill>
                        </a:rPr>
                        <a:t>10</a:t>
                      </a:r>
                    </a:p>
                  </a:txBody>
                  <a:tcPr>
                    <a:solidFill>
                      <a:srgbClr val="1A1A1A"/>
                    </a:solidFill>
                  </a:tcPr>
                </a:tc>
                <a:tc>
                  <a:txBody>
                    <a:bodyPr/>
                    <a:lstStyle/>
                    <a:p>
                      <a:pPr algn="ctr"/>
                      <a:r>
                        <a:rPr lang="pt-BR" sz="2000" b="0">
                          <a:solidFill>
                            <a:srgbClr val="FFFFFF"/>
                          </a:solidFill>
                        </a:rPr>
                        <a:t>2</a:t>
                      </a:r>
                    </a:p>
                  </a:txBody>
                  <a:tcPr>
                    <a:solidFill>
                      <a:srgbClr val="1A1A1A"/>
                    </a:solidFill>
                  </a:tcPr>
                </a:tc>
                <a:extLst>
                  <a:ext uri="{0D108BD9-81ED-4DB2-BD59-A6C34878D82A}">
                    <a16:rowId xmlns:a16="http://schemas.microsoft.com/office/drawing/2014/main" val="853515097"/>
                  </a:ext>
                </a:extLst>
              </a:tr>
              <a:tr h="762000">
                <a:tc>
                  <a:txBody>
                    <a:bodyPr/>
                    <a:lstStyle/>
                    <a:p>
                      <a:r>
                        <a:rPr lang="pt-BR" sz="2000" b="0">
                          <a:solidFill>
                            <a:srgbClr val="FFFFFF"/>
                          </a:solidFill>
                        </a:rPr>
                        <a:t>O Mediador na conta</a:t>
                      </a:r>
                    </a:p>
                  </a:txBody>
                  <a:tcPr>
                    <a:solidFill>
                      <a:srgbClr val="1A1A1A"/>
                    </a:solidFill>
                  </a:tcPr>
                </a:tc>
                <a:tc>
                  <a:txBody>
                    <a:bodyPr/>
                    <a:lstStyle/>
                    <a:p>
                      <a:pPr algn="ctr"/>
                      <a:r>
                        <a:rPr lang="pt-BR" sz="2000" b="0">
                          <a:solidFill>
                            <a:srgbClr val="FFFFFF"/>
                          </a:solidFill>
                        </a:rPr>
                        <a:t>90%</a:t>
                      </a:r>
                    </a:p>
                  </a:txBody>
                  <a:tcPr>
                    <a:solidFill>
                      <a:srgbClr val="1A1A1A"/>
                    </a:solidFill>
                  </a:tcPr>
                </a:tc>
                <a:tc>
                  <a:txBody>
                    <a:bodyPr/>
                    <a:lstStyle/>
                    <a:p>
                      <a:pPr algn="ctr"/>
                      <a:r>
                        <a:rPr lang="pt-BR" sz="2000" b="0">
                          <a:solidFill>
                            <a:srgbClr val="FFFFFF"/>
                          </a:solidFill>
                        </a:rPr>
                        <a:t>77%</a:t>
                      </a:r>
                    </a:p>
                  </a:txBody>
                  <a:tcPr>
                    <a:solidFill>
                      <a:srgbClr val="1A1A1A"/>
                    </a:solidFill>
                  </a:tcPr>
                </a:tc>
                <a:extLst>
                  <a:ext uri="{0D108BD9-81ED-4DB2-BD59-A6C34878D82A}">
                    <a16:rowId xmlns:a16="http://schemas.microsoft.com/office/drawing/2014/main" val="408026855"/>
                  </a:ext>
                </a:extLst>
              </a:tr>
            </a:tbl>
          </a:graphicData>
        </a:graphic>
      </p:graphicFrame>
    </p:spTree>
    <p:extLst>
      <p:ext uri="{BB962C8B-B14F-4D97-AF65-F5344CB8AC3E}">
        <p14:creationId xmlns:p14="http://schemas.microsoft.com/office/powerpoint/2010/main" val="1531030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3810000" y="1397000"/>
            <a:ext cx="16764000" cy="21590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6000" b="0" i="0" u="none" strike="noStrike" cap="none">
                <a:solidFill>
                  <a:srgbClr val="BDBFC7"/>
                </a:solidFill>
                <a:latin typeface="Encode Sans"/>
                <a:ea typeface="Encode Sans"/>
                <a:cs typeface="Encode Sans"/>
                <a:sym typeface="Encode Sans"/>
              </a:rPr>
              <a:t>Quatro perguntas pro seu painel</a:t>
            </a:r>
            <a:endParaRPr sz="60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
        <p:nvSpPr>
          <p:cNvPr id="2" name="CaixaDeTexto 1">
            <a:extLst>
              <a:ext uri="{FF2B5EF4-FFF2-40B4-BE49-F238E27FC236}">
                <a16:creationId xmlns:a16="http://schemas.microsoft.com/office/drawing/2014/main" id="{0E15757E-C023-FF59-E1AC-75BBD0E34626}"/>
              </a:ext>
            </a:extLst>
          </p:cNvPr>
          <p:cNvSpPr txBox="1"/>
          <p:nvPr/>
        </p:nvSpPr>
        <p:spPr>
          <a:xfrm>
            <a:off x="3810000" y="3619500"/>
            <a:ext cx="16764000" cy="461665"/>
          </a:xfrm>
          <a:prstGeom prst="rect">
            <a:avLst/>
          </a:prstGeom>
          <a:noFill/>
        </p:spPr>
        <p:txBody>
          <a:bodyPr vert="horz" rtlCol="0">
            <a:spAutoFit/>
          </a:bodyPr>
          <a:lstStyle/>
          <a:p>
            <a:pPr algn="ctr"/>
            <a:r>
              <a:rPr lang="pt-BR" sz="2400">
                <a:solidFill>
                  <a:srgbClr val="BBBBBB"/>
                </a:solidFill>
              </a:rPr>
              <a:t>A parte que você leva pro seu produto.</a:t>
            </a:r>
          </a:p>
        </p:txBody>
      </p:sp>
      <p:graphicFrame>
        <p:nvGraphicFramePr>
          <p:cNvPr id="3" name="Tabela 2">
            <a:extLst>
              <a:ext uri="{FF2B5EF4-FFF2-40B4-BE49-F238E27FC236}">
                <a16:creationId xmlns:a16="http://schemas.microsoft.com/office/drawing/2014/main" id="{FEAF8677-92AD-A8EB-48FB-1E93EDECDC3E}"/>
              </a:ext>
            </a:extLst>
          </p:cNvPr>
          <p:cNvGraphicFramePr>
            <a:graphicFrameLocks noGrp="1"/>
          </p:cNvGraphicFramePr>
          <p:nvPr>
            <p:extLst>
              <p:ext uri="{D42A27DB-BD31-4B8C-83A1-F6EECF244321}">
                <p14:modId xmlns:p14="http://schemas.microsoft.com/office/powerpoint/2010/main" val="3402055632"/>
              </p:ext>
            </p:extLst>
          </p:nvPr>
        </p:nvGraphicFramePr>
        <p:xfrm>
          <a:off x="5842000" y="4699000"/>
          <a:ext cx="12700000" cy="3810000"/>
        </p:xfrm>
        <a:graphic>
          <a:graphicData uri="http://schemas.openxmlformats.org/drawingml/2006/table">
            <a:tbl>
              <a:tblPr firstRow="1" bandRow="1">
                <a:tableStyleId>{5C22544A-7EE6-4342-B048-85BDC9FD1C3A}</a:tableStyleId>
              </a:tblPr>
              <a:tblGrid>
                <a:gridCol w="6350000">
                  <a:extLst>
                    <a:ext uri="{9D8B030D-6E8A-4147-A177-3AD203B41FA5}">
                      <a16:colId xmlns:a16="http://schemas.microsoft.com/office/drawing/2014/main" val="615527800"/>
                    </a:ext>
                  </a:extLst>
                </a:gridCol>
                <a:gridCol w="6350000">
                  <a:extLst>
                    <a:ext uri="{9D8B030D-6E8A-4147-A177-3AD203B41FA5}">
                      <a16:colId xmlns:a16="http://schemas.microsoft.com/office/drawing/2014/main" val="3663634122"/>
                    </a:ext>
                  </a:extLst>
                </a:gridCol>
              </a:tblGrid>
              <a:tr h="762000">
                <a:tc>
                  <a:txBody>
                    <a:bodyPr/>
                    <a:lstStyle/>
                    <a:p>
                      <a:r>
                        <a:rPr lang="pt-BR" sz="2000" b="1">
                          <a:solidFill>
                            <a:srgbClr val="FFFFFF"/>
                          </a:solidFill>
                        </a:rPr>
                        <a:t>Pergunta</a:t>
                      </a:r>
                    </a:p>
                  </a:txBody>
                  <a:tcPr>
                    <a:solidFill>
                      <a:srgbClr val="102E5A"/>
                    </a:solidFill>
                  </a:tcPr>
                </a:tc>
                <a:tc>
                  <a:txBody>
                    <a:bodyPr/>
                    <a:lstStyle/>
                    <a:p>
                      <a:pPr algn="ctr"/>
                      <a:r>
                        <a:rPr lang="pt-BR" sz="2000" b="1">
                          <a:solidFill>
                            <a:srgbClr val="FFFFFF"/>
                          </a:solidFill>
                        </a:rPr>
                        <a:t>Onde olhar</a:t>
                      </a:r>
                    </a:p>
                  </a:txBody>
                  <a:tcPr>
                    <a:solidFill>
                      <a:srgbClr val="102E5A"/>
                    </a:solidFill>
                  </a:tcPr>
                </a:tc>
                <a:extLst>
                  <a:ext uri="{0D108BD9-81ED-4DB2-BD59-A6C34878D82A}">
                    <a16:rowId xmlns:a16="http://schemas.microsoft.com/office/drawing/2014/main" val="4275686844"/>
                  </a:ext>
                </a:extLst>
              </a:tr>
              <a:tr h="762000">
                <a:tc>
                  <a:txBody>
                    <a:bodyPr/>
                    <a:lstStyle/>
                    <a:p>
                      <a:r>
                        <a:rPr lang="pt-BR" sz="2000" b="0">
                          <a:solidFill>
                            <a:srgbClr val="FFFFFF"/>
                          </a:solidFill>
                        </a:rPr>
                        <a:t>O que ele mais faz?</a:t>
                      </a:r>
                    </a:p>
                  </a:txBody>
                  <a:tcPr>
                    <a:solidFill>
                      <a:srgbClr val="1A1A1A"/>
                    </a:solidFill>
                  </a:tcPr>
                </a:tc>
                <a:tc>
                  <a:txBody>
                    <a:bodyPr/>
                    <a:lstStyle/>
                    <a:p>
                      <a:pPr algn="ctr"/>
                      <a:r>
                        <a:rPr lang="pt-BR" sz="2000" b="0">
                          <a:solidFill>
                            <a:srgbClr val="FFFFFF"/>
                          </a:solidFill>
                        </a:rPr>
                        <a:t>Contagem por operação</a:t>
                      </a:r>
                    </a:p>
                  </a:txBody>
                  <a:tcPr>
                    <a:solidFill>
                      <a:srgbClr val="1A1A1A"/>
                    </a:solidFill>
                  </a:tcPr>
                </a:tc>
                <a:extLst>
                  <a:ext uri="{0D108BD9-81ED-4DB2-BD59-A6C34878D82A}">
                    <a16:rowId xmlns:a16="http://schemas.microsoft.com/office/drawing/2014/main" val="2388128652"/>
                  </a:ext>
                </a:extLst>
              </a:tr>
              <a:tr h="762000">
                <a:tc>
                  <a:txBody>
                    <a:bodyPr/>
                    <a:lstStyle/>
                    <a:p>
                      <a:r>
                        <a:rPr lang="pt-BR" sz="2000" b="0">
                          <a:solidFill>
                            <a:srgbClr val="FFFFFF"/>
                          </a:solidFill>
                        </a:rPr>
                        <a:t>Onde estão o dinheiro e a espera?</a:t>
                      </a:r>
                    </a:p>
                  </a:txBody>
                  <a:tcPr>
                    <a:solidFill>
                      <a:srgbClr val="1A1A1A"/>
                    </a:solidFill>
                  </a:tcPr>
                </a:tc>
                <a:tc>
                  <a:txBody>
                    <a:bodyPr/>
                    <a:lstStyle/>
                    <a:p>
                      <a:pPr algn="ctr"/>
                      <a:r>
                        <a:rPr lang="pt-BR" sz="2000" b="0">
                          <a:solidFill>
                            <a:srgbClr val="FFFFFF"/>
                          </a:solidFill>
                        </a:rPr>
                        <a:t>Custo e pior caso, por operação</a:t>
                      </a:r>
                    </a:p>
                  </a:txBody>
                  <a:tcPr>
                    <a:solidFill>
                      <a:srgbClr val="1A1A1A"/>
                    </a:solidFill>
                  </a:tcPr>
                </a:tc>
                <a:extLst>
                  <a:ext uri="{0D108BD9-81ED-4DB2-BD59-A6C34878D82A}">
                    <a16:rowId xmlns:a16="http://schemas.microsoft.com/office/drawing/2014/main" val="2362568147"/>
                  </a:ext>
                </a:extLst>
              </a:tr>
              <a:tr h="762000">
                <a:tc>
                  <a:txBody>
                    <a:bodyPr/>
                    <a:lstStyle/>
                    <a:p>
                      <a:r>
                        <a:rPr lang="pt-BR" sz="2000" b="0">
                          <a:solidFill>
                            <a:srgbClr val="FFFFFF"/>
                          </a:solidFill>
                        </a:rPr>
                        <a:t>Quantas terminaram inteiras?</a:t>
                      </a:r>
                    </a:p>
                  </a:txBody>
                  <a:tcPr>
                    <a:solidFill>
                      <a:srgbClr val="1A1A1A"/>
                    </a:solidFill>
                  </a:tcPr>
                </a:tc>
                <a:tc>
                  <a:txBody>
                    <a:bodyPr/>
                    <a:lstStyle/>
                    <a:p>
                      <a:pPr algn="ctr"/>
                      <a:r>
                        <a:rPr lang="pt-BR" sz="2000" b="0">
                          <a:solidFill>
                            <a:srgbClr val="FFFFFF"/>
                          </a:solidFill>
                        </a:rPr>
                        <a:t>Erro, e também resposta cortada ou vazia</a:t>
                      </a:r>
                    </a:p>
                  </a:txBody>
                  <a:tcPr>
                    <a:solidFill>
                      <a:srgbClr val="1A1A1A"/>
                    </a:solidFill>
                  </a:tcPr>
                </a:tc>
                <a:extLst>
                  <a:ext uri="{0D108BD9-81ED-4DB2-BD59-A6C34878D82A}">
                    <a16:rowId xmlns:a16="http://schemas.microsoft.com/office/drawing/2014/main" val="1469258274"/>
                  </a:ext>
                </a:extLst>
              </a:tr>
              <a:tr h="762000">
                <a:tc>
                  <a:txBody>
                    <a:bodyPr/>
                    <a:lstStyle/>
                    <a:p>
                      <a:r>
                        <a:rPr lang="pt-BR" sz="2000" b="0">
                          <a:solidFill>
                            <a:srgbClr val="FFFFFF"/>
                          </a:solidFill>
                        </a:rPr>
                        <a:t>Melhorou desde a semana passada?</a:t>
                      </a:r>
                    </a:p>
                  </a:txBody>
                  <a:tcPr>
                    <a:solidFill>
                      <a:srgbClr val="1A1A1A"/>
                    </a:solidFill>
                  </a:tcPr>
                </a:tc>
                <a:tc>
                  <a:txBody>
                    <a:bodyPr/>
                    <a:lstStyle/>
                    <a:p>
                      <a:pPr algn="ctr"/>
                      <a:r>
                        <a:rPr lang="pt-BR" sz="2000" b="0">
                          <a:solidFill>
                            <a:srgbClr val="FFFFFF"/>
                          </a:solidFill>
                        </a:rPr>
                        <a:t>Nota ao longo do tempo</a:t>
                      </a:r>
                    </a:p>
                  </a:txBody>
                  <a:tcPr>
                    <a:solidFill>
                      <a:srgbClr val="1A1A1A"/>
                    </a:solidFill>
                  </a:tcPr>
                </a:tc>
                <a:extLst>
                  <a:ext uri="{0D108BD9-81ED-4DB2-BD59-A6C34878D82A}">
                    <a16:rowId xmlns:a16="http://schemas.microsoft.com/office/drawing/2014/main" val="4055233135"/>
                  </a:ext>
                </a:extLst>
              </a:tr>
            </a:tbl>
          </a:graphicData>
        </a:graphic>
      </p:graphicFrame>
    </p:spTree>
    <p:extLst>
      <p:ext uri="{BB962C8B-B14F-4D97-AF65-F5344CB8AC3E}">
        <p14:creationId xmlns:p14="http://schemas.microsoft.com/office/powerpoint/2010/main" val="19370805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E o que não disparou alarme, está bem?</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35141596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g3f3de5a4e7f_0_43"/>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 name="Google Shape;527;g3f3de5a4e7f_0_43"/>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8" name="Google Shape;528;g3f3de5a4e7f_0_43" descr=" "/>
          <p:cNvPicPr preferRelativeResize="0"/>
          <p:nvPr/>
        </p:nvPicPr>
        <p:blipFill rotWithShape="1">
          <a:blip r:embed="rId3">
            <a:alphaModFix/>
          </a:blip>
          <a:srcRect/>
          <a:stretch/>
        </p:blipFill>
        <p:spPr>
          <a:xfrm>
            <a:off x="23433139" y="406400"/>
            <a:ext cx="476942" cy="593018"/>
          </a:xfrm>
          <a:prstGeom prst="rect">
            <a:avLst/>
          </a:prstGeom>
          <a:noFill/>
          <a:ln>
            <a:noFill/>
          </a:ln>
        </p:spPr>
      </p:pic>
      <p:sp>
        <p:nvSpPr>
          <p:cNvPr id="529" name="Google Shape;529;g3f3de5a4e7f_0_43"/>
          <p:cNvSpPr/>
          <p:nvPr/>
        </p:nvSpPr>
        <p:spPr>
          <a:xfrm>
            <a:off x="7214502" y="5156200"/>
            <a:ext cx="10402500" cy="38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200"/>
              <a:buFont typeface="Encode Sans"/>
              <a:buNone/>
            </a:pPr>
            <a:r>
              <a:rPr lang="pt-BR" sz="10200" b="0" i="0" u="none" strike="noStrike" cap="none">
                <a:solidFill>
                  <a:srgbClr val="FFFFFF"/>
                </a:solidFill>
                <a:latin typeface="Encode Sans"/>
                <a:ea typeface="Encode Sans"/>
                <a:cs typeface="Encode Sans"/>
                <a:sym typeface="Encode Sans"/>
              </a:rPr>
              <a:t>3.4 Padrões de falha</a:t>
            </a:r>
            <a:endParaRPr sz="10200" b="0" i="0" u="none" strike="noStrike" cap="none">
              <a:solidFill>
                <a:schemeClr val="dk1"/>
              </a:solidFill>
              <a:latin typeface="Encode Sans"/>
              <a:ea typeface="Encode Sans"/>
              <a:cs typeface="Encode Sans"/>
              <a:sym typeface="Encode Sans"/>
            </a:endParaRPr>
          </a:p>
        </p:txBody>
      </p:sp>
      <p:pic>
        <p:nvPicPr>
          <p:cNvPr id="530" name="Google Shape;530;g3f3de5a4e7f_0_43" descr="Ícone&#10;&#10;O conteúdo gerado por IA pode estar incorreto."/>
          <p:cNvPicPr preferRelativeResize="0"/>
          <p:nvPr/>
        </p:nvPicPr>
        <p:blipFill rotWithShape="1">
          <a:blip r:embed="rId4">
            <a:alphaModFix/>
          </a:blip>
          <a:srcRect/>
          <a:stretch/>
        </p:blipFill>
        <p:spPr>
          <a:xfrm>
            <a:off x="25140419" y="-144842"/>
            <a:ext cx="1568332" cy="10010052"/>
          </a:xfrm>
          <a:prstGeom prst="rect">
            <a:avLst/>
          </a:prstGeom>
          <a:noFill/>
          <a:ln>
            <a:noFill/>
          </a:ln>
        </p:spPr>
      </p:pic>
    </p:spTree>
    <p:extLst>
      <p:ext uri="{BB962C8B-B14F-4D97-AF65-F5344CB8AC3E}">
        <p14:creationId xmlns:p14="http://schemas.microsoft.com/office/powerpoint/2010/main" val="22838455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3810000" y="1397000"/>
            <a:ext cx="16764000" cy="21590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6000" b="0" i="0" u="none" strike="noStrike" cap="none">
                <a:solidFill>
                  <a:srgbClr val="BDBFC7"/>
                </a:solidFill>
                <a:latin typeface="Encode Sans"/>
                <a:ea typeface="Encode Sans"/>
                <a:cs typeface="Encode Sans"/>
                <a:sym typeface="Encode Sans"/>
              </a:rPr>
              <a:t>As dez mediações</a:t>
            </a:r>
            <a:endParaRPr sz="60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
        <p:nvSpPr>
          <p:cNvPr id="2" name="CaixaDeTexto 1">
            <a:extLst>
              <a:ext uri="{FF2B5EF4-FFF2-40B4-BE49-F238E27FC236}">
                <a16:creationId xmlns:a16="http://schemas.microsoft.com/office/drawing/2014/main" id="{2A3179D1-DD9C-B31F-1B6A-0812443561B2}"/>
              </a:ext>
            </a:extLst>
          </p:cNvPr>
          <p:cNvSpPr txBox="1"/>
          <p:nvPr/>
        </p:nvSpPr>
        <p:spPr>
          <a:xfrm>
            <a:off x="3810000" y="3619500"/>
            <a:ext cx="16764000" cy="461665"/>
          </a:xfrm>
          <a:prstGeom prst="rect">
            <a:avLst/>
          </a:prstGeom>
          <a:noFill/>
        </p:spPr>
        <p:txBody>
          <a:bodyPr vert="horz" rtlCol="0">
            <a:spAutoFit/>
          </a:bodyPr>
          <a:lstStyle/>
          <a:p>
            <a:pPr algn="ctr"/>
            <a:r>
              <a:rPr lang="pt-BR" sz="2400">
                <a:solidFill>
                  <a:srgbClr val="BBBBBB"/>
                </a:solidFill>
              </a:rPr>
              <a:t>O que o painel pintou, e o que apareceu na tela.</a:t>
            </a:r>
          </a:p>
        </p:txBody>
      </p:sp>
      <p:graphicFrame>
        <p:nvGraphicFramePr>
          <p:cNvPr id="3" name="Tabela 2">
            <a:extLst>
              <a:ext uri="{FF2B5EF4-FFF2-40B4-BE49-F238E27FC236}">
                <a16:creationId xmlns:a16="http://schemas.microsoft.com/office/drawing/2014/main" id="{08DEA393-CF19-3C27-3EC3-9AB44E0E0E4B}"/>
              </a:ext>
            </a:extLst>
          </p:cNvPr>
          <p:cNvGraphicFramePr>
            <a:graphicFrameLocks noGrp="1"/>
          </p:cNvGraphicFramePr>
          <p:nvPr>
            <p:extLst>
              <p:ext uri="{D42A27DB-BD31-4B8C-83A1-F6EECF244321}">
                <p14:modId xmlns:p14="http://schemas.microsoft.com/office/powerpoint/2010/main" val="387855633"/>
              </p:ext>
            </p:extLst>
          </p:nvPr>
        </p:nvGraphicFramePr>
        <p:xfrm>
          <a:off x="5842000" y="4699000"/>
          <a:ext cx="12700000" cy="4572000"/>
        </p:xfrm>
        <a:graphic>
          <a:graphicData uri="http://schemas.openxmlformats.org/drawingml/2006/table">
            <a:tbl>
              <a:tblPr firstRow="1" bandRow="1">
                <a:tableStyleId>{5C22544A-7EE6-4342-B048-85BDC9FD1C3A}</a:tableStyleId>
              </a:tblPr>
              <a:tblGrid>
                <a:gridCol w="4233333">
                  <a:extLst>
                    <a:ext uri="{9D8B030D-6E8A-4147-A177-3AD203B41FA5}">
                      <a16:colId xmlns:a16="http://schemas.microsoft.com/office/drawing/2014/main" val="1797208947"/>
                    </a:ext>
                  </a:extLst>
                </a:gridCol>
                <a:gridCol w="4233333">
                  <a:extLst>
                    <a:ext uri="{9D8B030D-6E8A-4147-A177-3AD203B41FA5}">
                      <a16:colId xmlns:a16="http://schemas.microsoft.com/office/drawing/2014/main" val="1436235561"/>
                    </a:ext>
                  </a:extLst>
                </a:gridCol>
                <a:gridCol w="4233333">
                  <a:extLst>
                    <a:ext uri="{9D8B030D-6E8A-4147-A177-3AD203B41FA5}">
                      <a16:colId xmlns:a16="http://schemas.microsoft.com/office/drawing/2014/main" val="2422939042"/>
                    </a:ext>
                  </a:extLst>
                </a:gridCol>
              </a:tblGrid>
              <a:tr h="762000">
                <a:tc>
                  <a:txBody>
                    <a:bodyPr/>
                    <a:lstStyle/>
                    <a:p>
                      <a:r>
                        <a:rPr lang="pt-BR" sz="2000" b="1">
                          <a:solidFill>
                            <a:srgbClr val="FFFFFF"/>
                          </a:solidFill>
                        </a:rPr>
                        <a:t>Quantas</a:t>
                      </a:r>
                    </a:p>
                  </a:txBody>
                  <a:tcPr>
                    <a:solidFill>
                      <a:srgbClr val="102E5A"/>
                    </a:solidFill>
                  </a:tcPr>
                </a:tc>
                <a:tc>
                  <a:txBody>
                    <a:bodyPr/>
                    <a:lstStyle/>
                    <a:p>
                      <a:pPr algn="ctr"/>
                      <a:r>
                        <a:rPr lang="pt-BR" sz="2000" b="1">
                          <a:solidFill>
                            <a:srgbClr val="FFFFFF"/>
                          </a:solidFill>
                        </a:rPr>
                        <a:t>No painel</a:t>
                      </a:r>
                    </a:p>
                  </a:txBody>
                  <a:tcPr>
                    <a:solidFill>
                      <a:srgbClr val="102E5A"/>
                    </a:solidFill>
                  </a:tcPr>
                </a:tc>
                <a:tc>
                  <a:txBody>
                    <a:bodyPr/>
                    <a:lstStyle/>
                    <a:p>
                      <a:pPr algn="ctr"/>
                      <a:r>
                        <a:rPr lang="pt-BR" sz="2000" b="1">
                          <a:solidFill>
                            <a:srgbClr val="FFFFFF"/>
                          </a:solidFill>
                        </a:rPr>
                        <a:t>O que apareceu na tela</a:t>
                      </a:r>
                    </a:p>
                  </a:txBody>
                  <a:tcPr>
                    <a:solidFill>
                      <a:srgbClr val="102E5A"/>
                    </a:solidFill>
                  </a:tcPr>
                </a:tc>
                <a:extLst>
                  <a:ext uri="{0D108BD9-81ED-4DB2-BD59-A6C34878D82A}">
                    <a16:rowId xmlns:a16="http://schemas.microsoft.com/office/drawing/2014/main" val="1206385096"/>
                  </a:ext>
                </a:extLst>
              </a:tr>
              <a:tr h="762000">
                <a:tc>
                  <a:txBody>
                    <a:bodyPr/>
                    <a:lstStyle/>
                    <a:p>
                      <a:r>
                        <a:rPr lang="pt-BR" sz="2000" b="0">
                          <a:solidFill>
                            <a:srgbClr val="FFFFFF"/>
                          </a:solidFill>
                        </a:rPr>
                        <a:t>3</a:t>
                      </a:r>
                    </a:p>
                  </a:txBody>
                  <a:tcPr>
                    <a:solidFill>
                      <a:srgbClr val="1A1A1A"/>
                    </a:solidFill>
                  </a:tcPr>
                </a:tc>
                <a:tc>
                  <a:txBody>
                    <a:bodyPr/>
                    <a:lstStyle/>
                    <a:p>
                      <a:pPr algn="ctr"/>
                      <a:r>
                        <a:rPr lang="pt-BR" sz="2000" b="0">
                          <a:solidFill>
                            <a:srgbClr val="FFFFFF"/>
                          </a:solidFill>
                        </a:rPr>
                        <a:t>vermelho (erro)</a:t>
                      </a:r>
                    </a:p>
                  </a:txBody>
                  <a:tcPr>
                    <a:solidFill>
                      <a:srgbClr val="1A1A1A"/>
                    </a:solidFill>
                  </a:tcPr>
                </a:tc>
                <a:tc>
                  <a:txBody>
                    <a:bodyPr/>
                    <a:lstStyle/>
                    <a:p>
                      <a:pPr algn="ctr"/>
                      <a:r>
                        <a:rPr lang="pt-BR" sz="2000" b="0">
                          <a:solidFill>
                            <a:srgbClr val="FFFFFF"/>
                          </a:solidFill>
                        </a:rPr>
                        <a:t>"Erro na mediação", com um código técnico</a:t>
                      </a:r>
                    </a:p>
                  </a:txBody>
                  <a:tcPr>
                    <a:solidFill>
                      <a:srgbClr val="1A1A1A"/>
                    </a:solidFill>
                  </a:tcPr>
                </a:tc>
                <a:extLst>
                  <a:ext uri="{0D108BD9-81ED-4DB2-BD59-A6C34878D82A}">
                    <a16:rowId xmlns:a16="http://schemas.microsoft.com/office/drawing/2014/main" val="3821970565"/>
                  </a:ext>
                </a:extLst>
              </a:tr>
              <a:tr h="762000">
                <a:tc>
                  <a:txBody>
                    <a:bodyPr/>
                    <a:lstStyle/>
                    <a:p>
                      <a:r>
                        <a:rPr lang="pt-BR" sz="2000" b="0">
                          <a:solidFill>
                            <a:srgbClr val="FFFFFF"/>
                          </a:solidFill>
                        </a:rPr>
                        <a:t>2</a:t>
                      </a:r>
                    </a:p>
                  </a:txBody>
                  <a:tcPr>
                    <a:solidFill>
                      <a:srgbClr val="1A1A1A"/>
                    </a:solidFill>
                  </a:tcPr>
                </a:tc>
                <a:tc>
                  <a:txBody>
                    <a:bodyPr/>
                    <a:lstStyle/>
                    <a:p>
                      <a:pPr algn="ctr"/>
                      <a:r>
                        <a:rPr lang="pt-BR" sz="2000" b="0">
                          <a:solidFill>
                            <a:srgbClr val="FFFFFF"/>
                          </a:solidFill>
                        </a:rPr>
                        <a:t>sem alarme</a:t>
                      </a:r>
                    </a:p>
                  </a:txBody>
                  <a:tcPr>
                    <a:solidFill>
                      <a:srgbClr val="1A1A1A"/>
                    </a:solidFill>
                  </a:tcPr>
                </a:tc>
                <a:tc>
                  <a:txBody>
                    <a:bodyPr/>
                    <a:lstStyle/>
                    <a:p>
                      <a:pPr algn="ctr"/>
                      <a:r>
                        <a:rPr lang="pt-BR" sz="2000" b="0">
                          <a:solidFill>
                            <a:srgbClr val="FFFFFF"/>
                          </a:solidFill>
                        </a:rPr>
                        <a:t>"(proposta registrada sem texto)"</a:t>
                      </a:r>
                    </a:p>
                  </a:txBody>
                  <a:tcPr>
                    <a:solidFill>
                      <a:srgbClr val="1A1A1A"/>
                    </a:solidFill>
                  </a:tcPr>
                </a:tc>
                <a:extLst>
                  <a:ext uri="{0D108BD9-81ED-4DB2-BD59-A6C34878D82A}">
                    <a16:rowId xmlns:a16="http://schemas.microsoft.com/office/drawing/2014/main" val="1396635053"/>
                  </a:ext>
                </a:extLst>
              </a:tr>
              <a:tr h="762000">
                <a:tc>
                  <a:txBody>
                    <a:bodyPr/>
                    <a:lstStyle/>
                    <a:p>
                      <a:r>
                        <a:rPr lang="pt-BR" sz="2000" b="0">
                          <a:solidFill>
                            <a:srgbClr val="FFFFFF"/>
                          </a:solidFill>
                        </a:rPr>
                        <a:t>3</a:t>
                      </a:r>
                    </a:p>
                  </a:txBody>
                  <a:tcPr>
                    <a:solidFill>
                      <a:srgbClr val="1A1A1A"/>
                    </a:solidFill>
                  </a:tcPr>
                </a:tc>
                <a:tc>
                  <a:txBody>
                    <a:bodyPr/>
                    <a:lstStyle/>
                    <a:p>
                      <a:pPr algn="ctr"/>
                      <a:r>
                        <a:rPr lang="pt-BR" sz="2000" b="0">
                          <a:solidFill>
                            <a:srgbClr val="FFFFFF"/>
                          </a:solidFill>
                        </a:rPr>
                        <a:t>sem alarme</a:t>
                      </a:r>
                    </a:p>
                  </a:txBody>
                  <a:tcPr>
                    <a:solidFill>
                      <a:srgbClr val="1A1A1A"/>
                    </a:solidFill>
                  </a:tcPr>
                </a:tc>
                <a:tc>
                  <a:txBody>
                    <a:bodyPr/>
                    <a:lstStyle/>
                    <a:p>
                      <a:pPr algn="ctr"/>
                      <a:r>
                        <a:rPr lang="pt-BR" sz="2000" b="0">
                          <a:solidFill>
                            <a:srgbClr val="FFFFFF"/>
                          </a:solidFill>
                        </a:rPr>
                        <a:t>um texto que para no meio: "…mussarela de búfala"</a:t>
                      </a:r>
                    </a:p>
                  </a:txBody>
                  <a:tcPr>
                    <a:solidFill>
                      <a:srgbClr val="1A1A1A"/>
                    </a:solidFill>
                  </a:tcPr>
                </a:tc>
                <a:extLst>
                  <a:ext uri="{0D108BD9-81ED-4DB2-BD59-A6C34878D82A}">
                    <a16:rowId xmlns:a16="http://schemas.microsoft.com/office/drawing/2014/main" val="1427459746"/>
                  </a:ext>
                </a:extLst>
              </a:tr>
              <a:tr h="762000">
                <a:tc>
                  <a:txBody>
                    <a:bodyPr/>
                    <a:lstStyle/>
                    <a:p>
                      <a:r>
                        <a:rPr lang="pt-BR" sz="2000" b="0">
                          <a:solidFill>
                            <a:srgbClr val="FFFFFF"/>
                          </a:solidFill>
                        </a:rPr>
                        <a:t>1</a:t>
                      </a:r>
                    </a:p>
                  </a:txBody>
                  <a:tcPr>
                    <a:solidFill>
                      <a:srgbClr val="1A1A1A"/>
                    </a:solidFill>
                  </a:tcPr>
                </a:tc>
                <a:tc>
                  <a:txBody>
                    <a:bodyPr/>
                    <a:lstStyle/>
                    <a:p>
                      <a:pPr algn="ctr"/>
                      <a:r>
                        <a:rPr lang="pt-BR" sz="2000" b="0">
                          <a:solidFill>
                            <a:srgbClr val="FFFFFF"/>
                          </a:solidFill>
                        </a:rPr>
                        <a:t>sem alarme</a:t>
                      </a:r>
                    </a:p>
                  </a:txBody>
                  <a:tcPr>
                    <a:solidFill>
                      <a:srgbClr val="1A1A1A"/>
                    </a:solidFill>
                  </a:tcPr>
                </a:tc>
                <a:tc>
                  <a:txBody>
                    <a:bodyPr/>
                    <a:lstStyle/>
                    <a:p>
                      <a:pPr algn="ctr"/>
                      <a:r>
                        <a:rPr lang="pt-BR" sz="2000" b="0">
                          <a:solidFill>
                            <a:srgbClr val="FFFFFF"/>
                          </a:solidFill>
                        </a:rPr>
                        <a:t>uma palavra só: "Consultei"</a:t>
                      </a:r>
                    </a:p>
                  </a:txBody>
                  <a:tcPr>
                    <a:solidFill>
                      <a:srgbClr val="1A1A1A"/>
                    </a:solidFill>
                  </a:tcPr>
                </a:tc>
                <a:extLst>
                  <a:ext uri="{0D108BD9-81ED-4DB2-BD59-A6C34878D82A}">
                    <a16:rowId xmlns:a16="http://schemas.microsoft.com/office/drawing/2014/main" val="3085229626"/>
                  </a:ext>
                </a:extLst>
              </a:tr>
              <a:tr h="762000">
                <a:tc>
                  <a:txBody>
                    <a:bodyPr/>
                    <a:lstStyle/>
                    <a:p>
                      <a:r>
                        <a:rPr lang="pt-BR" sz="2000" b="0">
                          <a:solidFill>
                            <a:srgbClr val="FFFFFF"/>
                          </a:solidFill>
                        </a:rPr>
                        <a:t>1</a:t>
                      </a:r>
                    </a:p>
                  </a:txBody>
                  <a:tcPr>
                    <a:solidFill>
                      <a:srgbClr val="1A1A1A"/>
                    </a:solidFill>
                  </a:tcPr>
                </a:tc>
                <a:tc>
                  <a:txBody>
                    <a:bodyPr/>
                    <a:lstStyle/>
                    <a:p>
                      <a:pPr algn="ctr"/>
                      <a:r>
                        <a:rPr lang="pt-BR" sz="2000" b="0">
                          <a:solidFill>
                            <a:srgbClr val="FFFFFF"/>
                          </a:solidFill>
                        </a:rPr>
                        <a:t>sem alarme</a:t>
                      </a:r>
                    </a:p>
                  </a:txBody>
                  <a:tcPr>
                    <a:solidFill>
                      <a:srgbClr val="1A1A1A"/>
                    </a:solidFill>
                  </a:tcPr>
                </a:tc>
                <a:tc>
                  <a:txBody>
                    <a:bodyPr/>
                    <a:lstStyle/>
                    <a:p>
                      <a:pPr algn="ctr"/>
                      <a:r>
                        <a:rPr lang="pt-BR" sz="2000" b="0">
                          <a:solidFill>
                            <a:srgbClr val="FFFFFF"/>
                          </a:solidFill>
                        </a:rPr>
                        <a:t>a mediação inteira</a:t>
                      </a:r>
                    </a:p>
                  </a:txBody>
                  <a:tcPr>
                    <a:solidFill>
                      <a:srgbClr val="1A1A1A"/>
                    </a:solidFill>
                  </a:tcPr>
                </a:tc>
                <a:extLst>
                  <a:ext uri="{0D108BD9-81ED-4DB2-BD59-A6C34878D82A}">
                    <a16:rowId xmlns:a16="http://schemas.microsoft.com/office/drawing/2014/main" val="3347002787"/>
                  </a:ext>
                </a:extLst>
              </a:tr>
            </a:tbl>
          </a:graphicData>
        </a:graphic>
      </p:graphicFrame>
    </p:spTree>
    <p:extLst>
      <p:ext uri="{BB962C8B-B14F-4D97-AF65-F5344CB8AC3E}">
        <p14:creationId xmlns:p14="http://schemas.microsoft.com/office/powerpoint/2010/main" val="36082690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Sete sem alarme. Só uma inteira.</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11375392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Quatro sintomas. Uma assinatura.</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32253331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g3f8342f7686_0_102"/>
          <p:cNvSpPr/>
          <p:nvPr/>
        </p:nvSpPr>
        <p:spPr>
          <a:xfrm>
            <a:off x="2426003" y="3149600"/>
            <a:ext cx="9983400" cy="7416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5" name="Google Shape;595;g3f8342f7686_0_102"/>
          <p:cNvSpPr/>
          <p:nvPr/>
        </p:nvSpPr>
        <p:spPr>
          <a:xfrm>
            <a:off x="2426003" y="3149600"/>
            <a:ext cx="11159400" cy="26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DBFC7"/>
              </a:buClr>
              <a:buSzPts val="8800"/>
              <a:buFont typeface="Encode Sans"/>
              <a:buNone/>
            </a:pPr>
            <a:r>
              <a:rPr lang="pt-BR" sz="8800" b="0" i="0" u="none" strike="noStrike" cap="none">
                <a:solidFill>
                  <a:srgbClr val="BDBFC7"/>
                </a:solidFill>
                <a:latin typeface="Encode Sans"/>
                <a:ea typeface="Encode Sans"/>
                <a:cs typeface="Encode Sans"/>
                <a:sym typeface="Encode Sans"/>
              </a:rPr>
              <a:t>Onde e quando</a:t>
            </a:r>
            <a:endParaRPr sz="8800" b="0" i="0" u="none" strike="noStrike" cap="none">
              <a:solidFill>
                <a:schemeClr val="dk1"/>
              </a:solidFill>
              <a:latin typeface="Encode Sans"/>
              <a:ea typeface="Encode Sans"/>
              <a:cs typeface="Encode Sans"/>
              <a:sym typeface="Encode Sans"/>
            </a:endParaRPr>
          </a:p>
        </p:txBody>
      </p:sp>
      <p:sp>
        <p:nvSpPr>
          <p:cNvPr id="596" name="Google Shape;596;g3f8342f7686_0_102"/>
          <p:cNvSpPr/>
          <p:nvPr/>
        </p:nvSpPr>
        <p:spPr>
          <a:xfrm>
            <a:off x="2426003" y="6502400"/>
            <a:ext cx="9983400" cy="4064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7" name="Google Shape;597;g3f8342f7686_0_102"/>
          <p:cNvSpPr/>
          <p:nvPr/>
        </p:nvSpPr>
        <p:spPr>
          <a:xfrm>
            <a:off x="2426003" y="6502400"/>
            <a:ext cx="9983400" cy="1066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98" name="Google Shape;598;g3f8342f7686_0_102" descr=" "/>
          <p:cNvPicPr preferRelativeResize="0"/>
          <p:nvPr/>
        </p:nvPicPr>
        <p:blipFill rotWithShape="1">
          <a:blip r:embed="rId3">
            <a:alphaModFix/>
          </a:blip>
          <a:srcRect/>
          <a:stretch/>
        </p:blipFill>
        <p:spPr>
          <a:xfrm>
            <a:off x="2426003" y="6502400"/>
            <a:ext cx="711289" cy="711200"/>
          </a:xfrm>
          <a:prstGeom prst="rect">
            <a:avLst/>
          </a:prstGeom>
          <a:noFill/>
          <a:ln>
            <a:noFill/>
          </a:ln>
        </p:spPr>
      </p:pic>
      <p:pic>
        <p:nvPicPr>
          <p:cNvPr id="599" name="Google Shape;599;g3f8342f7686_0_102" descr=" "/>
          <p:cNvPicPr preferRelativeResize="0"/>
          <p:nvPr/>
        </p:nvPicPr>
        <p:blipFill rotWithShape="1">
          <a:blip r:embed="rId4">
            <a:alphaModFix/>
          </a:blip>
          <a:srcRect/>
          <a:stretch/>
        </p:blipFill>
        <p:spPr>
          <a:xfrm>
            <a:off x="2548783" y="6671734"/>
            <a:ext cx="465723" cy="406400"/>
          </a:xfrm>
          <a:prstGeom prst="rect">
            <a:avLst/>
          </a:prstGeom>
          <a:noFill/>
          <a:ln>
            <a:noFill/>
          </a:ln>
        </p:spPr>
      </p:pic>
      <p:sp>
        <p:nvSpPr>
          <p:cNvPr id="600" name="Google Shape;600;g3f8342f7686_0_102"/>
          <p:cNvSpPr/>
          <p:nvPr/>
        </p:nvSpPr>
        <p:spPr>
          <a:xfrm>
            <a:off x="3645356" y="6502400"/>
            <a:ext cx="99399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Onde: só no Mediador. Nas outras operações, zero no teto.</a:t>
            </a:r>
            <a:endParaRPr sz="3600" b="0" i="0" u="none" strike="noStrike" cap="none">
              <a:solidFill>
                <a:schemeClr val="dk1"/>
              </a:solidFill>
              <a:latin typeface="Roboto"/>
              <a:ea typeface="Roboto"/>
              <a:cs typeface="Roboto"/>
              <a:sym typeface="Roboto"/>
            </a:endParaRPr>
          </a:p>
        </p:txBody>
      </p:sp>
      <p:sp>
        <p:nvSpPr>
          <p:cNvPr id="601" name="Google Shape;601;g3f8342f7686_0_102"/>
          <p:cNvSpPr/>
          <p:nvPr/>
        </p:nvSpPr>
        <p:spPr>
          <a:xfrm>
            <a:off x="2426003" y="8178800"/>
            <a:ext cx="9983400" cy="711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02" name="Google Shape;602;g3f8342f7686_0_102" descr=" "/>
          <p:cNvPicPr preferRelativeResize="0"/>
          <p:nvPr/>
        </p:nvPicPr>
        <p:blipFill rotWithShape="1">
          <a:blip r:embed="rId3">
            <a:alphaModFix/>
          </a:blip>
          <a:srcRect/>
          <a:stretch/>
        </p:blipFill>
        <p:spPr>
          <a:xfrm>
            <a:off x="2426003" y="7989147"/>
            <a:ext cx="711289" cy="711200"/>
          </a:xfrm>
          <a:prstGeom prst="rect">
            <a:avLst/>
          </a:prstGeom>
          <a:noFill/>
          <a:ln>
            <a:noFill/>
          </a:ln>
        </p:spPr>
      </p:pic>
      <p:pic>
        <p:nvPicPr>
          <p:cNvPr id="603" name="Google Shape;603;g3f8342f7686_0_102" descr=" "/>
          <p:cNvPicPr preferRelativeResize="0"/>
          <p:nvPr/>
        </p:nvPicPr>
        <p:blipFill rotWithShape="1">
          <a:blip r:embed="rId4">
            <a:alphaModFix/>
          </a:blip>
          <a:srcRect/>
          <a:stretch/>
        </p:blipFill>
        <p:spPr>
          <a:xfrm>
            <a:off x="2548783" y="8331200"/>
            <a:ext cx="465723" cy="406400"/>
          </a:xfrm>
          <a:prstGeom prst="rect">
            <a:avLst/>
          </a:prstGeom>
          <a:noFill/>
          <a:ln>
            <a:noFill/>
          </a:ln>
        </p:spPr>
      </p:pic>
      <p:sp>
        <p:nvSpPr>
          <p:cNvPr id="604" name="Google Shape;604;g3f8342f7686_0_102"/>
          <p:cNvSpPr/>
          <p:nvPr/>
        </p:nvSpPr>
        <p:spPr>
          <a:xfrm>
            <a:off x="3645356" y="8172450"/>
            <a:ext cx="9263100" cy="6690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Quando: em todos os dias que teve mediação — 21 e 22 de agosto, 3 de setembro.</a:t>
            </a:r>
            <a:endParaRPr sz="3600" b="0" i="0" u="none" strike="noStrike" cap="none">
              <a:solidFill>
                <a:schemeClr val="dk1"/>
              </a:solidFill>
              <a:latin typeface="Roboto"/>
              <a:ea typeface="Roboto"/>
              <a:cs typeface="Roboto"/>
              <a:sym typeface="Roboto"/>
            </a:endParaRPr>
          </a:p>
        </p:txBody>
      </p:sp>
      <p:pic>
        <p:nvPicPr>
          <p:cNvPr id="605" name="Google Shape;605;g3f8342f7686_0_102" descr=" "/>
          <p:cNvPicPr preferRelativeResize="0"/>
          <p:nvPr/>
        </p:nvPicPr>
        <p:blipFill rotWithShape="1">
          <a:blip r:embed="rId3">
            <a:alphaModFix/>
          </a:blip>
          <a:srcRect/>
          <a:stretch/>
        </p:blipFill>
        <p:spPr>
          <a:xfrm>
            <a:off x="2426003" y="9761538"/>
            <a:ext cx="711289" cy="711200"/>
          </a:xfrm>
          <a:prstGeom prst="rect">
            <a:avLst/>
          </a:prstGeom>
          <a:noFill/>
          <a:ln>
            <a:noFill/>
          </a:ln>
        </p:spPr>
      </p:pic>
      <p:pic>
        <p:nvPicPr>
          <p:cNvPr id="606" name="Google Shape;606;g3f8342f7686_0_102" descr=" "/>
          <p:cNvPicPr preferRelativeResize="0"/>
          <p:nvPr/>
        </p:nvPicPr>
        <p:blipFill rotWithShape="1">
          <a:blip r:embed="rId4">
            <a:alphaModFix/>
          </a:blip>
          <a:srcRect/>
          <a:stretch/>
        </p:blipFill>
        <p:spPr>
          <a:xfrm>
            <a:off x="2548783" y="10349548"/>
            <a:ext cx="465723" cy="406400"/>
          </a:xfrm>
          <a:prstGeom prst="rect">
            <a:avLst/>
          </a:prstGeom>
          <a:noFill/>
          <a:ln>
            <a:noFill/>
          </a:ln>
        </p:spPr>
      </p:pic>
      <p:sp>
        <p:nvSpPr>
          <p:cNvPr id="607" name="Google Shape;607;g3f8342f7686_0_102"/>
          <p:cNvSpPr/>
          <p:nvPr/>
        </p:nvSpPr>
        <p:spPr>
          <a:xfrm>
            <a:off x="3645356" y="10349548"/>
            <a:ext cx="92631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Quanto: US$ 1,19 — 77% da conta do produto inteiro — pagou mediações que não chegaram inteiras.</a:t>
            </a:r>
            <a:endParaRPr sz="3600" b="1" i="0" u="none" strike="noStrike" cap="none">
              <a:solidFill>
                <a:schemeClr val="dk1"/>
              </a:solidFill>
              <a:latin typeface="Roboto"/>
              <a:ea typeface="Roboto"/>
              <a:cs typeface="Roboto"/>
              <a:sym typeface="Roboto"/>
            </a:endParaRPr>
          </a:p>
        </p:txBody>
      </p:sp>
      <p:pic>
        <p:nvPicPr>
          <p:cNvPr id="611" name="Google Shape;611;g3f8342f7686_0_102" descr="Ícone&#10;&#10;O conteúdo gerado por IA pode estar incorreto."/>
          <p:cNvPicPr preferRelativeResize="0"/>
          <p:nvPr/>
        </p:nvPicPr>
        <p:blipFill rotWithShape="1">
          <a:blip r:embed="rId5">
            <a:alphaModFix/>
          </a:blip>
          <a:srcRect/>
          <a:stretch/>
        </p:blipFill>
        <p:spPr>
          <a:xfrm>
            <a:off x="-2202249" y="-8621"/>
            <a:ext cx="1568332" cy="10010052"/>
          </a:xfrm>
          <a:prstGeom prst="rect">
            <a:avLst/>
          </a:prstGeom>
          <a:noFill/>
          <a:ln>
            <a:noFill/>
          </a:ln>
        </p:spPr>
      </p:pic>
      <p:pic>
        <p:nvPicPr>
          <p:cNvPr id="3" name="Imagem 2">
            <a:extLst>
              <a:ext uri="{FF2B5EF4-FFF2-40B4-BE49-F238E27FC236}">
                <a16:creationId xmlns:a16="http://schemas.microsoft.com/office/drawing/2014/main" id="{33BA6F74-77D1-D7A7-3BE3-CCACB6707E0A}"/>
              </a:ext>
            </a:extLst>
          </p:cNvPr>
          <p:cNvPicPr>
            <a:picLocks noChangeAspect="1"/>
          </p:cNvPicPr>
          <p:nvPr/>
        </p:nvPicPr>
        <p:blipFill>
          <a:blip r:embed="rId6"/>
          <a:stretch>
            <a:fillRect/>
          </a:stretch>
        </p:blipFill>
        <p:spPr>
          <a:xfrm>
            <a:off x="14909055" y="-818896"/>
            <a:ext cx="9478119" cy="16981630"/>
          </a:xfrm>
          <a:prstGeom prst="rect">
            <a:avLst/>
          </a:prstGeom>
        </p:spPr>
      </p:pic>
      <p:sp>
        <p:nvSpPr>
          <p:cNvPr id="5" name="Google Shape;389;g3f3dd40fd11_1_233">
            <a:extLst>
              <a:ext uri="{FF2B5EF4-FFF2-40B4-BE49-F238E27FC236}">
                <a16:creationId xmlns:a16="http://schemas.microsoft.com/office/drawing/2014/main" id="{B10402B1-9C83-974D-8A05-1C4951792A36}"/>
              </a:ext>
            </a:extLst>
          </p:cNvPr>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 name="Google Shape;390;g3f3dd40fd11_1_233" descr=" ">
            <a:extLst>
              <a:ext uri="{FF2B5EF4-FFF2-40B4-BE49-F238E27FC236}">
                <a16:creationId xmlns:a16="http://schemas.microsoft.com/office/drawing/2014/main" id="{AC25A756-7848-2209-FA35-C81E6BC68BD6}"/>
              </a:ext>
            </a:extLst>
          </p:cNvPr>
          <p:cNvPicPr preferRelativeResize="0"/>
          <p:nvPr/>
        </p:nvPicPr>
        <p:blipFill rotWithShape="1">
          <a:blip r:embed="rId7">
            <a:alphaModFix/>
          </a:blip>
          <a:srcRect/>
          <a:stretch/>
        </p:blipFill>
        <p:spPr>
          <a:xfrm>
            <a:off x="23433139" y="406400"/>
            <a:ext cx="476942" cy="593018"/>
          </a:xfrm>
          <a:prstGeom prst="rect">
            <a:avLst/>
          </a:prstGeom>
          <a:noFill/>
          <a:ln>
            <a:noFill/>
          </a:ln>
        </p:spPr>
      </p:pic>
      <p:pic>
        <p:nvPicPr>
          <p:cNvPr id="9" name="Google Shape;395;g3f3dd40fd11_1_233" descr=" ">
            <a:extLst>
              <a:ext uri="{FF2B5EF4-FFF2-40B4-BE49-F238E27FC236}">
                <a16:creationId xmlns:a16="http://schemas.microsoft.com/office/drawing/2014/main" id="{E6E34C37-16D9-CB5F-9FD8-14D93CBA4E20}"/>
              </a:ext>
            </a:extLst>
          </p:cNvPr>
          <p:cNvPicPr preferRelativeResize="0"/>
          <p:nvPr/>
        </p:nvPicPr>
        <p:blipFill rotWithShape="1">
          <a:blip r:embed="rId8">
            <a:alphaModFix/>
          </a:blip>
          <a:srcRect/>
          <a:stretch/>
        </p:blipFill>
        <p:spPr>
          <a:xfrm>
            <a:off x="14908911" y="-1098467"/>
            <a:ext cx="3651919" cy="15201733"/>
          </a:xfrm>
          <a:prstGeom prst="rect">
            <a:avLst/>
          </a:prstGeom>
          <a:noFill/>
          <a:ln>
            <a:noFill/>
          </a:ln>
        </p:spPr>
      </p:pic>
    </p:spTree>
    <p:extLst>
      <p:ext uri="{BB962C8B-B14F-4D97-AF65-F5344CB8AC3E}">
        <p14:creationId xmlns:p14="http://schemas.microsoft.com/office/powerpoint/2010/main" val="2154590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A mais lenta foi a única inteira.</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23174826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Mesmo código. Dado maior. Falha pior.</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29931397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g3f8342f7686_0_102"/>
          <p:cNvSpPr/>
          <p:nvPr/>
        </p:nvSpPr>
        <p:spPr>
          <a:xfrm>
            <a:off x="2426003" y="3149600"/>
            <a:ext cx="9983400" cy="7416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5" name="Google Shape;595;g3f8342f7686_0_102"/>
          <p:cNvSpPr/>
          <p:nvPr/>
        </p:nvSpPr>
        <p:spPr>
          <a:xfrm>
            <a:off x="2426003" y="3149600"/>
            <a:ext cx="11159400" cy="26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DBFC7"/>
              </a:buClr>
              <a:buSzPts val="8800"/>
              <a:buFont typeface="Encode Sans"/>
              <a:buNone/>
            </a:pPr>
            <a:r>
              <a:rPr lang="pt-BR" sz="8800" b="0" i="0" u="none" strike="noStrike" cap="none">
                <a:solidFill>
                  <a:srgbClr val="BDBFC7"/>
                </a:solidFill>
                <a:latin typeface="Encode Sans"/>
                <a:ea typeface="Encode Sans"/>
                <a:cs typeface="Encode Sans"/>
                <a:sym typeface="Encode Sans"/>
              </a:rPr>
              <a:t>O sem-alarme também mente</a:t>
            </a:r>
            <a:endParaRPr sz="8800" b="0" i="0" u="none" strike="noStrike" cap="none">
              <a:solidFill>
                <a:schemeClr val="dk1"/>
              </a:solidFill>
              <a:latin typeface="Encode Sans"/>
              <a:ea typeface="Encode Sans"/>
              <a:cs typeface="Encode Sans"/>
              <a:sym typeface="Encode Sans"/>
            </a:endParaRPr>
          </a:p>
        </p:txBody>
      </p:sp>
      <p:sp>
        <p:nvSpPr>
          <p:cNvPr id="596" name="Google Shape;596;g3f8342f7686_0_102"/>
          <p:cNvSpPr/>
          <p:nvPr/>
        </p:nvSpPr>
        <p:spPr>
          <a:xfrm>
            <a:off x="2426003" y="6502400"/>
            <a:ext cx="9983400" cy="4064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7" name="Google Shape;597;g3f8342f7686_0_102"/>
          <p:cNvSpPr/>
          <p:nvPr/>
        </p:nvSpPr>
        <p:spPr>
          <a:xfrm>
            <a:off x="2426003" y="6502400"/>
            <a:ext cx="9983400" cy="1066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98" name="Google Shape;598;g3f8342f7686_0_102" descr=" "/>
          <p:cNvPicPr preferRelativeResize="0"/>
          <p:nvPr/>
        </p:nvPicPr>
        <p:blipFill rotWithShape="1">
          <a:blip r:embed="rId3">
            <a:alphaModFix/>
          </a:blip>
          <a:srcRect/>
          <a:stretch/>
        </p:blipFill>
        <p:spPr>
          <a:xfrm>
            <a:off x="2426003" y="6502400"/>
            <a:ext cx="711289" cy="711200"/>
          </a:xfrm>
          <a:prstGeom prst="rect">
            <a:avLst/>
          </a:prstGeom>
          <a:noFill/>
          <a:ln>
            <a:noFill/>
          </a:ln>
        </p:spPr>
      </p:pic>
      <p:pic>
        <p:nvPicPr>
          <p:cNvPr id="599" name="Google Shape;599;g3f8342f7686_0_102" descr=" "/>
          <p:cNvPicPr preferRelativeResize="0"/>
          <p:nvPr/>
        </p:nvPicPr>
        <p:blipFill rotWithShape="1">
          <a:blip r:embed="rId4">
            <a:alphaModFix/>
          </a:blip>
          <a:srcRect/>
          <a:stretch/>
        </p:blipFill>
        <p:spPr>
          <a:xfrm>
            <a:off x="2548783" y="6671734"/>
            <a:ext cx="465723" cy="406400"/>
          </a:xfrm>
          <a:prstGeom prst="rect">
            <a:avLst/>
          </a:prstGeom>
          <a:noFill/>
          <a:ln>
            <a:noFill/>
          </a:ln>
        </p:spPr>
      </p:pic>
      <p:sp>
        <p:nvSpPr>
          <p:cNvPr id="600" name="Google Shape;600;g3f8342f7686_0_102"/>
          <p:cNvSpPr/>
          <p:nvPr/>
        </p:nvSpPr>
        <p:spPr>
          <a:xfrm>
            <a:off x="3645356" y="6502400"/>
            <a:ext cx="99399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Estado: o modelo entendeu "lasagna"; o estoque era "lasanha".</a:t>
            </a:r>
            <a:endParaRPr sz="3600" b="0" i="0" u="none" strike="noStrike" cap="none">
              <a:solidFill>
                <a:schemeClr val="dk1"/>
              </a:solidFill>
              <a:latin typeface="Roboto"/>
              <a:ea typeface="Roboto"/>
              <a:cs typeface="Roboto"/>
              <a:sym typeface="Roboto"/>
            </a:endParaRPr>
          </a:p>
        </p:txBody>
      </p:sp>
      <p:sp>
        <p:nvSpPr>
          <p:cNvPr id="601" name="Google Shape;601;g3f8342f7686_0_102"/>
          <p:cNvSpPr/>
          <p:nvPr/>
        </p:nvSpPr>
        <p:spPr>
          <a:xfrm>
            <a:off x="2426003" y="8178800"/>
            <a:ext cx="9983400" cy="711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02" name="Google Shape;602;g3f8342f7686_0_102" descr=" "/>
          <p:cNvPicPr preferRelativeResize="0"/>
          <p:nvPr/>
        </p:nvPicPr>
        <p:blipFill rotWithShape="1">
          <a:blip r:embed="rId3">
            <a:alphaModFix/>
          </a:blip>
          <a:srcRect/>
          <a:stretch/>
        </p:blipFill>
        <p:spPr>
          <a:xfrm>
            <a:off x="2426003" y="7989147"/>
            <a:ext cx="711289" cy="711200"/>
          </a:xfrm>
          <a:prstGeom prst="rect">
            <a:avLst/>
          </a:prstGeom>
          <a:noFill/>
          <a:ln>
            <a:noFill/>
          </a:ln>
        </p:spPr>
      </p:pic>
      <p:pic>
        <p:nvPicPr>
          <p:cNvPr id="603" name="Google Shape;603;g3f8342f7686_0_102" descr=" "/>
          <p:cNvPicPr preferRelativeResize="0"/>
          <p:nvPr/>
        </p:nvPicPr>
        <p:blipFill rotWithShape="1">
          <a:blip r:embed="rId4">
            <a:alphaModFix/>
          </a:blip>
          <a:srcRect/>
          <a:stretch/>
        </p:blipFill>
        <p:spPr>
          <a:xfrm>
            <a:off x="2548783" y="8331200"/>
            <a:ext cx="465723" cy="406400"/>
          </a:xfrm>
          <a:prstGeom prst="rect">
            <a:avLst/>
          </a:prstGeom>
          <a:noFill/>
          <a:ln>
            <a:noFill/>
          </a:ln>
        </p:spPr>
      </p:pic>
      <p:sp>
        <p:nvSpPr>
          <p:cNvPr id="604" name="Google Shape;604;g3f8342f7686_0_102"/>
          <p:cNvSpPr/>
          <p:nvPr/>
        </p:nvSpPr>
        <p:spPr>
          <a:xfrm>
            <a:off x="3645356" y="8172450"/>
            <a:ext cx="9263100" cy="6690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Sequência: quatro respostas certas seguidas, e o hambúrguer nunca entrou no estoque.</a:t>
            </a:r>
            <a:endParaRPr sz="3600" b="0" i="0" u="none" strike="noStrike" cap="none">
              <a:solidFill>
                <a:schemeClr val="dk1"/>
              </a:solidFill>
              <a:latin typeface="Roboto"/>
              <a:ea typeface="Roboto"/>
              <a:cs typeface="Roboto"/>
              <a:sym typeface="Roboto"/>
            </a:endParaRPr>
          </a:p>
        </p:txBody>
      </p:sp>
      <p:pic>
        <p:nvPicPr>
          <p:cNvPr id="605" name="Google Shape;605;g3f8342f7686_0_102" descr=" "/>
          <p:cNvPicPr preferRelativeResize="0"/>
          <p:nvPr/>
        </p:nvPicPr>
        <p:blipFill rotWithShape="1">
          <a:blip r:embed="rId3">
            <a:alphaModFix/>
          </a:blip>
          <a:srcRect/>
          <a:stretch/>
        </p:blipFill>
        <p:spPr>
          <a:xfrm>
            <a:off x="2426003" y="9761538"/>
            <a:ext cx="711289" cy="711200"/>
          </a:xfrm>
          <a:prstGeom prst="rect">
            <a:avLst/>
          </a:prstGeom>
          <a:noFill/>
          <a:ln>
            <a:noFill/>
          </a:ln>
        </p:spPr>
      </p:pic>
      <p:pic>
        <p:nvPicPr>
          <p:cNvPr id="606" name="Google Shape;606;g3f8342f7686_0_102" descr=" "/>
          <p:cNvPicPr preferRelativeResize="0"/>
          <p:nvPr/>
        </p:nvPicPr>
        <p:blipFill rotWithShape="1">
          <a:blip r:embed="rId4">
            <a:alphaModFix/>
          </a:blip>
          <a:srcRect/>
          <a:stretch/>
        </p:blipFill>
        <p:spPr>
          <a:xfrm>
            <a:off x="2548783" y="10349548"/>
            <a:ext cx="465723" cy="406400"/>
          </a:xfrm>
          <a:prstGeom prst="rect">
            <a:avLst/>
          </a:prstGeom>
          <a:noFill/>
          <a:ln>
            <a:noFill/>
          </a:ln>
        </p:spPr>
      </p:pic>
      <p:sp>
        <p:nvSpPr>
          <p:cNvPr id="607" name="Google Shape;607;g3f8342f7686_0_102"/>
          <p:cNvSpPr/>
          <p:nvPr/>
        </p:nvSpPr>
        <p:spPr>
          <a:xfrm>
            <a:off x="3645356" y="10349548"/>
            <a:ext cx="92631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Ausência: uma foto enviada pelo Telegram que não gerou rastro nenhum. Nada pra abrir.</a:t>
            </a:r>
            <a:endParaRPr sz="3600" b="1" i="0" u="none" strike="noStrike" cap="none">
              <a:solidFill>
                <a:schemeClr val="dk1"/>
              </a:solidFill>
              <a:latin typeface="Roboto"/>
              <a:ea typeface="Roboto"/>
              <a:cs typeface="Roboto"/>
              <a:sym typeface="Roboto"/>
            </a:endParaRPr>
          </a:p>
        </p:txBody>
      </p:sp>
      <p:pic>
        <p:nvPicPr>
          <p:cNvPr id="611" name="Google Shape;611;g3f8342f7686_0_102" descr="Ícone&#10;&#10;O conteúdo gerado por IA pode estar incorreto."/>
          <p:cNvPicPr preferRelativeResize="0"/>
          <p:nvPr/>
        </p:nvPicPr>
        <p:blipFill rotWithShape="1">
          <a:blip r:embed="rId5">
            <a:alphaModFix/>
          </a:blip>
          <a:srcRect/>
          <a:stretch/>
        </p:blipFill>
        <p:spPr>
          <a:xfrm>
            <a:off x="-2202249" y="-8621"/>
            <a:ext cx="1568332" cy="10010052"/>
          </a:xfrm>
          <a:prstGeom prst="rect">
            <a:avLst/>
          </a:prstGeom>
          <a:noFill/>
          <a:ln>
            <a:noFill/>
          </a:ln>
        </p:spPr>
      </p:pic>
      <p:pic>
        <p:nvPicPr>
          <p:cNvPr id="3" name="Imagem 2">
            <a:extLst>
              <a:ext uri="{FF2B5EF4-FFF2-40B4-BE49-F238E27FC236}">
                <a16:creationId xmlns:a16="http://schemas.microsoft.com/office/drawing/2014/main" id="{33BA6F74-77D1-D7A7-3BE3-CCACB6707E0A}"/>
              </a:ext>
            </a:extLst>
          </p:cNvPr>
          <p:cNvPicPr>
            <a:picLocks noChangeAspect="1"/>
          </p:cNvPicPr>
          <p:nvPr/>
        </p:nvPicPr>
        <p:blipFill>
          <a:blip r:embed="rId6"/>
          <a:stretch>
            <a:fillRect/>
          </a:stretch>
        </p:blipFill>
        <p:spPr>
          <a:xfrm>
            <a:off x="14909055" y="-818896"/>
            <a:ext cx="9478119" cy="16981630"/>
          </a:xfrm>
          <a:prstGeom prst="rect">
            <a:avLst/>
          </a:prstGeom>
        </p:spPr>
      </p:pic>
      <p:sp>
        <p:nvSpPr>
          <p:cNvPr id="5" name="Google Shape;389;g3f3dd40fd11_1_233">
            <a:extLst>
              <a:ext uri="{FF2B5EF4-FFF2-40B4-BE49-F238E27FC236}">
                <a16:creationId xmlns:a16="http://schemas.microsoft.com/office/drawing/2014/main" id="{B10402B1-9C83-974D-8A05-1C4951792A36}"/>
              </a:ext>
            </a:extLst>
          </p:cNvPr>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 name="Google Shape;390;g3f3dd40fd11_1_233" descr=" ">
            <a:extLst>
              <a:ext uri="{FF2B5EF4-FFF2-40B4-BE49-F238E27FC236}">
                <a16:creationId xmlns:a16="http://schemas.microsoft.com/office/drawing/2014/main" id="{AC25A756-7848-2209-FA35-C81E6BC68BD6}"/>
              </a:ext>
            </a:extLst>
          </p:cNvPr>
          <p:cNvPicPr preferRelativeResize="0"/>
          <p:nvPr/>
        </p:nvPicPr>
        <p:blipFill rotWithShape="1">
          <a:blip r:embed="rId7">
            <a:alphaModFix/>
          </a:blip>
          <a:srcRect/>
          <a:stretch/>
        </p:blipFill>
        <p:spPr>
          <a:xfrm>
            <a:off x="23433139" y="406400"/>
            <a:ext cx="476942" cy="593018"/>
          </a:xfrm>
          <a:prstGeom prst="rect">
            <a:avLst/>
          </a:prstGeom>
          <a:noFill/>
          <a:ln>
            <a:noFill/>
          </a:ln>
        </p:spPr>
      </p:pic>
      <p:pic>
        <p:nvPicPr>
          <p:cNvPr id="9" name="Google Shape;395;g3f3dd40fd11_1_233" descr=" ">
            <a:extLst>
              <a:ext uri="{FF2B5EF4-FFF2-40B4-BE49-F238E27FC236}">
                <a16:creationId xmlns:a16="http://schemas.microsoft.com/office/drawing/2014/main" id="{E6E34C37-16D9-CB5F-9FD8-14D93CBA4E20}"/>
              </a:ext>
            </a:extLst>
          </p:cNvPr>
          <p:cNvPicPr preferRelativeResize="0"/>
          <p:nvPr/>
        </p:nvPicPr>
        <p:blipFill rotWithShape="1">
          <a:blip r:embed="rId8">
            <a:alphaModFix/>
          </a:blip>
          <a:srcRect/>
          <a:stretch/>
        </p:blipFill>
        <p:spPr>
          <a:xfrm>
            <a:off x="14908911" y="-1098467"/>
            <a:ext cx="3651919" cy="15201733"/>
          </a:xfrm>
          <a:prstGeom prst="rect">
            <a:avLst/>
          </a:prstGeom>
          <a:noFill/>
          <a:ln>
            <a:noFill/>
          </a:ln>
        </p:spPr>
      </p:pic>
    </p:spTree>
    <p:extLst>
      <p:ext uri="{BB962C8B-B14F-4D97-AF65-F5344CB8AC3E}">
        <p14:creationId xmlns:p14="http://schemas.microsoft.com/office/powerpoint/2010/main" val="41309243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g3f6efaed406_0_171"/>
          <p:cNvSpPr/>
          <p:nvPr/>
        </p:nvSpPr>
        <p:spPr>
          <a:xfrm>
            <a:off x="-165904" y="-150471"/>
            <a:ext cx="24692700" cy="14040000"/>
          </a:xfrm>
          <a:prstGeom prst="rect">
            <a:avLst/>
          </a:prstGeom>
          <a:solidFill>
            <a:srgbClr val="EEEFF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485" name="Google Shape;485;g3f6efaed406_0_171" descr=" "/>
          <p:cNvPicPr preferRelativeResize="0"/>
          <p:nvPr/>
        </p:nvPicPr>
        <p:blipFill rotWithShape="1">
          <a:blip r:embed="rId3">
            <a:alphaModFix/>
          </a:blip>
          <a:srcRect/>
          <a:stretch/>
        </p:blipFill>
        <p:spPr>
          <a:xfrm>
            <a:off x="18899962" y="304800"/>
            <a:ext cx="5487086" cy="13106400"/>
          </a:xfrm>
          <a:prstGeom prst="rect">
            <a:avLst/>
          </a:prstGeom>
          <a:noFill/>
          <a:ln>
            <a:noFill/>
          </a:ln>
        </p:spPr>
      </p:pic>
      <p:sp>
        <p:nvSpPr>
          <p:cNvPr id="486" name="Google Shape;486;g3f6efaed406_0_171"/>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87" name="Google Shape;487;g3f6efaed406_0_171" descr=" "/>
          <p:cNvPicPr preferRelativeResize="0"/>
          <p:nvPr/>
        </p:nvPicPr>
        <p:blipFill rotWithShape="1">
          <a:blip r:embed="rId4">
            <a:alphaModFix/>
          </a:blip>
          <a:srcRect/>
          <a:stretch/>
        </p:blipFill>
        <p:spPr>
          <a:xfrm>
            <a:off x="23434429" y="406400"/>
            <a:ext cx="474375" cy="593018"/>
          </a:xfrm>
          <a:prstGeom prst="rect">
            <a:avLst/>
          </a:prstGeom>
          <a:noFill/>
          <a:ln>
            <a:noFill/>
          </a:ln>
        </p:spPr>
      </p:pic>
      <p:pic>
        <p:nvPicPr>
          <p:cNvPr id="488" name="Google Shape;488;g3f6efaed406_0_171" descr=" "/>
          <p:cNvPicPr preferRelativeResize="0"/>
          <p:nvPr/>
        </p:nvPicPr>
        <p:blipFill rotWithShape="1">
          <a:blip r:embed="rId5">
            <a:alphaModFix/>
          </a:blip>
          <a:srcRect/>
          <a:stretch/>
        </p:blipFill>
        <p:spPr>
          <a:xfrm>
            <a:off x="2289929" y="3119982"/>
            <a:ext cx="5004425" cy="10010050"/>
          </a:xfrm>
          <a:prstGeom prst="rect">
            <a:avLst/>
          </a:prstGeom>
          <a:noFill/>
          <a:ln w="9525" cap="flat" cmpd="sng">
            <a:solidFill>
              <a:schemeClr val="lt2"/>
            </a:solidFill>
            <a:prstDash val="solid"/>
            <a:round/>
            <a:headEnd type="none" w="sm" len="sm"/>
            <a:tailEnd type="none" w="sm" len="sm"/>
          </a:ln>
        </p:spPr>
      </p:pic>
      <p:pic>
        <p:nvPicPr>
          <p:cNvPr id="489" name="Google Shape;489;g3f6efaed406_0_171" descr=" "/>
          <p:cNvPicPr preferRelativeResize="0"/>
          <p:nvPr/>
        </p:nvPicPr>
        <p:blipFill rotWithShape="1">
          <a:blip r:embed="rId6">
            <a:alphaModFix/>
          </a:blip>
          <a:srcRect/>
          <a:stretch/>
        </p:blipFill>
        <p:spPr>
          <a:xfrm>
            <a:off x="4436501" y="3985642"/>
            <a:ext cx="711289" cy="711200"/>
          </a:xfrm>
          <a:prstGeom prst="rect">
            <a:avLst/>
          </a:prstGeom>
          <a:noFill/>
          <a:ln>
            <a:noFill/>
          </a:ln>
        </p:spPr>
      </p:pic>
      <p:pic>
        <p:nvPicPr>
          <p:cNvPr id="490" name="Google Shape;490;g3f6efaed406_0_171" title="crosshair (1).png"/>
          <p:cNvPicPr preferRelativeResize="0"/>
          <p:nvPr/>
        </p:nvPicPr>
        <p:blipFill rotWithShape="1">
          <a:blip r:embed="rId7">
            <a:alphaModFix/>
          </a:blip>
          <a:srcRect t="10"/>
          <a:stretch/>
        </p:blipFill>
        <p:spPr>
          <a:xfrm>
            <a:off x="4297479" y="3469017"/>
            <a:ext cx="1132451" cy="1132300"/>
          </a:xfrm>
          <a:prstGeom prst="rect">
            <a:avLst/>
          </a:prstGeom>
          <a:noFill/>
          <a:ln>
            <a:noFill/>
          </a:ln>
        </p:spPr>
      </p:pic>
      <p:sp>
        <p:nvSpPr>
          <p:cNvPr id="491" name="Google Shape;491;g3f6efaed406_0_171"/>
          <p:cNvSpPr/>
          <p:nvPr/>
        </p:nvSpPr>
        <p:spPr>
          <a:xfrm>
            <a:off x="2660304" y="7157339"/>
            <a:ext cx="4218300" cy="3223800"/>
          </a:xfrm>
          <a:prstGeom prst="rect">
            <a:avLst/>
          </a:prstGeom>
          <a:noFill/>
          <a:ln>
            <a:noFill/>
          </a:ln>
        </p:spPr>
        <p:txBody>
          <a:bodyPr spcFirstLastPara="1" wrap="square" lIns="0" tIns="0" rIns="0" bIns="0" anchor="t" anchorCtr="0">
            <a:noAutofit/>
          </a:bodyPr>
          <a:lstStyle/>
          <a:p>
            <a:pPr marL="0" marR="0" lvl="0" indent="0" algn="ctr" rtl="0">
              <a:lnSpc>
                <a:spcPct val="135714"/>
              </a:lnSpc>
              <a:spcBef>
                <a:spcPts val="0"/>
              </a:spcBef>
              <a:spcAft>
                <a:spcPts val="0"/>
              </a:spcAft>
              <a:buClr>
                <a:srgbClr val="383A42"/>
              </a:buClr>
              <a:buSzPts val="2800"/>
              <a:buFont typeface="Roboto"/>
              <a:buNone/>
            </a:pPr>
            <a:r>
              <a:rPr lang="pt-BR" sz="2600" b="0" i="0" u="none" strike="noStrike" cap="none">
                <a:solidFill>
                  <a:srgbClr val="666666"/>
                </a:solidFill>
                <a:latin typeface="Roboto"/>
                <a:ea typeface="Roboto"/>
                <a:cs typeface="Roboto"/>
                <a:sym typeface="Roboto"/>
              </a:rPr>
              <a:t>Sintomas mudam; a assinatura não. Agrupe pelo sinal que dá pra conferir, não pelo que o usuário viu.</a:t>
            </a:r>
            <a:endParaRPr sz="2600" b="0" i="0" u="none" strike="noStrike" cap="none">
              <a:solidFill>
                <a:srgbClr val="666666"/>
              </a:solidFill>
              <a:latin typeface="Roboto"/>
              <a:ea typeface="Roboto"/>
              <a:cs typeface="Roboto"/>
              <a:sym typeface="Roboto"/>
            </a:endParaRPr>
          </a:p>
        </p:txBody>
      </p:sp>
      <p:pic>
        <p:nvPicPr>
          <p:cNvPr id="492" name="Google Shape;492;g3f6efaed406_0_171" descr=" "/>
          <p:cNvPicPr preferRelativeResize="0"/>
          <p:nvPr/>
        </p:nvPicPr>
        <p:blipFill rotWithShape="1">
          <a:blip r:embed="rId8">
            <a:alphaModFix/>
          </a:blip>
          <a:srcRect/>
          <a:stretch/>
        </p:blipFill>
        <p:spPr>
          <a:xfrm>
            <a:off x="7700803" y="3119982"/>
            <a:ext cx="5017125" cy="10010050"/>
          </a:xfrm>
          <a:prstGeom prst="rect">
            <a:avLst/>
          </a:prstGeom>
          <a:noFill/>
          <a:ln w="9525" cap="flat" cmpd="sng">
            <a:solidFill>
              <a:schemeClr val="lt2"/>
            </a:solidFill>
            <a:prstDash val="solid"/>
            <a:round/>
            <a:headEnd type="none" w="sm" len="sm"/>
            <a:tailEnd type="none" w="sm" len="sm"/>
          </a:ln>
        </p:spPr>
      </p:pic>
      <p:pic>
        <p:nvPicPr>
          <p:cNvPr id="493" name="Google Shape;493;g3f6efaed406_0_171" descr=" "/>
          <p:cNvPicPr preferRelativeResize="0"/>
          <p:nvPr/>
        </p:nvPicPr>
        <p:blipFill rotWithShape="1">
          <a:blip r:embed="rId6">
            <a:alphaModFix/>
          </a:blip>
          <a:srcRect/>
          <a:stretch/>
        </p:blipFill>
        <p:spPr>
          <a:xfrm>
            <a:off x="9853728" y="6744607"/>
            <a:ext cx="711289" cy="711200"/>
          </a:xfrm>
          <a:prstGeom prst="rect">
            <a:avLst/>
          </a:prstGeom>
          <a:noFill/>
          <a:ln>
            <a:noFill/>
          </a:ln>
        </p:spPr>
      </p:pic>
      <p:pic>
        <p:nvPicPr>
          <p:cNvPr id="494" name="Google Shape;494;g3f6efaed406_0_171" title="bar-chart.png"/>
          <p:cNvPicPr preferRelativeResize="0"/>
          <p:nvPr/>
        </p:nvPicPr>
        <p:blipFill rotWithShape="1">
          <a:blip r:embed="rId9">
            <a:alphaModFix/>
          </a:blip>
          <a:srcRect t="10"/>
          <a:stretch/>
        </p:blipFill>
        <p:spPr>
          <a:xfrm>
            <a:off x="9902154" y="3613748"/>
            <a:ext cx="842950" cy="842838"/>
          </a:xfrm>
          <a:prstGeom prst="rect">
            <a:avLst/>
          </a:prstGeom>
          <a:noFill/>
          <a:ln>
            <a:noFill/>
          </a:ln>
        </p:spPr>
      </p:pic>
      <p:sp>
        <p:nvSpPr>
          <p:cNvPr id="495" name="Google Shape;495;g3f6efaed406_0_171"/>
          <p:cNvSpPr/>
          <p:nvPr/>
        </p:nvSpPr>
        <p:spPr>
          <a:xfrm>
            <a:off x="8229966" y="7238982"/>
            <a:ext cx="3958800" cy="3223800"/>
          </a:xfrm>
          <a:prstGeom prst="rect">
            <a:avLst/>
          </a:prstGeom>
          <a:noFill/>
          <a:ln>
            <a:noFill/>
          </a:ln>
        </p:spPr>
        <p:txBody>
          <a:bodyPr spcFirstLastPara="1" wrap="square" lIns="0" tIns="0" rIns="0" bIns="0" anchor="t" anchorCtr="0">
            <a:noAutofit/>
          </a:bodyPr>
          <a:lstStyle/>
          <a:p>
            <a:pPr marL="0" marR="0" lvl="0" indent="0" algn="ctr" rtl="0">
              <a:lnSpc>
                <a:spcPct val="135714"/>
              </a:lnSpc>
              <a:spcBef>
                <a:spcPts val="0"/>
              </a:spcBef>
              <a:spcAft>
                <a:spcPts val="0"/>
              </a:spcAft>
              <a:buClr>
                <a:schemeClr val="dk1"/>
              </a:buClr>
              <a:buSzPts val="1100"/>
              <a:buFont typeface="Arial"/>
              <a:buNone/>
            </a:pPr>
            <a:r>
              <a:rPr lang="pt-BR" sz="2600" b="0" i="0" u="none" strike="noStrike" cap="none">
                <a:solidFill>
                  <a:srgbClr val="666666"/>
                </a:solidFill>
                <a:latin typeface="Roboto"/>
                <a:ea typeface="Roboto"/>
                <a:cs typeface="Roboto"/>
                <a:sym typeface="Roboto"/>
              </a:rPr>
              <a:t>Um caso é história, nove em dez é padrão. Conte antes de concluir, e diga o tamanho da amostra.</a:t>
            </a:r>
            <a:endParaRPr sz="2600" b="0" i="0" u="none" strike="noStrike" cap="none">
              <a:solidFill>
                <a:srgbClr val="666666"/>
              </a:solidFill>
              <a:latin typeface="Roboto"/>
              <a:ea typeface="Roboto"/>
              <a:cs typeface="Roboto"/>
              <a:sym typeface="Roboto"/>
            </a:endParaRPr>
          </a:p>
        </p:txBody>
      </p:sp>
      <p:pic>
        <p:nvPicPr>
          <p:cNvPr id="496" name="Google Shape;496;g3f6efaed406_0_171" descr=" "/>
          <p:cNvPicPr preferRelativeResize="0"/>
          <p:nvPr/>
        </p:nvPicPr>
        <p:blipFill rotWithShape="1">
          <a:blip r:embed="rId5">
            <a:alphaModFix/>
          </a:blip>
          <a:srcRect/>
          <a:stretch/>
        </p:blipFill>
        <p:spPr>
          <a:xfrm>
            <a:off x="13124378" y="3119982"/>
            <a:ext cx="5004425" cy="10010050"/>
          </a:xfrm>
          <a:prstGeom prst="rect">
            <a:avLst/>
          </a:prstGeom>
          <a:noFill/>
          <a:ln w="9525" cap="flat" cmpd="sng">
            <a:solidFill>
              <a:schemeClr val="lt2"/>
            </a:solidFill>
            <a:prstDash val="solid"/>
            <a:round/>
            <a:headEnd type="none" w="sm" len="sm"/>
            <a:tailEnd type="none" w="sm" len="sm"/>
          </a:ln>
        </p:spPr>
      </p:pic>
      <p:pic>
        <p:nvPicPr>
          <p:cNvPr id="497" name="Google Shape;497;g3f6efaed406_0_171" title="shield.png"/>
          <p:cNvPicPr preferRelativeResize="0"/>
          <p:nvPr/>
        </p:nvPicPr>
        <p:blipFill rotWithShape="1">
          <a:blip r:embed="rId10">
            <a:alphaModFix/>
          </a:blip>
          <a:srcRect t="10"/>
          <a:stretch/>
        </p:blipFill>
        <p:spPr>
          <a:xfrm>
            <a:off x="15205123" y="3613754"/>
            <a:ext cx="842938" cy="842825"/>
          </a:xfrm>
          <a:prstGeom prst="rect">
            <a:avLst/>
          </a:prstGeom>
          <a:noFill/>
          <a:ln>
            <a:noFill/>
          </a:ln>
        </p:spPr>
      </p:pic>
      <p:sp>
        <p:nvSpPr>
          <p:cNvPr id="498" name="Google Shape;498;g3f6efaed406_0_171"/>
          <p:cNvSpPr/>
          <p:nvPr/>
        </p:nvSpPr>
        <p:spPr>
          <a:xfrm>
            <a:off x="13827204" y="7239000"/>
            <a:ext cx="3598800" cy="2636400"/>
          </a:xfrm>
          <a:prstGeom prst="rect">
            <a:avLst/>
          </a:prstGeom>
          <a:noFill/>
          <a:ln>
            <a:noFill/>
          </a:ln>
        </p:spPr>
        <p:txBody>
          <a:bodyPr spcFirstLastPara="1" wrap="square" lIns="0" tIns="0" rIns="0" bIns="0" anchor="t" anchorCtr="0">
            <a:noAutofit/>
          </a:bodyPr>
          <a:lstStyle/>
          <a:p>
            <a:pPr marL="0" marR="0" lvl="0" indent="0" algn="ctr" rtl="0">
              <a:lnSpc>
                <a:spcPct val="135714"/>
              </a:lnSpc>
              <a:spcBef>
                <a:spcPts val="0"/>
              </a:spcBef>
              <a:spcAft>
                <a:spcPts val="0"/>
              </a:spcAft>
              <a:buClr>
                <a:schemeClr val="dk1"/>
              </a:buClr>
              <a:buSzPts val="1100"/>
              <a:buFont typeface="Arial"/>
              <a:buNone/>
            </a:pPr>
            <a:r>
              <a:rPr lang="pt-BR" sz="2600" b="0" i="0" u="none" strike="noStrike" cap="none">
                <a:solidFill>
                  <a:srgbClr val="666666"/>
                </a:solidFill>
                <a:latin typeface="Roboto"/>
                <a:ea typeface="Roboto"/>
                <a:cs typeface="Roboto"/>
                <a:sym typeface="Roboto"/>
              </a:rPr>
              <a:t>Cruze o rastro com o estado final, com a mensagem seguinte e com o que deveria ter deixado rastro.</a:t>
            </a:r>
            <a:endParaRPr sz="2600" b="0" i="0" u="none" strike="noStrike" cap="none">
              <a:solidFill>
                <a:srgbClr val="666666"/>
              </a:solidFill>
              <a:latin typeface="Roboto"/>
              <a:ea typeface="Roboto"/>
              <a:cs typeface="Roboto"/>
              <a:sym typeface="Roboto"/>
            </a:endParaRPr>
          </a:p>
        </p:txBody>
      </p:sp>
      <p:pic>
        <p:nvPicPr>
          <p:cNvPr id="499" name="Google Shape;499;g3f6efaed406_0_171" descr=" "/>
          <p:cNvPicPr preferRelativeResize="0"/>
          <p:nvPr/>
        </p:nvPicPr>
        <p:blipFill rotWithShape="1">
          <a:blip r:embed="rId11">
            <a:alphaModFix/>
          </a:blip>
          <a:srcRect/>
          <a:stretch/>
        </p:blipFill>
        <p:spPr>
          <a:xfrm>
            <a:off x="18671334" y="5537200"/>
            <a:ext cx="5715714" cy="5537200"/>
          </a:xfrm>
          <a:prstGeom prst="rect">
            <a:avLst/>
          </a:prstGeom>
          <a:noFill/>
          <a:ln>
            <a:noFill/>
          </a:ln>
        </p:spPr>
      </p:pic>
      <p:sp>
        <p:nvSpPr>
          <p:cNvPr id="500" name="Google Shape;500;g3f6efaed406_0_171"/>
          <p:cNvSpPr/>
          <p:nvPr/>
        </p:nvSpPr>
        <p:spPr>
          <a:xfrm>
            <a:off x="2354634" y="702700"/>
            <a:ext cx="11867400" cy="1490100"/>
          </a:xfrm>
          <a:prstGeom prst="rect">
            <a:avLst/>
          </a:prstGeom>
          <a:noFill/>
          <a:ln>
            <a:noFill/>
          </a:ln>
        </p:spPr>
        <p:txBody>
          <a:bodyPr spcFirstLastPara="1" wrap="square" lIns="0" tIns="0" rIns="0" bIns="0" anchor="t" anchorCtr="0">
            <a:noAutofit/>
          </a:bodyPr>
          <a:lstStyle/>
          <a:p>
            <a:pPr marL="0" marR="0" lvl="0" indent="0" algn="l" rtl="0">
              <a:lnSpc>
                <a:spcPct val="121052"/>
              </a:lnSpc>
              <a:spcBef>
                <a:spcPts val="0"/>
              </a:spcBef>
              <a:spcAft>
                <a:spcPts val="0"/>
              </a:spcAft>
              <a:buClr>
                <a:srgbClr val="0C0C0E"/>
              </a:buClr>
              <a:buSzPts val="7600"/>
              <a:buFont typeface="Encode Sans"/>
              <a:buNone/>
            </a:pPr>
            <a:r>
              <a:rPr lang="pt-BR" sz="6400" b="0" i="0" u="none" strike="noStrike" cap="none">
                <a:solidFill>
                  <a:srgbClr val="0C0C0E"/>
                </a:solidFill>
                <a:latin typeface="Encode Sans SemiBold"/>
                <a:ea typeface="Encode Sans SemiBold"/>
                <a:cs typeface="Encode Sans SemiBold"/>
                <a:sym typeface="Encode Sans SemiBold"/>
              </a:rPr>
              <a:t>Como achar um padrão</a:t>
            </a:r>
            <a:endParaRPr sz="6400" b="0" i="0" u="none" strike="noStrike" cap="none">
              <a:solidFill>
                <a:schemeClr val="dk1"/>
              </a:solidFill>
              <a:latin typeface="Encode Sans SemiBold"/>
              <a:ea typeface="Encode Sans SemiBold"/>
              <a:cs typeface="Encode Sans SemiBold"/>
              <a:sym typeface="Encode Sans SemiBold"/>
            </a:endParaRPr>
          </a:p>
        </p:txBody>
      </p:sp>
      <p:sp>
        <p:nvSpPr>
          <p:cNvPr id="501" name="Google Shape;501;g3f6efaed406_0_171"/>
          <p:cNvSpPr/>
          <p:nvPr/>
        </p:nvSpPr>
        <p:spPr>
          <a:xfrm>
            <a:off x="2354625" y="1740325"/>
            <a:ext cx="13128600" cy="12708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26272C"/>
              </a:buClr>
              <a:buSzPts val="3600"/>
              <a:buFont typeface="Roboto"/>
              <a:buNone/>
            </a:pPr>
            <a:r>
              <a:rPr lang="pt-BR" sz="2500" b="0" i="0" u="none" strike="noStrike" cap="none">
                <a:solidFill>
                  <a:srgbClr val="7B7F8E"/>
                </a:solidFill>
                <a:latin typeface="Roboto"/>
                <a:ea typeface="Roboto"/>
                <a:cs typeface="Roboto"/>
                <a:sym typeface="Roboto"/>
              </a:rPr>
              <a:t>Três perguntas pro seu painel, antes de qualquer conclusão.</a:t>
            </a:r>
            <a:endParaRPr sz="2500" b="0" i="0" u="none" strike="noStrike" cap="none">
              <a:solidFill>
                <a:srgbClr val="7B7F8E"/>
              </a:solidFill>
              <a:latin typeface="Roboto"/>
              <a:ea typeface="Roboto"/>
              <a:cs typeface="Roboto"/>
              <a:sym typeface="Roboto"/>
            </a:endParaRPr>
          </a:p>
        </p:txBody>
      </p:sp>
      <p:pic>
        <p:nvPicPr>
          <p:cNvPr id="502" name="Google Shape;502;g3f6efaed406_0_171" descr="Ícone&#10;&#10;O conteúdo gerado por IA pode estar incorreto."/>
          <p:cNvPicPr preferRelativeResize="0"/>
          <p:nvPr/>
        </p:nvPicPr>
        <p:blipFill rotWithShape="1">
          <a:blip r:embed="rId12">
            <a:alphaModFix/>
          </a:blip>
          <a:srcRect/>
          <a:stretch/>
        </p:blipFill>
        <p:spPr>
          <a:xfrm>
            <a:off x="-2202249" y="-8621"/>
            <a:ext cx="1568332" cy="10010052"/>
          </a:xfrm>
          <a:prstGeom prst="rect">
            <a:avLst/>
          </a:prstGeom>
          <a:noFill/>
          <a:ln>
            <a:noFill/>
          </a:ln>
        </p:spPr>
      </p:pic>
      <p:sp>
        <p:nvSpPr>
          <p:cNvPr id="503" name="Google Shape;503;g3f6efaed406_0_171"/>
          <p:cNvSpPr/>
          <p:nvPr/>
        </p:nvSpPr>
        <p:spPr>
          <a:xfrm>
            <a:off x="3523291" y="4696832"/>
            <a:ext cx="2537700" cy="593100"/>
          </a:xfrm>
          <a:prstGeom prst="rect">
            <a:avLst/>
          </a:prstGeom>
          <a:noFill/>
          <a:ln>
            <a:noFill/>
          </a:ln>
        </p:spPr>
        <p:txBody>
          <a:bodyPr spcFirstLastPara="1" wrap="square" lIns="0" tIns="0" rIns="0" bIns="0" anchor="ctr" anchorCtr="0">
            <a:noAutofit/>
          </a:bodyPr>
          <a:lstStyle/>
          <a:p>
            <a:pPr marL="0" marR="0" lvl="0" indent="0" algn="ctr" rtl="0">
              <a:lnSpc>
                <a:spcPct val="121052"/>
              </a:lnSpc>
              <a:spcBef>
                <a:spcPts val="0"/>
              </a:spcBef>
              <a:spcAft>
                <a:spcPts val="0"/>
              </a:spcAft>
              <a:buClr>
                <a:srgbClr val="0C0C0E"/>
              </a:buClr>
              <a:buSzPts val="7600"/>
              <a:buFont typeface="Encode Sans"/>
              <a:buNone/>
            </a:pPr>
            <a:r>
              <a:rPr lang="en-US" sz="3000" b="0" i="0" u="none" strike="noStrike" cap="none">
                <a:solidFill>
                  <a:schemeClr val="dk1"/>
                </a:solidFill>
                <a:latin typeface="Encode Sans SemiBold"/>
                <a:ea typeface="Encode Sans SemiBold"/>
                <a:cs typeface="Encode Sans SemiBold"/>
                <a:sym typeface="Encode Sans SemiBold"/>
              </a:rPr>
              <a:t>Assinatura</a:t>
            </a:r>
            <a:endParaRPr sz="3000" b="0" i="0" u="none" strike="noStrike" cap="none">
              <a:solidFill>
                <a:schemeClr val="dk1"/>
              </a:solidFill>
              <a:latin typeface="Encode Sans SemiBold"/>
              <a:ea typeface="Encode Sans SemiBold"/>
              <a:cs typeface="Encode Sans SemiBold"/>
              <a:sym typeface="Encode Sans SemiBold"/>
            </a:endParaRPr>
          </a:p>
        </p:txBody>
      </p:sp>
      <p:sp>
        <p:nvSpPr>
          <p:cNvPr id="504" name="Google Shape;504;g3f6efaed406_0_171"/>
          <p:cNvSpPr/>
          <p:nvPr/>
        </p:nvSpPr>
        <p:spPr>
          <a:xfrm>
            <a:off x="8713282" y="4696832"/>
            <a:ext cx="3154800" cy="593100"/>
          </a:xfrm>
          <a:prstGeom prst="rect">
            <a:avLst/>
          </a:prstGeom>
          <a:noFill/>
          <a:ln>
            <a:noFill/>
          </a:ln>
        </p:spPr>
        <p:txBody>
          <a:bodyPr spcFirstLastPara="1" wrap="square" lIns="0" tIns="0" rIns="0" bIns="0" anchor="ctr" anchorCtr="0">
            <a:noAutofit/>
          </a:bodyPr>
          <a:lstStyle/>
          <a:p>
            <a:pPr marL="0" marR="0" lvl="0" indent="0" algn="ctr" rtl="0">
              <a:lnSpc>
                <a:spcPct val="121052"/>
              </a:lnSpc>
              <a:spcBef>
                <a:spcPts val="0"/>
              </a:spcBef>
              <a:spcAft>
                <a:spcPts val="0"/>
              </a:spcAft>
              <a:buClr>
                <a:srgbClr val="0C0C0E"/>
              </a:buClr>
              <a:buSzPts val="7600"/>
              <a:buFont typeface="Encode Sans"/>
              <a:buNone/>
            </a:pPr>
            <a:r>
              <a:rPr lang="en-US" sz="3000" b="0" i="0" u="none" strike="noStrike" cap="none">
                <a:solidFill>
                  <a:schemeClr val="dk1"/>
                </a:solidFill>
                <a:latin typeface="Encode Sans SemiBold"/>
                <a:ea typeface="Encode Sans SemiBold"/>
                <a:cs typeface="Encode Sans SemiBold"/>
                <a:sym typeface="Encode Sans SemiBold"/>
              </a:rPr>
              <a:t>Frequência</a:t>
            </a:r>
            <a:endParaRPr sz="3000" b="0" i="0" u="none" strike="noStrike" cap="none">
              <a:solidFill>
                <a:schemeClr val="dk1"/>
              </a:solidFill>
              <a:latin typeface="Encode Sans SemiBold"/>
              <a:ea typeface="Encode Sans SemiBold"/>
              <a:cs typeface="Encode Sans SemiBold"/>
              <a:sym typeface="Encode Sans SemiBold"/>
            </a:endParaRPr>
          </a:p>
        </p:txBody>
      </p:sp>
      <p:sp>
        <p:nvSpPr>
          <p:cNvPr id="505" name="Google Shape;505;g3f6efaed406_0_171"/>
          <p:cNvSpPr/>
          <p:nvPr/>
        </p:nvSpPr>
        <p:spPr>
          <a:xfrm>
            <a:off x="14357741" y="4696832"/>
            <a:ext cx="2537700" cy="593100"/>
          </a:xfrm>
          <a:prstGeom prst="rect">
            <a:avLst/>
          </a:prstGeom>
          <a:noFill/>
          <a:ln>
            <a:noFill/>
          </a:ln>
        </p:spPr>
        <p:txBody>
          <a:bodyPr spcFirstLastPara="1" wrap="square" lIns="0" tIns="0" rIns="0" bIns="0" anchor="ctr" anchorCtr="0">
            <a:noAutofit/>
          </a:bodyPr>
          <a:lstStyle/>
          <a:p>
            <a:pPr marL="0" marR="0" lvl="0" indent="0" algn="ctr" rtl="0">
              <a:lnSpc>
                <a:spcPct val="121052"/>
              </a:lnSpc>
              <a:spcBef>
                <a:spcPts val="0"/>
              </a:spcBef>
              <a:spcAft>
                <a:spcPts val="0"/>
              </a:spcAft>
              <a:buClr>
                <a:srgbClr val="0C0C0E"/>
              </a:buClr>
              <a:buSzPts val="7600"/>
              <a:buFont typeface="Encode Sans"/>
              <a:buNone/>
            </a:pPr>
            <a:r>
              <a:rPr lang="en-US" sz="3000" b="0" i="0" u="none" strike="noStrike" cap="none">
                <a:solidFill>
                  <a:srgbClr val="0C0C0E"/>
                </a:solidFill>
                <a:latin typeface="Encode Sans SemiBold"/>
                <a:ea typeface="Encode Sans SemiBold"/>
                <a:cs typeface="Encode Sans SemiBold"/>
                <a:sym typeface="Encode Sans SemiBold"/>
              </a:rPr>
              <a:t>Ponto cego</a:t>
            </a:r>
            <a:endParaRPr sz="3000" b="0" i="0" u="none" strike="noStrike" cap="none">
              <a:solidFill>
                <a:schemeClr val="dk1"/>
              </a:solidFill>
              <a:latin typeface="Encode Sans SemiBold"/>
              <a:ea typeface="Encode Sans SemiBold"/>
              <a:cs typeface="Encode Sans SemiBold"/>
              <a:sym typeface="Encode Sans SemiBold"/>
            </a:endParaRPr>
          </a:p>
        </p:txBody>
      </p:sp>
      <p:sp>
        <p:nvSpPr>
          <p:cNvPr id="506" name="Google Shape;506;g3f6efaed406_0_171"/>
          <p:cNvSpPr/>
          <p:nvPr/>
        </p:nvSpPr>
        <p:spPr>
          <a:xfrm>
            <a:off x="2432646" y="5289932"/>
            <a:ext cx="4679100" cy="1270800"/>
          </a:xfrm>
          <a:prstGeom prst="rect">
            <a:avLst/>
          </a:prstGeom>
          <a:noFill/>
          <a:ln>
            <a:noFill/>
          </a:ln>
        </p:spPr>
        <p:txBody>
          <a:bodyPr spcFirstLastPara="1" wrap="square" lIns="0" tIns="0" rIns="0" bIns="0" anchor="ctr" anchorCtr="0">
            <a:noAutofit/>
          </a:bodyPr>
          <a:lstStyle/>
          <a:p>
            <a:pPr marL="0" marR="0" lvl="0" indent="0" algn="ctr" rtl="0">
              <a:lnSpc>
                <a:spcPct val="116666"/>
              </a:lnSpc>
              <a:spcBef>
                <a:spcPts val="0"/>
              </a:spcBef>
              <a:spcAft>
                <a:spcPts val="0"/>
              </a:spcAft>
              <a:buClr>
                <a:srgbClr val="26272C"/>
              </a:buClr>
              <a:buSzPts val="3600"/>
              <a:buFont typeface="Roboto"/>
              <a:buNone/>
            </a:pPr>
            <a:r>
              <a:rPr lang="pt-BR" sz="2400" b="0" i="0" u="none" strike="noStrike" cap="none">
                <a:solidFill>
                  <a:srgbClr val="2563EB"/>
                </a:solidFill>
                <a:latin typeface="Roboto"/>
                <a:ea typeface="Roboto"/>
                <a:cs typeface="Roboto"/>
                <a:sym typeface="Roboto"/>
              </a:rPr>
              <a:t>Que sinal se repete, com sintoma diferente?</a:t>
            </a:r>
            <a:endParaRPr sz="2400" b="0" i="0" u="none" strike="noStrike" cap="none">
              <a:solidFill>
                <a:srgbClr val="2563EB"/>
              </a:solidFill>
              <a:latin typeface="Roboto"/>
              <a:ea typeface="Roboto"/>
              <a:cs typeface="Roboto"/>
              <a:sym typeface="Roboto"/>
            </a:endParaRPr>
          </a:p>
        </p:txBody>
      </p:sp>
      <p:sp>
        <p:nvSpPr>
          <p:cNvPr id="507" name="Google Shape;507;g3f6efaed406_0_171"/>
          <p:cNvSpPr/>
          <p:nvPr/>
        </p:nvSpPr>
        <p:spPr>
          <a:xfrm>
            <a:off x="7869816" y="5289932"/>
            <a:ext cx="4679100" cy="1270800"/>
          </a:xfrm>
          <a:prstGeom prst="rect">
            <a:avLst/>
          </a:prstGeom>
          <a:noFill/>
          <a:ln>
            <a:noFill/>
          </a:ln>
        </p:spPr>
        <p:txBody>
          <a:bodyPr spcFirstLastPara="1" wrap="square" lIns="0" tIns="0" rIns="0" bIns="0" anchor="ctr" anchorCtr="0">
            <a:noAutofit/>
          </a:bodyPr>
          <a:lstStyle/>
          <a:p>
            <a:pPr marL="0" marR="0" lvl="0" indent="0" algn="ctr" rtl="0">
              <a:lnSpc>
                <a:spcPct val="116666"/>
              </a:lnSpc>
              <a:spcBef>
                <a:spcPts val="0"/>
              </a:spcBef>
              <a:spcAft>
                <a:spcPts val="0"/>
              </a:spcAft>
              <a:buClr>
                <a:srgbClr val="26272C"/>
              </a:buClr>
              <a:buSzPts val="3600"/>
              <a:buFont typeface="Roboto"/>
              <a:buNone/>
            </a:pPr>
            <a:r>
              <a:rPr lang="pt-BR" sz="2400" b="0" i="0" u="none" strike="noStrike" cap="none">
                <a:solidFill>
                  <a:srgbClr val="059669"/>
                </a:solidFill>
                <a:latin typeface="Roboto"/>
                <a:ea typeface="Roboto"/>
                <a:cs typeface="Roboto"/>
                <a:sym typeface="Roboto"/>
              </a:rPr>
              <a:t>É um caso ou é regra? Quantas vezes?</a:t>
            </a:r>
            <a:endParaRPr sz="2400" b="0" i="0" u="none" strike="noStrike" cap="none">
              <a:solidFill>
                <a:srgbClr val="059669"/>
              </a:solidFill>
              <a:latin typeface="Roboto"/>
              <a:ea typeface="Roboto"/>
              <a:cs typeface="Roboto"/>
              <a:sym typeface="Roboto"/>
            </a:endParaRPr>
          </a:p>
        </p:txBody>
      </p:sp>
      <p:sp>
        <p:nvSpPr>
          <p:cNvPr id="508" name="Google Shape;508;g3f6efaed406_0_171"/>
          <p:cNvSpPr/>
          <p:nvPr/>
        </p:nvSpPr>
        <p:spPr>
          <a:xfrm>
            <a:off x="13287033" y="5289932"/>
            <a:ext cx="4679100" cy="1270800"/>
          </a:xfrm>
          <a:prstGeom prst="rect">
            <a:avLst/>
          </a:prstGeom>
          <a:noFill/>
          <a:ln>
            <a:noFill/>
          </a:ln>
        </p:spPr>
        <p:txBody>
          <a:bodyPr spcFirstLastPara="1" wrap="square" lIns="0" tIns="0" rIns="0" bIns="0" anchor="ctr" anchorCtr="0">
            <a:noAutofit/>
          </a:bodyPr>
          <a:lstStyle/>
          <a:p>
            <a:pPr marL="0" marR="0" lvl="0" indent="0" algn="ctr" rtl="0">
              <a:lnSpc>
                <a:spcPct val="116666"/>
              </a:lnSpc>
              <a:spcBef>
                <a:spcPts val="0"/>
              </a:spcBef>
              <a:spcAft>
                <a:spcPts val="0"/>
              </a:spcAft>
              <a:buClr>
                <a:srgbClr val="26272C"/>
              </a:buClr>
              <a:buSzPts val="3600"/>
              <a:buFont typeface="Roboto"/>
              <a:buNone/>
            </a:pPr>
            <a:r>
              <a:rPr lang="pt-BR" sz="2400" b="0" i="0" u="none" strike="noStrike" cap="none">
                <a:solidFill>
                  <a:srgbClr val="7C3AED"/>
                </a:solidFill>
                <a:latin typeface="Roboto"/>
                <a:ea typeface="Roboto"/>
                <a:cs typeface="Roboto"/>
                <a:sym typeface="Roboto"/>
              </a:rPr>
              <a:t>Onde o sem-alarme pode estar mentindo?</a:t>
            </a:r>
            <a:endParaRPr sz="2400" b="0" i="0" u="none" strike="noStrike" cap="none">
              <a:solidFill>
                <a:srgbClr val="7C3AED"/>
              </a:solidFill>
              <a:latin typeface="Roboto"/>
              <a:ea typeface="Roboto"/>
              <a:cs typeface="Roboto"/>
              <a:sym typeface="Roboto"/>
            </a:endParaRPr>
          </a:p>
        </p:txBody>
      </p:sp>
      <p:cxnSp>
        <p:nvCxnSpPr>
          <p:cNvPr id="509" name="Google Shape;509;g3f6efaed406_0_171"/>
          <p:cNvCxnSpPr/>
          <p:nvPr/>
        </p:nvCxnSpPr>
        <p:spPr>
          <a:xfrm>
            <a:off x="2947441" y="6836714"/>
            <a:ext cx="3689400" cy="0"/>
          </a:xfrm>
          <a:prstGeom prst="straightConnector1">
            <a:avLst/>
          </a:prstGeom>
          <a:noFill/>
          <a:ln w="19050" cap="flat" cmpd="sng">
            <a:solidFill>
              <a:srgbClr val="868998"/>
            </a:solidFill>
            <a:prstDash val="solid"/>
            <a:round/>
            <a:headEnd type="none" w="sm" len="sm"/>
            <a:tailEnd type="none" w="sm" len="sm"/>
          </a:ln>
        </p:spPr>
      </p:cxnSp>
      <p:cxnSp>
        <p:nvCxnSpPr>
          <p:cNvPr id="510" name="Google Shape;510;g3f6efaed406_0_171"/>
          <p:cNvCxnSpPr/>
          <p:nvPr/>
        </p:nvCxnSpPr>
        <p:spPr>
          <a:xfrm>
            <a:off x="8364654" y="6836714"/>
            <a:ext cx="3689400" cy="0"/>
          </a:xfrm>
          <a:prstGeom prst="straightConnector1">
            <a:avLst/>
          </a:prstGeom>
          <a:noFill/>
          <a:ln w="19050" cap="flat" cmpd="sng">
            <a:solidFill>
              <a:srgbClr val="868998"/>
            </a:solidFill>
            <a:prstDash val="solid"/>
            <a:round/>
            <a:headEnd type="none" w="sm" len="sm"/>
            <a:tailEnd type="none" w="sm" len="sm"/>
          </a:ln>
        </p:spPr>
      </p:cxnSp>
      <p:cxnSp>
        <p:nvCxnSpPr>
          <p:cNvPr id="511" name="Google Shape;511;g3f6efaed406_0_171"/>
          <p:cNvCxnSpPr/>
          <p:nvPr/>
        </p:nvCxnSpPr>
        <p:spPr>
          <a:xfrm>
            <a:off x="13781891" y="6836714"/>
            <a:ext cx="3689400" cy="0"/>
          </a:xfrm>
          <a:prstGeom prst="straightConnector1">
            <a:avLst/>
          </a:prstGeom>
          <a:noFill/>
          <a:ln w="19050" cap="flat" cmpd="sng">
            <a:solidFill>
              <a:srgbClr val="868998"/>
            </a:solidFill>
            <a:prstDash val="solid"/>
            <a:round/>
            <a:headEnd type="none" w="sm" len="sm"/>
            <a:tailEnd type="none" w="sm" len="sm"/>
          </a:ln>
        </p:spPr>
      </p:cxnSp>
      <p:sp>
        <p:nvSpPr>
          <p:cNvPr id="512" name="Google Shape;512;g3f6efaed406_0_171"/>
          <p:cNvSpPr/>
          <p:nvPr/>
        </p:nvSpPr>
        <p:spPr>
          <a:xfrm>
            <a:off x="2539141" y="11163907"/>
            <a:ext cx="4506000" cy="1710000"/>
          </a:xfrm>
          <a:prstGeom prst="roundRect">
            <a:avLst>
              <a:gd name="adj" fmla="val 16667"/>
            </a:avLst>
          </a:prstGeom>
          <a:solidFill>
            <a:srgbClr val="E1E7F2"/>
          </a:solidFill>
          <a:ln w="9525" cap="flat" cmpd="sng">
            <a:solidFill>
              <a:srgbClr val="E2E2E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3" name="Google Shape;513;g3f6efaed406_0_171"/>
          <p:cNvSpPr/>
          <p:nvPr/>
        </p:nvSpPr>
        <p:spPr>
          <a:xfrm>
            <a:off x="7956366" y="11163907"/>
            <a:ext cx="4506000" cy="1710000"/>
          </a:xfrm>
          <a:prstGeom prst="roundRect">
            <a:avLst>
              <a:gd name="adj" fmla="val 16667"/>
            </a:avLst>
          </a:prstGeom>
          <a:solidFill>
            <a:srgbClr val="E4EEE9"/>
          </a:solidFill>
          <a:ln w="9525" cap="flat" cmpd="sng">
            <a:solidFill>
              <a:srgbClr val="E2E2E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4" name="Google Shape;514;g3f6efaed406_0_171"/>
          <p:cNvSpPr/>
          <p:nvPr/>
        </p:nvSpPr>
        <p:spPr>
          <a:xfrm>
            <a:off x="13373591" y="11163907"/>
            <a:ext cx="4506000" cy="1710000"/>
          </a:xfrm>
          <a:prstGeom prst="roundRect">
            <a:avLst>
              <a:gd name="adj" fmla="val 16667"/>
            </a:avLst>
          </a:prstGeom>
          <a:solidFill>
            <a:srgbClr val="EAE7F3"/>
          </a:solidFill>
          <a:ln w="9525" cap="flat" cmpd="sng">
            <a:solidFill>
              <a:srgbClr val="E2E2E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5" name="Google Shape;515;g3f6efaed406_0_171"/>
          <p:cNvSpPr txBox="1"/>
          <p:nvPr/>
        </p:nvSpPr>
        <p:spPr>
          <a:xfrm>
            <a:off x="3781525" y="11383500"/>
            <a:ext cx="2748600" cy="1270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pt-BR" sz="1800" b="1" i="0" u="none" strike="noStrike" cap="none">
                <a:solidFill>
                  <a:srgbClr val="000000"/>
                </a:solidFill>
                <a:latin typeface="Roboto"/>
                <a:ea typeface="Roboto"/>
                <a:cs typeface="Roboto"/>
                <a:sym typeface="Roboto"/>
              </a:rPr>
              <a:t>Ex.:</a:t>
            </a:r>
          </a:p>
          <a:p>
            <a:pPr marL="0" marR="0" lvl="0" indent="0" algn="l" rtl="0">
              <a:lnSpc>
                <a:spcPct val="100000"/>
              </a:lnSpc>
              <a:spcBef>
                <a:spcPts val="0"/>
              </a:spcBef>
              <a:spcAft>
                <a:spcPts val="0"/>
              </a:spcAft>
              <a:buClr>
                <a:srgbClr val="000000"/>
              </a:buClr>
              <a:buSzPts val="1800"/>
              <a:buFont typeface="Arial"/>
              <a:buNone/>
            </a:pPr>
            <a:r>
              <a:rPr lang="pt-BR" sz="1800" b="1" i="0" u="none" strike="noStrike" cap="none">
                <a:solidFill>
                  <a:srgbClr val="000000"/>
                </a:solidFill>
                <a:latin typeface="Roboto"/>
                <a:ea typeface="Roboto"/>
                <a:cs typeface="Roboto"/>
                <a:sym typeface="Roboto"/>
              </a:rPr>
              <a:t>tokens de saída iguais ao teto.</a:t>
            </a:r>
            <a:endParaRPr sz="1800" b="0" i="0" u="none" strike="noStrike" cap="none">
              <a:solidFill>
                <a:srgbClr val="000000"/>
              </a:solidFill>
              <a:latin typeface="Roboto ExtraLight"/>
              <a:ea typeface="Roboto ExtraLight"/>
              <a:cs typeface="Roboto ExtraLight"/>
              <a:sym typeface="Roboto ExtraLight"/>
            </a:endParaRPr>
          </a:p>
        </p:txBody>
      </p:sp>
      <p:sp>
        <p:nvSpPr>
          <p:cNvPr id="516" name="Google Shape;516;g3f6efaed406_0_171"/>
          <p:cNvSpPr txBox="1"/>
          <p:nvPr/>
        </p:nvSpPr>
        <p:spPr>
          <a:xfrm>
            <a:off x="9305450" y="11383500"/>
            <a:ext cx="2748600" cy="1270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pt-BR" sz="1800" b="1" i="0" u="none" strike="noStrike" cap="none">
                <a:solidFill>
                  <a:srgbClr val="000000"/>
                </a:solidFill>
                <a:latin typeface="Roboto"/>
                <a:ea typeface="Roboto"/>
                <a:cs typeface="Roboto"/>
                <a:sym typeface="Roboto"/>
              </a:rPr>
              <a:t>Ex.:</a:t>
            </a:r>
          </a:p>
          <a:p>
            <a:pPr marL="0" marR="0" lvl="0" indent="0" algn="l" rtl="0">
              <a:lnSpc>
                <a:spcPct val="100000"/>
              </a:lnSpc>
              <a:spcBef>
                <a:spcPts val="0"/>
              </a:spcBef>
              <a:spcAft>
                <a:spcPts val="0"/>
              </a:spcAft>
              <a:buClr>
                <a:srgbClr val="000000"/>
              </a:buClr>
              <a:buSzPts val="1800"/>
              <a:buFont typeface="Arial"/>
              <a:buNone/>
            </a:pPr>
            <a:r>
              <a:rPr lang="pt-BR" sz="1800" b="1" i="0" u="none" strike="noStrike" cap="none">
                <a:solidFill>
                  <a:srgbClr val="000000"/>
                </a:solidFill>
                <a:latin typeface="Roboto"/>
                <a:ea typeface="Roboto"/>
                <a:cs typeface="Roboto"/>
                <a:sym typeface="Roboto"/>
              </a:rPr>
              <a:t>9 de 10 mediações.</a:t>
            </a:r>
            <a:endParaRPr sz="1800" b="0" i="0" u="none" strike="noStrike" cap="none">
              <a:solidFill>
                <a:srgbClr val="000000"/>
              </a:solidFill>
              <a:latin typeface="Roboto"/>
              <a:ea typeface="Roboto"/>
              <a:cs typeface="Roboto"/>
              <a:sym typeface="Roboto"/>
            </a:endParaRPr>
          </a:p>
        </p:txBody>
      </p:sp>
      <p:sp>
        <p:nvSpPr>
          <p:cNvPr id="517" name="Google Shape;517;g3f6efaed406_0_171"/>
          <p:cNvSpPr txBox="1"/>
          <p:nvPr/>
        </p:nvSpPr>
        <p:spPr>
          <a:xfrm>
            <a:off x="14722688" y="11383500"/>
            <a:ext cx="2748600" cy="1270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pt-BR" sz="1800" b="1" i="0" u="none" strike="noStrike" cap="none">
                <a:solidFill>
                  <a:srgbClr val="000000"/>
                </a:solidFill>
                <a:latin typeface="Roboto"/>
                <a:ea typeface="Roboto"/>
                <a:cs typeface="Roboto"/>
                <a:sym typeface="Roboto"/>
              </a:rPr>
              <a:t>Ex.:</a:t>
            </a:r>
          </a:p>
          <a:p>
            <a:pPr marL="0" marR="0" lvl="0" indent="0" algn="l" rtl="0">
              <a:lnSpc>
                <a:spcPct val="100000"/>
              </a:lnSpc>
              <a:spcBef>
                <a:spcPts val="0"/>
              </a:spcBef>
              <a:spcAft>
                <a:spcPts val="0"/>
              </a:spcAft>
              <a:buClr>
                <a:srgbClr val="000000"/>
              </a:buClr>
              <a:buSzPts val="1800"/>
              <a:buFont typeface="Arial"/>
              <a:buNone/>
            </a:pPr>
            <a:r>
              <a:rPr lang="pt-BR" sz="1800" b="1" i="0" u="none" strike="noStrike" cap="none">
                <a:solidFill>
                  <a:srgbClr val="000000"/>
                </a:solidFill>
                <a:latin typeface="Roboto"/>
                <a:ea typeface="Roboto"/>
                <a:cs typeface="Roboto"/>
                <a:sym typeface="Roboto"/>
              </a:rPr>
              <a:t>"Consultei", sem alarme.</a:t>
            </a:r>
            <a:endParaRPr sz="1800" b="0" i="0" u="none" strike="noStrike" cap="none">
              <a:solidFill>
                <a:srgbClr val="000000"/>
              </a:solidFill>
              <a:latin typeface="Roboto ExtraLight"/>
              <a:ea typeface="Roboto ExtraLight"/>
              <a:cs typeface="Roboto ExtraLight"/>
              <a:sym typeface="Roboto ExtraLight"/>
            </a:endParaRPr>
          </a:p>
        </p:txBody>
      </p:sp>
      <p:pic>
        <p:nvPicPr>
          <p:cNvPr id="518" name="Google Shape;518;g3f6efaed406_0_171" title="light-bulb (1).png"/>
          <p:cNvPicPr preferRelativeResize="0"/>
          <p:nvPr/>
        </p:nvPicPr>
        <p:blipFill rotWithShape="1">
          <a:blip r:embed="rId13">
            <a:alphaModFix/>
          </a:blip>
          <a:srcRect/>
          <a:stretch/>
        </p:blipFill>
        <p:spPr>
          <a:xfrm>
            <a:off x="2947450" y="11622125"/>
            <a:ext cx="593100" cy="593100"/>
          </a:xfrm>
          <a:prstGeom prst="rect">
            <a:avLst/>
          </a:prstGeom>
          <a:noFill/>
          <a:ln>
            <a:noFill/>
          </a:ln>
        </p:spPr>
      </p:pic>
      <p:pic>
        <p:nvPicPr>
          <p:cNvPr id="519" name="Google Shape;519;g3f6efaed406_0_171" title="eye.png"/>
          <p:cNvPicPr preferRelativeResize="0"/>
          <p:nvPr/>
        </p:nvPicPr>
        <p:blipFill rotWithShape="1">
          <a:blip r:embed="rId14">
            <a:alphaModFix/>
          </a:blip>
          <a:srcRect/>
          <a:stretch/>
        </p:blipFill>
        <p:spPr>
          <a:xfrm>
            <a:off x="8445950" y="11665500"/>
            <a:ext cx="593100" cy="593100"/>
          </a:xfrm>
          <a:prstGeom prst="rect">
            <a:avLst/>
          </a:prstGeom>
          <a:noFill/>
          <a:ln>
            <a:noFill/>
          </a:ln>
        </p:spPr>
      </p:pic>
      <p:pic>
        <p:nvPicPr>
          <p:cNvPr id="520" name="Google Shape;520;g3f6efaed406_0_171" title="padlock.png"/>
          <p:cNvPicPr preferRelativeResize="0"/>
          <p:nvPr/>
        </p:nvPicPr>
        <p:blipFill rotWithShape="1">
          <a:blip r:embed="rId15">
            <a:alphaModFix/>
          </a:blip>
          <a:srcRect/>
          <a:stretch/>
        </p:blipFill>
        <p:spPr>
          <a:xfrm>
            <a:off x="13781900" y="11622125"/>
            <a:ext cx="593100" cy="593100"/>
          </a:xfrm>
          <a:prstGeom prst="rect">
            <a:avLst/>
          </a:prstGeom>
          <a:noFill/>
          <a:ln>
            <a:noFill/>
          </a:ln>
        </p:spPr>
      </p:pic>
    </p:spTree>
    <p:extLst>
      <p:ext uri="{BB962C8B-B14F-4D97-AF65-F5344CB8AC3E}">
        <p14:creationId xmlns:p14="http://schemas.microsoft.com/office/powerpoint/2010/main" val="28938314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Nenhuma delas me avisou.</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21459291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g3f3dd40fd11_1_233"/>
          <p:cNvSpPr/>
          <p:nvPr/>
        </p:nvSpPr>
        <p:spPr>
          <a:xfrm>
            <a:off x="2426003" y="3149600"/>
            <a:ext cx="9983400" cy="7416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 name="Google Shape;377;g3f3dd40fd11_1_233"/>
          <p:cNvSpPr/>
          <p:nvPr/>
        </p:nvSpPr>
        <p:spPr>
          <a:xfrm>
            <a:off x="2426000" y="3893102"/>
            <a:ext cx="11159400" cy="1914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DBFC7"/>
              </a:buClr>
              <a:buSzPts val="8800"/>
              <a:buFont typeface="Encode Sans"/>
              <a:buNone/>
            </a:pPr>
            <a:r>
              <a:rPr lang="en-US" sz="8800" b="0" i="0" u="none" strike="noStrike" cap="none">
                <a:solidFill>
                  <a:srgbClr val="BDBFC7"/>
                </a:solidFill>
                <a:latin typeface="Encode Sans"/>
                <a:ea typeface="Encode Sans"/>
                <a:cs typeface="Encode Sans"/>
                <a:sym typeface="Encode Sans"/>
              </a:rPr>
              <a:t>O que ainda falta</a:t>
            </a:r>
            <a:endParaRPr sz="8800" b="0" i="0" u="none" strike="noStrike" cap="none">
              <a:solidFill>
                <a:srgbClr val="A7A9B4"/>
              </a:solidFill>
              <a:latin typeface="Encode Sans"/>
              <a:ea typeface="Encode Sans"/>
              <a:cs typeface="Encode Sans"/>
              <a:sym typeface="Encode Sans"/>
            </a:endParaRPr>
          </a:p>
        </p:txBody>
      </p:sp>
      <p:sp>
        <p:nvSpPr>
          <p:cNvPr id="378" name="Google Shape;378;g3f3dd40fd11_1_233"/>
          <p:cNvSpPr/>
          <p:nvPr/>
        </p:nvSpPr>
        <p:spPr>
          <a:xfrm>
            <a:off x="2426003" y="6502400"/>
            <a:ext cx="9983400" cy="4064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 name="Google Shape;379;g3f3dd40fd11_1_233"/>
          <p:cNvSpPr/>
          <p:nvPr/>
        </p:nvSpPr>
        <p:spPr>
          <a:xfrm>
            <a:off x="2426003" y="6502400"/>
            <a:ext cx="9983400" cy="1066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80" name="Google Shape;380;g3f3dd40fd11_1_233" descr=" "/>
          <p:cNvPicPr preferRelativeResize="0"/>
          <p:nvPr/>
        </p:nvPicPr>
        <p:blipFill rotWithShape="1">
          <a:blip r:embed="rId3">
            <a:alphaModFix/>
          </a:blip>
          <a:srcRect/>
          <a:stretch/>
        </p:blipFill>
        <p:spPr>
          <a:xfrm>
            <a:off x="2426003" y="6502400"/>
            <a:ext cx="711289" cy="711200"/>
          </a:xfrm>
          <a:prstGeom prst="rect">
            <a:avLst/>
          </a:prstGeom>
          <a:noFill/>
          <a:ln>
            <a:noFill/>
          </a:ln>
        </p:spPr>
      </p:pic>
      <p:pic>
        <p:nvPicPr>
          <p:cNvPr id="381" name="Google Shape;381;g3f3dd40fd11_1_233" descr=" "/>
          <p:cNvPicPr preferRelativeResize="0"/>
          <p:nvPr/>
        </p:nvPicPr>
        <p:blipFill rotWithShape="1">
          <a:blip r:embed="rId4">
            <a:alphaModFix/>
          </a:blip>
          <a:srcRect/>
          <a:stretch/>
        </p:blipFill>
        <p:spPr>
          <a:xfrm>
            <a:off x="2548783" y="7015692"/>
            <a:ext cx="465723" cy="406400"/>
          </a:xfrm>
          <a:prstGeom prst="rect">
            <a:avLst/>
          </a:prstGeom>
          <a:noFill/>
          <a:ln>
            <a:noFill/>
          </a:ln>
        </p:spPr>
      </p:pic>
      <p:sp>
        <p:nvSpPr>
          <p:cNvPr id="382" name="Google Shape;382;g3f3dd40fd11_1_233"/>
          <p:cNvSpPr/>
          <p:nvPr/>
        </p:nvSpPr>
        <p:spPr>
          <a:xfrm>
            <a:off x="3645356" y="6846358"/>
            <a:ext cx="99399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Ninguém me chama quando piora.</a:t>
            </a:r>
            <a:endParaRPr sz="3600" b="0" i="0" u="none" strike="noStrike" cap="none">
              <a:solidFill>
                <a:srgbClr val="A7A9B4"/>
              </a:solidFill>
              <a:latin typeface="Roboto"/>
              <a:ea typeface="Roboto"/>
              <a:cs typeface="Roboto"/>
              <a:sym typeface="Roboto"/>
            </a:endParaRPr>
          </a:p>
        </p:txBody>
      </p:sp>
      <p:sp>
        <p:nvSpPr>
          <p:cNvPr id="383" name="Google Shape;383;g3f3dd40fd11_1_233"/>
          <p:cNvSpPr/>
          <p:nvPr/>
        </p:nvSpPr>
        <p:spPr>
          <a:xfrm>
            <a:off x="2426003" y="8178800"/>
            <a:ext cx="9983400" cy="711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84" name="Google Shape;384;g3f3dd40fd11_1_233" descr=" "/>
          <p:cNvPicPr preferRelativeResize="0"/>
          <p:nvPr/>
        </p:nvPicPr>
        <p:blipFill rotWithShape="1">
          <a:blip r:embed="rId3">
            <a:alphaModFix/>
          </a:blip>
          <a:srcRect/>
          <a:stretch/>
        </p:blipFill>
        <p:spPr>
          <a:xfrm>
            <a:off x="2426003" y="7989147"/>
            <a:ext cx="711289" cy="711200"/>
          </a:xfrm>
          <a:prstGeom prst="rect">
            <a:avLst/>
          </a:prstGeom>
          <a:noFill/>
          <a:ln>
            <a:noFill/>
          </a:ln>
        </p:spPr>
      </p:pic>
      <p:pic>
        <p:nvPicPr>
          <p:cNvPr id="385" name="Google Shape;385;g3f3dd40fd11_1_233" descr=" "/>
          <p:cNvPicPr preferRelativeResize="0"/>
          <p:nvPr/>
        </p:nvPicPr>
        <p:blipFill rotWithShape="1">
          <a:blip r:embed="rId4">
            <a:alphaModFix/>
          </a:blip>
          <a:srcRect/>
          <a:stretch/>
        </p:blipFill>
        <p:spPr>
          <a:xfrm>
            <a:off x="2548783" y="8331200"/>
            <a:ext cx="465723" cy="406400"/>
          </a:xfrm>
          <a:prstGeom prst="rect">
            <a:avLst/>
          </a:prstGeom>
          <a:noFill/>
          <a:ln>
            <a:noFill/>
          </a:ln>
        </p:spPr>
      </p:pic>
      <p:sp>
        <p:nvSpPr>
          <p:cNvPr id="386" name="Google Shape;386;g3f3dd40fd11_1_233"/>
          <p:cNvSpPr/>
          <p:nvPr/>
        </p:nvSpPr>
        <p:spPr>
          <a:xfrm>
            <a:off x="3645356" y="8267700"/>
            <a:ext cx="9263100" cy="6690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Ver o padrão ainda não diz a causa.</a:t>
            </a:r>
            <a:endParaRPr sz="3600" b="0" i="0" u="none" strike="noStrike" cap="none">
              <a:solidFill>
                <a:schemeClr val="dk1"/>
              </a:solidFill>
              <a:latin typeface="Roboto"/>
              <a:ea typeface="Roboto"/>
              <a:cs typeface="Roboto"/>
              <a:sym typeface="Roboto"/>
            </a:endParaRPr>
          </a:p>
        </p:txBody>
      </p:sp>
      <p:sp>
        <p:nvSpPr>
          <p:cNvPr id="387" name="Google Shape;387;g3f3dd40fd11_1_233"/>
          <p:cNvSpPr/>
          <p:nvPr/>
        </p:nvSpPr>
        <p:spPr>
          <a:xfrm>
            <a:off x="2426003" y="9796000"/>
            <a:ext cx="9983400" cy="1066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88" name="Google Shape;388;g3f3dd40fd11_1_233" title="Gemini_Generated_Image_bb831nbb831nbb83.png"/>
          <p:cNvPicPr preferRelativeResize="0"/>
          <p:nvPr/>
        </p:nvPicPr>
        <p:blipFill rotWithShape="1">
          <a:blip r:embed="rId5">
            <a:alphaModFix amt="67000"/>
          </a:blip>
          <a:srcRect l="30151" r="30151"/>
          <a:stretch/>
        </p:blipFill>
        <p:spPr>
          <a:xfrm>
            <a:off x="14913150" y="0"/>
            <a:ext cx="12108600" cy="14913900"/>
          </a:xfrm>
          <a:prstGeom prst="chord">
            <a:avLst>
              <a:gd name="adj1" fmla="val 2700000"/>
              <a:gd name="adj2" fmla="val 16838019"/>
            </a:avLst>
          </a:prstGeom>
          <a:noFill/>
          <a:ln>
            <a:noFill/>
          </a:ln>
        </p:spPr>
      </p:pic>
      <p:sp>
        <p:nvSpPr>
          <p:cNvPr id="389" name="Google Shape;389;g3f3dd40fd11_1_233"/>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90" name="Google Shape;390;g3f3dd40fd11_1_233" descr=" "/>
          <p:cNvPicPr preferRelativeResize="0"/>
          <p:nvPr/>
        </p:nvPicPr>
        <p:blipFill rotWithShape="1">
          <a:blip r:embed="rId6">
            <a:alphaModFix/>
          </a:blip>
          <a:srcRect/>
          <a:stretch/>
        </p:blipFill>
        <p:spPr>
          <a:xfrm>
            <a:off x="23433139" y="406400"/>
            <a:ext cx="476942" cy="593018"/>
          </a:xfrm>
          <a:prstGeom prst="rect">
            <a:avLst/>
          </a:prstGeom>
          <a:noFill/>
          <a:ln>
            <a:noFill/>
          </a:ln>
        </p:spPr>
      </p:pic>
      <p:pic>
        <p:nvPicPr>
          <p:cNvPr id="391" name="Google Shape;391;g3f3dd40fd11_1_233" descr="Ícone&#10;&#10;O conteúdo gerado por IA pode estar incorreto."/>
          <p:cNvPicPr preferRelativeResize="0"/>
          <p:nvPr/>
        </p:nvPicPr>
        <p:blipFill rotWithShape="1">
          <a:blip r:embed="rId7">
            <a:alphaModFix/>
          </a:blip>
          <a:srcRect/>
          <a:stretch/>
        </p:blipFill>
        <p:spPr>
          <a:xfrm>
            <a:off x="-2202249" y="-8621"/>
            <a:ext cx="1568332" cy="10010052"/>
          </a:xfrm>
          <a:prstGeom prst="rect">
            <a:avLst/>
          </a:prstGeom>
          <a:noFill/>
          <a:ln>
            <a:noFill/>
          </a:ln>
        </p:spPr>
      </p:pic>
      <p:sp>
        <p:nvSpPr>
          <p:cNvPr id="392" name="Google Shape;392;g3f3dd40fd11_1_233"/>
          <p:cNvSpPr/>
          <p:nvPr/>
        </p:nvSpPr>
        <p:spPr>
          <a:xfrm>
            <a:off x="2447756" y="5056608"/>
            <a:ext cx="99399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Eu vejo. Mas só quando eu olho.</a:t>
            </a:r>
            <a:endParaRPr sz="3600" b="0" i="0" u="none" strike="noStrike" cap="none">
              <a:solidFill>
                <a:srgbClr val="A7A9B4"/>
              </a:solidFill>
              <a:latin typeface="Roboto"/>
              <a:ea typeface="Roboto"/>
              <a:cs typeface="Roboto"/>
              <a:sym typeface="Roboto"/>
            </a:endParaRPr>
          </a:p>
        </p:txBody>
      </p:sp>
      <p:pic>
        <p:nvPicPr>
          <p:cNvPr id="393" name="Google Shape;393;g3f3dd40fd11_1_233" descr=" "/>
          <p:cNvPicPr preferRelativeResize="0"/>
          <p:nvPr/>
        </p:nvPicPr>
        <p:blipFill rotWithShape="1">
          <a:blip r:embed="rId4">
            <a:alphaModFix/>
          </a:blip>
          <a:srcRect/>
          <a:stretch/>
        </p:blipFill>
        <p:spPr>
          <a:xfrm>
            <a:off x="2548783" y="10200852"/>
            <a:ext cx="465723" cy="406400"/>
          </a:xfrm>
          <a:prstGeom prst="rect">
            <a:avLst/>
          </a:prstGeom>
          <a:noFill/>
          <a:ln>
            <a:noFill/>
          </a:ln>
        </p:spPr>
      </p:pic>
      <p:sp>
        <p:nvSpPr>
          <p:cNvPr id="394" name="Google Shape;394;g3f3dd40fd11_1_233"/>
          <p:cNvSpPr/>
          <p:nvPr/>
        </p:nvSpPr>
        <p:spPr>
          <a:xfrm>
            <a:off x="3645356" y="9728200"/>
            <a:ext cx="9263100" cy="1202400"/>
          </a:xfrm>
          <a:prstGeom prst="rect">
            <a:avLst/>
          </a:prstGeom>
          <a:noFill/>
          <a:ln>
            <a:noFill/>
          </a:ln>
        </p:spPr>
        <p:txBody>
          <a:bodyPr spcFirstLastPara="1" wrap="square" lIns="0" tIns="0" rIns="0" bIns="0" anchor="ctr"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E nada disso foi corrigido.</a:t>
            </a:r>
            <a:endParaRPr sz="3600" b="0" i="0" u="none" strike="noStrike" cap="none">
              <a:solidFill>
                <a:schemeClr val="dk1"/>
              </a:solidFill>
              <a:latin typeface="Roboto"/>
              <a:ea typeface="Roboto"/>
              <a:cs typeface="Roboto"/>
              <a:sym typeface="Roboto"/>
            </a:endParaRPr>
          </a:p>
        </p:txBody>
      </p:sp>
      <p:pic>
        <p:nvPicPr>
          <p:cNvPr id="395" name="Google Shape;395;g3f3dd40fd11_1_233" descr=" "/>
          <p:cNvPicPr preferRelativeResize="0"/>
          <p:nvPr/>
        </p:nvPicPr>
        <p:blipFill rotWithShape="1">
          <a:blip r:embed="rId8">
            <a:alphaModFix/>
          </a:blip>
          <a:srcRect/>
          <a:stretch/>
        </p:blipFill>
        <p:spPr>
          <a:xfrm rot="-951193">
            <a:off x="23598290" y="-1695429"/>
            <a:ext cx="3651919" cy="15201733"/>
          </a:xfrm>
          <a:prstGeom prst="rect">
            <a:avLst/>
          </a:prstGeom>
          <a:noFill/>
          <a:ln>
            <a:noFill/>
          </a:ln>
        </p:spPr>
      </p:pic>
    </p:spTree>
    <p:extLst>
      <p:ext uri="{BB962C8B-B14F-4D97-AF65-F5344CB8AC3E}">
        <p14:creationId xmlns:p14="http://schemas.microsoft.com/office/powerpoint/2010/main" val="5907005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pic>
        <p:nvPicPr>
          <p:cNvPr id="3" name="Imagem 2">
            <a:extLst>
              <a:ext uri="{FF2B5EF4-FFF2-40B4-BE49-F238E27FC236}">
                <a16:creationId xmlns:a16="http://schemas.microsoft.com/office/drawing/2014/main" id="{0E7CDC50-DA0A-783B-A888-6C97AF8D2218}"/>
              </a:ext>
            </a:extLst>
          </p:cNvPr>
          <p:cNvPicPr>
            <a:picLocks noChangeAspect="1"/>
          </p:cNvPicPr>
          <p:nvPr/>
        </p:nvPicPr>
        <p:blipFill>
          <a:blip r:embed="rId3"/>
          <a:stretch>
            <a:fillRect/>
          </a:stretch>
        </p:blipFill>
        <p:spPr>
          <a:xfrm>
            <a:off x="-1439672" y="-578323"/>
            <a:ext cx="27337840" cy="14911549"/>
          </a:xfrm>
          <a:prstGeom prst="rect">
            <a:avLst/>
          </a:prstGeom>
        </p:spPr>
      </p:pic>
      <p:pic>
        <p:nvPicPr>
          <p:cNvPr id="216" name="Google Shape;216;g3f8342f7686_0_27" descr=" "/>
          <p:cNvPicPr preferRelativeResize="0"/>
          <p:nvPr/>
        </p:nvPicPr>
        <p:blipFill rotWithShape="1">
          <a:blip r:embed="rId4">
            <a:alphaModFix/>
          </a:blip>
          <a:srcRect/>
          <a:stretch/>
        </p:blipFill>
        <p:spPr>
          <a:xfrm>
            <a:off x="23434429" y="406400"/>
            <a:ext cx="474362" cy="593018"/>
          </a:xfrm>
          <a:prstGeom prst="rect">
            <a:avLst/>
          </a:prstGeom>
          <a:noFill/>
          <a:ln>
            <a:noFill/>
          </a:ln>
        </p:spPr>
      </p:pic>
      <p:sp>
        <p:nvSpPr>
          <p:cNvPr id="217" name="Google Shape;217;g3f8342f7686_0_27"/>
          <p:cNvSpPr/>
          <p:nvPr/>
        </p:nvSpPr>
        <p:spPr>
          <a:xfrm>
            <a:off x="-905931" y="60130"/>
            <a:ext cx="16259174" cy="38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200"/>
              <a:buFont typeface="Encode Sans"/>
              <a:buNone/>
            </a:pPr>
            <a:r>
              <a:rPr lang="pt-BR" sz="10200" b="0" i="0" u="none" strike="noStrike" cap="none">
                <a:solidFill>
                  <a:srgbClr val="FFFFFF"/>
                </a:solidFill>
                <a:latin typeface="Encode Sans"/>
                <a:ea typeface="Encode Sans"/>
                <a:cs typeface="Encode Sans"/>
                <a:sym typeface="Encode Sans"/>
              </a:rPr>
              <a:t>Eu já enxergo.</a:t>
            </a:r>
            <a:endParaRPr sz="10200" b="0" i="0" u="none" strike="noStrike" cap="none" dirty="0">
              <a:solidFill>
                <a:schemeClr val="dk1"/>
              </a:solidFill>
              <a:latin typeface="Encode Sans"/>
              <a:ea typeface="Encode Sans"/>
              <a:cs typeface="Encode Sans"/>
              <a:sym typeface="Encode Sans"/>
            </a:endParaRPr>
          </a:p>
        </p:txBody>
      </p:sp>
      <p:sp>
        <p:nvSpPr>
          <p:cNvPr id="218" name="Google Shape;218;g3f8342f7686_0_27"/>
          <p:cNvSpPr/>
          <p:nvPr/>
        </p:nvSpPr>
        <p:spPr>
          <a:xfrm>
            <a:off x="18701660" y="12107200"/>
            <a:ext cx="9939900" cy="1202400"/>
          </a:xfrm>
          <a:prstGeom prst="rect">
            <a:avLst/>
          </a:prstGeom>
          <a:noFill/>
          <a:ln>
            <a:noFill/>
          </a:ln>
        </p:spPr>
        <p:txBody>
          <a:bodyPr spcFirstLastPara="1" wrap="square" lIns="0" tIns="0" rIns="0" bIns="0" anchor="ctr" anchorCtr="0">
            <a:noAutofit/>
          </a:bodyPr>
          <a:lstStyle/>
          <a:p>
            <a:pPr marL="0" marR="0" lvl="0" indent="0" algn="l" rtl="0">
              <a:lnSpc>
                <a:spcPct val="116666"/>
              </a:lnSpc>
              <a:spcBef>
                <a:spcPts val="0"/>
              </a:spcBef>
              <a:spcAft>
                <a:spcPts val="0"/>
              </a:spcAft>
              <a:buClr>
                <a:srgbClr val="A7A9B4"/>
              </a:buClr>
              <a:buSzPts val="3600"/>
              <a:buFont typeface="Roboto"/>
              <a:buNone/>
            </a:pPr>
            <a:r>
              <a:rPr lang="en-US" sz="3600" b="0" i="0" u="none" strike="noStrike" cap="none">
                <a:solidFill>
                  <a:schemeClr val="lt1"/>
                </a:solidFill>
                <a:latin typeface="Roboto"/>
                <a:ea typeface="Roboto"/>
                <a:cs typeface="Roboto"/>
                <a:sym typeface="Roboto"/>
              </a:rPr>
              <a:t>Agora falta agir.</a:t>
            </a:r>
            <a:endParaRPr sz="3600" b="0" i="0" u="none" strike="noStrike" cap="none" dirty="0">
              <a:solidFill>
                <a:schemeClr val="lt1"/>
              </a:solidFill>
              <a:latin typeface="Roboto"/>
              <a:ea typeface="Roboto"/>
              <a:cs typeface="Roboto"/>
              <a:sym typeface="Roboto"/>
            </a:endParaRPr>
          </a:p>
        </p:txBody>
      </p:sp>
    </p:spTree>
    <p:extLst>
      <p:ext uri="{BB962C8B-B14F-4D97-AF65-F5344CB8AC3E}">
        <p14:creationId xmlns:p14="http://schemas.microsoft.com/office/powerpoint/2010/main" val="269592186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165</TotalTime>
  <Words>7240</Words>
  <Application>Microsoft Office PowerPoint</Application>
  <PresentationFormat>Personalizar</PresentationFormat>
  <Paragraphs>602</Paragraphs>
  <Slides>45</Slides>
  <Notes>45</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45</vt:i4>
      </vt:variant>
    </vt:vector>
  </HeadingPairs>
  <TitlesOfParts>
    <vt:vector size="52" baseType="lpstr">
      <vt:lpstr>Arial</vt:lpstr>
      <vt:lpstr>Encode Sans SemiBold</vt:lpstr>
      <vt:lpstr>Roboto</vt:lpstr>
      <vt:lpstr>Roboto ExtraLight</vt:lpstr>
      <vt:lpstr>Encode Sans</vt:lpstr>
      <vt:lpstr>Calibri</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Stephanie Oliveira</cp:lastModifiedBy>
  <cp:revision>7</cp:revision>
  <dcterms:created xsi:type="dcterms:W3CDTF">2026-05-21T14:37:33Z</dcterms:created>
  <dcterms:modified xsi:type="dcterms:W3CDTF">2026-09-16T20:58:27Z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0x0101004E133AF67FF10146B05A1D97AC567966</vt:lpwstr>
  </property>
  <property fmtid="{D5CDD505-2E9C-101B-9397-08002B2CF9AE}" pid="3" name="MediaServiceImageTags">
    <vt:lpwstr/>
  </property>
</Properties>
</file>