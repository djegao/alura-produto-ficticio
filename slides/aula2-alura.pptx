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24387048" cy="13716000"/>
  <p:notesSz cx="13716000" cy="2438704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Ciclo completo ao vivo: detectar, diagnosticar, corrigir.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2.1.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2.2.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2.3.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2.4.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CLAQUETE — inicio do video 2.5. Segure 2 segundos em silencio antes de comecar a falar: e por esta tela que a edicao corta.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cap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0"/>
            <a:ext cx="16294608" cy="13716000"/>
          </a:xfrm>
          <a:prstGeom prst="rect">
            <a:avLst/>
          </a:prstGeom>
        </p:spPr>
      </p:pic>
      <p:pic>
        <p:nvPicPr>
          <p:cNvPr id="4" name="Image 2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2423160" y="1874520"/>
            <a:ext cx="1325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EVALS, OBSERVABILIDADE E CONFORMIDADE</a:t>
            </a: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2423160" y="2697480"/>
            <a:ext cx="13167360" cy="5760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Construindo a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primeira rede</a:t>
            </a:r>
            <a:endParaRPr lang="en-US" sz="10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04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de segurança</a:t>
            </a:r>
            <a:endParaRPr lang="en-US" sz="10400" dirty="0"/>
          </a:p>
        </p:txBody>
      </p:sp>
      <p:sp>
        <p:nvSpPr>
          <p:cNvPr id="7" name="Text 2"/>
          <p:cNvSpPr txBox="1"/>
          <p:nvPr/>
        </p:nvSpPr>
        <p:spPr>
          <a:xfrm>
            <a:off x="2423160" y="8732520"/>
            <a:ext cx="1362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dirty="0">
                <a:solidFill>
                  <a:srgbClr val="A7A9B4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2 — de "parece bom" para "eu sei que é bom"</a:t>
            </a:r>
            <a:endParaRPr lang="en-US" sz="3800" dirty="0"/>
          </a:p>
        </p:txBody>
      </p:sp>
      <p:sp>
        <p:nvSpPr>
          <p:cNvPr id="8" name="Text 3"/>
          <p:cNvSpPr txBox="1"/>
          <p:nvPr/>
        </p:nvSpPr>
        <p:spPr>
          <a:xfrm>
            <a:off x="2423160" y="10744200"/>
            <a:ext cx="1389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Continuação da Aula 1 — mesmo produto, ainda sem observabilidade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2.1 Parece certo não é o mesmo que estar certo</a:t>
            </a:r>
            <a:endParaRPr lang="en-US" sz="9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Onde a Aula 1 parou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 aula passada eu fiz um pedido ao Chef Caseiro. A resposta pareceu boa. Só que "pareceu" foi só a minha opinião, lendo uma vez.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 eu paro de sentir e começo a construir um jeito de saber — sem precisar reler cada resposta pra sempre.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2.1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Se tudo passa, o critério está fácil demais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É tentador comemorar quando 100% das respostas passam no seu critério.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Só que 100% de aprovação é sinal de alerta, não de sucesso — o critério provavelmente não está pegando nada de verdade.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Decidir o quanto de falha eu aceito é uma decisão de produto. Não existe "zero erro" de graça.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2.2 Escrevendo os primeiros critérios</a:t>
            </a:r>
            <a:endParaRPr lang="en-US" sz="9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Um critério bom é uma pergunta que qualquer um responde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Critério ruim: "a resposta é boa" — ninguém consegue julgar isso do mesmo jeito duas vezes.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Critério bom: "a sugestão usa só o que realmente existe no estoque que ela consultou?" — dá pra apontar o sim ou o não.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Sempre que der, prefira sim/não a uma nota de 1 a 10 — nota vira opinião disfarçada de número.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2.2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Os dois critérios que valem mais pro Chef Caseiro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Fidelidade ao estoque: os ingredientes da receita vieram do que ela realmente consultou, ou ela inventou algo "óbvio"?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Respeito às restrições: a sugestão respeitou tudo que eu cadastrei — alergia, dieta, o que a casa não come?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5679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5496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Esses dois nascem direto do que o produto promete. Se algum dos dois falha, a promessa central quebrou.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2.3 Pedindo ajuda pra gerar casos de teste</a:t>
            </a:r>
            <a:endParaRPr lang="en-US" sz="9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Um pedido não é suficiente pra confiar em nada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Eu testei com um pedido só, na Aula 1. Isso não prova nada — só mostra que funcionou uma vez, com uma pessoa, num dia.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Vou pedir pro Claude gerar várias situações diferentes de pedido — como se fossem várias pessoas reais perguntando.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2.3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Rodando o produto contra cada situação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Cadastro estoques e restrições diferentes para cada situação gerada, e mando cada pedido pro Chef Caseiro.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Agora eu tenho várias respostas reais para julgar — não mais uma opinião sobre um caso só.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2.4 Lendo o que aconteceu de verdade</a:t>
            </a:r>
            <a:endParaRPr lang="en-US" sz="9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Ainda não tenho um painel — e tudo bem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 observabilidade ainda (isso é a Aula 3), eu leio direto o que o produto guardou: cada pedido e cada resposta, um por um.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Pra cada resposta, escrevo uma nota curta e aberta: o que incomodou, se incomodou algo. Nada de categoria fixa ainda.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VÍDEO 2.4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Das notas soltas para um padrão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Depois de ler todas, eu junto as notas parecidas e dou um nome a cada grupo — isso é a taxonomia, e ela nasce do dado, não de uma lista pronta.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9677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94944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Normalmente, dois ou três padrões respondem pela maioria dos problemas. É neles que vale focar primeiro.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2F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416552" y="4023360"/>
            <a:ext cx="15544800" cy="5669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600" dirty="0">
                <a:solidFill>
                  <a:srgbClr val="FFFFFF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2.5 O que aprendemos</a:t>
            </a:r>
            <a:endParaRPr lang="en-US" sz="9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0C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mal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24387048" cy="13716000"/>
          </a:xfrm>
          <a:prstGeom prst="rect">
            <a:avLst/>
          </a:prstGeom>
        </p:spPr>
      </p:pic>
      <p:pic>
        <p:nvPicPr>
          <p:cNvPr id="3" name="Image 1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423160" y="2148840"/>
            <a:ext cx="19540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spc="25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FECHAMENTO DA AULA</a:t>
            </a:r>
            <a:endParaRPr lang="en-US" sz="2100" dirty="0"/>
          </a:p>
        </p:txBody>
      </p:sp>
      <p:sp>
        <p:nvSpPr>
          <p:cNvPr id="5" name="Text 1"/>
          <p:cNvSpPr txBox="1"/>
          <p:nvPr/>
        </p:nvSpPr>
        <p:spPr>
          <a:xfrm>
            <a:off x="2423160" y="2880360"/>
            <a:ext cx="1874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6600" dirty="0">
                <a:solidFill>
                  <a:srgbClr val="BDBFC7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O que aprendemos</a:t>
            </a:r>
            <a:endParaRPr lang="en-US" sz="6600" dirty="0"/>
          </a:p>
        </p:txBody>
      </p:sp>
      <p:sp>
        <p:nvSpPr>
          <p:cNvPr id="6" name="Text 2"/>
          <p:cNvSpPr txBox="1"/>
          <p:nvPr/>
        </p:nvSpPr>
        <p:spPr>
          <a:xfrm>
            <a:off x="2423160" y="536752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3337560" y="534924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 critério só serve se qualquer pessoa da equipe conseguir julgá-lo, olhando a resposta, sem programar.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2423160" y="64190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3337560" y="64008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Testar com um caso só não prova nada — pedir ajuda ao Claude pra gerar várias situações resolve isso rápido.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2423160" y="80192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3337560" y="8001000"/>
            <a:ext cx="17922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b="1" dirty="0">
                <a:solidFill>
                  <a:srgbClr val="BDBFC7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Ler as respostas e agrupar em padrões (não em categorias prontas) revela onde o produto realmente falha.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2423160" y="9619488"/>
            <a:ext cx="777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53E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3337560" y="9601200"/>
            <a:ext cx="1792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800" dirty="0">
                <a:solidFill>
                  <a:srgbClr val="A7A9B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Hoje eu li tudo à mão, um por um. Isso não escala — e é exatamente o problema que a próxima aula resolve.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2423160" y="12755880"/>
            <a:ext cx="19540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7A9B4">
                    <a:alpha val="65000"/>
                  </a:srgbClr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Aula 2 — Construindo a primeira rede de segurança — Evals, observabilidade e conformidade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10C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PCSTUD~1\AppData\Local\Temp\claude\C--Users-PC-Studio-2-Desktop-6498-Evals\7ce78c02-4c99-40d4-bc57-5394098065c6\scratchpad\art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36072" y="402336"/>
            <a:ext cx="475488" cy="594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423160" y="5029200"/>
            <a:ext cx="19540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spc="300" kern="0" dirty="0">
                <a:solidFill>
                  <a:srgbClr val="1F53E5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AULA 2 CONCLUÍDA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423160" y="5989320"/>
            <a:ext cx="17830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Eu sei o que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procurar. Agora</a:t>
            </a:r>
            <a:endParaRPr lang="en-US" sz="7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0" dirty="0">
                <a:solidFill>
                  <a:srgbClr val="F4F5F6"/>
                </a:solidFill>
                <a:latin typeface="Encode Sans" pitchFamily="34" charset="0"/>
                <a:ea typeface="Encode Sans" pitchFamily="34" charset="-122"/>
                <a:cs typeface="Encode Sans" pitchFamily="34" charset="-120"/>
              </a:rPr>
              <a:t>falta enxergar.</a:t>
            </a:r>
            <a:endParaRPr lang="en-US" sz="7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Encode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2026-09-03T15:47:57Z</dcterms:created>
  <dcterms:modified xsi:type="dcterms:W3CDTF">2026-09-03T15:47:57Z</dcterms:modified>
</cp:coreProperties>
</file>