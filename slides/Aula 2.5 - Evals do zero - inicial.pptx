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329" r:id="rId2"/>
    <p:sldId id="256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</p:sldIdLst>
  <p:sldSz cx="24387175" cy="13716000"/>
  <p:notesSz cx="13716000" cy="24387175"/>
  <p:embeddedFontLst>
    <p:embeddedFont>
      <p:font typeface="Encode Sans" pitchFamily="2" charset="0"/>
      <p:regular r:id="rId14"/>
      <p:bold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339">
          <p15:clr>
            <a:srgbClr val="747775"/>
          </p15:clr>
        </p15:guide>
        <p15:guide id="2" pos="768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hO2+9mf9/IodkjW8n4ottlZ3ZE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0561" autoAdjust="0"/>
  </p:normalViewPr>
  <p:slideViewPr>
    <p:cSldViewPr snapToGrid="0">
      <p:cViewPr varScale="1">
        <p:scale>
          <a:sx n="42" d="100"/>
          <a:sy n="42" d="100"/>
        </p:scale>
        <p:origin x="1596" y="48"/>
      </p:cViewPr>
      <p:guideLst>
        <p:guide orient="horz" pos="5339"/>
        <p:guide pos="7681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59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450" y="1829025"/>
            <a:ext cx="9144450" cy="91451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3de5a4e7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g3f3de5a4e7f_0_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[2.5.1] AÇÃO: nenhuma — só fala de câmera sobre o slide.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Rapidão antes de começar. Na Aula 2 a gente viu: eval não é teste, e todo critério bom tem quatro partes. Hoje sem mais teoria — vou abrir o chat do Claude, ao vivo, sem nada preparado, e construir do zero um conjunto de eval pra uma parte do produto que eu nunca avaliei: a receita premium semanal.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3de5a4e7f_0_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271588" y="1828800"/>
            <a:ext cx="16260763" cy="91455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8342f7686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g3f8342f7686_0_4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[2.5.1] Só pra fechar o que ficou da Aula 2, numa frase: eval não é teste — teste compara com o resultado esperado, eval pergunta se é bom. E todo critério bom tem quatro partes: nome, pergunta, escala, e o que acontece se falhar.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com essas quatro partes que eu vou construir o conjunto de hoje.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8342f7686_0_4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8342f7686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g3f8342f7686_0_10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[2.5.2] O caminho de hoje tem três fases.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Propor: peço pro Claude um conjunto de critérios, dando o contexto da operação e a regra de ouro do projeto — a LLM nunca faz aritmética nem decide sozinha algo que devia ser determinístico. Me guio por três perguntas: qual a promessa da operação, onde ela pode "chutar" de um jeito que parece certo, e qual papel ela não pode abandonar.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Debater: bato a proposta contra o que a casa já viveu de verdade — não aceito de primeira.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Fechar: documento único, juiz implementado em código, e um PR — hoje, simulado.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Escolhi a receita premium porque ela nunca passou por esse processo.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8342f7686_0_10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3dd40fd11_1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g3f3dd40fd11_1_2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[2.5.3] COMANDO (chat do Claude — colar e enviar, tela cheia, fonte grande):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Contexto: `receita-premium.js` sugere UMA receita por semana, escolhida por um modelo (tool_choice forçado) a partir do feed real de vídeos de um canal do YouTube, cruzando com estoque e preferências da casa. A URL escolhida tem que existir de fato no feed — se não existir, é erro, não silêncio.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Regra de ouro do projeto: a LLM nunca faz aritmética nem decide sozinha coisa que devia ser determinística; código apura fato, o modelo julga só o que não é apurável.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Proponha um conjunto de critérios de eval para esta operação, em linguagem de produto. Cada critério precisa ter: nome, pergunta, escala (binário ou 0–1) e "se falhar, o que acontece". Use as três perguntas como guia: promessa, verossimilhança, papel.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AÇÃO: deixe a resposta terminar de streamar. Leia em voz alta pelo menos um critério inteiro.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ele sugerir algo sobre "a URL é real" — já existe em código, é guarda-corpo, não eval. Corto isso.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ele NÃO sugerir nada sobre repetir receita entre semanas (cenário mais provável): "Interessante — ele não sugeriu nada sobre repetir receita de uma semana pra outra. Isso só aparece quando você olha o dado real, não a spec. Guardo essa pergunta pro próximo passo."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3dd40fd11_1_2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8342f7686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g3f8342f7686_0_4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[2.5.4] COMANDO (terminal, ao vivo):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-e "require('dotenv').config(); const {createClient}=require('@supabase/supabase-js'); const s=createClient(process.env.SUPABASE_URL,process.env.SUPABASE_SERVICE_ROLE_KEY); s.from('premium_suggestions').select('week_start,video_title').order('week_start').then(({data,error})=&gt;{console.log(data,error)})"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Antes de aceitar a proposta do Claude como final, eu bato contra uma coisa real que já me aconteceu montando este curso: uma vez eu cheguei a ter quatro documentos diferentes de critério pra mesma aula, cada um com um número diferente. Só descobri quando fui montar o material e nada batia.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Consulto o Supabase agora, real, sem preparar. [aponta as duas linhas de Beef Wellington] Duas semanas, mesmo vídeo. Isso não estava na proposta do Claude.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8342f7686_0_4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8342f7686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g3f8342f7686_0_4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[2.5.4] Pergunta de debate em voz alta: isso é eval de qualidade — algo que só uma LLM pode julgar — ou é regra 100% verificável em código, tipo o casamento de nome no estoque, que é determinístico e não julgamento de LLM?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Resposta: é verificável em código. Não vai ser um critério que o juiz decide — vai ser um sinal que o código apura, o mesmo padrão que execucao_integra já usa pra detectar corte de resposta. O juiz só lê o sinal pronto.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8342f7686_0_4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8342f7686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g3f8342f7686_0_10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[2.5.5] O documento final não é a primeira resposta do Claude. É a primeira resposta menos o que já é código — a URL real. Mais o que o dado real mostrou — a repetição. E um documento só, não quatro em disputa, como quase aconteceu aqui na produção deste curso.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AÇÃO: editor aberto em evals/criterios.md, cursor no fim do arquivo. Colar o bloco novo da operação receita-premium-semanal (nao_repete_semana_anterior, escolha_ancorada_no_feed). Salvar (Ctrl+S).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8342f7686_0_10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3dd40fd11_1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g3f3dd40fd11_1_2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[2.5.6] Três mudanças, resumidas neste slide: o nome novo na lista de operações, o sinal de repetição apurado em código, e o mesmo padrão de tool_choice forçado de sempre — o juiz só lê o sinal, não decide.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AÇÃO: editor em evals/run-evals.js. Pedir ao Claude as três edições: (1) OPERACOES += receita-premium-semanal, linha ~58; (2) sinal repetiu_video_da_semana_anterior em montarMaterial, linha ~273; (3) entrada nova em CRITERIOS, depois de ingerir-relato, linha ~417.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COMANDO (terminal, depois de aplicar):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evals/run-evals.js --operacao receita-premium-semanal --dry-run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aí está: o critério de repetição, testado contra o dado real, reprova a semana de 31/08. Não porque eu programei ele pra reprovar. Porque é o que aconteceu.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3dd40fd11_1_2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8342f7686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g3f8342f7686_0_4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[2.5.7] Nenhuma ação além desta frase na tela — o "mockup" é só verbal, não existe slide extra com título/corpo/diff de PR.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Última etapa, direto: isso aqui é simulado. Não vou dar push nem abrir PR de verdade agora. Se um PR real saísse disso, o título seria algo como "Eval: receita-premium-semanal", o corpo diria o que muda e por quê, e o diff seria as três edições que a gente acabou de fazer em run-evals.js e criterios.md.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ponto não é o clique. É que o eval que a gente construiu tem o mesmo destino de qualquer mudança de produto: revisão, diff, decisão de alguém.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8342f7686_0_4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8342f7686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g3f8342f7686_0_4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[2.5.8] CORTE.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Frase âncora se travar: "O documento final não é a primeira resposta — é a primeira resposta menos o que já é código, mais o que o dado real mostrou."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8342f7686_0_4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 ">
  <p:cSld name="Capa 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5" descr=" "/>
          <p:cNvPicPr preferRelativeResize="0"/>
          <p:nvPr/>
        </p:nvPicPr>
        <p:blipFill rotWithShape="1">
          <a:blip r:embed="rId2">
            <a:alphaModFix amt="50000"/>
          </a:blip>
          <a:srcRect l="588" r="-1"/>
          <a:stretch/>
        </p:blipFill>
        <p:spPr>
          <a:xfrm>
            <a:off x="8089900" y="0"/>
            <a:ext cx="162971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35"/>
          <p:cNvSpPr/>
          <p:nvPr/>
        </p:nvSpPr>
        <p:spPr>
          <a:xfrm>
            <a:off x="2426003" y="2641600"/>
            <a:ext cx="13539892" cy="84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35"/>
          <p:cNvSpPr/>
          <p:nvPr/>
        </p:nvSpPr>
        <p:spPr>
          <a:xfrm>
            <a:off x="2426003" y="2641600"/>
            <a:ext cx="13539892" cy="7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5"/>
          <p:cNvSpPr/>
          <p:nvPr/>
        </p:nvSpPr>
        <p:spPr>
          <a:xfrm>
            <a:off x="2426003" y="10718800"/>
            <a:ext cx="4597975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5"/>
          <p:cNvSpPr txBox="1">
            <a:spLocks noGrp="1"/>
          </p:cNvSpPr>
          <p:nvPr>
            <p:ph type="body" idx="1"/>
          </p:nvPr>
        </p:nvSpPr>
        <p:spPr>
          <a:xfrm>
            <a:off x="2315981" y="2414588"/>
            <a:ext cx="13963162" cy="626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BFC7"/>
              </a:buClr>
              <a:buSzPts val="13200"/>
              <a:buFont typeface="Arial"/>
              <a:buNone/>
              <a:defRPr sz="13200" b="0" i="0" u="none" strike="noStrike" cap="none">
                <a:solidFill>
                  <a:srgbClr val="BDBFC7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10668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–"/>
              <a:defRPr sz="132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10668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•"/>
              <a:defRPr sz="132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10668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–"/>
              <a:defRPr sz="132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10668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»"/>
              <a:defRPr sz="132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body" idx="2"/>
          </p:nvPr>
        </p:nvSpPr>
        <p:spPr>
          <a:xfrm>
            <a:off x="2315981" y="8892645"/>
            <a:ext cx="13963650" cy="81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BDBFC7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BDBFC7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body" idx="3"/>
          </p:nvPr>
        </p:nvSpPr>
        <p:spPr>
          <a:xfrm>
            <a:off x="2375778" y="10535920"/>
            <a:ext cx="9296400" cy="64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DBFC7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BDBFC7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1">
  <p:cSld name="Título 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/>
          <p:nvPr/>
        </p:nvSpPr>
        <p:spPr>
          <a:xfrm>
            <a:off x="-165904" y="-150471"/>
            <a:ext cx="24692658" cy="14040091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6"/>
          <p:cNvSpPr/>
          <p:nvPr/>
        </p:nvSpPr>
        <p:spPr>
          <a:xfrm>
            <a:off x="23433139" y="406400"/>
            <a:ext cx="477061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36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6"/>
          <p:cNvSpPr/>
          <p:nvPr/>
        </p:nvSpPr>
        <p:spPr>
          <a:xfrm>
            <a:off x="-10694737" y="-1130300"/>
            <a:ext cx="15965895" cy="159639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6"/>
          <p:cNvSpPr/>
          <p:nvPr/>
        </p:nvSpPr>
        <p:spPr>
          <a:xfrm>
            <a:off x="4216927" y="-1130300"/>
            <a:ext cx="15965895" cy="159639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36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40419" y="-144842"/>
            <a:ext cx="1568332" cy="1001005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6"/>
          <p:cNvSpPr txBox="1">
            <a:spLocks noGrp="1"/>
          </p:cNvSpPr>
          <p:nvPr>
            <p:ph type="body" idx="1"/>
          </p:nvPr>
        </p:nvSpPr>
        <p:spPr>
          <a:xfrm>
            <a:off x="7214502" y="5040312"/>
            <a:ext cx="11704637" cy="362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F4F4F6"/>
              </a:buClr>
              <a:buSzPts val="10200"/>
              <a:buFont typeface="Arial"/>
              <a:buNone/>
              <a:defRPr sz="10200" b="0" i="0" u="none" strike="noStrike" cap="none">
                <a:solidFill>
                  <a:srgbClr val="F4F4F6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texto">
  <p:cSld name="Título + text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7"/>
          <p:cNvSpPr/>
          <p:nvPr/>
        </p:nvSpPr>
        <p:spPr>
          <a:xfrm>
            <a:off x="-143885" y="-152400"/>
            <a:ext cx="24674946" cy="13965382"/>
          </a:xfrm>
          <a:prstGeom prst="rect">
            <a:avLst/>
          </a:prstGeom>
          <a:solidFill>
            <a:srgbClr val="D6D4D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37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05007" y="355600"/>
            <a:ext cx="13782041" cy="133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7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53171" y="355600"/>
            <a:ext cx="3651917" cy="133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7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3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7"/>
          <p:cNvSpPr/>
          <p:nvPr/>
        </p:nvSpPr>
        <p:spPr>
          <a:xfrm>
            <a:off x="2426003" y="3759200"/>
            <a:ext cx="9551594" cy="5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p37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0629900"/>
            <a:ext cx="15638833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7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26028" y="10629900"/>
            <a:ext cx="916102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7"/>
          <p:cNvSpPr txBox="1">
            <a:spLocks noGrp="1"/>
          </p:cNvSpPr>
          <p:nvPr>
            <p:ph type="body" idx="1"/>
          </p:nvPr>
        </p:nvSpPr>
        <p:spPr>
          <a:xfrm>
            <a:off x="2317856" y="7017970"/>
            <a:ext cx="9767888" cy="401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37"/>
          <p:cNvSpPr txBox="1">
            <a:spLocks noGrp="1"/>
          </p:cNvSpPr>
          <p:nvPr>
            <p:ph type="body" idx="2"/>
          </p:nvPr>
        </p:nvSpPr>
        <p:spPr>
          <a:xfrm>
            <a:off x="2330450" y="3519120"/>
            <a:ext cx="9863138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72C"/>
              </a:buClr>
              <a:buSzPts val="9200"/>
              <a:buFont typeface="Arial"/>
              <a:buNone/>
              <a:defRPr sz="9200" b="0" i="0" u="none" strike="noStrike" cap="none">
                <a:solidFill>
                  <a:srgbClr val="26272C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1">
  <p:cSld name="Tema 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8"/>
          <p:cNvSpPr/>
          <p:nvPr/>
        </p:nvSpPr>
        <p:spPr>
          <a:xfrm>
            <a:off x="-165904" y="-150471"/>
            <a:ext cx="24692658" cy="14040091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38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70252" y="462769"/>
            <a:ext cx="12791764" cy="12790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8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734" y="424672"/>
            <a:ext cx="12791764" cy="1279046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8"/>
          <p:cNvSpPr/>
          <p:nvPr/>
        </p:nvSpPr>
        <p:spPr>
          <a:xfrm>
            <a:off x="3099187" y="-2235200"/>
            <a:ext cx="18201375" cy="181991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8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3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8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202249" y="-8621"/>
            <a:ext cx="1568332" cy="1001005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8"/>
          <p:cNvSpPr txBox="1">
            <a:spLocks noGrp="1"/>
          </p:cNvSpPr>
          <p:nvPr>
            <p:ph type="body" idx="1"/>
          </p:nvPr>
        </p:nvSpPr>
        <p:spPr>
          <a:xfrm>
            <a:off x="6598775" y="3358662"/>
            <a:ext cx="11163300" cy="6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BFC7"/>
              </a:buClr>
              <a:buSzPts val="13200"/>
              <a:buFont typeface="Arial"/>
              <a:buNone/>
              <a:defRPr sz="13200" b="0" i="0" u="none" strike="noStrike" cap="none">
                <a:solidFill>
                  <a:srgbClr val="BDBFC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BDBFC7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BDBFC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DBFC7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BDBFC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DBFC7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BDBFC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DBFC7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BDBFC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2">
  <p:cSld name="Tema 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9"/>
          <p:cNvSpPr/>
          <p:nvPr/>
        </p:nvSpPr>
        <p:spPr>
          <a:xfrm>
            <a:off x="4216927" y="-1130300"/>
            <a:ext cx="15965895" cy="15963900"/>
          </a:xfrm>
          <a:prstGeom prst="ellipse">
            <a:avLst/>
          </a:prstGeom>
          <a:solidFill>
            <a:srgbClr val="131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9"/>
          <p:cNvSpPr/>
          <p:nvPr/>
        </p:nvSpPr>
        <p:spPr>
          <a:xfrm>
            <a:off x="18798350" y="-1130300"/>
            <a:ext cx="15965895" cy="15963900"/>
          </a:xfrm>
          <a:prstGeom prst="ellipse">
            <a:avLst/>
          </a:prstGeom>
          <a:solidFill>
            <a:srgbClr val="131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9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39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39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202249" y="-8621"/>
            <a:ext cx="1568332" cy="10010051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9"/>
          <p:cNvSpPr txBox="1">
            <a:spLocks noGrp="1"/>
          </p:cNvSpPr>
          <p:nvPr>
            <p:ph type="body" idx="1"/>
          </p:nvPr>
        </p:nvSpPr>
        <p:spPr>
          <a:xfrm>
            <a:off x="431800" y="5135034"/>
            <a:ext cx="10833100" cy="80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8BEC"/>
              </a:buClr>
              <a:buSzPts val="13200"/>
              <a:buFont typeface="Arial"/>
              <a:buNone/>
              <a:defRPr sz="13200" b="0" i="0" u="none" strike="noStrike" cap="none">
                <a:solidFill>
                  <a:srgbClr val="5F8BEC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None/>
              <a:defRPr sz="132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None/>
              <a:defRPr sz="132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None/>
              <a:defRPr sz="132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None/>
              <a:defRPr sz="132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lateral 1">
  <p:cSld name="Imagem lateral 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0"/>
          <p:cNvSpPr/>
          <p:nvPr/>
        </p:nvSpPr>
        <p:spPr>
          <a:xfrm>
            <a:off x="23433139" y="406400"/>
            <a:ext cx="477061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40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0"/>
          <p:cNvSpPr>
            <a:spLocks noGrp="1"/>
          </p:cNvSpPr>
          <p:nvPr>
            <p:ph type="pic" idx="2"/>
          </p:nvPr>
        </p:nvSpPr>
        <p:spPr>
          <a:xfrm flipH="1">
            <a:off x="14403599" y="-518160"/>
            <a:ext cx="12266400" cy="14538960"/>
          </a:xfrm>
          <a:prstGeom prst="flowChartDelay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lateral 2">
  <p:cSld name="Imagem lateral 2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>
            <a:spLocks noGrp="1"/>
          </p:cNvSpPr>
          <p:nvPr>
            <p:ph type="pic" idx="2"/>
          </p:nvPr>
        </p:nvSpPr>
        <p:spPr>
          <a:xfrm flipH="1">
            <a:off x="15109197" y="0"/>
            <a:ext cx="10752938" cy="137160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41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41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41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ção">
  <p:cSld name="Citação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2"/>
          <p:cNvSpPr/>
          <p:nvPr/>
        </p:nvSpPr>
        <p:spPr>
          <a:xfrm>
            <a:off x="1460683" y="-1130300"/>
            <a:ext cx="15965895" cy="15963900"/>
          </a:xfrm>
          <a:prstGeom prst="ellipse">
            <a:avLst/>
          </a:prstGeom>
          <a:solidFill>
            <a:srgbClr val="131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2"/>
          <p:cNvSpPr/>
          <p:nvPr/>
        </p:nvSpPr>
        <p:spPr>
          <a:xfrm>
            <a:off x="16372346" y="-1130300"/>
            <a:ext cx="15965895" cy="15963900"/>
          </a:xfrm>
          <a:prstGeom prst="ellipse">
            <a:avLst/>
          </a:prstGeom>
          <a:solidFill>
            <a:srgbClr val="131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2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42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434429" y="406400"/>
            <a:ext cx="47436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2"/>
          <p:cNvSpPr/>
          <p:nvPr/>
        </p:nvSpPr>
        <p:spPr>
          <a:xfrm>
            <a:off x="4420152" y="5372100"/>
            <a:ext cx="15546743" cy="4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42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2330" y="4025900"/>
            <a:ext cx="1066933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42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9205" y="4311650"/>
            <a:ext cx="673184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2"/>
          <p:cNvSpPr txBox="1">
            <a:spLocks noGrp="1"/>
          </p:cNvSpPr>
          <p:nvPr>
            <p:ph type="body" idx="1"/>
          </p:nvPr>
        </p:nvSpPr>
        <p:spPr>
          <a:xfrm>
            <a:off x="4439205" y="5284064"/>
            <a:ext cx="15751175" cy="3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F4F6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F4F4F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body" idx="2"/>
          </p:nvPr>
        </p:nvSpPr>
        <p:spPr>
          <a:xfrm>
            <a:off x="4465016" y="9191625"/>
            <a:ext cx="15965487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DBFC7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BDBFC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texto 2">
  <p:cSld name="Título + texto 2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3"/>
          <p:cNvSpPr/>
          <p:nvPr/>
        </p:nvSpPr>
        <p:spPr>
          <a:xfrm>
            <a:off x="-165904" y="-150471"/>
            <a:ext cx="24692658" cy="140400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43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70265" y="462769"/>
            <a:ext cx="12791776" cy="12790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43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722" y="424672"/>
            <a:ext cx="12791776" cy="1279046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3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4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434429" y="406400"/>
            <a:ext cx="47436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3"/>
          <p:cNvSpPr/>
          <p:nvPr/>
        </p:nvSpPr>
        <p:spPr>
          <a:xfrm>
            <a:off x="3099187" y="-2235200"/>
            <a:ext cx="18201375" cy="18199100"/>
          </a:xfrm>
          <a:prstGeom prst="ellipse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3"/>
          <p:cNvSpPr/>
          <p:nvPr/>
        </p:nvSpPr>
        <p:spPr>
          <a:xfrm>
            <a:off x="7328816" y="4051300"/>
            <a:ext cx="9742118" cy="56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3"/>
          <p:cNvSpPr txBox="1">
            <a:spLocks noGrp="1"/>
          </p:cNvSpPr>
          <p:nvPr>
            <p:ph type="body" idx="1"/>
          </p:nvPr>
        </p:nvSpPr>
        <p:spPr>
          <a:xfrm>
            <a:off x="7161212" y="3915833"/>
            <a:ext cx="10064750" cy="265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43"/>
          <p:cNvSpPr txBox="1">
            <a:spLocks noGrp="1"/>
          </p:cNvSpPr>
          <p:nvPr>
            <p:ph type="body" idx="2"/>
          </p:nvPr>
        </p:nvSpPr>
        <p:spPr>
          <a:xfrm>
            <a:off x="6708775" y="6815348"/>
            <a:ext cx="10969625" cy="3522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+ título">
  <p:cSld name="Imagem + título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44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70265" y="462769"/>
            <a:ext cx="12791776" cy="12790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4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722" y="424669"/>
            <a:ext cx="10652539" cy="1279046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4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4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434429" y="406400"/>
            <a:ext cx="47436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4"/>
          <p:cNvSpPr/>
          <p:nvPr/>
        </p:nvSpPr>
        <p:spPr>
          <a:xfrm>
            <a:off x="431854" y="13004800"/>
            <a:ext cx="296370" cy="34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868998"/>
              </a:buClr>
              <a:buSzPts val="1600"/>
              <a:buFont typeface="Roboto"/>
              <a:buNone/>
            </a:pPr>
            <a:r>
              <a:rPr lang="en-US" sz="1600" b="0" i="0" u="none" strike="noStrike" cap="none">
                <a:solidFill>
                  <a:srgbClr val="868998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endParaRPr sz="1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44"/>
          <p:cNvSpPr>
            <a:spLocks noGrp="1"/>
          </p:cNvSpPr>
          <p:nvPr>
            <p:ph type="pic" idx="2"/>
          </p:nvPr>
        </p:nvSpPr>
        <p:spPr>
          <a:xfrm>
            <a:off x="1993900" y="3098800"/>
            <a:ext cx="20399375" cy="88011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44"/>
          <p:cNvSpPr txBox="1">
            <a:spLocks noGrp="1"/>
          </p:cNvSpPr>
          <p:nvPr>
            <p:ph type="body" idx="1"/>
          </p:nvPr>
        </p:nvSpPr>
        <p:spPr>
          <a:xfrm>
            <a:off x="1993900" y="1437999"/>
            <a:ext cx="82169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44"/>
          <p:cNvSpPr txBox="1">
            <a:spLocks noGrp="1"/>
          </p:cNvSpPr>
          <p:nvPr>
            <p:ph type="body" idx="3"/>
          </p:nvPr>
        </p:nvSpPr>
        <p:spPr>
          <a:xfrm>
            <a:off x="16262350" y="1711566"/>
            <a:ext cx="6130925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imagens">
  <p:cSld name="Duas imagen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45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70265" y="462769"/>
            <a:ext cx="12791776" cy="12790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5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722" y="424669"/>
            <a:ext cx="10652539" cy="1279046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5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4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434429" y="406400"/>
            <a:ext cx="47436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5"/>
          <p:cNvSpPr>
            <a:spLocks noGrp="1"/>
          </p:cNvSpPr>
          <p:nvPr>
            <p:ph type="pic" idx="2"/>
          </p:nvPr>
        </p:nvSpPr>
        <p:spPr>
          <a:xfrm>
            <a:off x="1148863" y="2222500"/>
            <a:ext cx="10480430" cy="92710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45"/>
          <p:cNvSpPr>
            <a:spLocks noGrp="1"/>
          </p:cNvSpPr>
          <p:nvPr>
            <p:ph type="pic" idx="3"/>
          </p:nvPr>
        </p:nvSpPr>
        <p:spPr>
          <a:xfrm>
            <a:off x="12757882" y="2205892"/>
            <a:ext cx="10480430" cy="9271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subtítulo">
  <p:cSld name="Título + subtítul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6"/>
          <p:cNvSpPr/>
          <p:nvPr/>
        </p:nvSpPr>
        <p:spPr>
          <a:xfrm>
            <a:off x="-165904" y="-150471"/>
            <a:ext cx="24692658" cy="14040091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6"/>
          <p:cNvSpPr/>
          <p:nvPr/>
        </p:nvSpPr>
        <p:spPr>
          <a:xfrm>
            <a:off x="1994149" y="3302000"/>
            <a:ext cx="10415302" cy="71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6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46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434429" y="406400"/>
            <a:ext cx="474362" cy="5930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46"/>
          <p:cNvGrpSpPr/>
          <p:nvPr/>
        </p:nvGrpSpPr>
        <p:grpSpPr>
          <a:xfrm>
            <a:off x="10809051" y="1676205"/>
            <a:ext cx="13578125" cy="12039795"/>
            <a:chOff x="10809051" y="1676205"/>
            <a:chExt cx="13578125" cy="12039795"/>
          </a:xfrm>
        </p:grpSpPr>
        <p:pic>
          <p:nvPicPr>
            <p:cNvPr id="101" name="Google Shape;101;p46" descr=" 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15365" y="1689100"/>
              <a:ext cx="13571683" cy="12026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46" descr=" 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809051" y="1739900"/>
              <a:ext cx="1574997" cy="11976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46" descr=" 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5400000">
              <a:off x="17319527" y="-3232246"/>
              <a:ext cx="2159198" cy="11976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46"/>
          <p:cNvSpPr txBox="1">
            <a:spLocks noGrp="1"/>
          </p:cNvSpPr>
          <p:nvPr>
            <p:ph type="body" idx="1"/>
          </p:nvPr>
        </p:nvSpPr>
        <p:spPr>
          <a:xfrm>
            <a:off x="1994149" y="3302000"/>
            <a:ext cx="11531600" cy="6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46"/>
          <p:cNvSpPr txBox="1">
            <a:spLocks noGrp="1"/>
          </p:cNvSpPr>
          <p:nvPr>
            <p:ph type="body" idx="2"/>
          </p:nvPr>
        </p:nvSpPr>
        <p:spPr>
          <a:xfrm>
            <a:off x="1994149" y="9550400"/>
            <a:ext cx="10618788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tópicos ">
  <p:cSld name="Título + tópicos 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7"/>
          <p:cNvSpPr/>
          <p:nvPr/>
        </p:nvSpPr>
        <p:spPr>
          <a:xfrm>
            <a:off x="-165904" y="-150471"/>
            <a:ext cx="24692658" cy="14040091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47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899962" y="304800"/>
            <a:ext cx="5487086" cy="13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7"/>
          <p:cNvSpPr/>
          <p:nvPr/>
        </p:nvSpPr>
        <p:spPr>
          <a:xfrm>
            <a:off x="23434429" y="406400"/>
            <a:ext cx="474482" cy="5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47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6003" y="5537200"/>
            <a:ext cx="5004425" cy="55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7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572" y="6635750"/>
            <a:ext cx="711289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47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36879" y="5537200"/>
            <a:ext cx="5017127" cy="55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47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89799" y="6635750"/>
            <a:ext cx="711289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60457" y="5537200"/>
            <a:ext cx="5004425" cy="55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7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07026" y="6635750"/>
            <a:ext cx="711289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7"/>
          <p:cNvSpPr/>
          <p:nvPr/>
        </p:nvSpPr>
        <p:spPr>
          <a:xfrm>
            <a:off x="2426003" y="1574800"/>
            <a:ext cx="11545743" cy="2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47"/>
          <p:cNvCxnSpPr/>
          <p:nvPr/>
        </p:nvCxnSpPr>
        <p:spPr>
          <a:xfrm>
            <a:off x="2551710" y="12520246"/>
            <a:ext cx="3365197" cy="0"/>
          </a:xfrm>
          <a:prstGeom prst="straightConnector1">
            <a:avLst/>
          </a:prstGeom>
          <a:noFill/>
          <a:ln w="28575" cap="flat" cmpd="sng">
            <a:solidFill>
              <a:srgbClr val="0C0C0E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9" name="Google Shape;119;p47"/>
          <p:cNvSpPr>
            <a:spLocks noGrp="1"/>
          </p:cNvSpPr>
          <p:nvPr>
            <p:ph type="pic" idx="2"/>
          </p:nvPr>
        </p:nvSpPr>
        <p:spPr>
          <a:xfrm>
            <a:off x="18670588" y="5537200"/>
            <a:ext cx="5716587" cy="55245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47"/>
          <p:cNvSpPr txBox="1">
            <a:spLocks noGrp="1"/>
          </p:cNvSpPr>
          <p:nvPr>
            <p:ph type="body" idx="1"/>
          </p:nvPr>
        </p:nvSpPr>
        <p:spPr>
          <a:xfrm>
            <a:off x="2426003" y="1502629"/>
            <a:ext cx="11868150" cy="156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1" name="Google Shape;121;p47"/>
          <p:cNvSpPr txBox="1">
            <a:spLocks noGrp="1"/>
          </p:cNvSpPr>
          <p:nvPr>
            <p:ph type="body" idx="3"/>
          </p:nvPr>
        </p:nvSpPr>
        <p:spPr>
          <a:xfrm>
            <a:off x="2425876" y="3245935"/>
            <a:ext cx="11680825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47"/>
          <p:cNvSpPr txBox="1">
            <a:spLocks noGrp="1"/>
          </p:cNvSpPr>
          <p:nvPr>
            <p:ph type="body" idx="4"/>
          </p:nvPr>
        </p:nvSpPr>
        <p:spPr>
          <a:xfrm>
            <a:off x="3128963" y="8032750"/>
            <a:ext cx="3741737" cy="20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47"/>
          <p:cNvSpPr>
            <a:spLocks noGrp="1"/>
          </p:cNvSpPr>
          <p:nvPr>
            <p:ph type="pic" idx="5"/>
          </p:nvPr>
        </p:nvSpPr>
        <p:spPr>
          <a:xfrm>
            <a:off x="4657725" y="6662738"/>
            <a:ext cx="684213" cy="684212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47"/>
          <p:cNvSpPr txBox="1">
            <a:spLocks noGrp="1"/>
          </p:cNvSpPr>
          <p:nvPr>
            <p:ph type="body" idx="6"/>
          </p:nvPr>
        </p:nvSpPr>
        <p:spPr>
          <a:xfrm>
            <a:off x="8437323" y="8032750"/>
            <a:ext cx="3741737" cy="20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5" name="Google Shape;125;p47"/>
          <p:cNvSpPr>
            <a:spLocks noGrp="1"/>
          </p:cNvSpPr>
          <p:nvPr>
            <p:ph type="pic" idx="7"/>
          </p:nvPr>
        </p:nvSpPr>
        <p:spPr>
          <a:xfrm>
            <a:off x="9966085" y="6662738"/>
            <a:ext cx="684213" cy="684212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47"/>
          <p:cNvSpPr txBox="1">
            <a:spLocks noGrp="1"/>
          </p:cNvSpPr>
          <p:nvPr>
            <p:ph type="body" idx="8"/>
          </p:nvPr>
        </p:nvSpPr>
        <p:spPr>
          <a:xfrm>
            <a:off x="13927607" y="8032750"/>
            <a:ext cx="3741737" cy="20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7" name="Google Shape;127;p47"/>
          <p:cNvSpPr>
            <a:spLocks noGrp="1"/>
          </p:cNvSpPr>
          <p:nvPr>
            <p:ph type="pic" idx="9"/>
          </p:nvPr>
        </p:nvSpPr>
        <p:spPr>
          <a:xfrm>
            <a:off x="15456369" y="6662738"/>
            <a:ext cx="684213" cy="68421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ndo escuro 1">
  <p:cSld name="Fundo escuro 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8"/>
          <p:cNvSpPr/>
          <p:nvPr/>
        </p:nvSpPr>
        <p:spPr>
          <a:xfrm>
            <a:off x="-1397175" y="-1117600"/>
            <a:ext cx="15965895" cy="15963900"/>
          </a:xfrm>
          <a:prstGeom prst="ellipse">
            <a:avLst/>
          </a:prstGeom>
          <a:solidFill>
            <a:srgbClr val="0C0C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8"/>
          <p:cNvSpPr/>
          <p:nvPr/>
        </p:nvSpPr>
        <p:spPr>
          <a:xfrm>
            <a:off x="13514489" y="-1117600"/>
            <a:ext cx="15965895" cy="15963900"/>
          </a:xfrm>
          <a:prstGeom prst="ellipse">
            <a:avLst/>
          </a:prstGeom>
          <a:solidFill>
            <a:srgbClr val="0C0C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ndo escuro 2">
  <p:cSld name="Fundo escuro 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9"/>
          <p:cNvSpPr/>
          <p:nvPr/>
        </p:nvSpPr>
        <p:spPr>
          <a:xfrm>
            <a:off x="-165904" y="-150471"/>
            <a:ext cx="24692658" cy="14040091"/>
          </a:xfrm>
          <a:prstGeom prst="rect">
            <a:avLst/>
          </a:prstGeom>
          <a:solidFill>
            <a:srgbClr val="131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9"/>
          <p:cNvSpPr/>
          <p:nvPr/>
        </p:nvSpPr>
        <p:spPr>
          <a:xfrm>
            <a:off x="-6109464" y="-1117600"/>
            <a:ext cx="15965895" cy="159639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9"/>
          <p:cNvSpPr/>
          <p:nvPr/>
        </p:nvSpPr>
        <p:spPr>
          <a:xfrm>
            <a:off x="8719640" y="-1117600"/>
            <a:ext cx="15965895" cy="159639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4.png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4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3de5a4e7f_0_43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3de5a4e7f_0_43"/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g3f3de5a4e7f_0_43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g3f3de5a4e7f_0_43"/>
          <p:cNvSpPr/>
          <p:nvPr/>
        </p:nvSpPr>
        <p:spPr>
          <a:xfrm>
            <a:off x="7214502" y="5156200"/>
            <a:ext cx="10402500" cy="38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0"/>
              <a:buFont typeface="Encode Sans"/>
              <a:buNone/>
            </a:pPr>
            <a:r>
              <a:rPr lang="pt-BR" sz="102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2.5 Evals do zero, ao vivo</a:t>
            </a:r>
            <a:endParaRPr sz="10200" b="0" i="0" u="none" strike="noStrike" cap="none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530" name="Google Shape;530;g3f3de5a4e7f_0_43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40419" y="-144842"/>
            <a:ext cx="1568332" cy="10010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6234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cap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0"/>
            <a:ext cx="16294608" cy="13716000"/>
          </a:xfrm>
          <a:prstGeom prst="rect">
            <a:avLst/>
          </a:prstGeom>
        </p:spPr>
      </p:pic>
      <p:pic>
        <p:nvPicPr>
          <p:cNvPr id="4" name="Image 2" descr="art\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2423160" y="1874520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EVALS, OBSERVABILIDADE E CONFORMIDADE</a:t>
            </a: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2423160" y="4389120"/>
            <a:ext cx="131673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indent="0" algn="l">
              <a:lnSpc>
                <a:spcPct val="106061"/>
              </a:lnSpc>
              <a:spcAft>
                <a:spcPts val="1200"/>
              </a:spcAft>
              <a:buNone/>
            </a:pPr>
            <a:r>
              <a:rPr lang="pt-BR" sz="9600" b="0" i="0" dirty="0">
                <a:solidFill>
                  <a:schemeClr val="bg1"/>
                </a:solidFill>
                <a:effectLst/>
                <a:latin typeface="Encode Sans"/>
                <a:ea typeface="Roboto" panose="02000000000000000000" pitchFamily="2" charset="0"/>
                <a:cs typeface="Roboto" panose="02000000000000000000" pitchFamily="2" charset="0"/>
              </a:rPr>
              <a:t>Aula 3 </a:t>
            </a:r>
          </a:p>
          <a:p>
            <a:pPr marL="0" marR="0" indent="0" algn="l">
              <a:lnSpc>
                <a:spcPct val="106061"/>
              </a:lnSpc>
              <a:spcAft>
                <a:spcPts val="1200"/>
              </a:spcAft>
              <a:buNone/>
            </a:pPr>
            <a:r>
              <a:rPr lang="pt-BR" sz="9600" b="0" i="0" dirty="0" err="1">
                <a:solidFill>
                  <a:schemeClr val="bg1"/>
                </a:solidFill>
                <a:effectLst/>
                <a:latin typeface="Encode Sans"/>
                <a:ea typeface="Roboto" panose="02000000000000000000" pitchFamily="2" charset="0"/>
                <a:cs typeface="Roboto" panose="02000000000000000000" pitchFamily="2" charset="0"/>
              </a:rPr>
              <a:t>Observabilidade</a:t>
            </a:r>
            <a:endParaRPr lang="pt-BR" sz="9600" b="0" i="0" dirty="0">
              <a:solidFill>
                <a:schemeClr val="bg1"/>
              </a:solidFill>
              <a:effectLst/>
              <a:latin typeface="Encode Sans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buNone/>
            </a:pPr>
            <a:br>
              <a:rPr lang="pt-BR" sz="9600" dirty="0">
                <a:latin typeface="Encode Sans"/>
              </a:rPr>
            </a:br>
            <a:endParaRPr lang="en-US" sz="10400" dirty="0">
              <a:latin typeface="Encode Sans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 2"/>
          <p:cNvSpPr txBox="1"/>
          <p:nvPr/>
        </p:nvSpPr>
        <p:spPr>
          <a:xfrm>
            <a:off x="2423160" y="8732520"/>
            <a:ext cx="1362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4000" dirty="0">
                <a:solidFill>
                  <a:schemeClr val="bg1"/>
                </a:solidFill>
              </a:rPr>
              <a:t>Instrumentando o Produto com </a:t>
            </a:r>
            <a:r>
              <a:rPr lang="pt-BR" sz="4000" dirty="0" err="1">
                <a:solidFill>
                  <a:schemeClr val="bg1"/>
                </a:solidFill>
              </a:rPr>
              <a:t>Langfuse</a:t>
            </a:r>
            <a:r>
              <a:rPr lang="pt-BR" sz="4000" dirty="0">
                <a:solidFill>
                  <a:schemeClr val="bg1"/>
                </a:solidFill>
              </a:rPr>
              <a:t> para enxergar cada chamada de IA em produção</a:t>
            </a:r>
            <a:endParaRPr lang="en-US" sz="3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3"/>
          <p:cNvSpPr txBox="1"/>
          <p:nvPr/>
        </p:nvSpPr>
        <p:spPr>
          <a:xfrm>
            <a:off x="2423160" y="10744200"/>
            <a:ext cx="1389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32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Rastro de ponta a ponta, leitura de dados reais e padrões de falha, ao vivo</a:t>
            </a:r>
            <a:br>
              <a:rPr lang="pt-BR" sz="32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pt-BR" sz="32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8342f7686_0_44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g3f8342f7686_0_44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0252" y="462769"/>
            <a:ext cx="12791764" cy="1279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f8342f7686_0_4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734" y="424672"/>
            <a:ext cx="12791764" cy="1279045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f8342f7686_0_44"/>
          <p:cNvSpPr/>
          <p:nvPr/>
        </p:nvSpPr>
        <p:spPr>
          <a:xfrm>
            <a:off x="3099187" y="-2235200"/>
            <a:ext cx="18201300" cy="18199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f8342f7686_0_44"/>
          <p:cNvSpPr/>
          <p:nvPr/>
        </p:nvSpPr>
        <p:spPr>
          <a:xfrm>
            <a:off x="6617527" y="4038600"/>
            <a:ext cx="11164800" cy="6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121"/>
              </a:lnSpc>
              <a:spcBef>
                <a:spcPts val="0"/>
              </a:spcBef>
              <a:spcAft>
                <a:spcPts val="0"/>
              </a:spcAft>
              <a:buClr>
                <a:srgbClr val="BDBFC7"/>
              </a:buClr>
              <a:buSzPts val="13200"/>
              <a:buFont typeface="Encode Sans"/>
              <a:buNone/>
            </a:pPr>
            <a:r>
              <a:rPr lang="pt-BR" sz="13200" b="0" i="0" u="none" strike="noStrike" cap="none" dirty="0" err="1">
                <a:solidFill>
                  <a:srgbClr val="BDBFC7"/>
                </a:solidFill>
                <a:latin typeface="Encode Sans"/>
                <a:ea typeface="Encode Sans"/>
                <a:cs typeface="Encode Sans"/>
                <a:sym typeface="Encode Sans"/>
              </a:rPr>
              <a:t>Eval</a:t>
            </a:r>
            <a:r>
              <a:rPr lang="pt-BR" sz="13200" b="0" i="0" u="none" strike="noStrike" cap="none" dirty="0">
                <a:solidFill>
                  <a:srgbClr val="BDBFC7"/>
                </a:solidFill>
                <a:latin typeface="Encode Sans"/>
                <a:ea typeface="Encode Sans"/>
                <a:cs typeface="Encode Sans"/>
                <a:sym typeface="Encode Sans"/>
              </a:rPr>
              <a:t> não é teste. Critério tem 4 partes.</a:t>
            </a:r>
            <a:endParaRPr sz="13200" b="0" i="0" u="none" strike="noStrike" cap="none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77" name="Google Shape;277;g3f8342f7686_0_44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g3f8342f7686_0_44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f8342f7686_0_44" descr="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3730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f8342f7686_0_102"/>
          <p:cNvSpPr/>
          <p:nvPr/>
        </p:nvSpPr>
        <p:spPr>
          <a:xfrm>
            <a:off x="2426003" y="3149600"/>
            <a:ext cx="9983400" cy="74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g3f8342f7686_0_102"/>
          <p:cNvSpPr/>
          <p:nvPr/>
        </p:nvSpPr>
        <p:spPr>
          <a:xfrm>
            <a:off x="2426003" y="3149600"/>
            <a:ext cx="11159400" cy="26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BFC7"/>
              </a:buClr>
              <a:buSzPts val="8800"/>
              <a:buFont typeface="Encode Sans"/>
              <a:buNone/>
            </a:pPr>
            <a:r>
              <a:rPr lang="pt-BR" sz="8800" b="0" i="0" u="none" strike="noStrike" cap="none">
                <a:solidFill>
                  <a:srgbClr val="BDBFC7"/>
                </a:solidFill>
                <a:latin typeface="Encode Sans"/>
                <a:ea typeface="Encode Sans"/>
                <a:cs typeface="Encode Sans"/>
                <a:sym typeface="Encode Sans"/>
              </a:rPr>
              <a:t>O caminho de hoje</a:t>
            </a:r>
            <a:endParaRPr sz="8800" b="0" i="0" u="none" strike="noStrike" cap="none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596" name="Google Shape;596;g3f8342f7686_0_102"/>
          <p:cNvSpPr/>
          <p:nvPr/>
        </p:nvSpPr>
        <p:spPr>
          <a:xfrm>
            <a:off x="2426003" y="6502400"/>
            <a:ext cx="99834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f8342f7686_0_102"/>
          <p:cNvSpPr/>
          <p:nvPr/>
        </p:nvSpPr>
        <p:spPr>
          <a:xfrm>
            <a:off x="2426003" y="6502400"/>
            <a:ext cx="998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g3f8342f7686_0_102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6003" y="6502400"/>
            <a:ext cx="711289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g3f8342f7686_0_102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8783" y="6671734"/>
            <a:ext cx="465723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g3f8342f7686_0_102"/>
          <p:cNvSpPr/>
          <p:nvPr/>
        </p:nvSpPr>
        <p:spPr>
          <a:xfrm>
            <a:off x="3645356" y="6502400"/>
            <a:ext cx="99399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A7A9B4"/>
              </a:buClr>
              <a:buSzPts val="3600"/>
              <a:buFont typeface="Roboto"/>
              <a:buNone/>
            </a:pPr>
            <a:r>
              <a:rPr lang="pt-BR" sz="3600" b="0" i="0" u="none" strike="noStrike" cap="none">
                <a:solidFill>
                  <a:srgbClr val="A7A9B4"/>
                </a:solidFill>
                <a:latin typeface="Roboto"/>
                <a:ea typeface="Roboto"/>
                <a:cs typeface="Roboto"/>
                <a:sym typeface="Roboto"/>
              </a:rPr>
              <a:t>Propor: pedir critérios ao Claude, com contexto e regra de ouro</a:t>
            </a:r>
            <a:endParaRPr sz="3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g3f8342f7686_0_102"/>
          <p:cNvSpPr/>
          <p:nvPr/>
        </p:nvSpPr>
        <p:spPr>
          <a:xfrm>
            <a:off x="2426003" y="8178800"/>
            <a:ext cx="9983400" cy="7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2" name="Google Shape;602;g3f8342f7686_0_102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6003" y="7989147"/>
            <a:ext cx="711289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f8342f7686_0_102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8783" y="8331200"/>
            <a:ext cx="465723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g3f8342f7686_0_102"/>
          <p:cNvSpPr/>
          <p:nvPr/>
        </p:nvSpPr>
        <p:spPr>
          <a:xfrm>
            <a:off x="3645356" y="8172450"/>
            <a:ext cx="92631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A7A9B4"/>
              </a:buClr>
              <a:buSzPts val="3600"/>
              <a:buFont typeface="Roboto"/>
              <a:buNone/>
            </a:pPr>
            <a:r>
              <a:rPr lang="pt-BR" sz="3600" b="0" i="0" u="none" strike="noStrike" cap="none">
                <a:solidFill>
                  <a:srgbClr val="A7A9B4"/>
                </a:solidFill>
                <a:latin typeface="Roboto"/>
                <a:ea typeface="Roboto"/>
                <a:cs typeface="Roboto"/>
                <a:sym typeface="Roboto"/>
              </a:rPr>
              <a:t>Debater: bater a proposta contra o que a casa já viveu</a:t>
            </a:r>
            <a:endParaRPr sz="3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5" name="Google Shape;605;g3f8342f7686_0_102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6003" y="9761538"/>
            <a:ext cx="711289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f8342f7686_0_102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8783" y="10349548"/>
            <a:ext cx="465723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g3f8342f7686_0_102"/>
          <p:cNvSpPr/>
          <p:nvPr/>
        </p:nvSpPr>
        <p:spPr>
          <a:xfrm>
            <a:off x="3645356" y="10001431"/>
            <a:ext cx="9263100" cy="1550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A7A9B4"/>
              </a:buClr>
              <a:buSzPts val="3600"/>
              <a:buFont typeface="Roboto"/>
              <a:buNone/>
            </a:pPr>
            <a:r>
              <a:rPr lang="pt-BR" sz="3600" b="0" i="0" u="none" strike="noStrike" cap="none" dirty="0">
                <a:solidFill>
                  <a:srgbClr val="A7A9B4"/>
                </a:solidFill>
                <a:latin typeface="Roboto"/>
                <a:ea typeface="Roboto"/>
                <a:cs typeface="Roboto"/>
                <a:sym typeface="Roboto"/>
              </a:rPr>
              <a:t>Fechar: documento único, juiz implementado, PR simulado</a:t>
            </a:r>
            <a:endParaRPr sz="3600" b="1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1" name="Google Shape;611;g3f8342f7686_0_102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3BA6F74-77D1-D7A7-3BE3-CCACB6707E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09055" y="-818896"/>
            <a:ext cx="9478119" cy="16981630"/>
          </a:xfrm>
          <a:prstGeom prst="rect">
            <a:avLst/>
          </a:prstGeom>
        </p:spPr>
      </p:pic>
      <p:sp>
        <p:nvSpPr>
          <p:cNvPr id="5" name="Google Shape;389;g3f3dd40fd11_1_233">
            <a:extLst>
              <a:ext uri="{FF2B5EF4-FFF2-40B4-BE49-F238E27FC236}">
                <a16:creationId xmlns:a16="http://schemas.microsoft.com/office/drawing/2014/main" id="{B10402B1-9C83-974D-8A05-1C4951792A36}"/>
              </a:ext>
            </a:extLst>
          </p:cNvPr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390;g3f3dd40fd11_1_233" descr=" ">
            <a:extLst>
              <a:ext uri="{FF2B5EF4-FFF2-40B4-BE49-F238E27FC236}">
                <a16:creationId xmlns:a16="http://schemas.microsoft.com/office/drawing/2014/main" id="{AC25A756-7848-2209-FA35-C81E6BC68BD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95;g3f3dd40fd11_1_233" descr=" ">
            <a:extLst>
              <a:ext uri="{FF2B5EF4-FFF2-40B4-BE49-F238E27FC236}">
                <a16:creationId xmlns:a16="http://schemas.microsoft.com/office/drawing/2014/main" id="{E6E34C37-16D9-CB5F-9FD8-14D93CBA4E2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908911" y="-1098467"/>
            <a:ext cx="3651919" cy="15201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225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3dd40fd11_1_233"/>
          <p:cNvSpPr/>
          <p:nvPr/>
        </p:nvSpPr>
        <p:spPr>
          <a:xfrm>
            <a:off x="2426003" y="3149600"/>
            <a:ext cx="9983400" cy="74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f3dd40fd11_1_233"/>
          <p:cNvSpPr/>
          <p:nvPr/>
        </p:nvSpPr>
        <p:spPr>
          <a:xfrm>
            <a:off x="2426000" y="3893102"/>
            <a:ext cx="11159400" cy="19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BFC7"/>
              </a:buClr>
              <a:buSzPts val="8800"/>
              <a:buFont typeface="Encode Sans"/>
              <a:buNone/>
            </a:pPr>
            <a:r>
              <a:rPr lang="en-US" sz="8800" b="0" i="0" u="none" strike="noStrike" cap="none">
                <a:solidFill>
                  <a:srgbClr val="BDBFC7"/>
                </a:solidFill>
                <a:latin typeface="Encode Sans"/>
                <a:ea typeface="Encode Sans"/>
                <a:cs typeface="Encode Sans"/>
                <a:sym typeface="Encode Sans"/>
              </a:rPr>
              <a:t>O prompt</a:t>
            </a:r>
            <a:endParaRPr sz="8800" b="0" i="0" u="none" strike="noStrike" cap="none">
              <a:solidFill>
                <a:srgbClr val="A7A9B4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8" name="Google Shape;378;g3f3dd40fd11_1_233"/>
          <p:cNvSpPr/>
          <p:nvPr/>
        </p:nvSpPr>
        <p:spPr>
          <a:xfrm>
            <a:off x="2426003" y="6502400"/>
            <a:ext cx="99834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f3dd40fd11_1_233"/>
          <p:cNvSpPr/>
          <p:nvPr/>
        </p:nvSpPr>
        <p:spPr>
          <a:xfrm>
            <a:off x="2426003" y="6502400"/>
            <a:ext cx="998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0" name="Google Shape;380;g3f3dd40fd11_1_233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6003" y="6502400"/>
            <a:ext cx="711289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g3f3dd40fd11_1_23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8783" y="7015692"/>
            <a:ext cx="465723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f3dd40fd11_1_233"/>
          <p:cNvSpPr/>
          <p:nvPr/>
        </p:nvSpPr>
        <p:spPr>
          <a:xfrm>
            <a:off x="3645356" y="6846358"/>
            <a:ext cx="99399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A7A9B4"/>
              </a:buClr>
              <a:buSzPts val="3600"/>
              <a:buFont typeface="Roboto"/>
              <a:buNone/>
            </a:pPr>
            <a:r>
              <a:rPr lang="pt-BR" sz="3600" b="0" i="0" u="none" strike="noStrike" cap="none">
                <a:solidFill>
                  <a:srgbClr val="A7A9B4"/>
                </a:solidFill>
                <a:latin typeface="Roboto"/>
                <a:ea typeface="Roboto"/>
                <a:cs typeface="Roboto"/>
                <a:sym typeface="Roboto"/>
              </a:rPr>
              <a:t>Contexto: a promessa da operação</a:t>
            </a:r>
            <a:endParaRPr sz="3600" b="0" i="0" u="none" strike="noStrike" cap="none">
              <a:solidFill>
                <a:srgbClr val="A7A9B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g3f3dd40fd11_1_233"/>
          <p:cNvSpPr/>
          <p:nvPr/>
        </p:nvSpPr>
        <p:spPr>
          <a:xfrm>
            <a:off x="2426003" y="8178800"/>
            <a:ext cx="9983400" cy="7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g3f3dd40fd11_1_233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6003" y="7989147"/>
            <a:ext cx="711289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3f3dd40fd11_1_23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8783" y="8331200"/>
            <a:ext cx="465723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f3dd40fd11_1_233"/>
          <p:cNvSpPr/>
          <p:nvPr/>
        </p:nvSpPr>
        <p:spPr>
          <a:xfrm>
            <a:off x="3645356" y="8267700"/>
            <a:ext cx="92631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A7A9B4"/>
              </a:buClr>
              <a:buSzPts val="3600"/>
              <a:buFont typeface="Roboto"/>
              <a:buNone/>
            </a:pPr>
            <a:r>
              <a:rPr lang="pt-BR" sz="3600" b="0" i="0" u="none" strike="noStrike" cap="none">
                <a:solidFill>
                  <a:srgbClr val="A7A9B4"/>
                </a:solidFill>
                <a:latin typeface="Roboto"/>
                <a:ea typeface="Roboto"/>
                <a:cs typeface="Roboto"/>
                <a:sym typeface="Roboto"/>
              </a:rPr>
              <a:t>Regra de ouro: LLM não decide sozinha</a:t>
            </a:r>
            <a:endParaRPr sz="3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g3f3dd40fd11_1_233"/>
          <p:cNvSpPr/>
          <p:nvPr/>
        </p:nvSpPr>
        <p:spPr>
          <a:xfrm>
            <a:off x="2426003" y="9796000"/>
            <a:ext cx="998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g3f3dd40fd11_1_233" title="Gemini_Generated_Image_bb831nbb831nbb83.png"/>
          <p:cNvPicPr preferRelativeResize="0"/>
          <p:nvPr/>
        </p:nvPicPr>
        <p:blipFill rotWithShape="1">
          <a:blip r:embed="rId5">
            <a:alphaModFix amt="67000"/>
          </a:blip>
          <a:srcRect l="30151" r="30151"/>
          <a:stretch/>
        </p:blipFill>
        <p:spPr>
          <a:xfrm>
            <a:off x="14913150" y="0"/>
            <a:ext cx="12108600" cy="14913900"/>
          </a:xfrm>
          <a:prstGeom prst="chord">
            <a:avLst>
              <a:gd name="adj1" fmla="val 2700000"/>
              <a:gd name="adj2" fmla="val 16838019"/>
            </a:avLst>
          </a:prstGeom>
          <a:noFill/>
          <a:ln>
            <a:noFill/>
          </a:ln>
        </p:spPr>
      </p:pic>
      <p:sp>
        <p:nvSpPr>
          <p:cNvPr id="389" name="Google Shape;389;g3f3dd40fd11_1_233"/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g3f3dd40fd11_1_233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g3f3dd40fd11_1_233" descr="Ícone&#10;&#10;O conteúdo gerado por IA pode estar incorreto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f3dd40fd11_1_233"/>
          <p:cNvSpPr/>
          <p:nvPr/>
        </p:nvSpPr>
        <p:spPr>
          <a:xfrm>
            <a:off x="2447756" y="5056608"/>
            <a:ext cx="99399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A7A9B4"/>
              </a:buClr>
              <a:buSzPts val="3600"/>
              <a:buFont typeface="Roboto"/>
              <a:buNone/>
            </a:pPr>
            <a:r>
              <a:rPr lang="pt-BR" sz="3600" b="0" i="0" u="none" strike="noStrike" cap="none">
                <a:solidFill>
                  <a:srgbClr val="A7A9B4"/>
                </a:solidFill>
                <a:latin typeface="Roboto"/>
                <a:ea typeface="Roboto"/>
                <a:cs typeface="Roboto"/>
                <a:sym typeface="Roboto"/>
              </a:rPr>
              <a:t>Contexto real, regra e as 3 perguntas</a:t>
            </a:r>
            <a:endParaRPr sz="3600" b="0" i="0" u="none" strike="noStrike" cap="none">
              <a:solidFill>
                <a:srgbClr val="A7A9B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3" name="Google Shape;393;g3f3dd40fd11_1_23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8783" y="10200852"/>
            <a:ext cx="465723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f3dd40fd11_1_233"/>
          <p:cNvSpPr/>
          <p:nvPr/>
        </p:nvSpPr>
        <p:spPr>
          <a:xfrm>
            <a:off x="3645356" y="9728200"/>
            <a:ext cx="92631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A7A9B4"/>
              </a:buClr>
              <a:buSzPts val="3600"/>
              <a:buFont typeface="Roboto"/>
              <a:buNone/>
            </a:pPr>
            <a:r>
              <a:rPr lang="pt-BR" sz="3600" b="0" i="0" u="none" strike="noStrike" cap="none">
                <a:solidFill>
                  <a:srgbClr val="A7A9B4"/>
                </a:solidFill>
                <a:latin typeface="Roboto"/>
                <a:ea typeface="Roboto"/>
                <a:cs typeface="Roboto"/>
                <a:sym typeface="Roboto"/>
              </a:rPr>
              <a:t>Três perguntas: promessa, risco, papel</a:t>
            </a:r>
            <a:endParaRPr sz="3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5" name="Google Shape;395;g3f3dd40fd11_1_233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951193">
            <a:off x="23598290" y="-1695429"/>
            <a:ext cx="3651919" cy="15201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5046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8342f7686_0_44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g3f8342f7686_0_44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0252" y="462769"/>
            <a:ext cx="12791764" cy="1279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f8342f7686_0_4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734" y="424672"/>
            <a:ext cx="12791764" cy="1279045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f8342f7686_0_44"/>
          <p:cNvSpPr/>
          <p:nvPr/>
        </p:nvSpPr>
        <p:spPr>
          <a:xfrm>
            <a:off x="3099187" y="-2235200"/>
            <a:ext cx="18201300" cy="18199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f8342f7686_0_44"/>
          <p:cNvSpPr/>
          <p:nvPr/>
        </p:nvSpPr>
        <p:spPr>
          <a:xfrm>
            <a:off x="3810000" y="1397000"/>
            <a:ext cx="167640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121"/>
              </a:lnSpc>
              <a:spcBef>
                <a:spcPts val="0"/>
              </a:spcBef>
              <a:spcAft>
                <a:spcPts val="0"/>
              </a:spcAft>
              <a:buClr>
                <a:srgbClr val="BDBFC7"/>
              </a:buClr>
              <a:buSzPts val="13200"/>
              <a:buFont typeface="Encode Sans"/>
              <a:buNone/>
            </a:pPr>
            <a:r>
              <a:rPr lang="pt-BR" sz="6000" b="0" i="0" u="none" strike="noStrike" cap="none">
                <a:solidFill>
                  <a:srgbClr val="BDBFC7"/>
                </a:solidFill>
                <a:latin typeface="Encode Sans"/>
                <a:ea typeface="Encode Sans"/>
                <a:cs typeface="Encode Sans"/>
                <a:sym typeface="Encode Sans"/>
              </a:rPr>
              <a:t>Duas semanas. Mesmo vídeo.</a:t>
            </a:r>
            <a:endParaRPr sz="6000" b="0" i="0" u="none" strike="noStrike" cap="none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77" name="Google Shape;277;g3f8342f7686_0_44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g3f8342f7686_0_44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f8342f7686_0_44" descr="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CF2471D-B459-C2D8-5CE6-97BAB9324CCF}"/>
              </a:ext>
            </a:extLst>
          </p:cNvPr>
          <p:cNvSpPr txBox="1"/>
          <p:nvPr/>
        </p:nvSpPr>
        <p:spPr>
          <a:xfrm>
            <a:off x="3810000" y="3619500"/>
            <a:ext cx="1676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2400">
                <a:solidFill>
                  <a:srgbClr val="BBBBBB"/>
                </a:solidFill>
              </a:rPr>
              <a:t>premium_suggestions, consultado agora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63650041-C039-ACD5-5A90-78BEC29347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072340"/>
              </p:ext>
            </p:extLst>
          </p:nvPr>
        </p:nvGraphicFramePr>
        <p:xfrm>
          <a:off x="5842000" y="4699000"/>
          <a:ext cx="12700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0">
                  <a:extLst>
                    <a:ext uri="{9D8B030D-6E8A-4147-A177-3AD203B41FA5}">
                      <a16:colId xmlns:a16="http://schemas.microsoft.com/office/drawing/2014/main" val="3792348687"/>
                    </a:ext>
                  </a:extLst>
                </a:gridCol>
                <a:gridCol w="6350000">
                  <a:extLst>
                    <a:ext uri="{9D8B030D-6E8A-4147-A177-3AD203B41FA5}">
                      <a16:colId xmlns:a16="http://schemas.microsoft.com/office/drawing/2014/main" val="420755005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pt-BR" sz="2600" b="1">
                          <a:solidFill>
                            <a:srgbClr val="FFFFFF"/>
                          </a:solidFill>
                        </a:rPr>
                        <a:t>Semana</a:t>
                      </a:r>
                    </a:p>
                  </a:txBody>
                  <a:tcPr>
                    <a:solidFill>
                      <a:srgbClr val="102E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b="1">
                          <a:solidFill>
                            <a:srgbClr val="FFFFFF"/>
                          </a:solidFill>
                        </a:rPr>
                        <a:t>Vídeo escolhido</a:t>
                      </a:r>
                    </a:p>
                  </a:txBody>
                  <a:tcPr>
                    <a:solidFill>
                      <a:srgbClr val="102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04966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pt-BR" sz="2600" b="0">
                          <a:solidFill>
                            <a:srgbClr val="FFFFFF"/>
                          </a:solidFill>
                        </a:rPr>
                        <a:t>17/08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b="0">
                          <a:solidFill>
                            <a:srgbClr val="FFFFFF"/>
                          </a:solidFill>
                        </a:rPr>
                        <a:t>Picanha na frigideira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49885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pt-BR" sz="2600" b="0">
                          <a:solidFill>
                            <a:srgbClr val="FFFFFF"/>
                          </a:solidFill>
                        </a:rPr>
                        <a:t>24/08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b="0">
                          <a:solidFill>
                            <a:srgbClr val="FFFFFF"/>
                          </a:solidFill>
                        </a:rPr>
                        <a:t>Beef Wellington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5055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pt-BR" sz="2600" b="0">
                          <a:solidFill>
                            <a:srgbClr val="FFFFFF"/>
                          </a:solidFill>
                        </a:rPr>
                        <a:t>31/08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b="0">
                          <a:solidFill>
                            <a:srgbClr val="FFFFFF"/>
                          </a:solidFill>
                        </a:rPr>
                        <a:t>Beef Wellington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89393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pt-BR" sz="2600" b="0">
                          <a:solidFill>
                            <a:srgbClr val="FFFFFF"/>
                          </a:solidFill>
                        </a:rPr>
                        <a:t>07/09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b="0">
                          <a:solidFill>
                            <a:srgbClr val="FFFFFF"/>
                          </a:solidFill>
                        </a:rPr>
                        <a:t>Polenta cremosa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274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0113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8342f7686_0_44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g3f8342f7686_0_44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0252" y="462769"/>
            <a:ext cx="12791764" cy="1279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f8342f7686_0_4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734" y="424672"/>
            <a:ext cx="12791764" cy="1279045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f8342f7686_0_44"/>
          <p:cNvSpPr/>
          <p:nvPr/>
        </p:nvSpPr>
        <p:spPr>
          <a:xfrm>
            <a:off x="3099187" y="-2235200"/>
            <a:ext cx="18201300" cy="18199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f8342f7686_0_44"/>
          <p:cNvSpPr/>
          <p:nvPr/>
        </p:nvSpPr>
        <p:spPr>
          <a:xfrm>
            <a:off x="6617527" y="4038600"/>
            <a:ext cx="11164800" cy="6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121"/>
              </a:lnSpc>
              <a:spcBef>
                <a:spcPts val="0"/>
              </a:spcBef>
              <a:spcAft>
                <a:spcPts val="0"/>
              </a:spcAft>
              <a:buClr>
                <a:srgbClr val="BDBFC7"/>
              </a:buClr>
              <a:buSzPts val="13200"/>
              <a:buFont typeface="Encode Sans"/>
              <a:buNone/>
            </a:pPr>
            <a:r>
              <a:rPr lang="pt-BR" sz="13200" b="0" i="0" u="none" strike="noStrike" cap="none">
                <a:solidFill>
                  <a:srgbClr val="BDBFC7"/>
                </a:solidFill>
                <a:latin typeface="Encode Sans"/>
                <a:ea typeface="Encode Sans"/>
                <a:cs typeface="Encode Sans"/>
                <a:sym typeface="Encode Sans"/>
              </a:rPr>
              <a:t>Repetir vídeo: 100% verificável em código.</a:t>
            </a:r>
            <a:endParaRPr sz="13200" b="0" i="0" u="none" strike="noStrike" cap="none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77" name="Google Shape;277;g3f8342f7686_0_44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g3f8342f7686_0_44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f8342f7686_0_44" descr="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8944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f8342f7686_0_102"/>
          <p:cNvSpPr/>
          <p:nvPr/>
        </p:nvSpPr>
        <p:spPr>
          <a:xfrm>
            <a:off x="2426003" y="3149600"/>
            <a:ext cx="9983400" cy="74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g3f8342f7686_0_102"/>
          <p:cNvSpPr/>
          <p:nvPr/>
        </p:nvSpPr>
        <p:spPr>
          <a:xfrm>
            <a:off x="2426003" y="3149600"/>
            <a:ext cx="11159400" cy="26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BFC7"/>
              </a:buClr>
              <a:buSzPts val="8800"/>
              <a:buFont typeface="Encode Sans"/>
              <a:buNone/>
            </a:pPr>
            <a:r>
              <a:rPr lang="pt-BR" sz="8800" b="0" i="0" u="none" strike="noStrike" cap="none">
                <a:solidFill>
                  <a:srgbClr val="BDBFC7"/>
                </a:solidFill>
                <a:latin typeface="Encode Sans"/>
                <a:ea typeface="Encode Sans"/>
                <a:cs typeface="Encode Sans"/>
                <a:sym typeface="Encode Sans"/>
              </a:rPr>
              <a:t>O documento final</a:t>
            </a:r>
            <a:endParaRPr sz="8800" b="0" i="0" u="none" strike="noStrike" cap="none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596" name="Google Shape;596;g3f8342f7686_0_102"/>
          <p:cNvSpPr/>
          <p:nvPr/>
        </p:nvSpPr>
        <p:spPr>
          <a:xfrm>
            <a:off x="2426003" y="6502400"/>
            <a:ext cx="99834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f8342f7686_0_102"/>
          <p:cNvSpPr/>
          <p:nvPr/>
        </p:nvSpPr>
        <p:spPr>
          <a:xfrm>
            <a:off x="2426003" y="6502400"/>
            <a:ext cx="998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g3f8342f7686_0_102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6003" y="6502400"/>
            <a:ext cx="711289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g3f8342f7686_0_102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8783" y="6671734"/>
            <a:ext cx="465723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g3f8342f7686_0_102"/>
          <p:cNvSpPr/>
          <p:nvPr/>
        </p:nvSpPr>
        <p:spPr>
          <a:xfrm>
            <a:off x="3645356" y="6502400"/>
            <a:ext cx="99399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A7A9B4"/>
              </a:buClr>
              <a:buSzPts val="3600"/>
              <a:buFont typeface="Roboto"/>
              <a:buNone/>
            </a:pPr>
            <a:r>
              <a:rPr lang="pt-BR" sz="3600" b="0" i="0" u="none" strike="noStrike" cap="none">
                <a:solidFill>
                  <a:srgbClr val="A7A9B4"/>
                </a:solidFill>
                <a:latin typeface="Roboto"/>
                <a:ea typeface="Roboto"/>
                <a:cs typeface="Roboto"/>
                <a:sym typeface="Roboto"/>
              </a:rPr>
              <a:t>Menos o que já é código: a URL real</a:t>
            </a:r>
            <a:endParaRPr sz="3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g3f8342f7686_0_102"/>
          <p:cNvSpPr/>
          <p:nvPr/>
        </p:nvSpPr>
        <p:spPr>
          <a:xfrm>
            <a:off x="2426003" y="8178800"/>
            <a:ext cx="9983400" cy="7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2" name="Google Shape;602;g3f8342f7686_0_102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6003" y="7989147"/>
            <a:ext cx="711289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f8342f7686_0_102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8783" y="8331200"/>
            <a:ext cx="465723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g3f8342f7686_0_102"/>
          <p:cNvSpPr/>
          <p:nvPr/>
        </p:nvSpPr>
        <p:spPr>
          <a:xfrm>
            <a:off x="3645356" y="8172450"/>
            <a:ext cx="92631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A7A9B4"/>
              </a:buClr>
              <a:buSzPts val="3600"/>
              <a:buFont typeface="Roboto"/>
              <a:buNone/>
            </a:pPr>
            <a:r>
              <a:rPr lang="pt-BR" sz="3600" b="0" i="0" u="none" strike="noStrike" cap="none">
                <a:solidFill>
                  <a:srgbClr val="A7A9B4"/>
                </a:solidFill>
                <a:latin typeface="Roboto"/>
                <a:ea typeface="Roboto"/>
                <a:cs typeface="Roboto"/>
                <a:sym typeface="Roboto"/>
              </a:rPr>
              <a:t>Mais o que o dado real mostrou: a repetição</a:t>
            </a:r>
            <a:endParaRPr sz="3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5" name="Google Shape;605;g3f8342f7686_0_102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6003" y="9761538"/>
            <a:ext cx="711289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f8342f7686_0_102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8783" y="10349548"/>
            <a:ext cx="465723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g3f8342f7686_0_102"/>
          <p:cNvSpPr/>
          <p:nvPr/>
        </p:nvSpPr>
        <p:spPr>
          <a:xfrm>
            <a:off x="3645356" y="10349548"/>
            <a:ext cx="92631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A7A9B4"/>
              </a:buClr>
              <a:buSzPts val="3600"/>
              <a:buFont typeface="Roboto"/>
              <a:buNone/>
            </a:pPr>
            <a:r>
              <a:rPr lang="pt-BR" sz="3600" b="0" i="0" u="none" strike="noStrike" cap="none">
                <a:solidFill>
                  <a:srgbClr val="A7A9B4"/>
                </a:solidFill>
                <a:latin typeface="Roboto"/>
                <a:ea typeface="Roboto"/>
                <a:cs typeface="Roboto"/>
                <a:sym typeface="Roboto"/>
              </a:rPr>
              <a:t>Um documento só — não quatro em disputa</a:t>
            </a:r>
            <a:endParaRPr sz="36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1" name="Google Shape;611;g3f8342f7686_0_102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3BA6F74-77D1-D7A7-3BE3-CCACB6707E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09055" y="-818896"/>
            <a:ext cx="9478119" cy="16981630"/>
          </a:xfrm>
          <a:prstGeom prst="rect">
            <a:avLst/>
          </a:prstGeom>
        </p:spPr>
      </p:pic>
      <p:sp>
        <p:nvSpPr>
          <p:cNvPr id="5" name="Google Shape;389;g3f3dd40fd11_1_233">
            <a:extLst>
              <a:ext uri="{FF2B5EF4-FFF2-40B4-BE49-F238E27FC236}">
                <a16:creationId xmlns:a16="http://schemas.microsoft.com/office/drawing/2014/main" id="{B10402B1-9C83-974D-8A05-1C4951792A36}"/>
              </a:ext>
            </a:extLst>
          </p:cNvPr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390;g3f3dd40fd11_1_233" descr=" ">
            <a:extLst>
              <a:ext uri="{FF2B5EF4-FFF2-40B4-BE49-F238E27FC236}">
                <a16:creationId xmlns:a16="http://schemas.microsoft.com/office/drawing/2014/main" id="{AC25A756-7848-2209-FA35-C81E6BC68BD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95;g3f3dd40fd11_1_233" descr=" ">
            <a:extLst>
              <a:ext uri="{FF2B5EF4-FFF2-40B4-BE49-F238E27FC236}">
                <a16:creationId xmlns:a16="http://schemas.microsoft.com/office/drawing/2014/main" id="{E6E34C37-16D9-CB5F-9FD8-14D93CBA4E2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908911" y="-1098467"/>
            <a:ext cx="3651919" cy="15201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0086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3dd40fd11_1_233"/>
          <p:cNvSpPr/>
          <p:nvPr/>
        </p:nvSpPr>
        <p:spPr>
          <a:xfrm>
            <a:off x="2426003" y="3149600"/>
            <a:ext cx="9983400" cy="74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f3dd40fd11_1_233"/>
          <p:cNvSpPr/>
          <p:nvPr/>
        </p:nvSpPr>
        <p:spPr>
          <a:xfrm>
            <a:off x="2426000" y="3893102"/>
            <a:ext cx="11159400" cy="19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BFC7"/>
              </a:buClr>
              <a:buSzPts val="8800"/>
              <a:buFont typeface="Encode Sans"/>
              <a:buNone/>
            </a:pPr>
            <a:r>
              <a:rPr lang="en-US" sz="8800" b="0" i="0" u="none" strike="noStrike" cap="none">
                <a:solidFill>
                  <a:srgbClr val="BDBFC7"/>
                </a:solidFill>
                <a:latin typeface="Encode Sans"/>
                <a:ea typeface="Encode Sans"/>
                <a:cs typeface="Encode Sans"/>
                <a:sym typeface="Encode Sans"/>
              </a:rPr>
              <a:t>O juiz, em código</a:t>
            </a:r>
            <a:endParaRPr sz="8800" b="0" i="0" u="none" strike="noStrike" cap="none">
              <a:solidFill>
                <a:srgbClr val="A7A9B4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8" name="Google Shape;378;g3f3dd40fd11_1_233"/>
          <p:cNvSpPr/>
          <p:nvPr/>
        </p:nvSpPr>
        <p:spPr>
          <a:xfrm>
            <a:off x="2426003" y="6502400"/>
            <a:ext cx="99834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f3dd40fd11_1_233"/>
          <p:cNvSpPr/>
          <p:nvPr/>
        </p:nvSpPr>
        <p:spPr>
          <a:xfrm>
            <a:off x="2426003" y="6502400"/>
            <a:ext cx="998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0" name="Google Shape;380;g3f3dd40fd11_1_233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6003" y="6502400"/>
            <a:ext cx="711289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g3f3dd40fd11_1_23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8783" y="7015692"/>
            <a:ext cx="465723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f3dd40fd11_1_233"/>
          <p:cNvSpPr/>
          <p:nvPr/>
        </p:nvSpPr>
        <p:spPr>
          <a:xfrm>
            <a:off x="3645356" y="6846358"/>
            <a:ext cx="99399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A7A9B4"/>
              </a:buClr>
              <a:buSzPts val="3600"/>
              <a:buFont typeface="Roboto"/>
              <a:buNone/>
            </a:pPr>
            <a:r>
              <a:rPr lang="pt-BR" sz="3600" b="0" i="0" u="none" strike="noStrike" cap="none">
                <a:solidFill>
                  <a:srgbClr val="A7A9B4"/>
                </a:solidFill>
                <a:latin typeface="Roboto"/>
                <a:ea typeface="Roboto"/>
                <a:cs typeface="Roboto"/>
                <a:sym typeface="Roboto"/>
              </a:rPr>
              <a:t>OPERACOES ganha o novo nome</a:t>
            </a:r>
            <a:endParaRPr sz="3600" b="0" i="0" u="none" strike="noStrike" cap="none">
              <a:solidFill>
                <a:srgbClr val="A7A9B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g3f3dd40fd11_1_233"/>
          <p:cNvSpPr/>
          <p:nvPr/>
        </p:nvSpPr>
        <p:spPr>
          <a:xfrm>
            <a:off x="2426003" y="8178800"/>
            <a:ext cx="9983400" cy="7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g3f3dd40fd11_1_233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6003" y="7989147"/>
            <a:ext cx="711289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3f3dd40fd11_1_23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8783" y="8331200"/>
            <a:ext cx="465723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f3dd40fd11_1_233"/>
          <p:cNvSpPr/>
          <p:nvPr/>
        </p:nvSpPr>
        <p:spPr>
          <a:xfrm>
            <a:off x="3645356" y="8267700"/>
            <a:ext cx="92631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A7A9B4"/>
              </a:buClr>
              <a:buSzPts val="3600"/>
              <a:buFont typeface="Roboto"/>
              <a:buNone/>
            </a:pPr>
            <a:r>
              <a:rPr lang="pt-BR" sz="3600" b="0" i="0" u="none" strike="noStrike" cap="none">
                <a:solidFill>
                  <a:srgbClr val="A7A9B4"/>
                </a:solidFill>
                <a:latin typeface="Roboto"/>
                <a:ea typeface="Roboto"/>
                <a:cs typeface="Roboto"/>
                <a:sym typeface="Roboto"/>
              </a:rPr>
              <a:t>Sinal de repetição: 100% em código</a:t>
            </a:r>
            <a:endParaRPr sz="3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g3f3dd40fd11_1_233"/>
          <p:cNvSpPr/>
          <p:nvPr/>
        </p:nvSpPr>
        <p:spPr>
          <a:xfrm>
            <a:off x="2426003" y="9796000"/>
            <a:ext cx="998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g3f3dd40fd11_1_233" title="Gemini_Generated_Image_bb831nbb831nbb83.png"/>
          <p:cNvPicPr preferRelativeResize="0"/>
          <p:nvPr/>
        </p:nvPicPr>
        <p:blipFill rotWithShape="1">
          <a:blip r:embed="rId5">
            <a:alphaModFix amt="67000"/>
          </a:blip>
          <a:srcRect l="30151" r="30151"/>
          <a:stretch/>
        </p:blipFill>
        <p:spPr>
          <a:xfrm>
            <a:off x="14913150" y="0"/>
            <a:ext cx="12108600" cy="14913900"/>
          </a:xfrm>
          <a:prstGeom prst="chord">
            <a:avLst>
              <a:gd name="adj1" fmla="val 2700000"/>
              <a:gd name="adj2" fmla="val 16838019"/>
            </a:avLst>
          </a:prstGeom>
          <a:noFill/>
          <a:ln>
            <a:noFill/>
          </a:ln>
        </p:spPr>
      </p:pic>
      <p:sp>
        <p:nvSpPr>
          <p:cNvPr id="389" name="Google Shape;389;g3f3dd40fd11_1_233"/>
          <p:cNvSpPr/>
          <p:nvPr/>
        </p:nvSpPr>
        <p:spPr>
          <a:xfrm>
            <a:off x="23433139" y="406400"/>
            <a:ext cx="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g3f3dd40fd11_1_233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433139" y="406400"/>
            <a:ext cx="476942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g3f3dd40fd11_1_233" descr="Ícone&#10;&#10;O conteúdo gerado por IA pode estar incorreto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f3dd40fd11_1_233"/>
          <p:cNvSpPr/>
          <p:nvPr/>
        </p:nvSpPr>
        <p:spPr>
          <a:xfrm>
            <a:off x="2447756" y="5056608"/>
            <a:ext cx="99399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A7A9B4"/>
              </a:buClr>
              <a:buSzPts val="3600"/>
              <a:buFont typeface="Roboto"/>
              <a:buNone/>
            </a:pPr>
            <a:r>
              <a:rPr lang="pt-BR" sz="3600" b="0" i="0" u="none" strike="noStrike" cap="none">
                <a:solidFill>
                  <a:srgbClr val="A7A9B4"/>
                </a:solidFill>
                <a:latin typeface="Roboto"/>
                <a:ea typeface="Roboto"/>
                <a:cs typeface="Roboto"/>
                <a:sym typeface="Roboto"/>
              </a:rPr>
              <a:t>Mesmo padrão: tool_choice forçado</a:t>
            </a:r>
            <a:endParaRPr sz="3600" b="0" i="0" u="none" strike="noStrike" cap="none">
              <a:solidFill>
                <a:srgbClr val="A7A9B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3" name="Google Shape;393;g3f3dd40fd11_1_23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8783" y="10200852"/>
            <a:ext cx="465723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f3dd40fd11_1_233"/>
          <p:cNvSpPr/>
          <p:nvPr/>
        </p:nvSpPr>
        <p:spPr>
          <a:xfrm>
            <a:off x="3645356" y="9728200"/>
            <a:ext cx="92631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A7A9B4"/>
              </a:buClr>
              <a:buSzPts val="3600"/>
              <a:buFont typeface="Roboto"/>
              <a:buNone/>
            </a:pPr>
            <a:r>
              <a:rPr lang="pt-BR" sz="3600" b="0" i="0" u="none" strike="noStrike" cap="none">
                <a:solidFill>
                  <a:srgbClr val="A7A9B4"/>
                </a:solidFill>
                <a:latin typeface="Roboto"/>
                <a:ea typeface="Roboto"/>
                <a:cs typeface="Roboto"/>
                <a:sym typeface="Roboto"/>
              </a:rPr>
              <a:t>O juiz só lê o sinal pronto</a:t>
            </a:r>
            <a:endParaRPr sz="3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5" name="Google Shape;395;g3f3dd40fd11_1_233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951193">
            <a:off x="23598290" y="-1695429"/>
            <a:ext cx="3651919" cy="15201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8154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8342f7686_0_44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g3f8342f7686_0_44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0252" y="462769"/>
            <a:ext cx="12791764" cy="1279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f8342f7686_0_4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734" y="424672"/>
            <a:ext cx="12791764" cy="1279045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f8342f7686_0_44"/>
          <p:cNvSpPr/>
          <p:nvPr/>
        </p:nvSpPr>
        <p:spPr>
          <a:xfrm>
            <a:off x="3099187" y="-2235200"/>
            <a:ext cx="18201300" cy="18199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f8342f7686_0_44"/>
          <p:cNvSpPr/>
          <p:nvPr/>
        </p:nvSpPr>
        <p:spPr>
          <a:xfrm>
            <a:off x="6617527" y="4038600"/>
            <a:ext cx="11164800" cy="6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121"/>
              </a:lnSpc>
              <a:spcBef>
                <a:spcPts val="0"/>
              </a:spcBef>
              <a:spcAft>
                <a:spcPts val="0"/>
              </a:spcAft>
              <a:buClr>
                <a:srgbClr val="BDBFC7"/>
              </a:buClr>
              <a:buSzPts val="13200"/>
              <a:buFont typeface="Encode Sans"/>
              <a:buNone/>
            </a:pPr>
            <a:r>
              <a:rPr lang="pt-BR" sz="13200" b="0" i="0" u="none" strike="noStrike" cap="none">
                <a:solidFill>
                  <a:srgbClr val="BDBFC7"/>
                </a:solidFill>
                <a:latin typeface="Encode Sans"/>
                <a:ea typeface="Encode Sans"/>
                <a:cs typeface="Encode Sans"/>
                <a:sym typeface="Encode Sans"/>
              </a:rPr>
              <a:t>Isso aqui é simulado.</a:t>
            </a:r>
            <a:endParaRPr sz="13200" b="0" i="0" u="none" strike="noStrike" cap="none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77" name="Google Shape;277;g3f8342f7686_0_44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g3f8342f7686_0_44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f8342f7686_0_44" descr="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1041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8342f7686_0_44"/>
          <p:cNvSpPr/>
          <p:nvPr/>
        </p:nvSpPr>
        <p:spPr>
          <a:xfrm>
            <a:off x="-165904" y="-150471"/>
            <a:ext cx="24692700" cy="14040000"/>
          </a:xfrm>
          <a:prstGeom prst="rect">
            <a:avLst/>
          </a:prstGeom>
          <a:solidFill>
            <a:srgbClr val="052F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g3f8342f7686_0_44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0252" y="462769"/>
            <a:ext cx="12791764" cy="1279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f8342f7686_0_4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734" y="424672"/>
            <a:ext cx="12791764" cy="1279045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f8342f7686_0_44"/>
          <p:cNvSpPr/>
          <p:nvPr/>
        </p:nvSpPr>
        <p:spPr>
          <a:xfrm>
            <a:off x="3099187" y="-2235200"/>
            <a:ext cx="18201300" cy="18199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f8342f7686_0_44"/>
          <p:cNvSpPr/>
          <p:nvPr/>
        </p:nvSpPr>
        <p:spPr>
          <a:xfrm>
            <a:off x="6617527" y="2263140"/>
            <a:ext cx="11164800" cy="797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121"/>
              </a:lnSpc>
              <a:spcBef>
                <a:spcPts val="0"/>
              </a:spcBef>
              <a:spcAft>
                <a:spcPts val="0"/>
              </a:spcAft>
              <a:buClr>
                <a:srgbClr val="BDBFC7"/>
              </a:buClr>
              <a:buSzPts val="13200"/>
              <a:buFont typeface="Encode Sans"/>
              <a:buNone/>
            </a:pPr>
            <a:r>
              <a:rPr lang="pt-BR" sz="13200" b="0" i="0" u="none" strike="noStrike" cap="none" dirty="0">
                <a:solidFill>
                  <a:srgbClr val="BDBFC7"/>
                </a:solidFill>
                <a:latin typeface="Encode Sans"/>
                <a:ea typeface="Encode Sans"/>
                <a:cs typeface="Encode Sans"/>
                <a:sym typeface="Encode Sans"/>
              </a:rPr>
              <a:t>Eu sei o que procurar. Agora falta enxergar.</a:t>
            </a:r>
            <a:endParaRPr sz="13200" b="0" i="0" u="none" strike="noStrike" cap="none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77" name="Google Shape;277;g3f8342f7686_0_44"/>
          <p:cNvSpPr/>
          <p:nvPr/>
        </p:nvSpPr>
        <p:spPr>
          <a:xfrm>
            <a:off x="23434429" y="406400"/>
            <a:ext cx="474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g3f8342f7686_0_44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434429" y="406400"/>
            <a:ext cx="474375" cy="59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f8342f7686_0_44" descr="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202249" y="-8621"/>
            <a:ext cx="1568332" cy="10010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8406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1532</Words>
  <Application>Microsoft Office PowerPoint</Application>
  <PresentationFormat>Personalizar</PresentationFormat>
  <Paragraphs>108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Encode Sans</vt:lpstr>
      <vt:lpstr>Roboto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Stephanie Oliveira</cp:lastModifiedBy>
  <cp:revision>14</cp:revision>
  <dcterms:created xsi:type="dcterms:W3CDTF">2026-05-21T14:37:33Z</dcterms:created>
  <dcterms:modified xsi:type="dcterms:W3CDTF">2026-09-16T18:49:03Z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0x0101004E133AF67FF10146B05A1D97AC567966</vt:lpwstr>
  </property>
  <property fmtid="{D5CDD505-2E9C-101B-9397-08002B2CF9AE}" pid="3" name="MediaServiceImageTags">
    <vt:lpwstr/>
  </property>
</Properties>
</file>