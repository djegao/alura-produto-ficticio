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76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24387175" cy="13716000"/>
  <p:notesSz cx="13716000" cy="2438717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9" d="100"/>
          <a:sy n="59" d="100"/>
        </p:scale>
        <p:origin x="312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64124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Ciclo completo ao vivo: detectar, diagnosticar, corrigir.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3.1. Segure 2 segundos em silencio antes de comecar a falar: e por esta tela que a edicao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3.2. Segure 2 segundos em silencio antes de comecar a falar: e por esta tela que a edicao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AB1DE-1E08-8DDA-3CC1-0DA83B92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262EF-C010-B16A-138C-26BECC159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F9B896-1BBE-20C9-8812-B031E6BF8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Ciclo completo ao vivo: detectar, diagnosticar, corrigir.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7159F-B005-792B-4841-2A686D8DD3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544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3.3. Segure 2 segundos em silencio antes de comecar a falar: e por esta tela que a edicao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3.4. Segure 2 segundos em silencio antes de comecar a falar: e por esta tela que a edicao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3.5. Segure 2 segundos em silencio antes de comecar a falar: e por esta tela que a edicao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0"/>
            <a:ext cx="16294608" cy="13716000"/>
          </a:xfrm>
          <a:prstGeom prst="rect">
            <a:avLst/>
          </a:prstGeom>
        </p:spPr>
      </p:pic>
      <p:pic>
        <p:nvPicPr>
          <p:cNvPr id="4" name="Image 2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423160" y="187452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30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EVALS, OBSERVABILIDADE E CONFORMIDADE</a:t>
            </a: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2423160" y="2697480"/>
            <a:ext cx="13167360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Observabilidade:</a:t>
            </a:r>
            <a:endParaRPr lang="en-US" sz="10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monitorando</a:t>
            </a:r>
            <a:endParaRPr lang="en-US" sz="10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em produção</a:t>
            </a:r>
            <a:endParaRPr lang="en-US" sz="10400" dirty="0"/>
          </a:p>
        </p:txBody>
      </p:sp>
      <p:sp>
        <p:nvSpPr>
          <p:cNvPr id="7" name="Text 2"/>
          <p:cNvSpPr txBox="1"/>
          <p:nvPr/>
        </p:nvSpPr>
        <p:spPr>
          <a:xfrm>
            <a:off x="2423160" y="8732520"/>
            <a:ext cx="1362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A7A9B4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3 — lendo os dados reais do meu produto no Langfuse</a:t>
            </a:r>
            <a:endParaRPr lang="en-US" sz="3800" dirty="0"/>
          </a:p>
        </p:txBody>
      </p:sp>
      <p:sp>
        <p:nvSpPr>
          <p:cNvPr id="8" name="Text 3"/>
          <p:cNvSpPr txBox="1"/>
          <p:nvPr/>
        </p:nvSpPr>
        <p:spPr>
          <a:xfrm>
            <a:off x="2423160" y="10744200"/>
            <a:ext cx="1389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Dados reais: 61 interações, 31/07 a 28/08, US$ 1,88 acumulado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F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3.1 O que é observabilidade?</a:t>
            </a:r>
            <a:endParaRPr lang="en-US" sz="9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Eu não vejo o que meu produto faz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Depois que o produto está no ar, ele conversa com gente que eu não vejo, na hora em que eu não estou.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 responde “o que aconteceu aqui” — um evento solto, e só se alguém lembrou de registrar.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Observabilidade é conseguir reconstruir por que aconteceu, sem ter estado olhando na hora.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 regra que eu adotei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Nenhuma chamada da inteligência pode acontecer sem deixar rastro.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Não é enfeite: é a condição para eu conseguir responder qualquer pergunta depois.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 o rastro começa tarde, o que aconteceu antes some — e some em silêncio.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Desligar o rastro não quebra o produto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 a observabilidade desligada, o produto continua funcionando normalmente.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usuário não percebe nada. Quem fica cego é você.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 por isso que ninguém cobra isso de você: não quebra o produto, quebra a sua capacidade de saber o que ele faz.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2F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3.2 Conhecendo o Langfuse</a:t>
            </a:r>
            <a:endParaRPr lang="en-US" sz="9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91ED9-A211-0295-1477-E82A4C22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
            <a:extLst>
              <a:ext uri="{FF2B5EF4-FFF2-40B4-BE49-F238E27FC236}">
                <a16:creationId xmlns:a16="http://schemas.microsoft.com/office/drawing/2014/main" id="{0DE3EE38-D44F-B202-FAE1-81B2A180B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capa.png">
            <a:extLst>
              <a:ext uri="{FF2B5EF4-FFF2-40B4-BE49-F238E27FC236}">
                <a16:creationId xmlns:a16="http://schemas.microsoft.com/office/drawing/2014/main" id="{AAD3F2FB-967D-3972-83A0-F6622874F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0"/>
            <a:ext cx="16294608" cy="13716000"/>
          </a:xfrm>
          <a:prstGeom prst="rect">
            <a:avLst/>
          </a:prstGeom>
        </p:spPr>
      </p:pic>
      <p:pic>
        <p:nvPicPr>
          <p:cNvPr id="4" name="Image 2" descr="C:\Users\PCSTUD~1\AppData\Local\Temp\claude\C--Users-PC-Studio-2-Desktop-6498-Evals\7ce78c02-4c99-40d4-bc57-5394098065c6\scratchpad\art\logo.png">
            <a:extLst>
              <a:ext uri="{FF2B5EF4-FFF2-40B4-BE49-F238E27FC236}">
                <a16:creationId xmlns:a16="http://schemas.microsoft.com/office/drawing/2014/main" id="{F91975FC-462C-A787-95B7-D32F518A8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E7FDA8CD-294D-6085-5F73-702612AF61D1}"/>
              </a:ext>
            </a:extLst>
          </p:cNvPr>
          <p:cNvSpPr txBox="1"/>
          <p:nvPr/>
        </p:nvSpPr>
        <p:spPr>
          <a:xfrm>
            <a:off x="2423160" y="187452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30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EVALS, OBSERVABILIDADE E CONFORMIDADE</a:t>
            </a:r>
            <a:endParaRPr lang="en-US" sz="22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39D1E998-DC01-0CD7-37F2-7CE0FD457AA5}"/>
              </a:ext>
            </a:extLst>
          </p:cNvPr>
          <p:cNvSpPr txBox="1"/>
          <p:nvPr/>
        </p:nvSpPr>
        <p:spPr>
          <a:xfrm>
            <a:off x="2423160" y="2697480"/>
            <a:ext cx="13167360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Observabilidade:</a:t>
            </a:r>
            <a:endParaRPr lang="en-US" sz="10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monitorando</a:t>
            </a:r>
            <a:endParaRPr lang="en-US" sz="10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em produção</a:t>
            </a:r>
            <a:endParaRPr lang="en-US" sz="104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018670F-3F31-E639-CF49-86A37E2286B9}"/>
              </a:ext>
            </a:extLst>
          </p:cNvPr>
          <p:cNvSpPr txBox="1"/>
          <p:nvPr/>
        </p:nvSpPr>
        <p:spPr>
          <a:xfrm>
            <a:off x="2423160" y="8732520"/>
            <a:ext cx="1362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A7A9B4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3 — lendo os dados reais do meu produto no Langfuse</a:t>
            </a:r>
            <a:endParaRPr lang="en-US" sz="380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E61C69C2-987C-CB2C-6634-4D7BD77D998E}"/>
              </a:ext>
            </a:extLst>
          </p:cNvPr>
          <p:cNvSpPr txBox="1"/>
          <p:nvPr/>
        </p:nvSpPr>
        <p:spPr>
          <a:xfrm>
            <a:off x="2423160" y="10744200"/>
            <a:ext cx="1389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Dados reais: 61 interações, 31/07 a 28/08, US$ 1,88 acumulado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400972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Três palavras para navegar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Interação: uma conversa inteira, do pedido até a resposta. É a unidade que você abre.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Passo: cada coisa que aconteceu dentro dela — consultar o estoque, pensar, responder.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Nota: a avaliação que a gente escreveu de volta na aula passada. Hoje são 39 notas em 9 interações.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852220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850392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 essas três você navega sozinha: abre a conversa, vê por dentro, e sabe se ela foi boa.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Ligando no seu produto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 chaves saem do próprio Langfuse, na área de configurações do projeto.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São três valores que você copia e cola no arquivo de configuração do seu produto.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 a parte mais fácil da aula inteira — e a que mais gente deixa para depois.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Antes e depois, ao vivo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Desligo a observabilidade e uso o produto: funciona igual, e não aparece nada no painel.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Ligo de novo e faço exatamente a mesma coisa: agora a interação aparece inteira.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Espere uns 45 segundos até o registro ficar visível. Não é erro — é a fila de chegada.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2F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3.3 Lendo os dados de produção</a:t>
            </a:r>
            <a:endParaRPr lang="en-US" sz="9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0429BC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3.3 — DADOS REAIS</a:t>
            </a:r>
            <a:endParaRPr lang="en-US" sz="21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2880360"/>
            <a:ext cx="1874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400" dirty="0">
                <a:solidFill>
                  <a:srgbClr val="0C0C0E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61 interações, US$ 1,88 acumulado</a:t>
            </a:r>
            <a:endParaRPr lang="en-US" sz="6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23160" y="5029200"/>
          <a:ext cx="19540728" cy="9144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159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 que o produto faz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quantas vezes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custo por vez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demora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% do custo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Mediar o cardápio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12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US$ 0,1184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51,2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76 %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Sugerir receita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7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US$ 0,0324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34,1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12 %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Entender um relato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US$ 0,0048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2,5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Receita premium da semana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US$ 0,0085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5,8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Ler uma nota fiscal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US$ 0,0080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3,9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2423160" y="10607040"/>
            <a:ext cx="19540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7B7F8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Três quartos da conta em um quinto das chamadas.</a:t>
            </a:r>
            <a:endParaRPr lang="en-US" sz="2600" dirty="0"/>
          </a:p>
        </p:txBody>
      </p:sp>
      <p:sp>
        <p:nvSpPr>
          <p:cNvPr id="7" name="Text 3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B7F8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20% das chamadas, 76% da conta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Mediador de cardápio não é o mais usado — é o mais caro por uso.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 quinto das chamadas do produto, três quartos de tudo que eu pago.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Esse tipo de conclusão só aparece olhando o conjunto. Uma conversa por vez nunca mostraria isso.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0429BC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3.3 — COMPARAÇÃO</a:t>
            </a:r>
            <a:endParaRPr lang="en-US" sz="21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2880360"/>
            <a:ext cx="1874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400" dirty="0">
                <a:solidFill>
                  <a:srgbClr val="0C0C0E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Mesma tarefa, dois modelos</a:t>
            </a:r>
            <a:endParaRPr lang="en-US" sz="6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23160" y="5029200"/>
          <a:ext cx="19540728" cy="914400"/>
        </p:xfrm>
        <a:graphic>
          <a:graphicData uri="http://schemas.openxmlformats.org/drawingml/2006/table">
            <a:tbl>
              <a:tblPr/>
              <a:tblGrid>
                <a:gridCol w="6766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Modelo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quantas vezes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custo por vez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demora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Haiku (mais barato)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US$ 0,00293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1,17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Sonnet (mais caro)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US$ 0,00563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2,99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2423160" y="10607040"/>
            <a:ext cx="19540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7B7F8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Quase o dobro do preço e quase três vezes mais lento — para o mesmo resultado.</a:t>
            </a:r>
            <a:endParaRPr lang="en-US" sz="2600" dirty="0"/>
          </a:p>
        </p:txBody>
      </p:sp>
      <p:sp>
        <p:nvSpPr>
          <p:cNvPr id="7" name="Text 3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B7F8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2F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3.4 Padrões de falha</a:t>
            </a:r>
            <a:endParaRPr lang="en-US" sz="9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Quatro falhas que eu achei olhando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Uma resposta cortada no meio de uma palavra, porque bateu num limite que eu mesmo configurei.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 erro engolido: o produto teve problema, devolveu uma lista vazia e seguiu como se nada fosse.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Duas falhas no canal do Telegram: uma apagou a própria evidência, a outra não deixou evidência nenhuma.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852220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850392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uma em que a inteligência acertou tudo, e mesmo assim o estoque ficou errado.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 resposta cortada no meio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assinatura é fácil de reconhecer: a resposta simplesmente termina no meio de uma palavra.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Acontece quando o pedido cresce e a resposta não cabe mais no limite configurado.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Deixei sem corrigir de propósito — reproduzir isso ao vivo é o conteúdo da próxima aula.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3.4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as quatro têm em comum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Nenhuma delas gritou.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Nenhum usuário reclamou de nenhuma das quatro.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Cada uma precisou de alguém olhando o dado certo, com a pergunta certa — e esse alguém é você.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52F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3.5 O que aprendemos?</a:t>
            </a:r>
            <a:endParaRPr lang="en-US" sz="9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kern="0" spc="25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FECHAMENTO DA AULA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aprendemos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Observabilidade é reconstruir a causa, não só registrar o evento.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Interação, passo e nota são o vocabulário que você precisa para navegar o painel sozinha.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 dado real dá para ver para onde o dinheiro está indo — e onde trocar de modelo compensa.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852220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850392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Quatro falhas documentadas, nenhuma descoberta por reclamação de usuário.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3 — Observabilidade: monitorando em produção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10C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5029200"/>
            <a:ext cx="19540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30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3 CONCLUÍDA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5989320"/>
            <a:ext cx="17830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Ver o dado não é</a:t>
            </a:r>
            <a:endParaRPr lang="en-US" sz="78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abstrato — vira uma</a:t>
            </a:r>
            <a:endParaRPr lang="en-US" sz="78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conta que fecha.</a:t>
            </a:r>
            <a:endParaRPr lang="en-US" sz="7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Encode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1348</Words>
  <Application>Microsoft Office PowerPoint</Application>
  <PresentationFormat>Personalizar</PresentationFormat>
  <Paragraphs>204</Paragraphs>
  <Slides>21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5" baseType="lpstr">
      <vt:lpstr>Arial</vt:lpstr>
      <vt:lpstr>Encode Sans</vt:lpstr>
      <vt:lpstr>Roboto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Producao Video Ops</cp:lastModifiedBy>
  <cp:revision>2</cp:revision>
  <dcterms:created xsi:type="dcterms:W3CDTF">2026-08-29T20:04:43Z</dcterms:created>
  <dcterms:modified xsi:type="dcterms:W3CDTF">2026-08-29T20:29:45Z</dcterms:modified>
</cp:coreProperties>
</file>