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24387048" cy="13716000"/>
  <p:notesSz cx="13716000" cy="2438704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Ciclo completo ao vivo: detectar, diagnosticar, corrigir.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3.1.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3.2.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3.3.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3.4.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3.5.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3.png"/><Relationship Id="rId5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3.png"/><Relationship Id="rId5" Type="http://schemas.openxmlformats.org/officeDocument/2006/relationships/image" Target="../media/image-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3.png"/><Relationship Id="rId5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3.png"/><Relationship Id="rId5" Type="http://schemas.openxmlformats.org/officeDocument/2006/relationships/image" Target="../media/image-7-3.png"/><Relationship Id="rId6" Type="http://schemas.openxmlformats.org/officeDocument/2006/relationships/image" Target="../media/image-7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3.png"/><Relationship Id="rId5" Type="http://schemas.openxmlformats.org/officeDocument/2006/relationships/image" Target="../media/image-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3.png"/><Relationship Id="rId5" Type="http://schemas.openxmlformats.org/officeDocument/2006/relationships/image" Target="../media/image-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3.png"/><Relationship Id="rId5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3.png"/><Relationship Id="rId5" Type="http://schemas.openxmlformats.org/officeDocument/2006/relationships/image" Target="../media/image-1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3.png"/><Relationship Id="rId5" Type="http://schemas.openxmlformats.org/officeDocument/2006/relationships/image" Target="../media/image-15-3.png"/><Relationship Id="rId6" Type="http://schemas.openxmlformats.org/officeDocument/2006/relationships/image" Target="../media/image-15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3.png"/><Relationship Id="rId5" Type="http://schemas.openxmlformats.org/officeDocument/2006/relationships/image" Target="../media/image-1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3.png"/><Relationship Id="rId5" Type="http://schemas.openxmlformats.org/officeDocument/2006/relationships/image" Target="../media/image-1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3.png"/><Relationship Id="rId5" Type="http://schemas.openxmlformats.org/officeDocument/2006/relationships/image" Target="../media/image-19-3.png"/><Relationship Id="rId6" Type="http://schemas.openxmlformats.org/officeDocument/2006/relationships/image" Target="../media/image-19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art\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0"/>
            <a:ext cx="16294608" cy="13716000"/>
          </a:xfrm>
          <a:prstGeom prst="rect">
            <a:avLst/>
          </a:prstGeom>
        </p:spPr>
      </p:pic>
      <p:pic>
        <p:nvPicPr>
          <p:cNvPr id="4" name="Image 2" descr="art\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2423160" y="1874520"/>
            <a:ext cx="1325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EVALS, OBSERVABILIDADE E CONFORMIDADE</a:t>
            </a: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2423160" y="2697480"/>
            <a:ext cx="13167360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Observabilidade:</a:t>
            </a:r>
            <a:endParaRPr lang="en-US" sz="10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monitorando</a:t>
            </a:r>
            <a:endParaRPr lang="en-US" sz="10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em produção</a:t>
            </a:r>
            <a:endParaRPr lang="en-US" sz="10400" dirty="0"/>
          </a:p>
        </p:txBody>
      </p:sp>
      <p:sp>
        <p:nvSpPr>
          <p:cNvPr id="7" name="Text 2"/>
          <p:cNvSpPr txBox="1"/>
          <p:nvPr/>
        </p:nvSpPr>
        <p:spPr>
          <a:xfrm>
            <a:off x="2423160" y="8732520"/>
            <a:ext cx="1362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dirty="0">
                <a:solidFill>
                  <a:srgbClr val="A7A9B4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3 — lendo os dados reais do meu produto no Langfuse</a:t>
            </a:r>
            <a:endParaRPr lang="en-US" sz="3800" dirty="0"/>
          </a:p>
        </p:txBody>
      </p:sp>
      <p:sp>
        <p:nvSpPr>
          <p:cNvPr id="8" name="Text 3"/>
          <p:cNvSpPr txBox="1"/>
          <p:nvPr/>
        </p:nvSpPr>
        <p:spPr>
          <a:xfrm>
            <a:off x="2423160" y="10744200"/>
            <a:ext cx="1389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Dados reais: 61 interações, 31/07 a 28/08, US$ 1,88 acumulado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3.1 O que é observabilidade?</a:t>
            </a:r>
            <a:endParaRPr lang="en-US" sz="9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105156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1783080"/>
            <a:ext cx="1956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Eu não vejo o que meu produto faz</a:t>
            </a:r>
            <a:endParaRPr lang="en-US" sz="6600" dirty="0"/>
          </a:p>
        </p:txBody>
      </p:sp>
      <p:sp>
        <p:nvSpPr>
          <p:cNvPr id="6" name="Shape 2"/>
          <p:cNvSpPr/>
          <p:nvPr/>
        </p:nvSpPr>
        <p:spPr>
          <a:xfrm>
            <a:off x="2423160" y="4526280"/>
            <a:ext cx="2011680" cy="68580"/>
          </a:xfrm>
          <a:prstGeom prst="rect">
            <a:avLst/>
          </a:prstGeom>
          <a:solidFill>
            <a:srgbClr val="1F53E5"/>
          </a:solidFill>
          <a:ln/>
        </p:spPr>
      </p:sp>
      <p:pic>
        <p:nvPicPr>
          <p:cNvPr id="7" name="Image 2" descr="art\se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6871716"/>
            <a:ext cx="475488" cy="4114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37560" y="67437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Depois que o produto está no ar, ele conversa com gente que eu não vejo, na hora em que eu não estou.</a:t>
            </a:r>
            <a:endParaRPr lang="en-US" sz="2800" dirty="0"/>
          </a:p>
        </p:txBody>
      </p:sp>
      <p:pic>
        <p:nvPicPr>
          <p:cNvPr id="9" name="Image 3" descr="art\s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8426196"/>
            <a:ext cx="475488" cy="4114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337560" y="829818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 responde “o que aconteceu aqui” — um evento solto, e só se alguém lembrou de registrar.</a:t>
            </a:r>
            <a:endParaRPr lang="en-US" sz="2800" dirty="0"/>
          </a:p>
        </p:txBody>
      </p:sp>
      <p:pic>
        <p:nvPicPr>
          <p:cNvPr id="11" name="Image 4" descr="art\se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9980676"/>
            <a:ext cx="475488" cy="4114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337560" y="98526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F4F5F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Observabilidade é conseguir reconstruir por que aconteceu, sem ter estado olhando na hora.</a:t>
            </a:r>
            <a:endParaRPr lang="en-US" sz="2800" dirty="0"/>
          </a:p>
        </p:txBody>
      </p:sp>
      <p:sp>
        <p:nvSpPr>
          <p:cNvPr id="13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105156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1783080"/>
            <a:ext cx="1956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 regra que eu adotei</a:t>
            </a:r>
            <a:endParaRPr lang="en-US" sz="6600" dirty="0"/>
          </a:p>
        </p:txBody>
      </p:sp>
      <p:sp>
        <p:nvSpPr>
          <p:cNvPr id="6" name="Shape 2"/>
          <p:cNvSpPr/>
          <p:nvPr/>
        </p:nvSpPr>
        <p:spPr>
          <a:xfrm>
            <a:off x="2423160" y="4526280"/>
            <a:ext cx="2011680" cy="68580"/>
          </a:xfrm>
          <a:prstGeom prst="rect">
            <a:avLst/>
          </a:prstGeom>
          <a:solidFill>
            <a:srgbClr val="1F53E5"/>
          </a:solidFill>
          <a:ln/>
        </p:spPr>
      </p:sp>
      <p:pic>
        <p:nvPicPr>
          <p:cNvPr id="7" name="Image 2" descr="art\se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6871716"/>
            <a:ext cx="475488" cy="4114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37560" y="67437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F4F5F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Nenhuma chamada da inteligência pode acontecer sem deixar rastro.</a:t>
            </a:r>
            <a:endParaRPr lang="en-US" sz="2800" dirty="0"/>
          </a:p>
        </p:txBody>
      </p:sp>
      <p:pic>
        <p:nvPicPr>
          <p:cNvPr id="9" name="Image 3" descr="art\s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8426196"/>
            <a:ext cx="475488" cy="4114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337560" y="829818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Não é enfeite: é a condição para eu conseguir responder qualquer pergunta depois.</a:t>
            </a:r>
            <a:endParaRPr lang="en-US" sz="2800" dirty="0"/>
          </a:p>
        </p:txBody>
      </p:sp>
      <p:pic>
        <p:nvPicPr>
          <p:cNvPr id="11" name="Image 4" descr="art\se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9980676"/>
            <a:ext cx="475488" cy="4114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337560" y="98526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 o rastro começa tarde, o que aconteceu antes some — e some em silêncio.</a:t>
            </a:r>
            <a:endParaRPr lang="en-US" sz="2800" dirty="0"/>
          </a:p>
        </p:txBody>
      </p:sp>
      <p:sp>
        <p:nvSpPr>
          <p:cNvPr id="13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105156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1783080"/>
            <a:ext cx="1956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Desligar o rastro não quebra o produto</a:t>
            </a:r>
            <a:endParaRPr lang="en-US" sz="6600" dirty="0"/>
          </a:p>
        </p:txBody>
      </p:sp>
      <p:sp>
        <p:nvSpPr>
          <p:cNvPr id="6" name="Shape 2"/>
          <p:cNvSpPr/>
          <p:nvPr/>
        </p:nvSpPr>
        <p:spPr>
          <a:xfrm>
            <a:off x="2423160" y="4526280"/>
            <a:ext cx="2011680" cy="68580"/>
          </a:xfrm>
          <a:prstGeom prst="rect">
            <a:avLst/>
          </a:prstGeom>
          <a:solidFill>
            <a:srgbClr val="1F53E5"/>
          </a:solidFill>
          <a:ln/>
        </p:spPr>
      </p:sp>
      <p:pic>
        <p:nvPicPr>
          <p:cNvPr id="7" name="Image 2" descr="art\se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6871716"/>
            <a:ext cx="475488" cy="4114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37560" y="67437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 a observabilidade desligada, o produto continua funcionando normalmente.</a:t>
            </a:r>
            <a:endParaRPr lang="en-US" sz="2800" dirty="0"/>
          </a:p>
        </p:txBody>
      </p:sp>
      <p:pic>
        <p:nvPicPr>
          <p:cNvPr id="9" name="Image 3" descr="art\s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8426196"/>
            <a:ext cx="475488" cy="4114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337560" y="829818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usuário não percebe nada. Quem fica cego é você.</a:t>
            </a:r>
            <a:endParaRPr lang="en-US" sz="2800" dirty="0"/>
          </a:p>
        </p:txBody>
      </p:sp>
      <p:pic>
        <p:nvPicPr>
          <p:cNvPr id="11" name="Image 4" descr="art\se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9980676"/>
            <a:ext cx="475488" cy="4114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337560" y="98526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F4F5F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É por isso que ninguém cobra isso de você: não quebra o produto, quebra a sua capacidade de saber o que ele faz.</a:t>
            </a:r>
            <a:endParaRPr lang="en-US" sz="2800" dirty="0"/>
          </a:p>
        </p:txBody>
      </p:sp>
      <p:sp>
        <p:nvSpPr>
          <p:cNvPr id="13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3.2 Conhecendo o Langfuse</a:t>
            </a:r>
            <a:endParaRPr lang="en-US" sz="9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105156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1783080"/>
            <a:ext cx="1956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Três palavras para navegar</a:t>
            </a:r>
            <a:endParaRPr lang="en-US" sz="6600" dirty="0"/>
          </a:p>
        </p:txBody>
      </p:sp>
      <p:sp>
        <p:nvSpPr>
          <p:cNvPr id="6" name="Shape 2"/>
          <p:cNvSpPr/>
          <p:nvPr/>
        </p:nvSpPr>
        <p:spPr>
          <a:xfrm>
            <a:off x="2423160" y="4526280"/>
            <a:ext cx="2011680" cy="68580"/>
          </a:xfrm>
          <a:prstGeom prst="rect">
            <a:avLst/>
          </a:prstGeom>
          <a:solidFill>
            <a:srgbClr val="1F53E5"/>
          </a:solidFill>
          <a:ln/>
        </p:spPr>
      </p:sp>
      <p:pic>
        <p:nvPicPr>
          <p:cNvPr id="7" name="Image 2" descr="art\se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6094476"/>
            <a:ext cx="475488" cy="4114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37560" y="59664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Interação: uma conversa inteira, do pedido até a resposta. É a unidade que você abre.</a:t>
            </a:r>
            <a:endParaRPr lang="en-US" sz="2800" dirty="0"/>
          </a:p>
        </p:txBody>
      </p:sp>
      <p:pic>
        <p:nvPicPr>
          <p:cNvPr id="9" name="Image 3" descr="art\s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7648956"/>
            <a:ext cx="475488" cy="4114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337560" y="75209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Passo: cada coisa que aconteceu dentro dela — consultar o estoque, pensar, responder.</a:t>
            </a:r>
            <a:endParaRPr lang="en-US" sz="2800" dirty="0"/>
          </a:p>
        </p:txBody>
      </p:sp>
      <p:pic>
        <p:nvPicPr>
          <p:cNvPr id="11" name="Image 4" descr="art\se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9203436"/>
            <a:ext cx="475488" cy="4114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337560" y="907542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Nota: a avaliação que a gente escreveu de volta na aula passada. Hoje são 39 notas em 9 interações.</a:t>
            </a:r>
            <a:endParaRPr lang="en-US" sz="2800" dirty="0"/>
          </a:p>
        </p:txBody>
      </p:sp>
      <p:pic>
        <p:nvPicPr>
          <p:cNvPr id="13" name="Image 5" descr="art\se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3160" y="10757916"/>
            <a:ext cx="475488" cy="411480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3337560" y="106299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F4F5F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 essas três você navega sozinha: abre a conversa, vê por dentro, e sabe se ela foi boa.</a:t>
            </a:r>
            <a:endParaRPr lang="en-US" sz="2800" dirty="0"/>
          </a:p>
        </p:txBody>
      </p:sp>
      <p:sp>
        <p:nvSpPr>
          <p:cNvPr id="15" name="Text 7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105156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1783080"/>
            <a:ext cx="1956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Ligando no seu produto</a:t>
            </a:r>
            <a:endParaRPr lang="en-US" sz="6600" dirty="0"/>
          </a:p>
        </p:txBody>
      </p:sp>
      <p:sp>
        <p:nvSpPr>
          <p:cNvPr id="6" name="Shape 2"/>
          <p:cNvSpPr/>
          <p:nvPr/>
        </p:nvSpPr>
        <p:spPr>
          <a:xfrm>
            <a:off x="2423160" y="4526280"/>
            <a:ext cx="2011680" cy="68580"/>
          </a:xfrm>
          <a:prstGeom prst="rect">
            <a:avLst/>
          </a:prstGeom>
          <a:solidFill>
            <a:srgbClr val="1F53E5"/>
          </a:solidFill>
          <a:ln/>
        </p:spPr>
      </p:sp>
      <p:pic>
        <p:nvPicPr>
          <p:cNvPr id="7" name="Image 2" descr="art\se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6871716"/>
            <a:ext cx="475488" cy="4114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37560" y="67437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 chaves saem do próprio Langfuse, na área de configurações do projeto.</a:t>
            </a:r>
            <a:endParaRPr lang="en-US" sz="2800" dirty="0"/>
          </a:p>
        </p:txBody>
      </p:sp>
      <p:pic>
        <p:nvPicPr>
          <p:cNvPr id="9" name="Image 3" descr="art\s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8426196"/>
            <a:ext cx="475488" cy="4114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337560" y="829818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São três valores que você copia e cola no arquivo de configuração do seu produto.</a:t>
            </a:r>
            <a:endParaRPr lang="en-US" sz="2800" dirty="0"/>
          </a:p>
        </p:txBody>
      </p:sp>
      <p:pic>
        <p:nvPicPr>
          <p:cNvPr id="11" name="Image 4" descr="art\se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9980676"/>
            <a:ext cx="475488" cy="4114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337560" y="98526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F4F5F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É a parte mais fácil da aula inteira — e a que mais gente deixa para depois.</a:t>
            </a:r>
            <a:endParaRPr lang="en-US" sz="2800" dirty="0"/>
          </a:p>
        </p:txBody>
      </p:sp>
      <p:sp>
        <p:nvSpPr>
          <p:cNvPr id="13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105156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1783080"/>
            <a:ext cx="1956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Antes e depois, ao vivo</a:t>
            </a:r>
            <a:endParaRPr lang="en-US" sz="6600" dirty="0"/>
          </a:p>
        </p:txBody>
      </p:sp>
      <p:sp>
        <p:nvSpPr>
          <p:cNvPr id="6" name="Shape 2"/>
          <p:cNvSpPr/>
          <p:nvPr/>
        </p:nvSpPr>
        <p:spPr>
          <a:xfrm>
            <a:off x="2423160" y="4526280"/>
            <a:ext cx="2011680" cy="68580"/>
          </a:xfrm>
          <a:prstGeom prst="rect">
            <a:avLst/>
          </a:prstGeom>
          <a:solidFill>
            <a:srgbClr val="1F53E5"/>
          </a:solidFill>
          <a:ln/>
        </p:spPr>
      </p:sp>
      <p:pic>
        <p:nvPicPr>
          <p:cNvPr id="7" name="Image 2" descr="art\se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6871716"/>
            <a:ext cx="475488" cy="4114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37560" y="67437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Desligo a observabilidade e uso o produto: funciona igual, e não aparece nada no painel.</a:t>
            </a:r>
            <a:endParaRPr lang="en-US" sz="2800" dirty="0"/>
          </a:p>
        </p:txBody>
      </p:sp>
      <p:pic>
        <p:nvPicPr>
          <p:cNvPr id="9" name="Image 3" descr="art\s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8426196"/>
            <a:ext cx="475488" cy="4114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337560" y="829818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Ligo de novo e faço exatamente a mesma coisa: agora a interação aparece inteira.</a:t>
            </a:r>
            <a:endParaRPr lang="en-US" sz="2800" dirty="0"/>
          </a:p>
        </p:txBody>
      </p:sp>
      <p:pic>
        <p:nvPicPr>
          <p:cNvPr id="11" name="Image 4" descr="art\se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9980676"/>
            <a:ext cx="475488" cy="4114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337560" y="98526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F4F5F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Espere uns 45 segundos até o registro ficar visível. Não é erro — é a fila de chegada.</a:t>
            </a:r>
            <a:endParaRPr lang="en-US" sz="2800" dirty="0"/>
          </a:p>
        </p:txBody>
      </p:sp>
      <p:sp>
        <p:nvSpPr>
          <p:cNvPr id="13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3.3 Lendo os dados de produção</a:t>
            </a:r>
            <a:endParaRPr lang="en-US" sz="9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EF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0429BC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3.3 — DADOS REAIS (14/09)</a:t>
            </a:r>
            <a:endParaRPr lang="en-US" sz="2100" dirty="0"/>
          </a:p>
        </p:txBody>
      </p:sp>
      <p:sp>
        <p:nvSpPr>
          <p:cNvPr id="4" name="Text 1"/>
          <p:cNvSpPr txBox="1"/>
          <p:nvPr/>
        </p:nvSpPr>
        <p:spPr>
          <a:xfrm>
            <a:off x="2423160" y="2880360"/>
            <a:ext cx="1874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0C0C0E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38 interações, US$ 1,53 acumulado</a:t>
            </a:r>
            <a:endParaRPr lang="en-US" sz="6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23160" y="5029200"/>
          <a:ext cx="19540728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1325880"/>
                <a:gridCol w="3749040"/>
                <a:gridCol w="4206240"/>
                <a:gridCol w="4315968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O que o produto faz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quantas vezes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custo por vez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demora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% do custo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Mediar o cardápio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US$ 0,1381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55,9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90 %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Receita premium da semana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6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US$ 0,0115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7,3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5 %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Entender um relato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17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US$ 0,0032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1,6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4 %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Ler nota por foto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US$ 0,0071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3,3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1 %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Ler uma nota fiscal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US$ 0,0054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2,7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1 %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2423160" y="10607040"/>
            <a:ext cx="19540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7B7F8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Nove de cada dez dólares da conta, em pouco mais de um quarto das chamadas.</a:t>
            </a:r>
            <a:endParaRPr lang="en-US" sz="2600" dirty="0"/>
          </a:p>
        </p:txBody>
      </p:sp>
      <p:sp>
        <p:nvSpPr>
          <p:cNvPr id="7" name="Text 3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B7F8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105156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3.3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1783080"/>
            <a:ext cx="1956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26% das chamadas, 90% da conta</a:t>
            </a:r>
            <a:endParaRPr lang="en-US" sz="6600" dirty="0"/>
          </a:p>
        </p:txBody>
      </p:sp>
      <p:sp>
        <p:nvSpPr>
          <p:cNvPr id="6" name="Shape 2"/>
          <p:cNvSpPr/>
          <p:nvPr/>
        </p:nvSpPr>
        <p:spPr>
          <a:xfrm>
            <a:off x="2423160" y="4526280"/>
            <a:ext cx="2011680" cy="68580"/>
          </a:xfrm>
          <a:prstGeom prst="rect">
            <a:avLst/>
          </a:prstGeom>
          <a:solidFill>
            <a:srgbClr val="1F53E5"/>
          </a:solidFill>
          <a:ln/>
        </p:spPr>
      </p:sp>
      <p:pic>
        <p:nvPicPr>
          <p:cNvPr id="7" name="Image 2" descr="art\se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6871716"/>
            <a:ext cx="475488" cy="4114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37560" y="67437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F4F5F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Mediador de cardápio não é o mais usado — é o mais caro por uso.</a:t>
            </a:r>
            <a:endParaRPr lang="en-US" sz="2800" dirty="0"/>
          </a:p>
        </p:txBody>
      </p:sp>
      <p:pic>
        <p:nvPicPr>
          <p:cNvPr id="9" name="Image 3" descr="art\s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8426196"/>
            <a:ext cx="475488" cy="4114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337560" y="829818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Pouco mais de um quarto das chamadas do produto, nove de cada dez dólares que eu pago.</a:t>
            </a:r>
            <a:endParaRPr lang="en-US" sz="2800" dirty="0"/>
          </a:p>
        </p:txBody>
      </p:sp>
      <p:pic>
        <p:nvPicPr>
          <p:cNvPr id="11" name="Image 4" descr="art\se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9980676"/>
            <a:ext cx="475488" cy="4114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337560" y="98526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Esse tipo de conclusão só aparece olhando o conjunto. Uma conversa por vez nunca mostraria isso.</a:t>
            </a:r>
            <a:endParaRPr lang="en-US" sz="2800" dirty="0"/>
          </a:p>
        </p:txBody>
      </p:sp>
      <p:sp>
        <p:nvSpPr>
          <p:cNvPr id="13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105156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3.3 — AO VIVO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1783080"/>
            <a:ext cx="1956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Trocando o eixo, ao vivo</a:t>
            </a:r>
            <a:endParaRPr lang="en-US" sz="6600" dirty="0"/>
          </a:p>
        </p:txBody>
      </p:sp>
      <p:sp>
        <p:nvSpPr>
          <p:cNvPr id="6" name="Shape 2"/>
          <p:cNvSpPr/>
          <p:nvPr/>
        </p:nvSpPr>
        <p:spPr>
          <a:xfrm>
            <a:off x="2423160" y="4526280"/>
            <a:ext cx="2011680" cy="68580"/>
          </a:xfrm>
          <a:prstGeom prst="rect">
            <a:avLst/>
          </a:prstGeom>
          <a:solidFill>
            <a:srgbClr val="1F53E5"/>
          </a:solidFill>
          <a:ln/>
        </p:spPr>
      </p:sp>
      <p:pic>
        <p:nvPicPr>
          <p:cNvPr id="7" name="Image 2" descr="art\se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6871716"/>
            <a:ext cx="475488" cy="4114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37560" y="67437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Mesma tarefa: entender uma frase curta e classificar o tipo de relato.</a:t>
            </a:r>
            <a:endParaRPr lang="en-US" sz="2800" dirty="0"/>
          </a:p>
        </p:txBody>
      </p:sp>
      <p:pic>
        <p:nvPicPr>
          <p:cNvPr id="9" name="Image 3" descr="art\s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8426196"/>
            <a:ext cx="475488" cy="4114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337560" y="829818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Troco o modelo no painel, mando uma mensagem, e comparamos o trace novo com um trace recente.</a:t>
            </a:r>
            <a:endParaRPr lang="en-US" sz="2800" dirty="0"/>
          </a:p>
        </p:txBody>
      </p:sp>
      <p:pic>
        <p:nvPicPr>
          <p:cNvPr id="11" name="Image 4" descr="art\se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9980676"/>
            <a:ext cx="475488" cy="4114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337560" y="98526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F4F5F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Essa decisão só é óbvia porque eu tenho a medição.</a:t>
            </a:r>
            <a:endParaRPr lang="en-US" sz="2800" dirty="0"/>
          </a:p>
        </p:txBody>
      </p:sp>
      <p:sp>
        <p:nvSpPr>
          <p:cNvPr id="13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3.4 Padrões de falha</a:t>
            </a:r>
            <a:endParaRPr lang="en-US" sz="9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105156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1783080"/>
            <a:ext cx="1956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Quatro falhas que eu achei olhando</a:t>
            </a:r>
            <a:endParaRPr lang="en-US" sz="6600" dirty="0"/>
          </a:p>
        </p:txBody>
      </p:sp>
      <p:sp>
        <p:nvSpPr>
          <p:cNvPr id="6" name="Shape 2"/>
          <p:cNvSpPr/>
          <p:nvPr/>
        </p:nvSpPr>
        <p:spPr>
          <a:xfrm>
            <a:off x="2423160" y="4526280"/>
            <a:ext cx="2011680" cy="68580"/>
          </a:xfrm>
          <a:prstGeom prst="rect">
            <a:avLst/>
          </a:prstGeom>
          <a:solidFill>
            <a:srgbClr val="1F53E5"/>
          </a:solidFill>
          <a:ln/>
        </p:spPr>
      </p:sp>
      <p:pic>
        <p:nvPicPr>
          <p:cNvPr id="7" name="Image 2" descr="art\se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6094476"/>
            <a:ext cx="475488" cy="4114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37560" y="59664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Uma resposta cortada no meio de uma palavra, porque bateu num limite que eu mesmo configurei.</a:t>
            </a:r>
            <a:endParaRPr lang="en-US" sz="2800" dirty="0"/>
          </a:p>
        </p:txBody>
      </p:sp>
      <p:pic>
        <p:nvPicPr>
          <p:cNvPr id="9" name="Image 3" descr="art\s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7648956"/>
            <a:ext cx="475488" cy="4114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337560" y="75209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 erro engolido: o produto teve problema, devolveu uma lista vazia e seguiu como se nada fosse.</a:t>
            </a:r>
            <a:endParaRPr lang="en-US" sz="2800" dirty="0"/>
          </a:p>
        </p:txBody>
      </p:sp>
      <p:pic>
        <p:nvPicPr>
          <p:cNvPr id="11" name="Image 4" descr="art\se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9203436"/>
            <a:ext cx="475488" cy="4114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337560" y="907542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Duas falhas no canal do Telegram: uma apagou a própria evidência, a outra não deixou evidência nenhuma.</a:t>
            </a:r>
            <a:endParaRPr lang="en-US" sz="2800" dirty="0"/>
          </a:p>
        </p:txBody>
      </p:sp>
      <p:pic>
        <p:nvPicPr>
          <p:cNvPr id="13" name="Image 5" descr="art\se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3160" y="10757916"/>
            <a:ext cx="475488" cy="411480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3337560" y="106299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F4F5F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uma em que a inteligência acertou tudo, e mesmo assim o estoque ficou errado.</a:t>
            </a:r>
            <a:endParaRPr lang="en-US" sz="2800" dirty="0"/>
          </a:p>
        </p:txBody>
      </p:sp>
      <p:sp>
        <p:nvSpPr>
          <p:cNvPr id="15" name="Text 7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105156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1783080"/>
            <a:ext cx="1956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 resposta cortada no meio</a:t>
            </a:r>
            <a:endParaRPr lang="en-US" sz="6600" dirty="0"/>
          </a:p>
        </p:txBody>
      </p:sp>
      <p:sp>
        <p:nvSpPr>
          <p:cNvPr id="6" name="Shape 2"/>
          <p:cNvSpPr/>
          <p:nvPr/>
        </p:nvSpPr>
        <p:spPr>
          <a:xfrm>
            <a:off x="2423160" y="4526280"/>
            <a:ext cx="2011680" cy="68580"/>
          </a:xfrm>
          <a:prstGeom prst="rect">
            <a:avLst/>
          </a:prstGeom>
          <a:solidFill>
            <a:srgbClr val="1F53E5"/>
          </a:solidFill>
          <a:ln/>
        </p:spPr>
      </p:sp>
      <p:pic>
        <p:nvPicPr>
          <p:cNvPr id="7" name="Image 2" descr="art\se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6871716"/>
            <a:ext cx="475488" cy="4114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37560" y="67437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assinatura é fácil de reconhecer: a resposta simplesmente termina no meio de uma palavra.</a:t>
            </a:r>
            <a:endParaRPr lang="en-US" sz="2800" dirty="0"/>
          </a:p>
        </p:txBody>
      </p:sp>
      <p:pic>
        <p:nvPicPr>
          <p:cNvPr id="9" name="Image 3" descr="art\s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8426196"/>
            <a:ext cx="475488" cy="4114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337560" y="829818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Acontece quando o pedido cresce e a resposta não cabe mais no limite configurado.</a:t>
            </a:r>
            <a:endParaRPr lang="en-US" sz="2800" dirty="0"/>
          </a:p>
        </p:txBody>
      </p:sp>
      <p:pic>
        <p:nvPicPr>
          <p:cNvPr id="11" name="Image 4" descr="art\se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9980676"/>
            <a:ext cx="475488" cy="4114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337560" y="98526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F4F5F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Deixei sem corrigir de propósito — reproduzir isso ao vivo é o conteúdo da próxima aula.</a:t>
            </a:r>
            <a:endParaRPr lang="en-US" sz="2800" dirty="0"/>
          </a:p>
        </p:txBody>
      </p:sp>
      <p:sp>
        <p:nvSpPr>
          <p:cNvPr id="13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105156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1783080"/>
            <a:ext cx="1956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as quatro têm em comum</a:t>
            </a:r>
            <a:endParaRPr lang="en-US" sz="6600" dirty="0"/>
          </a:p>
        </p:txBody>
      </p:sp>
      <p:sp>
        <p:nvSpPr>
          <p:cNvPr id="6" name="Shape 2"/>
          <p:cNvSpPr/>
          <p:nvPr/>
        </p:nvSpPr>
        <p:spPr>
          <a:xfrm>
            <a:off x="2423160" y="4526280"/>
            <a:ext cx="2011680" cy="68580"/>
          </a:xfrm>
          <a:prstGeom prst="rect">
            <a:avLst/>
          </a:prstGeom>
          <a:solidFill>
            <a:srgbClr val="1F53E5"/>
          </a:solidFill>
          <a:ln/>
        </p:spPr>
      </p:sp>
      <p:pic>
        <p:nvPicPr>
          <p:cNvPr id="7" name="Image 2" descr="art\se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6871716"/>
            <a:ext cx="475488" cy="4114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37560" y="67437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F4F5F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Nenhuma delas gritou.</a:t>
            </a:r>
            <a:endParaRPr lang="en-US" sz="2800" dirty="0"/>
          </a:p>
        </p:txBody>
      </p:sp>
      <p:pic>
        <p:nvPicPr>
          <p:cNvPr id="9" name="Image 3" descr="art\s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8426196"/>
            <a:ext cx="475488" cy="4114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337560" y="829818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Nenhum usuário reclamou de nenhuma das quatro.</a:t>
            </a:r>
            <a:endParaRPr lang="en-US" sz="2800" dirty="0"/>
          </a:p>
        </p:txBody>
      </p:sp>
      <p:pic>
        <p:nvPicPr>
          <p:cNvPr id="11" name="Image 4" descr="art\se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9980676"/>
            <a:ext cx="475488" cy="4114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337560" y="98526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Cada uma precisou de alguém olhando o dado certo, com a pergunta certa — e esse alguém é você.</a:t>
            </a:r>
            <a:endParaRPr lang="en-US" sz="2800" dirty="0"/>
          </a:p>
        </p:txBody>
      </p:sp>
      <p:sp>
        <p:nvSpPr>
          <p:cNvPr id="13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3.5 O que aprendemos?</a:t>
            </a:r>
            <a:endParaRPr lang="en-US" sz="9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105156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FECHAMENTO DA AULA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1783080"/>
            <a:ext cx="1956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aprendemos</a:t>
            </a:r>
            <a:endParaRPr lang="en-US" sz="6600" dirty="0"/>
          </a:p>
        </p:txBody>
      </p:sp>
      <p:sp>
        <p:nvSpPr>
          <p:cNvPr id="6" name="Shape 2"/>
          <p:cNvSpPr/>
          <p:nvPr/>
        </p:nvSpPr>
        <p:spPr>
          <a:xfrm>
            <a:off x="2423160" y="4526280"/>
            <a:ext cx="2011680" cy="68580"/>
          </a:xfrm>
          <a:prstGeom prst="rect">
            <a:avLst/>
          </a:prstGeom>
          <a:solidFill>
            <a:srgbClr val="1F53E5"/>
          </a:solidFill>
          <a:ln/>
        </p:spPr>
      </p:sp>
      <p:pic>
        <p:nvPicPr>
          <p:cNvPr id="7" name="Image 2" descr="art\se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6094476"/>
            <a:ext cx="475488" cy="4114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37560" y="59664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Observabilidade é reconstruir a causa, não só registrar o evento.</a:t>
            </a:r>
            <a:endParaRPr lang="en-US" sz="2800" dirty="0"/>
          </a:p>
        </p:txBody>
      </p:sp>
      <p:pic>
        <p:nvPicPr>
          <p:cNvPr id="9" name="Image 3" descr="art\s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7648956"/>
            <a:ext cx="475488" cy="4114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337560" y="75209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Interação, passo e nota são o vocabulário que você precisa para navegar o painel sozinha.</a:t>
            </a:r>
            <a:endParaRPr lang="en-US" sz="2800" dirty="0"/>
          </a:p>
        </p:txBody>
      </p:sp>
      <p:pic>
        <p:nvPicPr>
          <p:cNvPr id="11" name="Image 4" descr="art\se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9203436"/>
            <a:ext cx="475488" cy="4114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337560" y="907542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F4F5F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 dado real dá para ver para onde o dinheiro está indo — e onde trocar de modelo compensa.</a:t>
            </a:r>
            <a:endParaRPr lang="en-US" sz="2800" dirty="0"/>
          </a:p>
        </p:txBody>
      </p:sp>
      <p:pic>
        <p:nvPicPr>
          <p:cNvPr id="13" name="Image 5" descr="art\se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3160" y="10757916"/>
            <a:ext cx="475488" cy="411480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3337560" y="106299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Quatro falhas documentadas, nenhuma descoberta por reclamação de usuário.</a:t>
            </a:r>
            <a:endParaRPr lang="en-US" sz="2800" dirty="0"/>
          </a:p>
        </p:txBody>
      </p:sp>
      <p:sp>
        <p:nvSpPr>
          <p:cNvPr id="15" name="Text 7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10C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423160" y="5029200"/>
            <a:ext cx="19540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3 CONCLUÍDA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423160" y="5989320"/>
            <a:ext cx="17830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Ver o dado não é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abstrato — vira uma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conta que fecha.</a:t>
            </a:r>
            <a:endParaRPr lang="en-US" sz="7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Encode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2026-09-14T18:21:07Z</dcterms:created>
  <dcterms:modified xsi:type="dcterms:W3CDTF">2026-09-14T18:21:07Z</dcterms:modified>
</cp:coreProperties>
</file>